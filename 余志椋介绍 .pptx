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notesSlides/notesSlide2.xml" ContentType="application/vnd.openxmlformats-officedocument.presentationml.notesSlide+xml"/>
  <Override PartName="/ppt/tags/tag9.xml" ContentType="application/vnd.openxmlformats-officedocument.presentationml.tags+xml"/>
  <Override PartName="/ppt/notesSlides/notesSlide3.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notesSlides/notesSlide4.xml" ContentType="application/vnd.openxmlformats-officedocument.presentationml.notesSlide+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71.xml" ContentType="application/vnd.openxmlformats-officedocument.presentationml.tags+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2"/>
  </p:sldMasterIdLst>
  <p:notesMasterIdLst>
    <p:notesMasterId r:id="rId17"/>
  </p:notesMasterIdLst>
  <p:sldIdLst>
    <p:sldId id="348" r:id="rId3"/>
    <p:sldId id="350" r:id="rId4"/>
    <p:sldId id="366" r:id="rId5"/>
    <p:sldId id="257" r:id="rId6"/>
    <p:sldId id="411" r:id="rId7"/>
    <p:sldId id="412" r:id="rId8"/>
    <p:sldId id="267" r:id="rId9"/>
    <p:sldId id="405" r:id="rId10"/>
    <p:sldId id="409" r:id="rId11"/>
    <p:sldId id="408" r:id="rId12"/>
    <p:sldId id="410" r:id="rId13"/>
    <p:sldId id="380" r:id="rId14"/>
    <p:sldId id="377" r:id="rId15"/>
    <p:sldId id="413" r:id="rId16"/>
  </p:sldIdLst>
  <p:sldSz cx="12192000" cy="6858000"/>
  <p:notesSz cx="6858000" cy="9144000"/>
  <p:custDataLst>
    <p:tags r:id="rId1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39" userDrawn="1">
          <p15:clr>
            <a:srgbClr val="A4A3A4"/>
          </p15:clr>
        </p15:guide>
        <p15:guide id="3" orient="horz" pos="19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 一凡" initials="张"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7D2B"/>
    <a:srgbClr val="2348B8"/>
    <a:srgbClr val="FF244E"/>
    <a:srgbClr val="2A3A57"/>
    <a:srgbClr val="FF0049"/>
    <a:srgbClr val="AE0147"/>
    <a:srgbClr val="2C3C59"/>
    <a:srgbClr val="2B3B59"/>
    <a:srgbClr val="283753"/>
    <a:srgbClr val="51515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4C1A8A3-306A-4EB7-A6B1-4F7E0EB9C5D6}" styleName="中度样式 3 - 强调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91" autoAdjust="0"/>
    <p:restoredTop sz="92649" autoAdjust="0"/>
  </p:normalViewPr>
  <p:slideViewPr>
    <p:cSldViewPr snapToGrid="0" showGuides="1">
      <p:cViewPr varScale="1">
        <p:scale>
          <a:sx n="79" d="100"/>
          <a:sy n="79" d="100"/>
        </p:scale>
        <p:origin x="816" y="62"/>
      </p:cViewPr>
      <p:guideLst>
        <p:guide pos="3839"/>
        <p:guide orient="horz" pos="1940"/>
      </p:guideLst>
    </p:cSldViewPr>
  </p:slideViewPr>
  <p:notesTextViewPr>
    <p:cViewPr>
      <p:scale>
        <a:sx n="1" d="1"/>
        <a:sy n="1" d="1"/>
      </p:scale>
      <p:origin x="0" y="0"/>
    </p:cViewPr>
  </p:notesTextViewPr>
  <p:notesViewPr>
    <p:cSldViewPr snapToGrid="0">
      <p:cViewPr varScale="1">
        <p:scale>
          <a:sx n="65" d="100"/>
          <a:sy n="65" d="100"/>
        </p:scale>
        <p:origin x="3154" y="6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gs" Target="tags/tag1.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092D09-6E53-4EE3-94EA-323CDEEA173D}" type="datetimeFigureOut">
              <a:rPr lang="zh-CN" altLang="en-US" smtClean="0"/>
              <a:t>2026-10-08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23550C-0EAD-42A3-AC8C-7F87D0B3B98F}"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8923550C-0EAD-42A3-AC8C-7F87D0B3B98F}"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8923550C-0EAD-42A3-AC8C-7F87D0B3B98F}"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本科阶段系统学习数据结构、算法设计、操作系统、计算机组成原理等计算机基础课程，并在研究生阶段进一步开展人工智能、大模型和计算机视觉方向研究。</a:t>
            </a:r>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8923550C-0EAD-42A3-AC8C-7F87D0B3B98F}"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t>3</a:t>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r>
              <a:rPr lang="zh-CN" altLang="en-US" dirty="0"/>
              <a:t>相关研究虽然取得了很多进展，但依然面临以下六点挑战：化学表达多样、专家干预困难、反应机制缺失、微调数据稀少、反应场景繁杂、产率噪声显著。针对这些挑战，我们定义了三个关键科学问题。</a:t>
            </a:r>
            <a:endParaRPr lang="en-US" altLang="zh-CN" dirty="0"/>
          </a:p>
          <a:p>
            <a:pPr marL="69850">
              <a:lnSpc>
                <a:spcPct val="130000"/>
              </a:lnSpc>
            </a:pP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1.</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对化学数据统一建模，并训练化学</a:t>
            </a:r>
            <a:r>
              <a:rPr lang="zh-CN" altLang="en-US" sz="1200" b="1">
                <a:latin typeface="Microsoft YaHei" panose="020B0503020204020204" pitchFamily="34" charset="-122"/>
                <a:ea typeface="Microsoft YaHei" panose="020B0503020204020204" pitchFamily="34" charset="-122"/>
              </a:rPr>
              <a:t>基础模型 </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2.</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将化学知识嵌入人工智能模型，优化化学基础模型</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3.</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提升化学数据的利用效率，提升鲁棒性和通用性</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r>
              <a:rPr lang="zh-CN" altLang="en-US" dirty="0"/>
              <a:t>相关研究虽然取得了很多进展，但依然面临以下六点挑战：化学表达多样、专家干预困难、反应机制缺失、微调数据稀少、反应场景繁杂、产率噪声显著。针对这些挑战，我们定义了三个关键科学问题。</a:t>
            </a:r>
            <a:endParaRPr lang="en-US" altLang="zh-CN" dirty="0"/>
          </a:p>
          <a:p>
            <a:pPr marL="69850">
              <a:lnSpc>
                <a:spcPct val="130000"/>
              </a:lnSpc>
            </a:pP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1.</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对化学数据统一建模，并训练化学</a:t>
            </a:r>
            <a:r>
              <a:rPr lang="zh-CN" altLang="en-US" sz="1200" b="1">
                <a:latin typeface="Microsoft YaHei" panose="020B0503020204020204" pitchFamily="34" charset="-122"/>
                <a:ea typeface="Microsoft YaHei" panose="020B0503020204020204" pitchFamily="34" charset="-122"/>
              </a:rPr>
              <a:t>基础模型 </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2.</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将化学知识嵌入人工智能模型，优化化学基础模型</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3.</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提升化学数据的利用效率，提升鲁棒性和通用性</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282416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EDE09-C7D2-C960-936B-8A7D2626E79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CB19A6-CC02-C2B1-964E-578565653DD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69539E4-53D6-C2A7-C801-F6EC5A8F7A15}"/>
              </a:ext>
            </a:extLst>
          </p:cNvPr>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E9948BF6-FA74-4BE0-7682-40D4E66B1E1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21168180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87A90-76E5-8319-DEC5-8C59E4ADCF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5CE6A8-E90F-5B9E-F7EF-1C5DA4D9288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CB9FDB0-01C1-05DE-728A-3B40D8A581AA}"/>
              </a:ext>
            </a:extLst>
          </p:cNvPr>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r>
              <a:rPr lang="zh-CN" altLang="en-US" dirty="0"/>
              <a:t>相关研究虽然取得了很多进展，但依然面临以下六点挑战：化学表达多样、专家干预困难、反应机制缺失、微调数据稀少、反应场景繁杂、产率噪声显著。针对这些挑战，我们定义了三个关键科学问题。</a:t>
            </a:r>
            <a:endParaRPr lang="en-US" altLang="zh-CN" dirty="0"/>
          </a:p>
          <a:p>
            <a:pPr marL="69850">
              <a:lnSpc>
                <a:spcPct val="130000"/>
              </a:lnSpc>
            </a:pP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1.</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对化学数据统一建模，并训练化学</a:t>
            </a:r>
            <a:r>
              <a:rPr lang="zh-CN" altLang="en-US" sz="1200" b="1">
                <a:latin typeface="Microsoft YaHei" panose="020B0503020204020204" pitchFamily="34" charset="-122"/>
                <a:ea typeface="Microsoft YaHei" panose="020B0503020204020204" pitchFamily="34" charset="-122"/>
              </a:rPr>
              <a:t>基础模型 </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2.</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将化学知识嵌入人工智能模型，优化化学基础模型</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3.</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提升化学数据的利用效率，提升鲁棒性和通用性</a:t>
            </a:r>
            <a:endParaRPr lang="zh-CN" altLang="en-US" dirty="0"/>
          </a:p>
        </p:txBody>
      </p:sp>
      <p:sp>
        <p:nvSpPr>
          <p:cNvPr id="4" name="灯片编号占位符 3">
            <a:extLst>
              <a:ext uri="{FF2B5EF4-FFF2-40B4-BE49-F238E27FC236}">
                <a16:creationId xmlns:a16="http://schemas.microsoft.com/office/drawing/2014/main" id="{776BBD70-FB9A-69AD-443F-CB17DBE6EFD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988483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F6CF-EBD0-35A0-341D-CAECA80AFD8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EB9B2C9-A5AE-DF72-9632-DC488951D8D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3DEC5E6-82BD-117B-3A59-48D72EA04E4C}"/>
              </a:ext>
            </a:extLst>
          </p:cNvPr>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56548187-B1B9-BF37-F03F-CB523D4E894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4136180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9E3CF89-91F4-45FB-A589-58532703FCA1}" type="slidenum">
              <a:rPr lang="zh-CN" altLang="en-US" smtClean="0"/>
              <a:t>12</a:t>
            </a:fld>
            <a:endParaRPr lang="zh-CN" altLang="en-US"/>
          </a:p>
        </p:txBody>
      </p:sp>
    </p:spTree>
    <p:extLst>
      <p:ext uri="{BB962C8B-B14F-4D97-AF65-F5344CB8AC3E}">
        <p14:creationId xmlns:p14="http://schemas.microsoft.com/office/powerpoint/2010/main" val="41581697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8923550C-0EAD-42A3-AC8C-7F87D0B3B98F}" type="slidenum">
              <a:rPr lang="zh-CN" altLang="en-US" smtClean="0"/>
              <a:t>13</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矩形 1"/>
          <p:cNvSpPr/>
          <p:nvPr userDrawn="1"/>
        </p:nvSpPr>
        <p:spPr>
          <a:xfrm>
            <a:off x="0" y="0"/>
            <a:ext cx="12192000" cy="50995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A684B914-9BB2-4713-9EBF-61770F406B81}" type="datetime1">
              <a:rPr lang="zh-CN" altLang="en-US" smtClean="0"/>
              <a:t>2026-10-08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2B6538A-33AE-45EB-868C-14B9E34ED961}"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A684B914-9BB2-4713-9EBF-61770F406B81}" type="datetime1">
              <a:rPr lang="zh-CN" altLang="en-US" smtClean="0"/>
              <a:t>2026-10-08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2B6538A-33AE-45EB-868C-14B9E34ED961}"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
        <p:nvSpPr>
          <p:cNvPr id="4" name="矩形 3"/>
          <p:cNvSpPr/>
          <p:nvPr userDrawn="1"/>
        </p:nvSpPr>
        <p:spPr>
          <a:xfrm>
            <a:off x="493634" y="0"/>
            <a:ext cx="714526" cy="1179982"/>
          </a:xfrm>
          <a:prstGeom prst="rect">
            <a:avLst/>
          </a:prstGeom>
          <a:solidFill>
            <a:srgbClr val="444D57"/>
          </a:solidFill>
          <a:ln>
            <a:noFill/>
          </a:ln>
          <a:effectLst>
            <a:outerShdw blurRad="101600" dist="38100" dir="2700000" algn="tl"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标题 1"/>
          <p:cNvSpPr>
            <a:spLocks noGrp="1"/>
          </p:cNvSpPr>
          <p:nvPr>
            <p:ph type="title" hasCustomPrompt="1"/>
          </p:nvPr>
        </p:nvSpPr>
        <p:spPr>
          <a:xfrm>
            <a:off x="1457698" y="551761"/>
            <a:ext cx="3629564" cy="456129"/>
          </a:xfrm>
          <a:prstGeom prst="rect">
            <a:avLst/>
          </a:prstGeom>
        </p:spPr>
        <p:txBody>
          <a:bodyPr>
            <a:noAutofit/>
          </a:bodyPr>
          <a:lstStyle>
            <a:lvl1pPr>
              <a:defRPr sz="2400" b="1">
                <a:solidFill>
                  <a:srgbClr val="211E20"/>
                </a:solidFill>
                <a:ea typeface="思源黑体" panose="020B0500000000000000" pitchFamily="34" charset="-122"/>
              </a:defRPr>
            </a:lvl1pPr>
          </a:lstStyle>
          <a:p>
            <a:r>
              <a:rPr lang="zh-CN" altLang="en-US"/>
              <a:t>单击编辑标题</a:t>
            </a:r>
          </a:p>
        </p:txBody>
      </p:sp>
      <p:sp>
        <p:nvSpPr>
          <p:cNvPr id="9" name="Freeform 5"/>
          <p:cNvSpPr>
            <a:spLocks noEditPoints="1"/>
          </p:cNvSpPr>
          <p:nvPr userDrawn="1"/>
        </p:nvSpPr>
        <p:spPr bwMode="auto">
          <a:xfrm>
            <a:off x="635500" y="530700"/>
            <a:ext cx="441095" cy="525190"/>
          </a:xfrm>
          <a:custGeom>
            <a:avLst/>
            <a:gdLst>
              <a:gd name="T0" fmla="*/ 269 w 537"/>
              <a:gd name="T1" fmla="*/ 0 h 623"/>
              <a:gd name="T2" fmla="*/ 403 w 537"/>
              <a:gd name="T3" fmla="*/ 78 h 623"/>
              <a:gd name="T4" fmla="*/ 537 w 537"/>
              <a:gd name="T5" fmla="*/ 156 h 623"/>
              <a:gd name="T6" fmla="*/ 537 w 537"/>
              <a:gd name="T7" fmla="*/ 311 h 623"/>
              <a:gd name="T8" fmla="*/ 537 w 537"/>
              <a:gd name="T9" fmla="*/ 467 h 623"/>
              <a:gd name="T10" fmla="*/ 403 w 537"/>
              <a:gd name="T11" fmla="*/ 545 h 623"/>
              <a:gd name="T12" fmla="*/ 269 w 537"/>
              <a:gd name="T13" fmla="*/ 623 h 623"/>
              <a:gd name="T14" fmla="*/ 134 w 537"/>
              <a:gd name="T15" fmla="*/ 545 h 623"/>
              <a:gd name="T16" fmla="*/ 0 w 537"/>
              <a:gd name="T17" fmla="*/ 467 h 623"/>
              <a:gd name="T18" fmla="*/ 0 w 537"/>
              <a:gd name="T19" fmla="*/ 311 h 623"/>
              <a:gd name="T20" fmla="*/ 0 w 537"/>
              <a:gd name="T21" fmla="*/ 156 h 623"/>
              <a:gd name="T22" fmla="*/ 134 w 537"/>
              <a:gd name="T23" fmla="*/ 78 h 623"/>
              <a:gd name="T24" fmla="*/ 269 w 537"/>
              <a:gd name="T25" fmla="*/ 0 h 623"/>
              <a:gd name="T26" fmla="*/ 269 w 537"/>
              <a:gd name="T27" fmla="*/ 53 h 623"/>
              <a:gd name="T28" fmla="*/ 380 w 537"/>
              <a:gd name="T29" fmla="*/ 117 h 623"/>
              <a:gd name="T30" fmla="*/ 492 w 537"/>
              <a:gd name="T31" fmla="*/ 182 h 623"/>
              <a:gd name="T32" fmla="*/ 492 w 537"/>
              <a:gd name="T33" fmla="*/ 311 h 623"/>
              <a:gd name="T34" fmla="*/ 492 w 537"/>
              <a:gd name="T35" fmla="*/ 441 h 623"/>
              <a:gd name="T36" fmla="*/ 380 w 537"/>
              <a:gd name="T37" fmla="*/ 505 h 623"/>
              <a:gd name="T38" fmla="*/ 269 w 537"/>
              <a:gd name="T39" fmla="*/ 570 h 623"/>
              <a:gd name="T40" fmla="*/ 157 w 537"/>
              <a:gd name="T41" fmla="*/ 505 h 623"/>
              <a:gd name="T42" fmla="*/ 46 w 537"/>
              <a:gd name="T43" fmla="*/ 441 h 623"/>
              <a:gd name="T44" fmla="*/ 46 w 537"/>
              <a:gd name="T45" fmla="*/ 311 h 623"/>
              <a:gd name="T46" fmla="*/ 46 w 537"/>
              <a:gd name="T47" fmla="*/ 182 h 623"/>
              <a:gd name="T48" fmla="*/ 157 w 537"/>
              <a:gd name="T49" fmla="*/ 117 h 623"/>
              <a:gd name="T50" fmla="*/ 269 w 537"/>
              <a:gd name="T51" fmla="*/ 53 h 623"/>
              <a:gd name="T52" fmla="*/ 215 w 537"/>
              <a:gd name="T53" fmla="*/ 455 h 623"/>
              <a:gd name="T54" fmla="*/ 367 w 537"/>
              <a:gd name="T55" fmla="*/ 455 h 623"/>
              <a:gd name="T56" fmla="*/ 375 w 537"/>
              <a:gd name="T57" fmla="*/ 463 h 623"/>
              <a:gd name="T58" fmla="*/ 367 w 537"/>
              <a:gd name="T59" fmla="*/ 471 h 623"/>
              <a:gd name="T60" fmla="*/ 215 w 537"/>
              <a:gd name="T61" fmla="*/ 471 h 623"/>
              <a:gd name="T62" fmla="*/ 207 w 537"/>
              <a:gd name="T63" fmla="*/ 463 h 623"/>
              <a:gd name="T64" fmla="*/ 215 w 537"/>
              <a:gd name="T65" fmla="*/ 455 h 623"/>
              <a:gd name="T66" fmla="*/ 218 w 537"/>
              <a:gd name="T67" fmla="*/ 380 h 623"/>
              <a:gd name="T68" fmla="*/ 302 w 537"/>
              <a:gd name="T69" fmla="*/ 242 h 623"/>
              <a:gd name="T70" fmla="*/ 331 w 537"/>
              <a:gd name="T71" fmla="*/ 260 h 623"/>
              <a:gd name="T72" fmla="*/ 248 w 537"/>
              <a:gd name="T73" fmla="*/ 398 h 623"/>
              <a:gd name="T74" fmla="*/ 218 w 537"/>
              <a:gd name="T75" fmla="*/ 380 h 623"/>
              <a:gd name="T76" fmla="*/ 159 w 537"/>
              <a:gd name="T77" fmla="*/ 344 h 623"/>
              <a:gd name="T78" fmla="*/ 243 w 537"/>
              <a:gd name="T79" fmla="*/ 207 h 623"/>
              <a:gd name="T80" fmla="*/ 272 w 537"/>
              <a:gd name="T81" fmla="*/ 224 h 623"/>
              <a:gd name="T82" fmla="*/ 189 w 537"/>
              <a:gd name="T83" fmla="*/ 362 h 623"/>
              <a:gd name="T84" fmla="*/ 159 w 537"/>
              <a:gd name="T85" fmla="*/ 344 h 623"/>
              <a:gd name="T86" fmla="*/ 146 w 537"/>
              <a:gd name="T87" fmla="*/ 456 h 623"/>
              <a:gd name="T88" fmla="*/ 154 w 537"/>
              <a:gd name="T89" fmla="*/ 387 h 623"/>
              <a:gd name="T90" fmla="*/ 211 w 537"/>
              <a:gd name="T91" fmla="*/ 422 h 623"/>
              <a:gd name="T92" fmla="*/ 155 w 537"/>
              <a:gd name="T93" fmla="*/ 461 h 623"/>
              <a:gd name="T94" fmla="*/ 146 w 537"/>
              <a:gd name="T95" fmla="*/ 456 h 623"/>
              <a:gd name="T96" fmla="*/ 266 w 537"/>
              <a:gd name="T97" fmla="*/ 168 h 623"/>
              <a:gd name="T98" fmla="*/ 253 w 537"/>
              <a:gd name="T99" fmla="*/ 188 h 623"/>
              <a:gd name="T100" fmla="*/ 342 w 537"/>
              <a:gd name="T101" fmla="*/ 242 h 623"/>
              <a:gd name="T102" fmla="*/ 354 w 537"/>
              <a:gd name="T103" fmla="*/ 222 h 623"/>
              <a:gd name="T104" fmla="*/ 266 w 537"/>
              <a:gd name="T105" fmla="*/ 168 h 623"/>
              <a:gd name="T106" fmla="*/ 285 w 537"/>
              <a:gd name="T107" fmla="*/ 138 h 623"/>
              <a:gd name="T108" fmla="*/ 311 w 537"/>
              <a:gd name="T109" fmla="*/ 131 h 623"/>
              <a:gd name="T110" fmla="*/ 366 w 537"/>
              <a:gd name="T111" fmla="*/ 165 h 623"/>
              <a:gd name="T112" fmla="*/ 373 w 537"/>
              <a:gd name="T113" fmla="*/ 191 h 623"/>
              <a:gd name="T114" fmla="*/ 365 w 537"/>
              <a:gd name="T115" fmla="*/ 204 h 623"/>
              <a:gd name="T116" fmla="*/ 277 w 537"/>
              <a:gd name="T117" fmla="*/ 150 h 623"/>
              <a:gd name="T118" fmla="*/ 285 w 537"/>
              <a:gd name="T119" fmla="*/ 138 h 6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37" h="623">
                <a:moveTo>
                  <a:pt x="269" y="0"/>
                </a:moveTo>
                <a:lnTo>
                  <a:pt x="403" y="78"/>
                </a:lnTo>
                <a:lnTo>
                  <a:pt x="537" y="156"/>
                </a:lnTo>
                <a:lnTo>
                  <a:pt x="537" y="311"/>
                </a:lnTo>
                <a:lnTo>
                  <a:pt x="537" y="467"/>
                </a:lnTo>
                <a:lnTo>
                  <a:pt x="403" y="545"/>
                </a:lnTo>
                <a:lnTo>
                  <a:pt x="269" y="623"/>
                </a:lnTo>
                <a:lnTo>
                  <a:pt x="134" y="545"/>
                </a:lnTo>
                <a:lnTo>
                  <a:pt x="0" y="467"/>
                </a:lnTo>
                <a:lnTo>
                  <a:pt x="0" y="311"/>
                </a:lnTo>
                <a:lnTo>
                  <a:pt x="0" y="156"/>
                </a:lnTo>
                <a:lnTo>
                  <a:pt x="134" y="78"/>
                </a:lnTo>
                <a:lnTo>
                  <a:pt x="269" y="0"/>
                </a:lnTo>
                <a:close/>
                <a:moveTo>
                  <a:pt x="269" y="53"/>
                </a:moveTo>
                <a:lnTo>
                  <a:pt x="380" y="117"/>
                </a:lnTo>
                <a:lnTo>
                  <a:pt x="492" y="182"/>
                </a:lnTo>
                <a:lnTo>
                  <a:pt x="492" y="311"/>
                </a:lnTo>
                <a:lnTo>
                  <a:pt x="492" y="441"/>
                </a:lnTo>
                <a:lnTo>
                  <a:pt x="380" y="505"/>
                </a:lnTo>
                <a:lnTo>
                  <a:pt x="269" y="570"/>
                </a:lnTo>
                <a:lnTo>
                  <a:pt x="157" y="505"/>
                </a:lnTo>
                <a:lnTo>
                  <a:pt x="46" y="441"/>
                </a:lnTo>
                <a:lnTo>
                  <a:pt x="46" y="311"/>
                </a:lnTo>
                <a:lnTo>
                  <a:pt x="46" y="182"/>
                </a:lnTo>
                <a:lnTo>
                  <a:pt x="157" y="117"/>
                </a:lnTo>
                <a:lnTo>
                  <a:pt x="269" y="53"/>
                </a:lnTo>
                <a:close/>
                <a:moveTo>
                  <a:pt x="215" y="455"/>
                </a:moveTo>
                <a:lnTo>
                  <a:pt x="367" y="455"/>
                </a:lnTo>
                <a:cubicBezTo>
                  <a:pt x="371" y="455"/>
                  <a:pt x="375" y="458"/>
                  <a:pt x="375" y="463"/>
                </a:cubicBezTo>
                <a:cubicBezTo>
                  <a:pt x="375" y="467"/>
                  <a:pt x="371" y="471"/>
                  <a:pt x="367" y="471"/>
                </a:cubicBezTo>
                <a:lnTo>
                  <a:pt x="215" y="471"/>
                </a:lnTo>
                <a:cubicBezTo>
                  <a:pt x="211" y="471"/>
                  <a:pt x="207" y="467"/>
                  <a:pt x="207" y="463"/>
                </a:cubicBezTo>
                <a:cubicBezTo>
                  <a:pt x="207" y="458"/>
                  <a:pt x="211" y="455"/>
                  <a:pt x="215" y="455"/>
                </a:cubicBezTo>
                <a:close/>
                <a:moveTo>
                  <a:pt x="218" y="380"/>
                </a:moveTo>
                <a:lnTo>
                  <a:pt x="302" y="242"/>
                </a:lnTo>
                <a:lnTo>
                  <a:pt x="331" y="260"/>
                </a:lnTo>
                <a:lnTo>
                  <a:pt x="248" y="398"/>
                </a:lnTo>
                <a:lnTo>
                  <a:pt x="218" y="380"/>
                </a:lnTo>
                <a:close/>
                <a:moveTo>
                  <a:pt x="159" y="344"/>
                </a:moveTo>
                <a:lnTo>
                  <a:pt x="243" y="207"/>
                </a:lnTo>
                <a:lnTo>
                  <a:pt x="272" y="224"/>
                </a:lnTo>
                <a:lnTo>
                  <a:pt x="189" y="362"/>
                </a:lnTo>
                <a:lnTo>
                  <a:pt x="159" y="344"/>
                </a:lnTo>
                <a:close/>
                <a:moveTo>
                  <a:pt x="146" y="456"/>
                </a:moveTo>
                <a:lnTo>
                  <a:pt x="154" y="387"/>
                </a:lnTo>
                <a:lnTo>
                  <a:pt x="211" y="422"/>
                </a:lnTo>
                <a:lnTo>
                  <a:pt x="155" y="461"/>
                </a:lnTo>
                <a:cubicBezTo>
                  <a:pt x="149" y="465"/>
                  <a:pt x="145" y="463"/>
                  <a:pt x="146" y="456"/>
                </a:cubicBezTo>
                <a:close/>
                <a:moveTo>
                  <a:pt x="266" y="168"/>
                </a:moveTo>
                <a:lnTo>
                  <a:pt x="253" y="188"/>
                </a:lnTo>
                <a:lnTo>
                  <a:pt x="342" y="242"/>
                </a:lnTo>
                <a:lnTo>
                  <a:pt x="354" y="222"/>
                </a:lnTo>
                <a:lnTo>
                  <a:pt x="266" y="168"/>
                </a:lnTo>
                <a:close/>
                <a:moveTo>
                  <a:pt x="285" y="138"/>
                </a:moveTo>
                <a:cubicBezTo>
                  <a:pt x="290" y="129"/>
                  <a:pt x="302" y="126"/>
                  <a:pt x="311" y="131"/>
                </a:cubicBezTo>
                <a:lnTo>
                  <a:pt x="366" y="165"/>
                </a:lnTo>
                <a:cubicBezTo>
                  <a:pt x="375" y="170"/>
                  <a:pt x="378" y="182"/>
                  <a:pt x="373" y="191"/>
                </a:cubicBezTo>
                <a:lnTo>
                  <a:pt x="365" y="204"/>
                </a:lnTo>
                <a:lnTo>
                  <a:pt x="277" y="150"/>
                </a:lnTo>
                <a:lnTo>
                  <a:pt x="285" y="138"/>
                </a:lnTo>
                <a:close/>
              </a:path>
            </a:pathLst>
          </a:custGeom>
          <a:solidFill>
            <a:schemeClr val="bg1"/>
          </a:solidFill>
          <a:ln>
            <a:noFill/>
          </a:ln>
        </p:spPr>
        <p:txBody>
          <a:bodyPr vert="horz" wrap="square" lIns="91392" tIns="45696" rIns="91392" bIns="45696" numCol="1" anchor="t" anchorCtr="0" compatLnSpc="1"/>
          <a:lstStyle/>
          <a:p>
            <a:endParaRPr lang="zh-CN" altLang="en-US" sz="1799">
              <a:solidFill>
                <a:schemeClr val="bg1"/>
              </a:solidFill>
            </a:endParaRPr>
          </a:p>
        </p:txBody>
      </p:sp>
    </p:spTree>
    <p:extLst>
      <p:ext uri="{BB962C8B-B14F-4D97-AF65-F5344CB8AC3E}">
        <p14:creationId xmlns:p14="http://schemas.microsoft.com/office/powerpoint/2010/main" val="1247057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1"/>
            </p:custDataLst>
          </p:nvPr>
        </p:nvSpPr>
        <p:spPr>
          <a:xfrm>
            <a:off x="1198800" y="914400"/>
            <a:ext cx="9799200" cy="2570400"/>
          </a:xfrm>
          <a:prstGeom prst="rect">
            <a:avLst/>
          </a:prstGeom>
        </p:spPr>
        <p:txBody>
          <a:bodyPr lIns="90000" tIns="46800" rIns="90000" bIns="46800" anchor="b" anchorCtr="0">
            <a:normAutofit/>
          </a:bodyPr>
          <a:lstStyle>
            <a:lvl1pPr algn="ctr">
              <a:defRPr sz="6000"/>
            </a:lvl1pPr>
          </a:lstStyle>
          <a:p>
            <a:r>
              <a:rPr lang="zh-CN" altLang="en-US" dirty="0"/>
              <a:t>单击此处编辑母版标题样式</a:t>
            </a:r>
          </a:p>
        </p:txBody>
      </p:sp>
      <p:sp>
        <p:nvSpPr>
          <p:cNvPr id="3" name="副标题 2"/>
          <p:cNvSpPr>
            <a:spLocks noGrp="1"/>
          </p:cNvSpPr>
          <p:nvPr>
            <p:ph type="subTitle" idx="1"/>
            <p:custDataLst>
              <p:tags r:id="rId2"/>
            </p:custDataLst>
          </p:nvPr>
        </p:nvSpPr>
        <p:spPr>
          <a:xfrm>
            <a:off x="1198800" y="3560400"/>
            <a:ext cx="9799200" cy="1472400"/>
          </a:xfrm>
          <a:prstGeom prst="rect">
            <a:avLst/>
          </a:prstGeo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6" name="日期占位符 15"/>
          <p:cNvSpPr>
            <a:spLocks noGrp="1"/>
          </p:cNvSpPr>
          <p:nvPr>
            <p:ph type="dt" sz="half" idx="10"/>
            <p:custDataLst>
              <p:tags r:id="rId3"/>
            </p:custDataLst>
          </p:nvPr>
        </p:nvSpPr>
        <p:spPr>
          <a:xfrm>
            <a:off x="612000" y="6314400"/>
            <a:ext cx="2700000" cy="316800"/>
          </a:xfrm>
          <a:prstGeom prst="rect">
            <a:avLst/>
          </a:prstGeom>
        </p:spPr>
        <p:txBody>
          <a:bodyPr/>
          <a:lstStyle/>
          <a:p>
            <a:fld id="{760FBDFE-C587-4B4C-A407-44438C67B59E}" type="datetimeFigureOut">
              <a:rPr lang="zh-CN" altLang="en-US" smtClean="0"/>
              <a:t>2026-10-08</a:t>
            </a:fld>
            <a:endParaRPr lang="zh-CN" altLang="en-US"/>
          </a:p>
        </p:txBody>
      </p:sp>
      <p:sp>
        <p:nvSpPr>
          <p:cNvPr id="17" name="页脚占位符 16"/>
          <p:cNvSpPr>
            <a:spLocks noGrp="1"/>
          </p:cNvSpPr>
          <p:nvPr>
            <p:ph type="ftr" sz="quarter" idx="11"/>
            <p:custDataLst>
              <p:tags r:id="rId4"/>
            </p:custDataLst>
          </p:nvPr>
        </p:nvSpPr>
        <p:spPr>
          <a:xfrm>
            <a:off x="4116000" y="6314400"/>
            <a:ext cx="3960000" cy="316800"/>
          </a:xfrm>
          <a:prstGeom prst="rect">
            <a:avLst/>
          </a:prstGeom>
        </p:spPr>
        <p:txBody>
          <a:bodyPr/>
          <a:lstStyle/>
          <a:p>
            <a:endParaRPr lang="zh-CN" altLang="en-US" dirty="0"/>
          </a:p>
        </p:txBody>
      </p:sp>
      <p:sp>
        <p:nvSpPr>
          <p:cNvPr id="18" name="灯片编号占位符 17"/>
          <p:cNvSpPr>
            <a:spLocks noGrp="1"/>
          </p:cNvSpPr>
          <p:nvPr>
            <p:ph type="sldNum" sz="quarter" idx="12"/>
            <p:custDataLst>
              <p:tags r:id="rId5"/>
            </p:custDataLst>
          </p:nvPr>
        </p:nvSpPr>
        <p:spPr>
          <a:xfrm>
            <a:off x="8877600" y="6314400"/>
            <a:ext cx="2700000" cy="316800"/>
          </a:xfrm>
          <a:prstGeom prst="rect">
            <a:avLst/>
          </a:prstGeom>
        </p:spPr>
        <p:txBody>
          <a:bodyPr/>
          <a:lstStyle/>
          <a:p>
            <a:fld id="{49AE70B2-8BF9-45C0-BB95-33D1B9D3A854}" type="slidenum">
              <a:rPr lang="zh-CN" altLang="en-US" smtClean="0"/>
              <a:t>‹#›</a:t>
            </a:fld>
            <a:endParaRPr lang="zh-CN" altLang="en-US" dirty="0"/>
          </a:p>
        </p:txBody>
      </p:sp>
    </p:spTree>
    <p:extLst>
      <p:ext uri="{BB962C8B-B14F-4D97-AF65-F5344CB8AC3E}">
        <p14:creationId xmlns:p14="http://schemas.microsoft.com/office/powerpoint/2010/main" val="6779059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p:cNvSpPr>
            <a:spLocks noGrp="1"/>
          </p:cNvSpPr>
          <p:nvPr>
            <p:ph type="dt" sz="half" idx="10"/>
          </p:nvPr>
        </p:nvSpPr>
        <p:spPr/>
        <p:txBody>
          <a:bodyPr/>
          <a:lstStyle/>
          <a:p>
            <a:fld id="{19AE1DC0-3865-3A45-B836-59319E47BDBC}" type="datetime1">
              <a:rPr kumimoji="1" lang="en-US" altLang="zh-CN" smtClean="0"/>
              <a:t>10/8/2026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4081881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182B435F-D81D-F24C-AE2A-02439BD2556F}" type="datetime1">
              <a:rPr kumimoji="1" lang="en-US" altLang="zh-CN" smtClean="0"/>
              <a:t>10/8/2026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6734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zh-CN" altLang="en-US"/>
              <a:t>单击此处编辑母版文本样式</a:t>
            </a:r>
          </a:p>
        </p:txBody>
      </p:sp>
      <p:sp>
        <p:nvSpPr>
          <p:cNvPr id="4" name="日期占位符 3"/>
          <p:cNvSpPr>
            <a:spLocks noGrp="1"/>
          </p:cNvSpPr>
          <p:nvPr>
            <p:ph type="dt" sz="half" idx="10"/>
          </p:nvPr>
        </p:nvSpPr>
        <p:spPr/>
        <p:txBody>
          <a:bodyPr/>
          <a:lstStyle/>
          <a:p>
            <a:fld id="{4EE211CD-FC2C-FA4A-980F-2363766784BD}" type="datetime1">
              <a:rPr kumimoji="1" lang="en-US" altLang="zh-CN" smtClean="0"/>
              <a:t>10/8/2026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5447586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p:cNvSpPr>
            <a:spLocks noGrp="1"/>
          </p:cNvSpPr>
          <p:nvPr>
            <p:ph type="dt" sz="half" idx="10"/>
          </p:nvPr>
        </p:nvSpPr>
        <p:spPr/>
        <p:txBody>
          <a:bodyPr/>
          <a:lstStyle/>
          <a:p>
            <a:fld id="{7F3BF7DF-236F-844E-A432-F963B136F83A}" type="datetime1">
              <a:rPr kumimoji="1" lang="en-US" altLang="zh-CN" smtClean="0"/>
              <a:t>10/8/2026</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15564629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p:cNvSpPr>
            <a:spLocks noGrp="1"/>
          </p:cNvSpPr>
          <p:nvPr>
            <p:ph type="dt" sz="half" idx="10"/>
          </p:nvPr>
        </p:nvSpPr>
        <p:spPr/>
        <p:txBody>
          <a:bodyPr/>
          <a:lstStyle/>
          <a:p>
            <a:fld id="{0BE3B809-AD63-E048-940C-FC09FC5185C6}" type="datetime1">
              <a:rPr kumimoji="1" lang="en-US" altLang="zh-CN" smtClean="0"/>
              <a:t>10/8/2026</a:t>
            </a:fld>
            <a:endParaRPr kumimoji="1" lang="zh-CN" altLang="en-US"/>
          </a:p>
        </p:txBody>
      </p:sp>
      <p:sp>
        <p:nvSpPr>
          <p:cNvPr id="8" name="页脚占位符 7"/>
          <p:cNvSpPr>
            <a:spLocks noGrp="1"/>
          </p:cNvSpPr>
          <p:nvPr>
            <p:ph type="ftr" sz="quarter" idx="11"/>
          </p:nvPr>
        </p:nvSpPr>
        <p:spPr/>
        <p:txBody>
          <a:bodyPr/>
          <a:lstStyle/>
          <a:p>
            <a:endParaRPr kumimoji="1" lang="zh-CN" altLang="en-US"/>
          </a:p>
        </p:txBody>
      </p:sp>
      <p:sp>
        <p:nvSpPr>
          <p:cNvPr id="9" name="灯片编号占位符 8"/>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1079691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日期占位符 2"/>
          <p:cNvSpPr>
            <a:spLocks noGrp="1"/>
          </p:cNvSpPr>
          <p:nvPr>
            <p:ph type="dt" sz="half" idx="10"/>
          </p:nvPr>
        </p:nvSpPr>
        <p:spPr/>
        <p:txBody>
          <a:bodyPr/>
          <a:lstStyle/>
          <a:p>
            <a:fld id="{D3C80787-7D7E-6544-AA98-AAC6E9857BBA}" type="datetime1">
              <a:rPr kumimoji="1" lang="en-US" altLang="zh-CN" smtClean="0"/>
              <a:t>10/8/2026</a:t>
            </a:fld>
            <a:endParaRPr kumimoji="1" lang="zh-CN" altLang="en-US"/>
          </a:p>
        </p:txBody>
      </p:sp>
      <p:sp>
        <p:nvSpPr>
          <p:cNvPr id="4" name="页脚占位符 3"/>
          <p:cNvSpPr>
            <a:spLocks noGrp="1"/>
          </p:cNvSpPr>
          <p:nvPr>
            <p:ph type="ftr" sz="quarter" idx="11"/>
          </p:nvPr>
        </p:nvSpPr>
        <p:spPr/>
        <p:txBody>
          <a:bodyPr/>
          <a:lstStyle/>
          <a:p>
            <a:endParaRPr kumimoji="1" lang="zh-CN" altLang="en-US"/>
          </a:p>
        </p:txBody>
      </p:sp>
      <p:sp>
        <p:nvSpPr>
          <p:cNvPr id="5" name="灯片编号占位符 4"/>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2461792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B275676-413E-D24D-909C-E4E6E1AED578}" type="datetime1">
              <a:rPr kumimoji="1" lang="en-US" altLang="zh-CN" smtClean="0"/>
              <a:t>10/8/2026</a:t>
            </a:fld>
            <a:endParaRPr kumimoji="1" lang="zh-CN" altLang="en-US"/>
          </a:p>
        </p:txBody>
      </p:sp>
      <p:sp>
        <p:nvSpPr>
          <p:cNvPr id="3" name="页脚占位符 2"/>
          <p:cNvSpPr>
            <a:spLocks noGrp="1"/>
          </p:cNvSpPr>
          <p:nvPr>
            <p:ph type="ftr" sz="quarter" idx="11"/>
          </p:nvPr>
        </p:nvSpPr>
        <p:spPr/>
        <p:txBody>
          <a:bodyPr/>
          <a:lstStyle/>
          <a:p>
            <a:endParaRPr kumimoji="1" lang="zh-CN" altLang="en-US"/>
          </a:p>
        </p:txBody>
      </p:sp>
      <p:sp>
        <p:nvSpPr>
          <p:cNvPr id="4" name="灯片编号占位符 3"/>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24736630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F700A930-E608-CF4A-A485-F224C56C2964}" type="datetime1">
              <a:rPr kumimoji="1" lang="en-US" altLang="zh-CN" smtClean="0"/>
              <a:t>10/8/2026</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4005909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43DD169B-B87B-324D-A913-5FA478E8DB64}" type="datetime1">
              <a:rPr kumimoji="1" lang="en-US" altLang="zh-CN" smtClean="0"/>
              <a:t>10/8/2026</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2354319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竖排文字占位符 2"/>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E4D91151-082D-174F-8EEE-2F6759882522}" type="datetime1">
              <a:rPr kumimoji="1" lang="en-US" altLang="zh-CN" smtClean="0"/>
              <a:t>10/8/2026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0560549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431E3DAE-663A-C94D-B49E-6E4E02A1B1D4}" type="datetime1">
              <a:rPr kumimoji="1" lang="en-US" altLang="zh-CN" smtClean="0"/>
              <a:t>10/8/2026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4084880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
        <p:nvSpPr>
          <p:cNvPr id="2" name="灯片编号占位符 5">
            <a:extLst>
              <a:ext uri="{FF2B5EF4-FFF2-40B4-BE49-F238E27FC236}">
                <a16:creationId xmlns:a16="http://schemas.microsoft.com/office/drawing/2014/main" id="{30394CE8-B549-4B94-8243-C6AC1F0F361F}"/>
              </a:ext>
            </a:extLst>
          </p:cNvPr>
          <p:cNvSpPr>
            <a:spLocks noGrp="1"/>
          </p:cNvSpPr>
          <p:nvPr>
            <p:ph type="sldNum" sz="quarter" idx="12"/>
          </p:nvPr>
        </p:nvSpPr>
        <p:spPr>
          <a:xfrm>
            <a:off x="9448800" y="3175"/>
            <a:ext cx="2743200" cy="365125"/>
          </a:xfrm>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8768757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
        <p:nvSpPr>
          <p:cNvPr id="9" name="灯片编号占位符 8">
            <a:extLst>
              <a:ext uri="{FF2B5EF4-FFF2-40B4-BE49-F238E27FC236}">
                <a16:creationId xmlns:a16="http://schemas.microsoft.com/office/drawing/2014/main" id="{F20BC0AC-E269-4A25-BD45-B2FEE929984C}"/>
              </a:ext>
            </a:extLst>
          </p:cNvPr>
          <p:cNvSpPr>
            <a:spLocks noGrp="1"/>
          </p:cNvSpPr>
          <p:nvPr>
            <p:ph type="sldNum" sz="quarter" idx="12"/>
          </p:nvPr>
        </p:nvSpPr>
        <p:spPr>
          <a:xfrm>
            <a:off x="9217429" y="279762"/>
            <a:ext cx="2743200" cy="365125"/>
          </a:xfrm>
        </p:spPr>
        <p:txBody>
          <a:bodyPr/>
          <a:lstStyle>
            <a:lvl1pPr>
              <a:defRPr sz="2800">
                <a:solidFill>
                  <a:schemeClr val="tx1"/>
                </a:solidFill>
                <a:latin typeface="Arial" panose="020B0604020202020204" pitchFamily="34" charset="0"/>
                <a:cs typeface="Arial" panose="020B0604020202020204" pitchFamily="34" charset="0"/>
              </a:defRPr>
            </a:lvl1pPr>
          </a:lstStyle>
          <a:p>
            <a:fld id="{28102BB4-1A71-40EF-96ED-60976E04CDEE}" type="slidenum">
              <a:rPr lang="zh-CN" altLang="en-US" smtClean="0"/>
              <a:pPr/>
              <a:t>‹#›</a:t>
            </a:fld>
            <a:endParaRPr lang="zh-CN" altLang="en-US" dirty="0"/>
          </a:p>
        </p:txBody>
      </p:sp>
      <p:sp>
        <p:nvSpPr>
          <p:cNvPr id="10" name="任意多边形: 形状 9">
            <a:extLst>
              <a:ext uri="{FF2B5EF4-FFF2-40B4-BE49-F238E27FC236}">
                <a16:creationId xmlns:a16="http://schemas.microsoft.com/office/drawing/2014/main" id="{DC7F1A6D-0470-4F22-A256-9753C0C66347}"/>
              </a:ext>
            </a:extLst>
          </p:cNvPr>
          <p:cNvSpPr/>
          <p:nvPr userDrawn="1"/>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b="1">
              <a:solidFill>
                <a:schemeClr val="bg1"/>
              </a:solidFill>
              <a:latin typeface="Calibri" panose="020F0502020204030204" pitchFamily="34" charset="0"/>
              <a:ea typeface="黑体" panose="02010609060101010101" pitchFamily="49" charset="-122"/>
              <a:cs typeface="Calibri" panose="020F0502020204030204" pitchFamily="34" charset="0"/>
            </a:endParaRPr>
          </a:p>
        </p:txBody>
      </p:sp>
    </p:spTree>
    <p:extLst>
      <p:ext uri="{BB962C8B-B14F-4D97-AF65-F5344CB8AC3E}">
        <p14:creationId xmlns:p14="http://schemas.microsoft.com/office/powerpoint/2010/main" val="21583177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
        <p:nvSpPr>
          <p:cNvPr id="4" name="矩形 3"/>
          <p:cNvSpPr/>
          <p:nvPr userDrawn="1"/>
        </p:nvSpPr>
        <p:spPr>
          <a:xfrm>
            <a:off x="493634" y="0"/>
            <a:ext cx="714526" cy="1179982"/>
          </a:xfrm>
          <a:prstGeom prst="rect">
            <a:avLst/>
          </a:prstGeom>
          <a:solidFill>
            <a:srgbClr val="444D57"/>
          </a:solidFill>
          <a:ln>
            <a:noFill/>
          </a:ln>
          <a:effectLst>
            <a:outerShdw blurRad="101600" dist="38100" dir="2700000" algn="tl"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标题 1"/>
          <p:cNvSpPr>
            <a:spLocks noGrp="1"/>
          </p:cNvSpPr>
          <p:nvPr>
            <p:ph type="title" hasCustomPrompt="1"/>
          </p:nvPr>
        </p:nvSpPr>
        <p:spPr>
          <a:xfrm>
            <a:off x="1457698" y="551761"/>
            <a:ext cx="3629564" cy="456129"/>
          </a:xfrm>
          <a:prstGeom prst="rect">
            <a:avLst/>
          </a:prstGeom>
        </p:spPr>
        <p:txBody>
          <a:bodyPr>
            <a:noAutofit/>
          </a:bodyPr>
          <a:lstStyle>
            <a:lvl1pPr>
              <a:defRPr sz="2400" b="1">
                <a:solidFill>
                  <a:srgbClr val="211E20"/>
                </a:solidFill>
                <a:ea typeface="思源黑体" panose="020B0500000000000000" pitchFamily="34" charset="-122"/>
              </a:defRPr>
            </a:lvl1pPr>
          </a:lstStyle>
          <a:p>
            <a:r>
              <a:rPr lang="zh-CN" altLang="en-US"/>
              <a:t>单击编辑标题</a:t>
            </a:r>
          </a:p>
        </p:txBody>
      </p:sp>
      <p:sp>
        <p:nvSpPr>
          <p:cNvPr id="9" name="Freeform 5"/>
          <p:cNvSpPr>
            <a:spLocks noEditPoints="1"/>
          </p:cNvSpPr>
          <p:nvPr userDrawn="1"/>
        </p:nvSpPr>
        <p:spPr bwMode="auto">
          <a:xfrm>
            <a:off x="635500" y="530700"/>
            <a:ext cx="441095" cy="525190"/>
          </a:xfrm>
          <a:custGeom>
            <a:avLst/>
            <a:gdLst>
              <a:gd name="T0" fmla="*/ 269 w 537"/>
              <a:gd name="T1" fmla="*/ 0 h 623"/>
              <a:gd name="T2" fmla="*/ 403 w 537"/>
              <a:gd name="T3" fmla="*/ 78 h 623"/>
              <a:gd name="T4" fmla="*/ 537 w 537"/>
              <a:gd name="T5" fmla="*/ 156 h 623"/>
              <a:gd name="T6" fmla="*/ 537 w 537"/>
              <a:gd name="T7" fmla="*/ 311 h 623"/>
              <a:gd name="T8" fmla="*/ 537 w 537"/>
              <a:gd name="T9" fmla="*/ 467 h 623"/>
              <a:gd name="T10" fmla="*/ 403 w 537"/>
              <a:gd name="T11" fmla="*/ 545 h 623"/>
              <a:gd name="T12" fmla="*/ 269 w 537"/>
              <a:gd name="T13" fmla="*/ 623 h 623"/>
              <a:gd name="T14" fmla="*/ 134 w 537"/>
              <a:gd name="T15" fmla="*/ 545 h 623"/>
              <a:gd name="T16" fmla="*/ 0 w 537"/>
              <a:gd name="T17" fmla="*/ 467 h 623"/>
              <a:gd name="T18" fmla="*/ 0 w 537"/>
              <a:gd name="T19" fmla="*/ 311 h 623"/>
              <a:gd name="T20" fmla="*/ 0 w 537"/>
              <a:gd name="T21" fmla="*/ 156 h 623"/>
              <a:gd name="T22" fmla="*/ 134 w 537"/>
              <a:gd name="T23" fmla="*/ 78 h 623"/>
              <a:gd name="T24" fmla="*/ 269 w 537"/>
              <a:gd name="T25" fmla="*/ 0 h 623"/>
              <a:gd name="T26" fmla="*/ 269 w 537"/>
              <a:gd name="T27" fmla="*/ 53 h 623"/>
              <a:gd name="T28" fmla="*/ 380 w 537"/>
              <a:gd name="T29" fmla="*/ 117 h 623"/>
              <a:gd name="T30" fmla="*/ 492 w 537"/>
              <a:gd name="T31" fmla="*/ 182 h 623"/>
              <a:gd name="T32" fmla="*/ 492 w 537"/>
              <a:gd name="T33" fmla="*/ 311 h 623"/>
              <a:gd name="T34" fmla="*/ 492 w 537"/>
              <a:gd name="T35" fmla="*/ 441 h 623"/>
              <a:gd name="T36" fmla="*/ 380 w 537"/>
              <a:gd name="T37" fmla="*/ 505 h 623"/>
              <a:gd name="T38" fmla="*/ 269 w 537"/>
              <a:gd name="T39" fmla="*/ 570 h 623"/>
              <a:gd name="T40" fmla="*/ 157 w 537"/>
              <a:gd name="T41" fmla="*/ 505 h 623"/>
              <a:gd name="T42" fmla="*/ 46 w 537"/>
              <a:gd name="T43" fmla="*/ 441 h 623"/>
              <a:gd name="T44" fmla="*/ 46 w 537"/>
              <a:gd name="T45" fmla="*/ 311 h 623"/>
              <a:gd name="T46" fmla="*/ 46 w 537"/>
              <a:gd name="T47" fmla="*/ 182 h 623"/>
              <a:gd name="T48" fmla="*/ 157 w 537"/>
              <a:gd name="T49" fmla="*/ 117 h 623"/>
              <a:gd name="T50" fmla="*/ 269 w 537"/>
              <a:gd name="T51" fmla="*/ 53 h 623"/>
              <a:gd name="T52" fmla="*/ 215 w 537"/>
              <a:gd name="T53" fmla="*/ 455 h 623"/>
              <a:gd name="T54" fmla="*/ 367 w 537"/>
              <a:gd name="T55" fmla="*/ 455 h 623"/>
              <a:gd name="T56" fmla="*/ 375 w 537"/>
              <a:gd name="T57" fmla="*/ 463 h 623"/>
              <a:gd name="T58" fmla="*/ 367 w 537"/>
              <a:gd name="T59" fmla="*/ 471 h 623"/>
              <a:gd name="T60" fmla="*/ 215 w 537"/>
              <a:gd name="T61" fmla="*/ 471 h 623"/>
              <a:gd name="T62" fmla="*/ 207 w 537"/>
              <a:gd name="T63" fmla="*/ 463 h 623"/>
              <a:gd name="T64" fmla="*/ 215 w 537"/>
              <a:gd name="T65" fmla="*/ 455 h 623"/>
              <a:gd name="T66" fmla="*/ 218 w 537"/>
              <a:gd name="T67" fmla="*/ 380 h 623"/>
              <a:gd name="T68" fmla="*/ 302 w 537"/>
              <a:gd name="T69" fmla="*/ 242 h 623"/>
              <a:gd name="T70" fmla="*/ 331 w 537"/>
              <a:gd name="T71" fmla="*/ 260 h 623"/>
              <a:gd name="T72" fmla="*/ 248 w 537"/>
              <a:gd name="T73" fmla="*/ 398 h 623"/>
              <a:gd name="T74" fmla="*/ 218 w 537"/>
              <a:gd name="T75" fmla="*/ 380 h 623"/>
              <a:gd name="T76" fmla="*/ 159 w 537"/>
              <a:gd name="T77" fmla="*/ 344 h 623"/>
              <a:gd name="T78" fmla="*/ 243 w 537"/>
              <a:gd name="T79" fmla="*/ 207 h 623"/>
              <a:gd name="T80" fmla="*/ 272 w 537"/>
              <a:gd name="T81" fmla="*/ 224 h 623"/>
              <a:gd name="T82" fmla="*/ 189 w 537"/>
              <a:gd name="T83" fmla="*/ 362 h 623"/>
              <a:gd name="T84" fmla="*/ 159 w 537"/>
              <a:gd name="T85" fmla="*/ 344 h 623"/>
              <a:gd name="T86" fmla="*/ 146 w 537"/>
              <a:gd name="T87" fmla="*/ 456 h 623"/>
              <a:gd name="T88" fmla="*/ 154 w 537"/>
              <a:gd name="T89" fmla="*/ 387 h 623"/>
              <a:gd name="T90" fmla="*/ 211 w 537"/>
              <a:gd name="T91" fmla="*/ 422 h 623"/>
              <a:gd name="T92" fmla="*/ 155 w 537"/>
              <a:gd name="T93" fmla="*/ 461 h 623"/>
              <a:gd name="T94" fmla="*/ 146 w 537"/>
              <a:gd name="T95" fmla="*/ 456 h 623"/>
              <a:gd name="T96" fmla="*/ 266 w 537"/>
              <a:gd name="T97" fmla="*/ 168 h 623"/>
              <a:gd name="T98" fmla="*/ 253 w 537"/>
              <a:gd name="T99" fmla="*/ 188 h 623"/>
              <a:gd name="T100" fmla="*/ 342 w 537"/>
              <a:gd name="T101" fmla="*/ 242 h 623"/>
              <a:gd name="T102" fmla="*/ 354 w 537"/>
              <a:gd name="T103" fmla="*/ 222 h 623"/>
              <a:gd name="T104" fmla="*/ 266 w 537"/>
              <a:gd name="T105" fmla="*/ 168 h 623"/>
              <a:gd name="T106" fmla="*/ 285 w 537"/>
              <a:gd name="T107" fmla="*/ 138 h 623"/>
              <a:gd name="T108" fmla="*/ 311 w 537"/>
              <a:gd name="T109" fmla="*/ 131 h 623"/>
              <a:gd name="T110" fmla="*/ 366 w 537"/>
              <a:gd name="T111" fmla="*/ 165 h 623"/>
              <a:gd name="T112" fmla="*/ 373 w 537"/>
              <a:gd name="T113" fmla="*/ 191 h 623"/>
              <a:gd name="T114" fmla="*/ 365 w 537"/>
              <a:gd name="T115" fmla="*/ 204 h 623"/>
              <a:gd name="T116" fmla="*/ 277 w 537"/>
              <a:gd name="T117" fmla="*/ 150 h 623"/>
              <a:gd name="T118" fmla="*/ 285 w 537"/>
              <a:gd name="T119" fmla="*/ 138 h 6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37" h="623">
                <a:moveTo>
                  <a:pt x="269" y="0"/>
                </a:moveTo>
                <a:lnTo>
                  <a:pt x="403" y="78"/>
                </a:lnTo>
                <a:lnTo>
                  <a:pt x="537" y="156"/>
                </a:lnTo>
                <a:lnTo>
                  <a:pt x="537" y="311"/>
                </a:lnTo>
                <a:lnTo>
                  <a:pt x="537" y="467"/>
                </a:lnTo>
                <a:lnTo>
                  <a:pt x="403" y="545"/>
                </a:lnTo>
                <a:lnTo>
                  <a:pt x="269" y="623"/>
                </a:lnTo>
                <a:lnTo>
                  <a:pt x="134" y="545"/>
                </a:lnTo>
                <a:lnTo>
                  <a:pt x="0" y="467"/>
                </a:lnTo>
                <a:lnTo>
                  <a:pt x="0" y="311"/>
                </a:lnTo>
                <a:lnTo>
                  <a:pt x="0" y="156"/>
                </a:lnTo>
                <a:lnTo>
                  <a:pt x="134" y="78"/>
                </a:lnTo>
                <a:lnTo>
                  <a:pt x="269" y="0"/>
                </a:lnTo>
                <a:close/>
                <a:moveTo>
                  <a:pt x="269" y="53"/>
                </a:moveTo>
                <a:lnTo>
                  <a:pt x="380" y="117"/>
                </a:lnTo>
                <a:lnTo>
                  <a:pt x="492" y="182"/>
                </a:lnTo>
                <a:lnTo>
                  <a:pt x="492" y="311"/>
                </a:lnTo>
                <a:lnTo>
                  <a:pt x="492" y="441"/>
                </a:lnTo>
                <a:lnTo>
                  <a:pt x="380" y="505"/>
                </a:lnTo>
                <a:lnTo>
                  <a:pt x="269" y="570"/>
                </a:lnTo>
                <a:lnTo>
                  <a:pt x="157" y="505"/>
                </a:lnTo>
                <a:lnTo>
                  <a:pt x="46" y="441"/>
                </a:lnTo>
                <a:lnTo>
                  <a:pt x="46" y="311"/>
                </a:lnTo>
                <a:lnTo>
                  <a:pt x="46" y="182"/>
                </a:lnTo>
                <a:lnTo>
                  <a:pt x="157" y="117"/>
                </a:lnTo>
                <a:lnTo>
                  <a:pt x="269" y="53"/>
                </a:lnTo>
                <a:close/>
                <a:moveTo>
                  <a:pt x="215" y="455"/>
                </a:moveTo>
                <a:lnTo>
                  <a:pt x="367" y="455"/>
                </a:lnTo>
                <a:cubicBezTo>
                  <a:pt x="371" y="455"/>
                  <a:pt x="375" y="458"/>
                  <a:pt x="375" y="463"/>
                </a:cubicBezTo>
                <a:cubicBezTo>
                  <a:pt x="375" y="467"/>
                  <a:pt x="371" y="471"/>
                  <a:pt x="367" y="471"/>
                </a:cubicBezTo>
                <a:lnTo>
                  <a:pt x="215" y="471"/>
                </a:lnTo>
                <a:cubicBezTo>
                  <a:pt x="211" y="471"/>
                  <a:pt x="207" y="467"/>
                  <a:pt x="207" y="463"/>
                </a:cubicBezTo>
                <a:cubicBezTo>
                  <a:pt x="207" y="458"/>
                  <a:pt x="211" y="455"/>
                  <a:pt x="215" y="455"/>
                </a:cubicBezTo>
                <a:close/>
                <a:moveTo>
                  <a:pt x="218" y="380"/>
                </a:moveTo>
                <a:lnTo>
                  <a:pt x="302" y="242"/>
                </a:lnTo>
                <a:lnTo>
                  <a:pt x="331" y="260"/>
                </a:lnTo>
                <a:lnTo>
                  <a:pt x="248" y="398"/>
                </a:lnTo>
                <a:lnTo>
                  <a:pt x="218" y="380"/>
                </a:lnTo>
                <a:close/>
                <a:moveTo>
                  <a:pt x="159" y="344"/>
                </a:moveTo>
                <a:lnTo>
                  <a:pt x="243" y="207"/>
                </a:lnTo>
                <a:lnTo>
                  <a:pt x="272" y="224"/>
                </a:lnTo>
                <a:lnTo>
                  <a:pt x="189" y="362"/>
                </a:lnTo>
                <a:lnTo>
                  <a:pt x="159" y="344"/>
                </a:lnTo>
                <a:close/>
                <a:moveTo>
                  <a:pt x="146" y="456"/>
                </a:moveTo>
                <a:lnTo>
                  <a:pt x="154" y="387"/>
                </a:lnTo>
                <a:lnTo>
                  <a:pt x="211" y="422"/>
                </a:lnTo>
                <a:lnTo>
                  <a:pt x="155" y="461"/>
                </a:lnTo>
                <a:cubicBezTo>
                  <a:pt x="149" y="465"/>
                  <a:pt x="145" y="463"/>
                  <a:pt x="146" y="456"/>
                </a:cubicBezTo>
                <a:close/>
                <a:moveTo>
                  <a:pt x="266" y="168"/>
                </a:moveTo>
                <a:lnTo>
                  <a:pt x="253" y="188"/>
                </a:lnTo>
                <a:lnTo>
                  <a:pt x="342" y="242"/>
                </a:lnTo>
                <a:lnTo>
                  <a:pt x="354" y="222"/>
                </a:lnTo>
                <a:lnTo>
                  <a:pt x="266" y="168"/>
                </a:lnTo>
                <a:close/>
                <a:moveTo>
                  <a:pt x="285" y="138"/>
                </a:moveTo>
                <a:cubicBezTo>
                  <a:pt x="290" y="129"/>
                  <a:pt x="302" y="126"/>
                  <a:pt x="311" y="131"/>
                </a:cubicBezTo>
                <a:lnTo>
                  <a:pt x="366" y="165"/>
                </a:lnTo>
                <a:cubicBezTo>
                  <a:pt x="375" y="170"/>
                  <a:pt x="378" y="182"/>
                  <a:pt x="373" y="191"/>
                </a:cubicBezTo>
                <a:lnTo>
                  <a:pt x="365" y="204"/>
                </a:lnTo>
                <a:lnTo>
                  <a:pt x="277" y="150"/>
                </a:lnTo>
                <a:lnTo>
                  <a:pt x="285" y="138"/>
                </a:lnTo>
                <a:close/>
              </a:path>
            </a:pathLst>
          </a:custGeom>
          <a:solidFill>
            <a:schemeClr val="bg1"/>
          </a:solidFill>
          <a:ln>
            <a:noFill/>
          </a:ln>
        </p:spPr>
        <p:txBody>
          <a:bodyPr vert="horz" wrap="square" lIns="91392" tIns="45696" rIns="91392" bIns="45696" numCol="1" anchor="t" anchorCtr="0" compatLnSpc="1"/>
          <a:lstStyle/>
          <a:p>
            <a:endParaRPr lang="zh-CN" altLang="en-US" sz="1800">
              <a:solidFill>
                <a:schemeClr val="bg1"/>
              </a:solidFill>
            </a:endParaRPr>
          </a:p>
        </p:txBody>
      </p:sp>
    </p:spTree>
    <p:extLst>
      <p:ext uri="{BB962C8B-B14F-4D97-AF65-F5344CB8AC3E}">
        <p14:creationId xmlns:p14="http://schemas.microsoft.com/office/powerpoint/2010/main" val="160065502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5" Type="http://schemas.openxmlformats.org/officeDocument/2006/relationships/theme" Target="../theme/theme2.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84B914-9BB2-4713-9EBF-61770F406B81}" type="datetime1">
              <a:rPr lang="zh-CN" altLang="en-US" smtClean="0"/>
              <a:t>2026-10-08</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2B6538A-33AE-45EB-868C-14B9E34ED961}"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7" r:id="rId4"/>
    <p:sldLayoutId id="2147483668" r:id="rId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EF1D8B-7A13-9442-9F8C-4C6BB9A4403E}" type="datetime1">
              <a:rPr kumimoji="1" lang="en-US" altLang="zh-CN" smtClean="0"/>
              <a:t>10/8/2026</a:t>
            </a:fld>
            <a:endParaRPr kumimoji="1"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灯片编号占位符 5"/>
          <p:cNvSpPr>
            <a:spLocks noGrp="1"/>
          </p:cNvSpPr>
          <p:nvPr>
            <p:ph type="sldNum" sz="quarter" idx="4"/>
          </p:nvPr>
        </p:nvSpPr>
        <p:spPr>
          <a:xfrm>
            <a:off x="9448800" y="3175"/>
            <a:ext cx="2743200" cy="365125"/>
          </a:xfrm>
          <a:prstGeom prst="rect">
            <a:avLst/>
          </a:prstGeom>
        </p:spPr>
        <p:txBody>
          <a:bodyPr vert="horz" lIns="91440" tIns="45720" rIns="91440" bIns="45720" rtlCol="0" anchor="ctr"/>
          <a:lstStyle>
            <a:lvl1pPr algn="r">
              <a:defRPr sz="2000">
                <a:solidFill>
                  <a:schemeClr val="tx1">
                    <a:tint val="75000"/>
                  </a:schemeClr>
                </a:solidFill>
                <a:latin typeface="微软雅黑" panose="020B0503020204020204" pitchFamily="34" charset="-122"/>
                <a:ea typeface="微软雅黑" panose="020B0503020204020204" pitchFamily="34" charset="-122"/>
              </a:defRPr>
            </a:lvl1pPr>
          </a:lstStyle>
          <a:p>
            <a:fld id="{2D61274B-6331-E748-A81F-D054B7003DB9}" type="slidenum">
              <a:rPr kumimoji="1" lang="zh-CN" altLang="en-US" smtClean="0"/>
              <a:pPr/>
              <a:t>‹#›</a:t>
            </a:fld>
            <a:endParaRPr kumimoji="1" lang="zh-CN" altLang="en-US"/>
          </a:p>
        </p:txBody>
      </p:sp>
    </p:spTree>
    <p:extLst>
      <p:ext uri="{BB962C8B-B14F-4D97-AF65-F5344CB8AC3E}">
        <p14:creationId xmlns:p14="http://schemas.microsoft.com/office/powerpoint/2010/main" val="1494721807"/>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8.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9.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5.xml"/><Relationship Id="rId1" Type="http://schemas.openxmlformats.org/officeDocument/2006/relationships/tags" Target="../tags/tag10.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tags" Target="../tags/tag18.xml"/><Relationship Id="rId13" Type="http://schemas.openxmlformats.org/officeDocument/2006/relationships/tags" Target="../tags/tag23.xml"/><Relationship Id="rId18" Type="http://schemas.openxmlformats.org/officeDocument/2006/relationships/image" Target="../media/image11.png"/><Relationship Id="rId26" Type="http://schemas.openxmlformats.org/officeDocument/2006/relationships/image" Target="../media/image19.png"/><Relationship Id="rId3" Type="http://schemas.openxmlformats.org/officeDocument/2006/relationships/tags" Target="../tags/tag13.xml"/><Relationship Id="rId21" Type="http://schemas.openxmlformats.org/officeDocument/2006/relationships/image" Target="../media/image14.png"/><Relationship Id="rId7" Type="http://schemas.openxmlformats.org/officeDocument/2006/relationships/tags" Target="../tags/tag17.xml"/><Relationship Id="rId12" Type="http://schemas.openxmlformats.org/officeDocument/2006/relationships/tags" Target="../tags/tag22.xml"/><Relationship Id="rId17" Type="http://schemas.openxmlformats.org/officeDocument/2006/relationships/image" Target="../media/image10.png"/><Relationship Id="rId25" Type="http://schemas.openxmlformats.org/officeDocument/2006/relationships/image" Target="../media/image18.png"/><Relationship Id="rId2" Type="http://schemas.openxmlformats.org/officeDocument/2006/relationships/tags" Target="../tags/tag12.xml"/><Relationship Id="rId16" Type="http://schemas.openxmlformats.org/officeDocument/2006/relationships/notesSlide" Target="../notesSlides/notesSlide4.xml"/><Relationship Id="rId20" Type="http://schemas.openxmlformats.org/officeDocument/2006/relationships/image" Target="../media/image13.png"/><Relationship Id="rId29" Type="http://schemas.openxmlformats.org/officeDocument/2006/relationships/image" Target="../media/image22.png"/><Relationship Id="rId1" Type="http://schemas.openxmlformats.org/officeDocument/2006/relationships/tags" Target="../tags/tag11.xml"/><Relationship Id="rId6" Type="http://schemas.openxmlformats.org/officeDocument/2006/relationships/tags" Target="../tags/tag16.xml"/><Relationship Id="rId11" Type="http://schemas.openxmlformats.org/officeDocument/2006/relationships/tags" Target="../tags/tag21.xml"/><Relationship Id="rId24" Type="http://schemas.openxmlformats.org/officeDocument/2006/relationships/image" Target="../media/image17.png"/><Relationship Id="rId32" Type="http://schemas.openxmlformats.org/officeDocument/2006/relationships/image" Target="../media/image25.png"/><Relationship Id="rId5" Type="http://schemas.openxmlformats.org/officeDocument/2006/relationships/tags" Target="../tags/tag15.xml"/><Relationship Id="rId15" Type="http://schemas.openxmlformats.org/officeDocument/2006/relationships/slideLayout" Target="../slideLayouts/slideLayout12.xml"/><Relationship Id="rId23" Type="http://schemas.openxmlformats.org/officeDocument/2006/relationships/image" Target="../media/image16.png"/><Relationship Id="rId28" Type="http://schemas.openxmlformats.org/officeDocument/2006/relationships/image" Target="../media/image21.png"/><Relationship Id="rId10" Type="http://schemas.openxmlformats.org/officeDocument/2006/relationships/tags" Target="../tags/tag20.xml"/><Relationship Id="rId19" Type="http://schemas.openxmlformats.org/officeDocument/2006/relationships/image" Target="../media/image12.png"/><Relationship Id="rId31" Type="http://schemas.openxmlformats.org/officeDocument/2006/relationships/image" Target="../media/image24.png"/><Relationship Id="rId4" Type="http://schemas.openxmlformats.org/officeDocument/2006/relationships/tags" Target="../tags/tag14.xml"/><Relationship Id="rId9" Type="http://schemas.openxmlformats.org/officeDocument/2006/relationships/tags" Target="../tags/tag19.xml"/><Relationship Id="rId14" Type="http://schemas.openxmlformats.org/officeDocument/2006/relationships/tags" Target="../tags/tag24.xml"/><Relationship Id="rId22" Type="http://schemas.openxmlformats.org/officeDocument/2006/relationships/image" Target="../media/image15.png"/><Relationship Id="rId27" Type="http://schemas.openxmlformats.org/officeDocument/2006/relationships/image" Target="../media/image20.png"/><Relationship Id="rId30" Type="http://schemas.openxmlformats.org/officeDocument/2006/relationships/image" Target="../media/image23.svg"/></Relationships>
</file>

<file path=ppt/slides/_rels/slide8.xml.rels><?xml version="1.0" encoding="UTF-8" standalone="yes"?>
<Relationships xmlns="http://schemas.openxmlformats.org/package/2006/relationships"><Relationship Id="rId13" Type="http://schemas.openxmlformats.org/officeDocument/2006/relationships/tags" Target="../tags/tag37.xml"/><Relationship Id="rId18" Type="http://schemas.openxmlformats.org/officeDocument/2006/relationships/tags" Target="../tags/tag42.xml"/><Relationship Id="rId26" Type="http://schemas.openxmlformats.org/officeDocument/2006/relationships/tags" Target="../tags/tag50.xml"/><Relationship Id="rId39" Type="http://schemas.openxmlformats.org/officeDocument/2006/relationships/tags" Target="../tags/tag63.xml"/><Relationship Id="rId21" Type="http://schemas.openxmlformats.org/officeDocument/2006/relationships/tags" Target="../tags/tag45.xml"/><Relationship Id="rId34" Type="http://schemas.openxmlformats.org/officeDocument/2006/relationships/tags" Target="../tags/tag58.xml"/><Relationship Id="rId42" Type="http://schemas.openxmlformats.org/officeDocument/2006/relationships/image" Target="../media/image26.png"/><Relationship Id="rId47" Type="http://schemas.openxmlformats.org/officeDocument/2006/relationships/image" Target="../media/image31.svg"/><Relationship Id="rId50" Type="http://schemas.openxmlformats.org/officeDocument/2006/relationships/image" Target="../media/image34.png"/><Relationship Id="rId55" Type="http://schemas.openxmlformats.org/officeDocument/2006/relationships/image" Target="../media/image39.png"/><Relationship Id="rId7" Type="http://schemas.openxmlformats.org/officeDocument/2006/relationships/tags" Target="../tags/tag31.xml"/><Relationship Id="rId2" Type="http://schemas.openxmlformats.org/officeDocument/2006/relationships/tags" Target="../tags/tag26.xml"/><Relationship Id="rId16" Type="http://schemas.openxmlformats.org/officeDocument/2006/relationships/tags" Target="../tags/tag40.xml"/><Relationship Id="rId29" Type="http://schemas.openxmlformats.org/officeDocument/2006/relationships/tags" Target="../tags/tag53.xml"/><Relationship Id="rId11" Type="http://schemas.openxmlformats.org/officeDocument/2006/relationships/tags" Target="../tags/tag35.xml"/><Relationship Id="rId24" Type="http://schemas.openxmlformats.org/officeDocument/2006/relationships/tags" Target="../tags/tag48.xml"/><Relationship Id="rId32" Type="http://schemas.openxmlformats.org/officeDocument/2006/relationships/tags" Target="../tags/tag56.xml"/><Relationship Id="rId37" Type="http://schemas.openxmlformats.org/officeDocument/2006/relationships/tags" Target="../tags/tag61.xml"/><Relationship Id="rId40" Type="http://schemas.openxmlformats.org/officeDocument/2006/relationships/slideLayout" Target="../slideLayouts/slideLayout12.xml"/><Relationship Id="rId45" Type="http://schemas.openxmlformats.org/officeDocument/2006/relationships/image" Target="../media/image29.svg"/><Relationship Id="rId53" Type="http://schemas.openxmlformats.org/officeDocument/2006/relationships/image" Target="../media/image37.png"/><Relationship Id="rId58" Type="http://schemas.openxmlformats.org/officeDocument/2006/relationships/image" Target="../media/image23.svg"/><Relationship Id="rId5" Type="http://schemas.openxmlformats.org/officeDocument/2006/relationships/tags" Target="../tags/tag29.xml"/><Relationship Id="rId19" Type="http://schemas.openxmlformats.org/officeDocument/2006/relationships/tags" Target="../tags/tag43.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 Id="rId22" Type="http://schemas.openxmlformats.org/officeDocument/2006/relationships/tags" Target="../tags/tag46.xml"/><Relationship Id="rId27" Type="http://schemas.openxmlformats.org/officeDocument/2006/relationships/tags" Target="../tags/tag51.xml"/><Relationship Id="rId30" Type="http://schemas.openxmlformats.org/officeDocument/2006/relationships/tags" Target="../tags/tag54.xml"/><Relationship Id="rId35" Type="http://schemas.openxmlformats.org/officeDocument/2006/relationships/tags" Target="../tags/tag59.xml"/><Relationship Id="rId43" Type="http://schemas.openxmlformats.org/officeDocument/2006/relationships/image" Target="../media/image27.svg"/><Relationship Id="rId48" Type="http://schemas.openxmlformats.org/officeDocument/2006/relationships/image" Target="../media/image32.png"/><Relationship Id="rId56" Type="http://schemas.openxmlformats.org/officeDocument/2006/relationships/image" Target="../media/image40.png"/><Relationship Id="rId8" Type="http://schemas.openxmlformats.org/officeDocument/2006/relationships/tags" Target="../tags/tag32.xml"/><Relationship Id="rId51" Type="http://schemas.openxmlformats.org/officeDocument/2006/relationships/image" Target="../media/image35.svg"/><Relationship Id="rId3" Type="http://schemas.openxmlformats.org/officeDocument/2006/relationships/tags" Target="../tags/tag27.xml"/><Relationship Id="rId12" Type="http://schemas.openxmlformats.org/officeDocument/2006/relationships/tags" Target="../tags/tag36.xml"/><Relationship Id="rId17" Type="http://schemas.openxmlformats.org/officeDocument/2006/relationships/tags" Target="../tags/tag41.xml"/><Relationship Id="rId25" Type="http://schemas.openxmlformats.org/officeDocument/2006/relationships/tags" Target="../tags/tag49.xml"/><Relationship Id="rId33" Type="http://schemas.openxmlformats.org/officeDocument/2006/relationships/tags" Target="../tags/tag57.xml"/><Relationship Id="rId38" Type="http://schemas.openxmlformats.org/officeDocument/2006/relationships/tags" Target="../tags/tag62.xml"/><Relationship Id="rId46" Type="http://schemas.openxmlformats.org/officeDocument/2006/relationships/image" Target="../media/image30.png"/><Relationship Id="rId59" Type="http://schemas.openxmlformats.org/officeDocument/2006/relationships/image" Target="../media/image24.png"/><Relationship Id="rId20" Type="http://schemas.openxmlformats.org/officeDocument/2006/relationships/tags" Target="../tags/tag44.xml"/><Relationship Id="rId41" Type="http://schemas.openxmlformats.org/officeDocument/2006/relationships/notesSlide" Target="../notesSlides/notesSlide5.xml"/><Relationship Id="rId54" Type="http://schemas.openxmlformats.org/officeDocument/2006/relationships/image" Target="../media/image38.png"/><Relationship Id="rId1" Type="http://schemas.openxmlformats.org/officeDocument/2006/relationships/tags" Target="../tags/tag25.xml"/><Relationship Id="rId6" Type="http://schemas.openxmlformats.org/officeDocument/2006/relationships/tags" Target="../tags/tag30.xml"/><Relationship Id="rId15" Type="http://schemas.openxmlformats.org/officeDocument/2006/relationships/tags" Target="../tags/tag39.xml"/><Relationship Id="rId23" Type="http://schemas.openxmlformats.org/officeDocument/2006/relationships/tags" Target="../tags/tag47.xml"/><Relationship Id="rId28" Type="http://schemas.openxmlformats.org/officeDocument/2006/relationships/tags" Target="../tags/tag52.xml"/><Relationship Id="rId36" Type="http://schemas.openxmlformats.org/officeDocument/2006/relationships/tags" Target="../tags/tag60.xml"/><Relationship Id="rId49" Type="http://schemas.openxmlformats.org/officeDocument/2006/relationships/image" Target="../media/image33.svg"/><Relationship Id="rId57" Type="http://schemas.openxmlformats.org/officeDocument/2006/relationships/image" Target="../media/image22.png"/><Relationship Id="rId10" Type="http://schemas.openxmlformats.org/officeDocument/2006/relationships/tags" Target="../tags/tag34.xml"/><Relationship Id="rId31" Type="http://schemas.openxmlformats.org/officeDocument/2006/relationships/tags" Target="../tags/tag55.xml"/><Relationship Id="rId44" Type="http://schemas.openxmlformats.org/officeDocument/2006/relationships/image" Target="../media/image28.png"/><Relationship Id="rId52" Type="http://schemas.openxmlformats.org/officeDocument/2006/relationships/image" Target="../media/image36.png"/><Relationship Id="rId60"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24.png"/><Relationship Id="rId5" Type="http://schemas.openxmlformats.org/officeDocument/2006/relationships/image" Target="../media/image23.sv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image" Target="../media/image22.png"/><Relationship Id="rId3" Type="http://schemas.openxmlformats.org/officeDocument/2006/relationships/tags" Target="../tags/tag66.xml"/><Relationship Id="rId7" Type="http://schemas.openxmlformats.org/officeDocument/2006/relationships/tags" Target="../tags/tag70.xml"/><Relationship Id="rId12" Type="http://schemas.openxmlformats.org/officeDocument/2006/relationships/image" Target="../media/image44.png"/><Relationship Id="rId2" Type="http://schemas.openxmlformats.org/officeDocument/2006/relationships/tags" Target="../tags/tag65.xml"/><Relationship Id="rId16" Type="http://schemas.openxmlformats.org/officeDocument/2006/relationships/image" Target="../media/image25.png"/><Relationship Id="rId1" Type="http://schemas.openxmlformats.org/officeDocument/2006/relationships/tags" Target="../tags/tag64.xml"/><Relationship Id="rId6" Type="http://schemas.openxmlformats.org/officeDocument/2006/relationships/tags" Target="../tags/tag69.xml"/><Relationship Id="rId11" Type="http://schemas.openxmlformats.org/officeDocument/2006/relationships/image" Target="../media/image43.png"/><Relationship Id="rId5" Type="http://schemas.openxmlformats.org/officeDocument/2006/relationships/tags" Target="../tags/tag68.xml"/><Relationship Id="rId15" Type="http://schemas.openxmlformats.org/officeDocument/2006/relationships/image" Target="../media/image24.png"/><Relationship Id="rId10" Type="http://schemas.openxmlformats.org/officeDocument/2006/relationships/image" Target="../media/image42.png"/><Relationship Id="rId4" Type="http://schemas.openxmlformats.org/officeDocument/2006/relationships/tags" Target="../tags/tag67.xml"/><Relationship Id="rId9" Type="http://schemas.openxmlformats.org/officeDocument/2006/relationships/notesSlide" Target="../notesSlides/notesSlide7.xml"/><Relationship Id="rId14" Type="http://schemas.openxmlformats.org/officeDocument/2006/relationships/image" Target="../media/image23.svg"/></Relationships>
</file>

<file path=ppt/slides/_rels/slide11.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24.png"/><Relationship Id="rId5" Type="http://schemas.openxmlformats.org/officeDocument/2006/relationships/image" Target="../media/image23.sv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71.xml"/><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62B6538A-33AE-45EB-868C-14B9E34ED961}" type="slidenum">
              <a:rPr lang="zh-CN" altLang="en-US" smtClean="0"/>
              <a:t>1</a:t>
            </a:fld>
            <a:endParaRPr lang="zh-CN" altLang="en-US"/>
          </a:p>
        </p:txBody>
      </p:sp>
      <p:sp>
        <p:nvSpPr>
          <p:cNvPr id="3" name="PA_矩形 7"/>
          <p:cNvSpPr/>
          <p:nvPr>
            <p:custDataLst>
              <p:tags r:id="rId1"/>
            </p:custDataLst>
          </p:nvPr>
        </p:nvSpPr>
        <p:spPr>
          <a:xfrm>
            <a:off x="0" y="3747752"/>
            <a:ext cx="12192000" cy="3110248"/>
          </a:xfrm>
          <a:prstGeom prst="rect">
            <a:avLst/>
          </a:prstGeom>
          <a:solidFill>
            <a:schemeClr val="accent5">
              <a:lumMod val="75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Box 8"/>
          <p:cNvSpPr txBox="1"/>
          <p:nvPr/>
        </p:nvSpPr>
        <p:spPr>
          <a:xfrm>
            <a:off x="2380605" y="1924825"/>
            <a:ext cx="7357766" cy="830997"/>
          </a:xfrm>
          <a:prstGeom prst="rect">
            <a:avLst/>
          </a:prstGeom>
          <a:noFill/>
        </p:spPr>
        <p:txBody>
          <a:bodyPr wrap="square" lIns="0" tIns="0" rIns="0" bIns="0" rtlCol="0" anchor="ctr">
            <a:spAutoFit/>
          </a:bodyPr>
          <a:lstStyle/>
          <a:p>
            <a:pPr algn="ctr"/>
            <a:r>
              <a:rPr lang="zh-CN" altLang="en-US" sz="5400" b="1" dirty="0">
                <a:solidFill>
                  <a:schemeClr val="tx1">
                    <a:lumMod val="75000"/>
                    <a:lumOff val="25000"/>
                  </a:schemeClr>
                </a:solidFill>
                <a:latin typeface="Arial" panose="020B0604020202020204" pitchFamily="34" charset="0"/>
                <a:ea typeface="微软雅黑" panose="020B0503020204020204" pitchFamily="34" charset="-122"/>
                <a:sym typeface="Arial" panose="020B0604020202020204" pitchFamily="34" charset="0"/>
              </a:rPr>
              <a:t>心之所向，步履往之</a:t>
            </a:r>
          </a:p>
        </p:txBody>
      </p:sp>
      <p:sp>
        <p:nvSpPr>
          <p:cNvPr id="6" name="TextBox 8"/>
          <p:cNvSpPr txBox="1"/>
          <p:nvPr/>
        </p:nvSpPr>
        <p:spPr>
          <a:xfrm>
            <a:off x="2420501" y="4257121"/>
            <a:ext cx="7277974" cy="1688411"/>
          </a:xfrm>
          <a:prstGeom prst="rect">
            <a:avLst/>
          </a:prstGeom>
          <a:noFill/>
        </p:spPr>
        <p:txBody>
          <a:bodyPr wrap="square" lIns="0" tIns="0" rIns="0" bIns="0" rtlCol="0" anchor="ctr">
            <a:spAutoFit/>
          </a:bodyPr>
          <a:lstStyle/>
          <a:p>
            <a:pPr algn="ctr">
              <a:lnSpc>
                <a:spcPct val="150000"/>
              </a:lnSpc>
            </a:pPr>
            <a:r>
              <a:rPr lang="zh-CN" altLang="en-US" sz="2800">
                <a:solidFill>
                  <a:schemeClr val="bg1"/>
                </a:solidFill>
                <a:latin typeface="Arial" panose="020B0604020202020204" pitchFamily="34" charset="0"/>
                <a:ea typeface="微软雅黑" panose="020B0503020204020204" pitchFamily="34" charset="-122"/>
                <a:sym typeface="Arial" panose="020B0604020202020204" pitchFamily="34" charset="0"/>
              </a:rPr>
              <a:t>余志椋</a:t>
            </a:r>
            <a:endParaRPr lang="en-US" altLang="zh-CN" sz="280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lnSpc>
                <a:spcPct val="150000"/>
              </a:lnSpc>
            </a:pPr>
            <a:r>
              <a:rPr lang="zh-CN" altLang="en-US" sz="2400">
                <a:solidFill>
                  <a:schemeClr val="bg1"/>
                </a:solidFill>
                <a:latin typeface="Arial" panose="020B0604020202020204" pitchFamily="34" charset="0"/>
                <a:ea typeface="微软雅黑" panose="020B0503020204020204" pitchFamily="34" charset="-122"/>
                <a:sym typeface="Arial" panose="020B0604020202020204" pitchFamily="34" charset="0"/>
              </a:rPr>
              <a:t>中共</a:t>
            </a:r>
            <a:r>
              <a:rPr lang="zh-CN" altLang="en-US" sz="2400" dirty="0">
                <a:solidFill>
                  <a:schemeClr val="bg1"/>
                </a:solidFill>
                <a:latin typeface="Arial" panose="020B0604020202020204" pitchFamily="34" charset="0"/>
                <a:ea typeface="微软雅黑" panose="020B0503020204020204" pitchFamily="34" charset="-122"/>
                <a:sym typeface="Arial" panose="020B0604020202020204" pitchFamily="34" charset="0"/>
              </a:rPr>
              <a:t>党员</a:t>
            </a:r>
            <a:endParaRPr lang="en-US" altLang="zh-CN" sz="2400"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lnSpc>
                <a:spcPct val="150000"/>
              </a:lnSpc>
            </a:pPr>
            <a:r>
              <a:rPr lang="zh-CN" altLang="en-US" sz="2400" dirty="0">
                <a:solidFill>
                  <a:schemeClr val="bg1"/>
                </a:solidFill>
                <a:latin typeface="Arial" panose="020B0604020202020204" pitchFamily="34" charset="0"/>
                <a:ea typeface="微软雅黑" panose="020B0503020204020204" pitchFamily="34" charset="-122"/>
                <a:sym typeface="Arial" panose="020B0604020202020204" pitchFamily="34" charset="0"/>
              </a:rPr>
              <a:t>武汉</a:t>
            </a:r>
            <a:r>
              <a:rPr lang="zh-CN" altLang="en-US" sz="2400">
                <a:solidFill>
                  <a:schemeClr val="bg1"/>
                </a:solidFill>
                <a:latin typeface="Arial" panose="020B0604020202020204" pitchFamily="34" charset="0"/>
                <a:ea typeface="微软雅黑" panose="020B0503020204020204" pitchFamily="34" charset="-122"/>
                <a:sym typeface="Arial" panose="020B0604020202020204" pitchFamily="34" charset="0"/>
              </a:rPr>
              <a:t>大学  计算机学院计算机科学与技术专业</a:t>
            </a:r>
            <a:endParaRPr lang="zh-CN" altLang="en-US" sz="2400"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p:txBody>
      </p:sp>
    </p:spTree>
  </p:cSld>
  <p:clrMapOvr>
    <a:masterClrMapping/>
  </p:clrMapOvr>
  <p:transition spd="slow" advTm="14657">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62B6538A-33AE-45EB-868C-14B9E34ED961}" type="slidenum">
              <a:rPr lang="zh-CN" altLang="en-US" smtClean="0"/>
              <a:t>2</a:t>
            </a:fld>
            <a:endParaRPr lang="zh-CN" altLang="en-US"/>
          </a:p>
        </p:txBody>
      </p:sp>
      <p:sp>
        <p:nvSpPr>
          <p:cNvPr id="3" name="PA_矩形 7"/>
          <p:cNvSpPr/>
          <p:nvPr>
            <p:custDataLst>
              <p:tags r:id="rId1"/>
            </p:custDataLst>
          </p:nvPr>
        </p:nvSpPr>
        <p:spPr>
          <a:xfrm>
            <a:off x="0" y="0"/>
            <a:ext cx="4314548" cy="6858000"/>
          </a:xfrm>
          <a:prstGeom prst="rect">
            <a:avLst/>
          </a:prstGeom>
          <a:solidFill>
            <a:schemeClr val="accent5">
              <a:lumMod val="75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Box 8"/>
          <p:cNvSpPr txBox="1"/>
          <p:nvPr/>
        </p:nvSpPr>
        <p:spPr>
          <a:xfrm>
            <a:off x="514383" y="2136764"/>
            <a:ext cx="3125983" cy="2831544"/>
          </a:xfrm>
          <a:prstGeom prst="rect">
            <a:avLst/>
          </a:prstGeom>
          <a:noFill/>
        </p:spPr>
        <p:txBody>
          <a:bodyPr wrap="square" lIns="0" tIns="0" rIns="0" bIns="0" rtlCol="0" anchor="ctr">
            <a:spAutoFit/>
          </a:bodyPr>
          <a:lstStyle/>
          <a:p>
            <a:pPr algn="ctr"/>
            <a:r>
              <a:rPr lang="zh-CN" altLang="en-US" sz="6000" b="1" dirty="0">
                <a:solidFill>
                  <a:schemeClr val="bg1"/>
                </a:solidFill>
                <a:latin typeface="Arial" panose="020B0604020202020204" pitchFamily="34" charset="0"/>
                <a:ea typeface="微软雅黑" panose="020B0503020204020204" pitchFamily="34" charset="-122"/>
                <a:sym typeface="Arial" panose="020B0604020202020204" pitchFamily="34" charset="0"/>
              </a:rPr>
              <a:t>目录</a:t>
            </a:r>
            <a:endParaRPr lang="en-US" altLang="zh-CN" sz="6000" b="1"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endParaRPr lang="en-US" altLang="zh-CN" sz="3200" b="1"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r>
              <a:rPr lang="en-US" altLang="zh-CN" sz="3200" b="1" dirty="0">
                <a:solidFill>
                  <a:schemeClr val="bg1"/>
                </a:solidFill>
                <a:latin typeface="Arial" panose="020B0604020202020204" pitchFamily="34" charset="0"/>
                <a:ea typeface="微软雅黑" panose="020B0503020204020204" pitchFamily="34" charset="-122"/>
                <a:sym typeface="Arial" panose="020B0604020202020204" pitchFamily="34" charset="0"/>
              </a:rPr>
              <a:t>CONTENTS</a:t>
            </a:r>
          </a:p>
          <a:p>
            <a:pPr algn="ctr"/>
            <a:endParaRPr lang="zh-CN" altLang="en-US" sz="6000" b="1"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p:txBody>
      </p:sp>
      <p:grpSp>
        <p:nvGrpSpPr>
          <p:cNvPr id="7" name="Group 5"/>
          <p:cNvGrpSpPr/>
          <p:nvPr/>
        </p:nvGrpSpPr>
        <p:grpSpPr>
          <a:xfrm>
            <a:off x="5386029" y="1335079"/>
            <a:ext cx="4430625" cy="707887"/>
            <a:chOff x="1598315" y="1418185"/>
            <a:chExt cx="4430626" cy="707886"/>
          </a:xfrm>
        </p:grpSpPr>
        <p:sp>
          <p:nvSpPr>
            <p:cNvPr id="8" name="TextBox 6"/>
            <p:cNvSpPr txBox="1"/>
            <p:nvPr/>
          </p:nvSpPr>
          <p:spPr>
            <a:xfrm>
              <a:off x="1598315" y="1418185"/>
              <a:ext cx="655949" cy="707886"/>
            </a:xfrm>
            <a:prstGeom prst="rect">
              <a:avLst/>
            </a:prstGeom>
            <a:noFill/>
          </p:spPr>
          <p:txBody>
            <a:bodyPr wrap="none" anchor="ctr">
              <a:normAutofit fontScale="85000" lnSpcReduction="20000"/>
            </a:bodyPr>
            <a:lstStyle/>
            <a:p>
              <a:pPr defTabSz="1219200"/>
              <a:r>
                <a:rPr lang="en-US" altLang="zh-CN" sz="5335" dirty="0">
                  <a:solidFill>
                    <a:schemeClr val="accent1">
                      <a:lumMod val="50000"/>
                    </a:schemeClr>
                  </a:solidFill>
                  <a:latin typeface="Impact" panose="020B0806030902050204" pitchFamily="34" charset="0"/>
                  <a:ea typeface="宋体" panose="02010600030101010101" pitchFamily="2" charset="-122"/>
                </a:rPr>
                <a:t>01</a:t>
              </a:r>
            </a:p>
          </p:txBody>
        </p:sp>
        <p:grpSp>
          <p:nvGrpSpPr>
            <p:cNvPr id="9" name="Group 7"/>
            <p:cNvGrpSpPr/>
            <p:nvPr/>
          </p:nvGrpSpPr>
          <p:grpSpPr>
            <a:xfrm>
              <a:off x="2066367" y="1529264"/>
              <a:ext cx="3962574" cy="563232"/>
              <a:chOff x="3943834" y="704409"/>
              <a:chExt cx="3962574" cy="563232"/>
            </a:xfrm>
          </p:grpSpPr>
          <p:sp>
            <p:nvSpPr>
              <p:cNvPr id="10" name="TextBox 8"/>
              <p:cNvSpPr txBox="1"/>
              <p:nvPr/>
            </p:nvSpPr>
            <p:spPr>
              <a:xfrm>
                <a:off x="3943834" y="704409"/>
                <a:ext cx="3962574" cy="242864"/>
              </a:xfrm>
              <a:prstGeom prst="rect">
                <a:avLst/>
              </a:prstGeom>
              <a:noFill/>
            </p:spPr>
            <p:txBody>
              <a:bodyPr wrap="none" lIns="480000" tIns="0" rIns="0" bIns="0" anchor="b" anchorCtr="0">
                <a:noAutofit/>
              </a:bodyPr>
              <a:lstStyle/>
              <a:p>
                <a:pPr defTabSz="1219200"/>
                <a:r>
                  <a:rPr lang="zh-CN" altLang="en-US" sz="2400" b="1" dirty="0">
                    <a:solidFill>
                      <a:schemeClr val="accent1">
                        <a:lumMod val="50000"/>
                      </a:schemeClr>
                    </a:solidFill>
                    <a:latin typeface="Calibri" panose="020F0502020204030204"/>
                    <a:ea typeface="宋体" panose="02010600030101010101" pitchFamily="2" charset="-122"/>
                  </a:rPr>
                  <a:t>个人简介</a:t>
                </a:r>
              </a:p>
            </p:txBody>
          </p:sp>
          <p:sp>
            <p:nvSpPr>
              <p:cNvPr id="11" name="TextBox 9"/>
              <p:cNvSpPr txBox="1"/>
              <p:nvPr/>
            </p:nvSpPr>
            <p:spPr>
              <a:xfrm>
                <a:off x="3943834" y="947273"/>
                <a:ext cx="3962574" cy="320368"/>
              </a:xfrm>
              <a:prstGeom prst="rect">
                <a:avLst/>
              </a:prstGeom>
            </p:spPr>
            <p:txBody>
              <a:bodyPr vert="horz" wrap="square" lIns="480000" tIns="0" rIns="0" bIns="0" anchor="ctr" anchorCtr="0">
                <a:normAutofit/>
              </a:bodyPr>
              <a:lstStyle/>
              <a:p>
                <a:pPr defTabSz="1219200">
                  <a:lnSpc>
                    <a:spcPct val="120000"/>
                  </a:lnSpc>
                </a:pPr>
                <a:r>
                  <a:rPr lang="en-US" altLang="zh-CN" sz="1600">
                    <a:solidFill>
                      <a:schemeClr val="accent1">
                        <a:lumMod val="50000"/>
                      </a:schemeClr>
                    </a:solidFill>
                    <a:latin typeface="Calibri" panose="020F0502020204030204"/>
                    <a:ea typeface="宋体" panose="02010600030101010101" pitchFamily="2" charset="-122"/>
                  </a:rPr>
                  <a:t>Introduction</a:t>
                </a:r>
                <a:endParaRPr lang="zh-CN" altLang="en-US" sz="1600" dirty="0">
                  <a:solidFill>
                    <a:schemeClr val="accent1">
                      <a:lumMod val="50000"/>
                    </a:schemeClr>
                  </a:solidFill>
                  <a:latin typeface="Calibri" panose="020F0502020204030204"/>
                  <a:ea typeface="宋体" panose="02010600030101010101" pitchFamily="2" charset="-122"/>
                </a:endParaRPr>
              </a:p>
            </p:txBody>
          </p:sp>
        </p:grpSp>
      </p:grpSp>
      <p:grpSp>
        <p:nvGrpSpPr>
          <p:cNvPr id="12" name="Group 10"/>
          <p:cNvGrpSpPr/>
          <p:nvPr/>
        </p:nvGrpSpPr>
        <p:grpSpPr>
          <a:xfrm>
            <a:off x="5386029" y="2310193"/>
            <a:ext cx="5126765" cy="707887"/>
            <a:chOff x="1598315" y="2786337"/>
            <a:chExt cx="5053548" cy="707886"/>
          </a:xfrm>
        </p:grpSpPr>
        <p:sp>
          <p:nvSpPr>
            <p:cNvPr id="13" name="TextBox 11"/>
            <p:cNvSpPr txBox="1"/>
            <p:nvPr/>
          </p:nvSpPr>
          <p:spPr>
            <a:xfrm>
              <a:off x="1598315" y="2786337"/>
              <a:ext cx="718466" cy="707886"/>
            </a:xfrm>
            <a:prstGeom prst="rect">
              <a:avLst/>
            </a:prstGeom>
            <a:noFill/>
          </p:spPr>
          <p:txBody>
            <a:bodyPr wrap="none" anchor="ctr">
              <a:normAutofit fontScale="85000" lnSpcReduction="20000"/>
            </a:bodyPr>
            <a:lstStyle/>
            <a:p>
              <a:pPr defTabSz="1219200"/>
              <a:r>
                <a:rPr lang="en-US" altLang="zh-CN" sz="5335" dirty="0">
                  <a:solidFill>
                    <a:schemeClr val="accent1">
                      <a:lumMod val="50000"/>
                    </a:schemeClr>
                  </a:solidFill>
                  <a:latin typeface="Impact" panose="020B0806030902050204" pitchFamily="34" charset="0"/>
                  <a:ea typeface="宋体" panose="02010600030101010101" pitchFamily="2" charset="-122"/>
                </a:rPr>
                <a:t>02</a:t>
              </a:r>
            </a:p>
          </p:txBody>
        </p:sp>
        <p:grpSp>
          <p:nvGrpSpPr>
            <p:cNvPr id="14" name="Group 12"/>
            <p:cNvGrpSpPr/>
            <p:nvPr/>
          </p:nvGrpSpPr>
          <p:grpSpPr>
            <a:xfrm>
              <a:off x="2066367" y="2897416"/>
              <a:ext cx="4585496" cy="563232"/>
              <a:chOff x="3943834" y="704409"/>
              <a:chExt cx="4585496" cy="563232"/>
            </a:xfrm>
          </p:grpSpPr>
          <p:sp>
            <p:nvSpPr>
              <p:cNvPr id="15" name="TextBox 13"/>
              <p:cNvSpPr txBox="1"/>
              <p:nvPr/>
            </p:nvSpPr>
            <p:spPr>
              <a:xfrm>
                <a:off x="3943834" y="704409"/>
                <a:ext cx="3962574" cy="242864"/>
              </a:xfrm>
              <a:prstGeom prst="rect">
                <a:avLst/>
              </a:prstGeom>
              <a:noFill/>
            </p:spPr>
            <p:txBody>
              <a:bodyPr wrap="none" lIns="480000" tIns="0" rIns="0" bIns="0" anchor="b" anchorCtr="0">
                <a:noAutofit/>
              </a:bodyPr>
              <a:lstStyle/>
              <a:p>
                <a:pPr defTabSz="1219200"/>
                <a:r>
                  <a:rPr lang="zh-CN" altLang="en-US" sz="2400" b="1">
                    <a:solidFill>
                      <a:schemeClr val="accent1">
                        <a:lumMod val="50000"/>
                      </a:schemeClr>
                    </a:solidFill>
                  </a:rPr>
                  <a:t>实习经历</a:t>
                </a:r>
                <a:endParaRPr lang="zh-CN" altLang="en-US" sz="2400" b="1" dirty="0">
                  <a:solidFill>
                    <a:schemeClr val="accent1">
                      <a:lumMod val="50000"/>
                    </a:schemeClr>
                  </a:solidFill>
                  <a:latin typeface="Calibri" panose="020F0502020204030204"/>
                  <a:ea typeface="宋体" panose="02010600030101010101" pitchFamily="2" charset="-122"/>
                </a:endParaRPr>
              </a:p>
            </p:txBody>
          </p:sp>
          <p:sp>
            <p:nvSpPr>
              <p:cNvPr id="16" name="TextBox 14"/>
              <p:cNvSpPr txBox="1"/>
              <p:nvPr/>
            </p:nvSpPr>
            <p:spPr>
              <a:xfrm>
                <a:off x="3943834" y="947273"/>
                <a:ext cx="4585496" cy="320368"/>
              </a:xfrm>
              <a:prstGeom prst="rect">
                <a:avLst/>
              </a:prstGeom>
            </p:spPr>
            <p:txBody>
              <a:bodyPr vert="horz" wrap="square" lIns="480000" tIns="0" rIns="0" bIns="0" anchor="ctr" anchorCtr="0">
                <a:noAutofit/>
              </a:bodyPr>
              <a:lstStyle/>
              <a:p>
                <a:pPr defTabSz="1219200">
                  <a:lnSpc>
                    <a:spcPct val="120000"/>
                  </a:lnSpc>
                </a:pPr>
                <a:r>
                  <a:rPr lang="en-US" altLang="zh-CN" sz="1600">
                    <a:solidFill>
                      <a:schemeClr val="accent1">
                        <a:lumMod val="50000"/>
                      </a:schemeClr>
                    </a:solidFill>
                  </a:rPr>
                  <a:t>Internship</a:t>
                </a:r>
                <a:endParaRPr lang="zh-CN" altLang="en-US" sz="1600" dirty="0">
                  <a:solidFill>
                    <a:schemeClr val="accent1">
                      <a:lumMod val="50000"/>
                    </a:schemeClr>
                  </a:solidFill>
                  <a:latin typeface="Calibri" panose="020F0502020204030204"/>
                  <a:ea typeface="宋体" panose="02010600030101010101" pitchFamily="2" charset="-122"/>
                </a:endParaRPr>
              </a:p>
            </p:txBody>
          </p:sp>
        </p:grpSp>
      </p:grpSp>
      <p:grpSp>
        <p:nvGrpSpPr>
          <p:cNvPr id="17" name="Group 15"/>
          <p:cNvGrpSpPr/>
          <p:nvPr/>
        </p:nvGrpSpPr>
        <p:grpSpPr>
          <a:xfrm>
            <a:off x="5386029" y="4260421"/>
            <a:ext cx="4430625" cy="707887"/>
            <a:chOff x="1598315" y="4154489"/>
            <a:chExt cx="4430626" cy="707886"/>
          </a:xfrm>
        </p:grpSpPr>
        <p:sp>
          <p:nvSpPr>
            <p:cNvPr id="18" name="TextBox 16"/>
            <p:cNvSpPr txBox="1"/>
            <p:nvPr/>
          </p:nvSpPr>
          <p:spPr>
            <a:xfrm>
              <a:off x="1598315" y="4154489"/>
              <a:ext cx="732893" cy="707886"/>
            </a:xfrm>
            <a:prstGeom prst="rect">
              <a:avLst/>
            </a:prstGeom>
            <a:noFill/>
          </p:spPr>
          <p:txBody>
            <a:bodyPr wrap="none" anchor="ctr">
              <a:normAutofit fontScale="85000" lnSpcReduction="20000"/>
            </a:bodyPr>
            <a:lstStyle/>
            <a:p>
              <a:pPr defTabSz="1219200"/>
              <a:r>
                <a:rPr lang="en-US" altLang="zh-CN" sz="5335">
                  <a:solidFill>
                    <a:schemeClr val="accent1">
                      <a:lumMod val="50000"/>
                    </a:schemeClr>
                  </a:solidFill>
                  <a:latin typeface="Impact" panose="020B0806030902050204" pitchFamily="34" charset="0"/>
                  <a:ea typeface="宋体" panose="02010600030101010101" pitchFamily="2" charset="-122"/>
                </a:rPr>
                <a:t>04</a:t>
              </a:r>
              <a:endParaRPr lang="en-US" altLang="zh-CN" sz="5335" dirty="0">
                <a:solidFill>
                  <a:schemeClr val="accent1">
                    <a:lumMod val="50000"/>
                  </a:schemeClr>
                </a:solidFill>
                <a:latin typeface="Impact" panose="020B0806030902050204" pitchFamily="34" charset="0"/>
                <a:ea typeface="宋体" panose="02010600030101010101" pitchFamily="2" charset="-122"/>
              </a:endParaRPr>
            </a:p>
          </p:txBody>
        </p:sp>
        <p:grpSp>
          <p:nvGrpSpPr>
            <p:cNvPr id="19" name="Group 17"/>
            <p:cNvGrpSpPr/>
            <p:nvPr/>
          </p:nvGrpSpPr>
          <p:grpSpPr>
            <a:xfrm>
              <a:off x="2066367" y="4265568"/>
              <a:ext cx="3962574" cy="563232"/>
              <a:chOff x="3943834" y="704409"/>
              <a:chExt cx="3962574" cy="563232"/>
            </a:xfrm>
          </p:grpSpPr>
          <p:sp>
            <p:nvSpPr>
              <p:cNvPr id="20" name="TextBox 18"/>
              <p:cNvSpPr txBox="1"/>
              <p:nvPr/>
            </p:nvSpPr>
            <p:spPr>
              <a:xfrm>
                <a:off x="3943834" y="704409"/>
                <a:ext cx="3962574" cy="242864"/>
              </a:xfrm>
              <a:prstGeom prst="rect">
                <a:avLst/>
              </a:prstGeom>
              <a:noFill/>
            </p:spPr>
            <p:txBody>
              <a:bodyPr wrap="none" lIns="480000" tIns="0" rIns="0" bIns="0" anchor="b" anchorCtr="0">
                <a:noAutofit/>
              </a:bodyPr>
              <a:lstStyle/>
              <a:p>
                <a:pPr defTabSz="1219200"/>
                <a:r>
                  <a:rPr lang="zh-CN" altLang="en-US" sz="2400" b="1" dirty="0">
                    <a:solidFill>
                      <a:schemeClr val="accent1">
                        <a:lumMod val="50000"/>
                      </a:schemeClr>
                    </a:solidFill>
                    <a:latin typeface="Calibri" panose="020F0502020204030204"/>
                    <a:ea typeface="宋体" panose="02010600030101010101" pitchFamily="2" charset="-122"/>
                  </a:rPr>
                  <a:t>项目经历</a:t>
                </a:r>
              </a:p>
            </p:txBody>
          </p:sp>
          <p:sp>
            <p:nvSpPr>
              <p:cNvPr id="21" name="TextBox 19"/>
              <p:cNvSpPr txBox="1"/>
              <p:nvPr/>
            </p:nvSpPr>
            <p:spPr>
              <a:xfrm>
                <a:off x="3943834" y="947273"/>
                <a:ext cx="3962574" cy="320368"/>
              </a:xfrm>
              <a:prstGeom prst="rect">
                <a:avLst/>
              </a:prstGeom>
            </p:spPr>
            <p:txBody>
              <a:bodyPr vert="horz" wrap="square" lIns="480000" tIns="0" rIns="0" bIns="0" anchor="ctr" anchorCtr="0">
                <a:normAutofit/>
              </a:bodyPr>
              <a:lstStyle/>
              <a:p>
                <a:pPr defTabSz="1219200">
                  <a:lnSpc>
                    <a:spcPct val="120000"/>
                  </a:lnSpc>
                </a:pPr>
                <a:r>
                  <a:rPr lang="en-US" altLang="zh-CN" sz="1600" dirty="0">
                    <a:solidFill>
                      <a:schemeClr val="accent1">
                        <a:lumMod val="50000"/>
                      </a:schemeClr>
                    </a:solidFill>
                    <a:latin typeface="Calibri" panose="020F0502020204030204"/>
                    <a:ea typeface="宋体" panose="02010600030101010101" pitchFamily="2" charset="-122"/>
                  </a:rPr>
                  <a:t>Personal quality and development</a:t>
                </a:r>
                <a:endParaRPr lang="zh-CN" altLang="en-US" sz="1600" dirty="0">
                  <a:solidFill>
                    <a:schemeClr val="accent1">
                      <a:lumMod val="50000"/>
                    </a:schemeClr>
                  </a:solidFill>
                  <a:latin typeface="Calibri" panose="020F0502020204030204"/>
                  <a:ea typeface="宋体" panose="02010600030101010101" pitchFamily="2" charset="-122"/>
                </a:endParaRPr>
              </a:p>
            </p:txBody>
          </p:sp>
        </p:grpSp>
      </p:grpSp>
      <p:grpSp>
        <p:nvGrpSpPr>
          <p:cNvPr id="5" name="Group 10">
            <a:extLst>
              <a:ext uri="{FF2B5EF4-FFF2-40B4-BE49-F238E27FC236}">
                <a16:creationId xmlns:a16="http://schemas.microsoft.com/office/drawing/2014/main" id="{D690EE49-D00B-1171-72A7-B88F3F6633FF}"/>
              </a:ext>
            </a:extLst>
          </p:cNvPr>
          <p:cNvGrpSpPr/>
          <p:nvPr/>
        </p:nvGrpSpPr>
        <p:grpSpPr>
          <a:xfrm>
            <a:off x="5386029" y="3285307"/>
            <a:ext cx="5126765" cy="707887"/>
            <a:chOff x="1598315" y="2786337"/>
            <a:chExt cx="5053548" cy="707886"/>
          </a:xfrm>
        </p:grpSpPr>
        <p:sp>
          <p:nvSpPr>
            <p:cNvPr id="6" name="TextBox 11">
              <a:extLst>
                <a:ext uri="{FF2B5EF4-FFF2-40B4-BE49-F238E27FC236}">
                  <a16:creationId xmlns:a16="http://schemas.microsoft.com/office/drawing/2014/main" id="{5E281D47-DEE2-198F-E2CD-43609649C9A2}"/>
                </a:ext>
              </a:extLst>
            </p:cNvPr>
            <p:cNvSpPr txBox="1"/>
            <p:nvPr/>
          </p:nvSpPr>
          <p:spPr>
            <a:xfrm>
              <a:off x="1598315" y="2786337"/>
              <a:ext cx="718466" cy="707886"/>
            </a:xfrm>
            <a:prstGeom prst="rect">
              <a:avLst/>
            </a:prstGeom>
            <a:noFill/>
          </p:spPr>
          <p:txBody>
            <a:bodyPr wrap="none" anchor="ctr">
              <a:normAutofit fontScale="85000" lnSpcReduction="20000"/>
            </a:bodyPr>
            <a:lstStyle/>
            <a:p>
              <a:pPr defTabSz="1219200"/>
              <a:r>
                <a:rPr lang="en-US" altLang="zh-CN" sz="5335">
                  <a:solidFill>
                    <a:schemeClr val="accent1">
                      <a:lumMod val="50000"/>
                    </a:schemeClr>
                  </a:solidFill>
                  <a:latin typeface="Impact" panose="020B0806030902050204" pitchFamily="34" charset="0"/>
                  <a:ea typeface="宋体" panose="02010600030101010101" pitchFamily="2" charset="-122"/>
                </a:rPr>
                <a:t>03</a:t>
              </a:r>
              <a:endParaRPr lang="en-US" altLang="zh-CN" sz="5335" dirty="0">
                <a:solidFill>
                  <a:schemeClr val="accent1">
                    <a:lumMod val="50000"/>
                  </a:schemeClr>
                </a:solidFill>
                <a:latin typeface="Impact" panose="020B0806030902050204" pitchFamily="34" charset="0"/>
                <a:ea typeface="宋体" panose="02010600030101010101" pitchFamily="2" charset="-122"/>
              </a:endParaRPr>
            </a:p>
          </p:txBody>
        </p:sp>
        <p:grpSp>
          <p:nvGrpSpPr>
            <p:cNvPr id="22" name="Group 12">
              <a:extLst>
                <a:ext uri="{FF2B5EF4-FFF2-40B4-BE49-F238E27FC236}">
                  <a16:creationId xmlns:a16="http://schemas.microsoft.com/office/drawing/2014/main" id="{6C485CFC-8E08-D4E2-5D1C-52A364045F67}"/>
                </a:ext>
              </a:extLst>
            </p:cNvPr>
            <p:cNvGrpSpPr/>
            <p:nvPr/>
          </p:nvGrpSpPr>
          <p:grpSpPr>
            <a:xfrm>
              <a:off x="2066367" y="2897416"/>
              <a:ext cx="4585496" cy="563232"/>
              <a:chOff x="3943834" y="704409"/>
              <a:chExt cx="4585496" cy="563232"/>
            </a:xfrm>
          </p:grpSpPr>
          <p:sp>
            <p:nvSpPr>
              <p:cNvPr id="23" name="TextBox 13">
                <a:extLst>
                  <a:ext uri="{FF2B5EF4-FFF2-40B4-BE49-F238E27FC236}">
                    <a16:creationId xmlns:a16="http://schemas.microsoft.com/office/drawing/2014/main" id="{2725A35C-7384-7FC5-C969-9D9752C94C89}"/>
                  </a:ext>
                </a:extLst>
              </p:cNvPr>
              <p:cNvSpPr txBox="1"/>
              <p:nvPr/>
            </p:nvSpPr>
            <p:spPr>
              <a:xfrm>
                <a:off x="3943834" y="704409"/>
                <a:ext cx="3962574" cy="242864"/>
              </a:xfrm>
              <a:prstGeom prst="rect">
                <a:avLst/>
              </a:prstGeom>
              <a:noFill/>
            </p:spPr>
            <p:txBody>
              <a:bodyPr wrap="none" lIns="480000" tIns="0" rIns="0" bIns="0" anchor="b" anchorCtr="0">
                <a:noAutofit/>
              </a:bodyPr>
              <a:lstStyle/>
              <a:p>
                <a:pPr defTabSz="1219200"/>
                <a:r>
                  <a:rPr lang="zh-CN" altLang="en-US" sz="2400" b="1">
                    <a:solidFill>
                      <a:schemeClr val="accent1">
                        <a:lumMod val="50000"/>
                      </a:schemeClr>
                    </a:solidFill>
                  </a:rPr>
                  <a:t>科研经历</a:t>
                </a:r>
                <a:endParaRPr lang="zh-CN" altLang="en-US" sz="2400" b="1" dirty="0">
                  <a:solidFill>
                    <a:schemeClr val="accent1">
                      <a:lumMod val="50000"/>
                    </a:schemeClr>
                  </a:solidFill>
                  <a:latin typeface="Calibri" panose="020F0502020204030204"/>
                  <a:ea typeface="宋体" panose="02010600030101010101" pitchFamily="2" charset="-122"/>
                </a:endParaRPr>
              </a:p>
            </p:txBody>
          </p:sp>
          <p:sp>
            <p:nvSpPr>
              <p:cNvPr id="24" name="TextBox 14">
                <a:extLst>
                  <a:ext uri="{FF2B5EF4-FFF2-40B4-BE49-F238E27FC236}">
                    <a16:creationId xmlns:a16="http://schemas.microsoft.com/office/drawing/2014/main" id="{4A996FF9-E9FA-9224-4E44-6668AA7C4105}"/>
                  </a:ext>
                </a:extLst>
              </p:cNvPr>
              <p:cNvSpPr txBox="1"/>
              <p:nvPr/>
            </p:nvSpPr>
            <p:spPr>
              <a:xfrm>
                <a:off x="3943834" y="947273"/>
                <a:ext cx="4585496" cy="320368"/>
              </a:xfrm>
              <a:prstGeom prst="rect">
                <a:avLst/>
              </a:prstGeom>
            </p:spPr>
            <p:txBody>
              <a:bodyPr vert="horz" wrap="square" lIns="480000" tIns="0" rIns="0" bIns="0" anchor="ctr" anchorCtr="0">
                <a:noAutofit/>
              </a:bodyPr>
              <a:lstStyle/>
              <a:p>
                <a:pPr defTabSz="1219200">
                  <a:lnSpc>
                    <a:spcPct val="120000"/>
                  </a:lnSpc>
                </a:pPr>
                <a:r>
                  <a:rPr lang="en-US" altLang="zh-CN" sz="1600" dirty="0">
                    <a:solidFill>
                      <a:schemeClr val="accent1">
                        <a:lumMod val="50000"/>
                      </a:schemeClr>
                    </a:solidFill>
                  </a:rPr>
                  <a:t>Competitions and scientific </a:t>
                </a:r>
                <a:r>
                  <a:rPr lang="en-US" altLang="zh-CN" sz="1600" dirty="0">
                    <a:solidFill>
                      <a:schemeClr val="accent1">
                        <a:lumMod val="50000"/>
                      </a:schemeClr>
                    </a:solidFill>
                    <a:latin typeface="Calibri" panose="020F0502020204030204"/>
                    <a:ea typeface="宋体" panose="02010600030101010101" pitchFamily="2" charset="-122"/>
                  </a:rPr>
                  <a:t>research</a:t>
                </a:r>
                <a:endParaRPr lang="zh-CN" altLang="en-US" sz="1600" dirty="0">
                  <a:solidFill>
                    <a:schemeClr val="accent1">
                      <a:lumMod val="50000"/>
                    </a:schemeClr>
                  </a:solidFill>
                  <a:latin typeface="Calibri" panose="020F0502020204030204"/>
                  <a:ea typeface="宋体" panose="02010600030101010101" pitchFamily="2" charset="-122"/>
                </a:endParaRPr>
              </a:p>
            </p:txBody>
          </p:sp>
        </p:grpSp>
      </p:grpSp>
      <p:pic>
        <p:nvPicPr>
          <p:cNvPr id="26" name="图片 25">
            <a:extLst>
              <a:ext uri="{FF2B5EF4-FFF2-40B4-BE49-F238E27FC236}">
                <a16:creationId xmlns:a16="http://schemas.microsoft.com/office/drawing/2014/main" id="{7A8A7064-FFC0-B68C-F649-DA9F66848F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80847" y="115635"/>
            <a:ext cx="2103761" cy="2305637"/>
          </a:xfrm>
          <a:prstGeom prst="rect">
            <a:avLst/>
          </a:prstGeom>
        </p:spPr>
      </p:pic>
    </p:spTree>
  </p:cSld>
  <p:clrMapOvr>
    <a:masterClrMapping/>
  </p:clrMapOvr>
  <p:transition spd="slow" advTm="11272">
    <p:wipe/>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14:presetBounceEnd="34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34000">
                                          <p:cBhvr additive="base">
                                            <p:cTn id="7" dur="500" fill="hold"/>
                                            <p:tgtEl>
                                              <p:spTgt spid="7"/>
                                            </p:tgtEl>
                                            <p:attrNameLst>
                                              <p:attrName>ppt_x</p:attrName>
                                            </p:attrNameLst>
                                          </p:cBhvr>
                                          <p:tavLst>
                                            <p:tav tm="0">
                                              <p:val>
                                                <p:strVal val="1+#ppt_w/2"/>
                                              </p:val>
                                            </p:tav>
                                            <p:tav tm="100000">
                                              <p:val>
                                                <p:strVal val="#ppt_x"/>
                                              </p:val>
                                            </p:tav>
                                          </p:tavLst>
                                        </p:anim>
                                        <p:anim calcmode="lin" valueType="num" p14:bounceEnd="34000">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nodeType="afterEffect" p14:presetBounceEnd="34000">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14:bounceEnd="34000">
                                          <p:cBhvr additive="base">
                                            <p:cTn id="12" dur="500" fill="hold"/>
                                            <p:tgtEl>
                                              <p:spTgt spid="12"/>
                                            </p:tgtEl>
                                            <p:attrNameLst>
                                              <p:attrName>ppt_x</p:attrName>
                                            </p:attrNameLst>
                                          </p:cBhvr>
                                          <p:tavLst>
                                            <p:tav tm="0">
                                              <p:val>
                                                <p:strVal val="1+#ppt_w/2"/>
                                              </p:val>
                                            </p:tav>
                                            <p:tav tm="100000">
                                              <p:val>
                                                <p:strVal val="#ppt_x"/>
                                              </p:val>
                                            </p:tav>
                                          </p:tavLst>
                                        </p:anim>
                                        <p:anim calcmode="lin" valueType="num" p14:bounceEnd="34000">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nodeType="afterEffect" p14:presetBounceEnd="34000">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14:bounceEnd="34000">
                                          <p:cBhvr additive="base">
                                            <p:cTn id="17" dur="500" fill="hold"/>
                                            <p:tgtEl>
                                              <p:spTgt spid="17"/>
                                            </p:tgtEl>
                                            <p:attrNameLst>
                                              <p:attrName>ppt_x</p:attrName>
                                            </p:attrNameLst>
                                          </p:cBhvr>
                                          <p:tavLst>
                                            <p:tav tm="0">
                                              <p:val>
                                                <p:strVal val="1+#ppt_w/2"/>
                                              </p:val>
                                            </p:tav>
                                            <p:tav tm="100000">
                                              <p:val>
                                                <p:strVal val="#ppt_x"/>
                                              </p:val>
                                            </p:tav>
                                          </p:tavLst>
                                        </p:anim>
                                        <p:anim calcmode="lin" valueType="num" p14:bounceEnd="34000">
                                          <p:cBhvr additive="base">
                                            <p:cTn id="18" dur="500" fill="hold"/>
                                            <p:tgtEl>
                                              <p:spTgt spid="17"/>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nodeType="afterEffect" p14:presetBounceEnd="34000">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14:bounceEnd="34000">
                                          <p:cBhvr additive="base">
                                            <p:cTn id="22" dur="500" fill="hold"/>
                                            <p:tgtEl>
                                              <p:spTgt spid="5"/>
                                            </p:tgtEl>
                                            <p:attrNameLst>
                                              <p:attrName>ppt_x</p:attrName>
                                            </p:attrNameLst>
                                          </p:cBhvr>
                                          <p:tavLst>
                                            <p:tav tm="0">
                                              <p:val>
                                                <p:strVal val="1+#ppt_w/2"/>
                                              </p:val>
                                            </p:tav>
                                            <p:tav tm="100000">
                                              <p:val>
                                                <p:strVal val="#ppt_x"/>
                                              </p:val>
                                            </p:tav>
                                          </p:tavLst>
                                        </p:anim>
                                        <p:anim calcmode="lin" valueType="num" p14:bounceEnd="34000">
                                          <p:cBhvr additive="base">
                                            <p:cTn id="23"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nodeType="after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additive="base">
                                            <p:cTn id="12" dur="500" fill="hold"/>
                                            <p:tgtEl>
                                              <p:spTgt spid="12"/>
                                            </p:tgtEl>
                                            <p:attrNameLst>
                                              <p:attrName>ppt_x</p:attrName>
                                            </p:attrNameLst>
                                          </p:cBhvr>
                                          <p:tavLst>
                                            <p:tav tm="0">
                                              <p:val>
                                                <p:strVal val="1+#ppt_w/2"/>
                                              </p:val>
                                            </p:tav>
                                            <p:tav tm="100000">
                                              <p:val>
                                                <p:strVal val="#ppt_x"/>
                                              </p:val>
                                            </p:tav>
                                          </p:tavLst>
                                        </p:anim>
                                        <p:anim calcmode="lin" valueType="num">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nodeType="afterEffect">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cBhvr additive="base">
                                            <p:cTn id="17" dur="500" fill="hold"/>
                                            <p:tgtEl>
                                              <p:spTgt spid="17"/>
                                            </p:tgtEl>
                                            <p:attrNameLst>
                                              <p:attrName>ppt_x</p:attrName>
                                            </p:attrNameLst>
                                          </p:cBhvr>
                                          <p:tavLst>
                                            <p:tav tm="0">
                                              <p:val>
                                                <p:strVal val="1+#ppt_w/2"/>
                                              </p:val>
                                            </p:tav>
                                            <p:tav tm="100000">
                                              <p:val>
                                                <p:strVal val="#ppt_x"/>
                                              </p:val>
                                            </p:tav>
                                          </p:tavLst>
                                        </p:anim>
                                        <p:anim calcmode="lin" valueType="num">
                                          <p:cBhvr additive="base">
                                            <p:cTn id="18" dur="500" fill="hold"/>
                                            <p:tgtEl>
                                              <p:spTgt spid="17"/>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nodeType="afterEffect">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cBhvr additive="base">
                                            <p:cTn id="22" dur="500" fill="hold"/>
                                            <p:tgtEl>
                                              <p:spTgt spid="5"/>
                                            </p:tgtEl>
                                            <p:attrNameLst>
                                              <p:attrName>ppt_x</p:attrName>
                                            </p:attrNameLst>
                                          </p:cBhvr>
                                          <p:tavLst>
                                            <p:tav tm="0">
                                              <p:val>
                                                <p:strVal val="1+#ppt_w/2"/>
                                              </p:val>
                                            </p:tav>
                                            <p:tav tm="100000">
                                              <p:val>
                                                <p:strVal val="#ppt_x"/>
                                              </p:val>
                                            </p:tav>
                                          </p:tavLst>
                                        </p:anim>
                                        <p:anim calcmode="lin" valueType="num">
                                          <p:cBhvr additive="base">
                                            <p:cTn id="23"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62B6538A-33AE-45EB-868C-14B9E34ED961}" type="slidenum">
              <a:rPr kumimoji="0" lang="zh-CN" altLang="en-US" sz="1200" b="0" i="0" u="none" strike="noStrike" kern="1200" cap="none" spc="0" normalizeH="0" baseline="0" noProof="0" smtClean="0">
                <a:ln>
                  <a:noFill/>
                </a:ln>
                <a:solidFill>
                  <a:prstClr val="black">
                    <a:tint val="75000"/>
                  </a:prstClr>
                </a:solidFill>
                <a:effectLst/>
                <a:uLnTx/>
                <a:uFillTx/>
                <a:latin typeface="Calibri" panose="020F0502020204030204"/>
                <a:ea typeface="宋体" panose="02010600030101010101" pitchFamily="2" charset="-122"/>
                <a:cs typeface="+mn-cs"/>
              </a:rPr>
              <a:t>3</a:t>
            </a:fld>
            <a:endParaRPr kumimoji="0" lang="zh-CN" altLang="en-US" sz="1200" b="0" i="0" u="none" strike="noStrike" kern="1200" cap="none" spc="0" normalizeH="0" baseline="0" noProof="0">
              <a:ln>
                <a:noFill/>
              </a:ln>
              <a:solidFill>
                <a:prstClr val="black">
                  <a:tint val="75000"/>
                </a:prstClr>
              </a:solidFill>
              <a:effectLst/>
              <a:uLnTx/>
              <a:uFillTx/>
              <a:latin typeface="Calibri" panose="020F0502020204030204"/>
              <a:ea typeface="宋体" panose="02010600030101010101" pitchFamily="2" charset="-122"/>
              <a:cs typeface="+mn-cs"/>
            </a:endParaRPr>
          </a:p>
        </p:txBody>
      </p:sp>
      <p:sp>
        <p:nvSpPr>
          <p:cNvPr id="21" name="MH_SubTitle_1"/>
          <p:cNvSpPr/>
          <p:nvPr>
            <p:custDataLst>
              <p:tags r:id="rId1"/>
            </p:custDataLst>
          </p:nvPr>
        </p:nvSpPr>
        <p:spPr>
          <a:xfrm>
            <a:off x="82398" y="264158"/>
            <a:ext cx="4442467" cy="76113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70000" anchor="ct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rPr>
              <a:t>第一部分 个人简介</a:t>
            </a:r>
            <a:endParaRPr lang="zh-CN" altLang="en-US" sz="2000" dirty="0">
              <a:solidFill>
                <a:srgbClr val="E7E6E6">
                  <a:lumMod val="25000"/>
                </a:srgbClr>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20000"/>
              </a:lnSpc>
              <a:spcBef>
                <a:spcPts val="0"/>
              </a:spcBef>
              <a:spcAft>
                <a:spcPts val="0"/>
              </a:spcAft>
              <a:buClrTx/>
              <a:buSzTx/>
              <a:buFontTx/>
              <a:buNone/>
              <a:defRPr/>
            </a:pPr>
            <a:r>
              <a:rPr kumimoji="0" lang="en-US" altLang="zh-CN" sz="1600" b="0" i="0"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rPr>
              <a:t>Introduction</a:t>
            </a:r>
            <a:endParaRPr kumimoji="0" lang="en-US" altLang="zh-CN" sz="1600" b="0" i="0"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endParaRPr>
          </a:p>
        </p:txBody>
      </p:sp>
      <p:sp>
        <p:nvSpPr>
          <p:cNvPr id="23" name="TextBox 23"/>
          <p:cNvSpPr txBox="1"/>
          <p:nvPr/>
        </p:nvSpPr>
        <p:spPr>
          <a:xfrm>
            <a:off x="1951149" y="3052253"/>
            <a:ext cx="1609859"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4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总体目标</a:t>
            </a:r>
            <a:endParaRPr kumimoji="0" lang="en-US" altLang="zh-CN" sz="24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4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顺利完成</a:t>
            </a:r>
            <a:endParaRPr kumimoji="0" lang="en-US" altLang="zh-CN" sz="24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graphicFrame>
        <p:nvGraphicFramePr>
          <p:cNvPr id="4" name="表格 6"/>
          <p:cNvGraphicFramePr>
            <a:graphicFrameLocks noGrp="1"/>
          </p:cNvGraphicFramePr>
          <p:nvPr>
            <p:extLst>
              <p:ext uri="{D42A27DB-BD31-4B8C-83A1-F6EECF244321}">
                <p14:modId xmlns:p14="http://schemas.microsoft.com/office/powerpoint/2010/main" val="814523997"/>
              </p:ext>
            </p:extLst>
          </p:nvPr>
        </p:nvGraphicFramePr>
        <p:xfrm>
          <a:off x="172560" y="4340818"/>
          <a:ext cx="8704609" cy="1863090"/>
        </p:xfrm>
        <a:graphic>
          <a:graphicData uri="http://schemas.openxmlformats.org/drawingml/2006/table">
            <a:tbl>
              <a:tblPr firstRow="1" bandRow="1">
                <a:tableStyleId>{74C1A8A3-306A-4EB7-A6B1-4F7E0EB9C5D6}</a:tableStyleId>
              </a:tblPr>
              <a:tblGrid>
                <a:gridCol w="2710771">
                  <a:extLst>
                    <a:ext uri="{9D8B030D-6E8A-4147-A177-3AD203B41FA5}">
                      <a16:colId xmlns:a16="http://schemas.microsoft.com/office/drawing/2014/main" val="20000"/>
                    </a:ext>
                  </a:extLst>
                </a:gridCol>
                <a:gridCol w="3022038">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79730">
                <a:tc>
                  <a:txBody>
                    <a:bodyPr/>
                    <a:lstStyle/>
                    <a:p>
                      <a:pPr algn="ctr"/>
                      <a:r>
                        <a:rPr lang="zh-CN" altLang="en-US" dirty="0"/>
                        <a:t>数理基础</a:t>
                      </a:r>
                    </a:p>
                  </a:txBody>
                  <a:tcPr anchor="ctr"/>
                </a:tc>
                <a:tc>
                  <a:txBody>
                    <a:bodyPr/>
                    <a:lstStyle/>
                    <a:p>
                      <a:pPr algn="ctr"/>
                      <a:r>
                        <a:rPr lang="zh-CN" altLang="en-US"/>
                        <a:t>研究生计算机相关课程</a:t>
                      </a:r>
                      <a:endParaRPr lang="zh-CN" altLang="en-US" dirty="0"/>
                    </a:p>
                  </a:txBody>
                  <a:tcPr anchor="ctr"/>
                </a:tc>
                <a:tc>
                  <a:txBody>
                    <a:bodyPr/>
                    <a:lstStyle/>
                    <a:p>
                      <a:pPr algn="ctr"/>
                      <a:r>
                        <a:rPr lang="zh-CN" altLang="en-US"/>
                        <a:t>本科计算机相关课程</a:t>
                      </a:r>
                      <a:endParaRPr lang="zh-CN" altLang="en-US" dirty="0"/>
                    </a:p>
                  </a:txBody>
                  <a:tcPr anchor="ct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800">
                          <a:sym typeface="+mn-ea"/>
                        </a:rPr>
                        <a:t>数值分析（</a:t>
                      </a:r>
                      <a:r>
                        <a:rPr lang="en-US" altLang="zh-CN" sz="1800">
                          <a:sym typeface="+mn-ea"/>
                        </a:rPr>
                        <a:t>100</a:t>
                      </a:r>
                      <a:r>
                        <a:rPr lang="zh-CN" altLang="en-US" sz="1800">
                          <a:sym typeface="+mn-ea"/>
                        </a:rPr>
                        <a:t>）</a:t>
                      </a:r>
                      <a:endParaRPr lang="zh-CN" altLang="en-US"/>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a:t>视觉中的机器学习（</a:t>
                      </a:r>
                      <a:r>
                        <a:rPr lang="en-US" altLang="zh-CN"/>
                        <a:t>97</a:t>
                      </a:r>
                      <a:r>
                        <a:rPr lang="zh-CN" altLang="en-US"/>
                        <a:t>）</a:t>
                      </a:r>
                      <a:endParaRPr lang="zh-CN" altLang="en-US" dirty="0"/>
                    </a:p>
                  </a:txBody>
                  <a:tcPr anchor="ctr"/>
                </a:tc>
                <a:tc>
                  <a:txBody>
                    <a:bodyPr/>
                    <a:lstStyle/>
                    <a:p>
                      <a:pPr algn="ctr"/>
                      <a:r>
                        <a:rPr lang="zh-CN" altLang="en-US"/>
                        <a:t>计算机组成原理（</a:t>
                      </a:r>
                      <a:r>
                        <a:rPr lang="en-US" altLang="zh-CN"/>
                        <a:t>99.3</a:t>
                      </a:r>
                      <a:r>
                        <a:rPr lang="zh-CN" altLang="en-US"/>
                        <a:t>）</a:t>
                      </a:r>
                      <a:endParaRPr lang="zh-CN" altLang="en-US" dirty="0"/>
                    </a:p>
                  </a:txBody>
                  <a:tcPr anchor="ctr"/>
                </a:tc>
                <a:extLst>
                  <a:ext uri="{0D108BD9-81ED-4DB2-BD59-A6C34878D82A}">
                    <a16:rowId xmlns:a16="http://schemas.microsoft.com/office/drawing/2014/main" val="10001"/>
                  </a:ext>
                </a:extLst>
              </a:tr>
              <a:tr h="370840">
                <a:tc>
                  <a:txBody>
                    <a:bodyPr/>
                    <a:lstStyle/>
                    <a:p>
                      <a:pPr algn="ctr"/>
                      <a:r>
                        <a:rPr lang="zh-CN" altLang="en-US"/>
                        <a:t>高等数学</a:t>
                      </a:r>
                      <a:r>
                        <a:rPr lang="en-US" altLang="zh-CN"/>
                        <a:t>A</a:t>
                      </a:r>
                      <a:r>
                        <a:rPr lang="zh-CN" altLang="en-US"/>
                        <a:t>（</a:t>
                      </a:r>
                      <a:r>
                        <a:rPr lang="en-US" altLang="zh-CN"/>
                        <a:t>97.4</a:t>
                      </a:r>
                      <a:r>
                        <a:rPr lang="zh-CN" altLang="en-US"/>
                        <a:t>）</a:t>
                      </a:r>
                      <a:endParaRPr lang="zh-CN" altLang="en-US" dirty="0"/>
                    </a:p>
                  </a:txBody>
                  <a:tcPr anchor="ctr"/>
                </a:tc>
                <a:tc>
                  <a:txBody>
                    <a:bodyPr/>
                    <a:lstStyle/>
                    <a:p>
                      <a:pPr algn="ctr"/>
                      <a:r>
                        <a:rPr lang="zh-CN" altLang="en-US"/>
                        <a:t>听觉与声信号处理（</a:t>
                      </a:r>
                      <a:r>
                        <a:rPr lang="en-US" altLang="zh-CN"/>
                        <a:t>97</a:t>
                      </a:r>
                      <a:r>
                        <a:rPr lang="zh-CN" altLang="en-US"/>
                        <a:t>）</a:t>
                      </a:r>
                      <a:endParaRPr lang="zh-CN" altLang="en-US" dirty="0"/>
                    </a:p>
                  </a:txBody>
                  <a:tcPr anchor="ctr"/>
                </a:tc>
                <a:tc>
                  <a:txBody>
                    <a:bodyPr/>
                    <a:lstStyle/>
                    <a:p>
                      <a:pPr algn="ctr"/>
                      <a:r>
                        <a:rPr lang="zh-CN" altLang="en-US"/>
                        <a:t>操作系统（</a:t>
                      </a:r>
                      <a:r>
                        <a:rPr lang="en-US" altLang="zh-CN"/>
                        <a:t>97.1</a:t>
                      </a:r>
                      <a:r>
                        <a:rPr lang="zh-CN" altLang="en-US"/>
                        <a:t>）</a:t>
                      </a:r>
                      <a:endParaRPr lang="zh-CN" altLang="en-US" dirty="0"/>
                    </a:p>
                  </a:txBody>
                  <a:tcPr anchor="ctr"/>
                </a:tc>
                <a:extLst>
                  <a:ext uri="{0D108BD9-81ED-4DB2-BD59-A6C34878D82A}">
                    <a16:rowId xmlns:a16="http://schemas.microsoft.com/office/drawing/2014/main" val="10002"/>
                  </a:ext>
                </a:extLst>
              </a:tr>
              <a:tr h="370840">
                <a:tc>
                  <a:txBody>
                    <a:bodyPr/>
                    <a:lstStyle/>
                    <a:p>
                      <a:pPr algn="ctr"/>
                      <a:r>
                        <a:rPr lang="zh-CN" altLang="en-US"/>
                        <a:t>概率论（</a:t>
                      </a:r>
                      <a:r>
                        <a:rPr lang="en-US" altLang="zh-CN"/>
                        <a:t>95.5</a:t>
                      </a:r>
                      <a:r>
                        <a:rPr lang="zh-CN" altLang="en-US"/>
                        <a:t>）</a:t>
                      </a:r>
                      <a:endParaRPr lang="zh-CN" altLang="en-US" dirty="0"/>
                    </a:p>
                  </a:txBody>
                  <a:tcPr anchor="ctr"/>
                </a:tc>
                <a:tc>
                  <a:txBody>
                    <a:bodyPr/>
                    <a:lstStyle/>
                    <a:p>
                      <a:pPr algn="ctr"/>
                      <a:r>
                        <a:rPr lang="zh-CN" altLang="en-US" sz="1800" b="0" i="0" kern="1200">
                          <a:solidFill>
                            <a:schemeClr val="dk1"/>
                          </a:solidFill>
                          <a:effectLst/>
                          <a:latin typeface="+mn-lt"/>
                          <a:ea typeface="+mn-ea"/>
                          <a:cs typeface="+mn-cs"/>
                        </a:rPr>
                        <a:t>图像分析与解译</a:t>
                      </a:r>
                      <a:r>
                        <a:rPr lang="zh-CN" altLang="en-US"/>
                        <a:t>（</a:t>
                      </a:r>
                      <a:r>
                        <a:rPr lang="en-US" altLang="zh-CN"/>
                        <a:t>95</a:t>
                      </a:r>
                      <a:r>
                        <a:rPr lang="zh-CN" altLang="en-US"/>
                        <a:t>）</a:t>
                      </a:r>
                      <a:endParaRPr lang="zh-CN" altLang="en-US" dirty="0"/>
                    </a:p>
                  </a:txBody>
                  <a:tcPr anchor="ctr"/>
                </a:tc>
                <a:tc>
                  <a:txBody>
                    <a:bodyPr/>
                    <a:lstStyle/>
                    <a:p>
                      <a:pPr algn="ctr"/>
                      <a:r>
                        <a:rPr lang="zh-CN" altLang="en-US"/>
                        <a:t>算法设计与分析（</a:t>
                      </a:r>
                      <a:r>
                        <a:rPr lang="en-US" altLang="zh-CN"/>
                        <a:t>95.32</a:t>
                      </a:r>
                      <a:r>
                        <a:rPr lang="zh-CN" altLang="en-US"/>
                        <a:t>）</a:t>
                      </a:r>
                      <a:endParaRPr lang="zh-CN" altLang="en-US" dirty="0"/>
                    </a:p>
                  </a:txBody>
                  <a:tcPr anchor="ctr"/>
                </a:tc>
                <a:extLst>
                  <a:ext uri="{0D108BD9-81ED-4DB2-BD59-A6C34878D82A}">
                    <a16:rowId xmlns:a16="http://schemas.microsoft.com/office/drawing/2014/main" val="10003"/>
                  </a:ext>
                </a:extLst>
              </a:tr>
              <a:tr h="370840">
                <a:tc>
                  <a:txBody>
                    <a:bodyPr/>
                    <a:lstStyle/>
                    <a:p>
                      <a:pPr algn="ctr"/>
                      <a:r>
                        <a:rPr lang="zh-CN" altLang="en-US" sz="1800">
                          <a:sym typeface="+mn-ea"/>
                        </a:rPr>
                        <a:t>研究生数理统计（</a:t>
                      </a:r>
                      <a:r>
                        <a:rPr lang="en-US" altLang="zh-CN" sz="1800">
                          <a:sym typeface="+mn-ea"/>
                        </a:rPr>
                        <a:t>91</a:t>
                      </a:r>
                      <a:r>
                        <a:rPr lang="zh-CN" altLang="en-US" sz="1800">
                          <a:sym typeface="+mn-ea"/>
                        </a:rPr>
                        <a:t>）</a:t>
                      </a:r>
                      <a:endParaRPr lang="zh-CN" altLang="en-US" dirty="0"/>
                    </a:p>
                  </a:txBody>
                  <a:tcPr anchor="ctr"/>
                </a:tc>
                <a:tc>
                  <a:txBody>
                    <a:bodyPr/>
                    <a:lstStyle/>
                    <a:p>
                      <a:pPr algn="ctr"/>
                      <a:r>
                        <a:rPr lang="zh-CN" altLang="en-US" sz="1800" b="0" i="0" kern="1200">
                          <a:solidFill>
                            <a:schemeClr val="dk1"/>
                          </a:solidFill>
                          <a:effectLst/>
                          <a:latin typeface="+mn-lt"/>
                          <a:ea typeface="+mn-ea"/>
                          <a:cs typeface="+mn-cs"/>
                        </a:rPr>
                        <a:t>深度学习与计算机视觉</a:t>
                      </a:r>
                      <a:r>
                        <a:rPr lang="zh-CN" altLang="en-US"/>
                        <a:t>（</a:t>
                      </a:r>
                      <a:r>
                        <a:rPr lang="en-US" altLang="zh-CN"/>
                        <a:t>93</a:t>
                      </a:r>
                      <a:r>
                        <a:rPr lang="zh-CN" altLang="en-US"/>
                        <a:t>）</a:t>
                      </a:r>
                      <a:endParaRPr lang="zh-CN" altLang="en-US" dirty="0"/>
                    </a:p>
                  </a:txBody>
                  <a:tcPr anchor="ctr"/>
                </a:tc>
                <a:tc>
                  <a:txBody>
                    <a:bodyPr/>
                    <a:lstStyle/>
                    <a:p>
                      <a:pPr algn="ctr"/>
                      <a:r>
                        <a:rPr lang="zh-CN" altLang="en-US"/>
                        <a:t>数据结构（</a:t>
                      </a:r>
                      <a:r>
                        <a:rPr lang="en-US" altLang="zh-CN" dirty="0"/>
                        <a:t>94</a:t>
                      </a:r>
                      <a:r>
                        <a:rPr lang="zh-CN" altLang="en-US" dirty="0"/>
                        <a:t>）</a:t>
                      </a:r>
                    </a:p>
                  </a:txBody>
                  <a:tcPr anchor="ctr"/>
                </a:tc>
                <a:extLst>
                  <a:ext uri="{0D108BD9-81ED-4DB2-BD59-A6C34878D82A}">
                    <a16:rowId xmlns:a16="http://schemas.microsoft.com/office/drawing/2014/main" val="10004"/>
                  </a:ext>
                </a:extLst>
              </a:tr>
            </a:tbl>
          </a:graphicData>
        </a:graphic>
      </p:graphicFrame>
      <p:pic>
        <p:nvPicPr>
          <p:cNvPr id="2050" name="Picture 2" descr="previe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044770" y="116047"/>
            <a:ext cx="2742987" cy="2742987"/>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E045B4F6-A3C9-F1A3-BC2D-F6F4DE4F1C9D}"/>
              </a:ext>
            </a:extLst>
          </p:cNvPr>
          <p:cNvSpPr txBox="1"/>
          <p:nvPr/>
        </p:nvSpPr>
        <p:spPr>
          <a:xfrm>
            <a:off x="1517907" y="919724"/>
            <a:ext cx="9156186" cy="3268652"/>
          </a:xfrm>
          <a:prstGeom prst="rect">
            <a:avLst/>
          </a:prstGeom>
          <a:noFill/>
        </p:spPr>
        <p:txBody>
          <a:bodyPr wrap="square" rtlCol="0">
            <a:spAutoFit/>
          </a:bodyPr>
          <a:lstStyle/>
          <a:p>
            <a:pPr>
              <a:lnSpc>
                <a:spcPct val="150000"/>
              </a:lnSpc>
            </a:pPr>
            <a:r>
              <a:rPr lang="zh-CN" altLang="en-US" sz="2000" dirty="0">
                <a:solidFill>
                  <a:prstClr val="black"/>
                </a:solidFill>
                <a:latin typeface="Calisto MT" panose="02040603050505030304" pitchFamily="18" charset="0"/>
                <a:ea typeface="宋体" panose="02010600030101010101" pitchFamily="2" charset="-122"/>
              </a:rPr>
              <a:t>姓名：余</a:t>
            </a:r>
            <a:r>
              <a:rPr lang="zh-CN" altLang="en-US" sz="2000">
                <a:solidFill>
                  <a:prstClr val="black"/>
                </a:solidFill>
                <a:latin typeface="Calisto MT" panose="02040603050505030304" pitchFamily="18" charset="0"/>
                <a:ea typeface="宋体" panose="02010600030101010101" pitchFamily="2" charset="-122"/>
              </a:rPr>
              <a:t>志椋</a:t>
            </a:r>
            <a:endParaRPr lang="en-US" altLang="zh-CN" sz="2000" dirty="0">
              <a:solidFill>
                <a:prstClr val="black"/>
              </a:solidFill>
              <a:latin typeface="Calisto MT" panose="02040603050505030304" pitchFamily="18" charset="0"/>
              <a:ea typeface="宋体" panose="02010600030101010101" pitchFamily="2" charset="-122"/>
            </a:endParaRPr>
          </a:p>
          <a:p>
            <a:pPr>
              <a:lnSpc>
                <a:spcPct val="150000"/>
              </a:lnSpc>
            </a:pPr>
            <a:r>
              <a:rPr lang="zh-CN" altLang="en-US" sz="2000">
                <a:solidFill>
                  <a:prstClr val="black"/>
                </a:solidFill>
                <a:latin typeface="Calisto MT" panose="02040603050505030304" pitchFamily="18" charset="0"/>
                <a:ea typeface="宋体" panose="02010600030101010101" pitchFamily="2" charset="-122"/>
              </a:rPr>
              <a:t>英语水平：</a:t>
            </a:r>
            <a:r>
              <a:rPr lang="en-US" altLang="zh-CN" sz="2000" b="1" dirty="0">
                <a:solidFill>
                  <a:prstClr val="black"/>
                </a:solidFill>
                <a:latin typeface="Calisto MT" panose="02040603050505030304" pitchFamily="18" charset="0"/>
                <a:ea typeface="宋体" panose="02010600030101010101" pitchFamily="2" charset="-122"/>
              </a:rPr>
              <a:t>CET-4(641</a:t>
            </a:r>
            <a:r>
              <a:rPr lang="en-US" altLang="zh-CN" sz="2000" b="1">
                <a:solidFill>
                  <a:prstClr val="black"/>
                </a:solidFill>
                <a:latin typeface="Calisto MT" panose="02040603050505030304" pitchFamily="18" charset="0"/>
                <a:ea typeface="宋体" panose="02010600030101010101" pitchFamily="2" charset="-122"/>
              </a:rPr>
              <a:t>)</a:t>
            </a:r>
            <a:r>
              <a:rPr lang="zh-CN" altLang="en-US" sz="2000" b="1">
                <a:solidFill>
                  <a:prstClr val="black"/>
                </a:solidFill>
                <a:latin typeface="Calisto MT" panose="02040603050505030304" pitchFamily="18" charset="0"/>
                <a:ea typeface="宋体" panose="02010600030101010101" pitchFamily="2" charset="-122"/>
              </a:rPr>
              <a:t>、</a:t>
            </a:r>
            <a:r>
              <a:rPr lang="en-US" altLang="zh-CN" sz="2000" b="1">
                <a:solidFill>
                  <a:prstClr val="black"/>
                </a:solidFill>
                <a:latin typeface="Calisto MT" panose="02040603050505030304" pitchFamily="18" charset="0"/>
                <a:ea typeface="宋体" panose="02010600030101010101" pitchFamily="2" charset="-122"/>
              </a:rPr>
              <a:t>CET-6(608)</a:t>
            </a:r>
          </a:p>
          <a:p>
            <a:pPr lvl="0">
              <a:lnSpc>
                <a:spcPct val="150000"/>
              </a:lnSpc>
              <a:defRPr/>
            </a:pPr>
            <a:r>
              <a:rPr lang="zh-CN" altLang="en-US" sz="2000" b="1">
                <a:solidFill>
                  <a:prstClr val="black"/>
                </a:solidFill>
                <a:latin typeface="Calisto MT" panose="02040603050505030304" pitchFamily="18" charset="0"/>
              </a:rPr>
              <a:t>本科</a:t>
            </a:r>
            <a:r>
              <a:rPr lang="en-US" altLang="zh-CN" sz="2000">
                <a:solidFill>
                  <a:prstClr val="black"/>
                </a:solidFill>
                <a:latin typeface="Calisto MT" panose="02040603050505030304" pitchFamily="18" charset="0"/>
              </a:rPr>
              <a:t>(2020.9-2024.6)</a:t>
            </a:r>
            <a:r>
              <a:rPr lang="zh-CN" altLang="en-US" sz="2000">
                <a:solidFill>
                  <a:prstClr val="black"/>
                </a:solidFill>
                <a:latin typeface="Calisto MT" panose="02040603050505030304" pitchFamily="18" charset="0"/>
              </a:rPr>
              <a:t>：武汉理工大学    计算机科学与技术</a:t>
            </a:r>
            <a:endParaRPr lang="en-US" altLang="zh-CN" sz="2000">
              <a:solidFill>
                <a:prstClr val="black"/>
              </a:solidFill>
              <a:latin typeface="Calisto MT" panose="02040603050505030304" pitchFamily="18" charset="0"/>
            </a:endParaRPr>
          </a:p>
          <a:p>
            <a:pPr lvl="0">
              <a:lnSpc>
                <a:spcPct val="150000"/>
              </a:lnSpc>
              <a:defRPr/>
            </a:pPr>
            <a:r>
              <a:rPr lang="zh-CN" altLang="en-US" sz="2000" b="1">
                <a:solidFill>
                  <a:prstClr val="black"/>
                </a:solidFill>
                <a:latin typeface="Calisto MT" panose="02040603050505030304" pitchFamily="18" charset="0"/>
              </a:rPr>
              <a:t>硕士</a:t>
            </a:r>
            <a:r>
              <a:rPr lang="en-US" altLang="zh-CN" sz="2000">
                <a:solidFill>
                  <a:prstClr val="black"/>
                </a:solidFill>
                <a:latin typeface="Calisto MT" panose="02040603050505030304" pitchFamily="18" charset="0"/>
              </a:rPr>
              <a:t>(2024.9</a:t>
            </a:r>
            <a:r>
              <a:rPr lang="zh-CN" altLang="en-US" sz="2000">
                <a:solidFill>
                  <a:prstClr val="black"/>
                </a:solidFill>
                <a:latin typeface="Calisto MT" panose="02040603050505030304" pitchFamily="18" charset="0"/>
              </a:rPr>
              <a:t>至今</a:t>
            </a:r>
            <a:r>
              <a:rPr lang="en-US" altLang="zh-CN" sz="2000">
                <a:solidFill>
                  <a:prstClr val="black"/>
                </a:solidFill>
                <a:latin typeface="Calisto MT" panose="02040603050505030304" pitchFamily="18" charset="0"/>
              </a:rPr>
              <a:t>) </a:t>
            </a:r>
            <a:r>
              <a:rPr lang="zh-CN" altLang="en-US" sz="2000">
                <a:solidFill>
                  <a:prstClr val="black"/>
                </a:solidFill>
                <a:latin typeface="Calisto MT" panose="02040603050505030304" pitchFamily="18" charset="0"/>
              </a:rPr>
              <a:t>：武汉大学     计算机科学与技术</a:t>
            </a:r>
            <a:endParaRPr lang="en-US" altLang="zh-CN" sz="2000" dirty="0">
              <a:solidFill>
                <a:prstClr val="black"/>
              </a:solidFill>
              <a:latin typeface="Calisto MT" panose="02040603050505030304" pitchFamily="18" charset="0"/>
              <a:ea typeface="宋体" panose="02010600030101010101" pitchFamily="2" charset="-122"/>
            </a:endParaRPr>
          </a:p>
          <a:p>
            <a:pPr>
              <a:lnSpc>
                <a:spcPct val="150000"/>
              </a:lnSpc>
            </a:pPr>
            <a:r>
              <a:rPr lang="zh-CN" altLang="en-US" sz="2000">
                <a:solidFill>
                  <a:prstClr val="black"/>
                </a:solidFill>
                <a:latin typeface="Calisto MT" panose="02040603050505030304" pitchFamily="18" charset="0"/>
                <a:ea typeface="宋体" panose="02010600030101010101" pitchFamily="2" charset="-122"/>
              </a:rPr>
              <a:t>专业排名：本科（</a:t>
            </a:r>
            <a:r>
              <a:rPr lang="en-US" altLang="zh-CN" sz="2000">
                <a:solidFill>
                  <a:prstClr val="black"/>
                </a:solidFill>
                <a:latin typeface="Calisto MT" panose="02040603050505030304" pitchFamily="18" charset="0"/>
                <a:ea typeface="宋体" panose="02010600030101010101" pitchFamily="2" charset="-122"/>
              </a:rPr>
              <a:t>2/567  0.35%</a:t>
            </a:r>
            <a:r>
              <a:rPr lang="zh-CN" altLang="en-US" sz="2000">
                <a:solidFill>
                  <a:prstClr val="black"/>
                </a:solidFill>
                <a:latin typeface="Calisto MT" panose="02040603050505030304" pitchFamily="18" charset="0"/>
              </a:rPr>
              <a:t>），硕士（</a:t>
            </a:r>
            <a:r>
              <a:rPr lang="en-US" altLang="zh-CN" sz="2000">
                <a:solidFill>
                  <a:prstClr val="black"/>
                </a:solidFill>
                <a:latin typeface="Calisto MT" panose="02040603050505030304" pitchFamily="18" charset="0"/>
              </a:rPr>
              <a:t>9/206  4.37%</a:t>
            </a:r>
            <a:r>
              <a:rPr lang="zh-CN" altLang="en-US" sz="2000">
                <a:solidFill>
                  <a:prstClr val="black"/>
                </a:solidFill>
                <a:latin typeface="Calisto MT" panose="02040603050505030304" pitchFamily="18" charset="0"/>
              </a:rPr>
              <a:t>）</a:t>
            </a:r>
            <a:endParaRPr lang="en-US" altLang="zh-CN" sz="2000" b="1" dirty="0">
              <a:solidFill>
                <a:prstClr val="black"/>
              </a:solidFill>
              <a:latin typeface="Calisto MT" panose="02040603050505030304" pitchFamily="18" charset="0"/>
              <a:ea typeface="宋体" panose="02010600030101010101" pitchFamily="2" charset="-122"/>
            </a:endParaRPr>
          </a:p>
          <a:p>
            <a:pPr>
              <a:lnSpc>
                <a:spcPct val="150000"/>
              </a:lnSpc>
            </a:pPr>
            <a:r>
              <a:rPr lang="zh-CN" altLang="en-US" sz="2000">
                <a:solidFill>
                  <a:prstClr val="black"/>
                </a:solidFill>
                <a:latin typeface="Calisto MT" panose="02040603050505030304" pitchFamily="18" charset="0"/>
                <a:ea typeface="宋体" panose="02010600030101010101" pitchFamily="2" charset="-122"/>
              </a:rPr>
              <a:t>所</a:t>
            </a:r>
            <a:r>
              <a:rPr lang="zh-CN" altLang="en-US" sz="2000" dirty="0">
                <a:solidFill>
                  <a:prstClr val="black"/>
                </a:solidFill>
                <a:latin typeface="Calisto MT" panose="02040603050505030304" pitchFamily="18" charset="0"/>
                <a:ea typeface="宋体" panose="02010600030101010101" pitchFamily="2" charset="-122"/>
              </a:rPr>
              <a:t>获荣誉：</a:t>
            </a:r>
            <a:r>
              <a:rPr lang="zh-CN" altLang="en-US" sz="2000" dirty="0">
                <a:latin typeface="Calisto MT" panose="02040603050505030304" pitchFamily="18" charset="0"/>
                <a:ea typeface="宋体" panose="02010600030101010101" pitchFamily="2" charset="-122"/>
              </a:rPr>
              <a:t>国家</a:t>
            </a:r>
            <a:r>
              <a:rPr lang="zh-CN" altLang="en-US" sz="2000">
                <a:latin typeface="Calisto MT" panose="02040603050505030304" pitchFamily="18" charset="0"/>
                <a:ea typeface="宋体" panose="02010600030101010101" pitchFamily="2" charset="-122"/>
              </a:rPr>
              <a:t>奖学金</a:t>
            </a:r>
            <a:r>
              <a:rPr lang="zh-CN" altLang="en-US" sz="2000">
                <a:solidFill>
                  <a:prstClr val="black"/>
                </a:solidFill>
                <a:latin typeface="Calisto MT" panose="02040603050505030304" pitchFamily="18" charset="0"/>
                <a:ea typeface="宋体" panose="02010600030101010101" pitchFamily="2" charset="-122"/>
              </a:rPr>
              <a:t>、校</a:t>
            </a:r>
            <a:r>
              <a:rPr lang="zh-CN" altLang="en-US" sz="2000" dirty="0">
                <a:solidFill>
                  <a:prstClr val="black"/>
                </a:solidFill>
                <a:latin typeface="Calisto MT" panose="02040603050505030304" pitchFamily="18" charset="0"/>
                <a:ea typeface="宋体" panose="02010600030101010101" pitchFamily="2" charset="-122"/>
              </a:rPr>
              <a:t>三好学生标兵、校</a:t>
            </a:r>
            <a:r>
              <a:rPr lang="zh-CN" altLang="en-US" sz="2000">
                <a:solidFill>
                  <a:prstClr val="black"/>
                </a:solidFill>
                <a:latin typeface="Calisto MT" panose="02040603050505030304" pitchFamily="18" charset="0"/>
                <a:ea typeface="宋体" panose="02010600030101010101" pitchFamily="2" charset="-122"/>
              </a:rPr>
              <a:t>优秀共青团员</a:t>
            </a:r>
            <a:endParaRPr lang="en-US" altLang="zh-CN" sz="2000" dirty="0">
              <a:solidFill>
                <a:prstClr val="black"/>
              </a:solidFill>
              <a:latin typeface="Calisto MT" panose="02040603050505030304" pitchFamily="18" charset="0"/>
              <a:ea typeface="宋体" panose="02010600030101010101" pitchFamily="2" charset="-122"/>
            </a:endParaRPr>
          </a:p>
          <a:p>
            <a:pPr>
              <a:lnSpc>
                <a:spcPct val="150000"/>
              </a:lnSpc>
            </a:pPr>
            <a:endParaRPr lang="en-US" altLang="zh-CN" sz="2000" dirty="0">
              <a:solidFill>
                <a:srgbClr val="FF0000"/>
              </a:solidFill>
              <a:latin typeface="Times New Roman" panose="02020603050405020304" pitchFamily="18" charset="0"/>
              <a:ea typeface="微软雅黑" panose="020B0503020204020204" pitchFamily="34" charset="-122"/>
            </a:endParaRPr>
          </a:p>
        </p:txBody>
      </p:sp>
      <p:pic>
        <p:nvPicPr>
          <p:cNvPr id="3" name="图片 2">
            <a:extLst>
              <a:ext uri="{FF2B5EF4-FFF2-40B4-BE49-F238E27FC236}">
                <a16:creationId xmlns:a16="http://schemas.microsoft.com/office/drawing/2014/main" id="{873290CE-7D02-0E3B-9436-55171D73352E}"/>
              </a:ext>
            </a:extLst>
          </p:cNvPr>
          <p:cNvPicPr>
            <a:picLocks noChangeAspect="1"/>
          </p:cNvPicPr>
          <p:nvPr/>
        </p:nvPicPr>
        <p:blipFill>
          <a:blip r:embed="rId5"/>
          <a:srcRect l="4222"/>
          <a:stretch>
            <a:fillRect/>
          </a:stretch>
        </p:blipFill>
        <p:spPr>
          <a:xfrm>
            <a:off x="9044770" y="3066888"/>
            <a:ext cx="2817174" cy="3344873"/>
          </a:xfrm>
          <a:prstGeom prst="rect">
            <a:avLst/>
          </a:prstGeom>
        </p:spPr>
      </p:pic>
      <p:pic>
        <p:nvPicPr>
          <p:cNvPr id="9" name="图片 8">
            <a:extLst>
              <a:ext uri="{FF2B5EF4-FFF2-40B4-BE49-F238E27FC236}">
                <a16:creationId xmlns:a16="http://schemas.microsoft.com/office/drawing/2014/main" id="{D77801A1-6865-0654-1940-042B1C9B4A6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2398" y="1177735"/>
            <a:ext cx="1433041" cy="2169953"/>
          </a:xfrm>
          <a:prstGeom prst="rect">
            <a:avLst/>
          </a:prstGeom>
        </p:spPr>
      </p:pic>
    </p:spTree>
  </p:cSld>
  <p:clrMapOvr>
    <a:masterClrMapping/>
  </p:clrMapOvr>
  <p:transition spd="slow" advTm="77427">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9B88FEA2-5A17-3881-EB58-23B20A30161E}"/>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srgbClr val="FF0000"/>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5" name="文本框 4">
            <a:extLst>
              <a:ext uri="{FF2B5EF4-FFF2-40B4-BE49-F238E27FC236}">
                <a16:creationId xmlns:a16="http://schemas.microsoft.com/office/drawing/2014/main" id="{E85161E2-04E2-A3D0-CA0D-EC7CB6A70CAD}"/>
              </a:ext>
            </a:extLst>
          </p:cNvPr>
          <p:cNvSpPr txBox="1"/>
          <p:nvPr/>
        </p:nvSpPr>
        <p:spPr>
          <a:xfrm>
            <a:off x="335679" y="244573"/>
            <a:ext cx="705734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000" b="1">
                <a:solidFill>
                  <a:srgbClr val="003DA6"/>
                </a:solidFill>
                <a:latin typeface="Microsoft YaHei" panose="020B0503020204020204" pitchFamily="34" charset="-122"/>
                <a:ea typeface="Microsoft YaHei" panose="020B0503020204020204" pitchFamily="34" charset="-122"/>
                <a:cs typeface="Calibri" panose="020F0502020204030204" charset="0"/>
              </a:rPr>
              <a:t>华为计算产品线昇腾推理部门</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a:t>
            </a:r>
            <a:r>
              <a:rPr kumimoji="0" lang="en-US" altLang="zh-CN"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AI Infra </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推理优化实习生</a:t>
            </a:r>
            <a:endPar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9" name="Shape 9">
            <a:extLst>
              <a:ext uri="{FF2B5EF4-FFF2-40B4-BE49-F238E27FC236}">
                <a16:creationId xmlns:a16="http://schemas.microsoft.com/office/drawing/2014/main" id="{AFC0308E-10B0-F679-7643-3E9419508EA4}"/>
              </a:ext>
            </a:extLst>
          </p:cNvPr>
          <p:cNvSpPr/>
          <p:nvPr/>
        </p:nvSpPr>
        <p:spPr>
          <a:xfrm>
            <a:off x="145915" y="1147603"/>
            <a:ext cx="5401445" cy="4888385"/>
          </a:xfrm>
          <a:prstGeom prst="roundRect">
            <a:avLst>
              <a:gd name="adj" fmla="val 2972"/>
            </a:avLst>
          </a:prstGeom>
          <a:solidFill>
            <a:srgbClr val="FFFFFF"/>
          </a:solidFill>
          <a:ln w="9525">
            <a:solidFill>
              <a:srgbClr val="DCE5F1"/>
            </a:solidFill>
            <a:prstDash val="solid"/>
          </a:ln>
        </p:spPr>
        <p:txBody>
          <a:bodyPr/>
          <a:lstStyle/>
          <a:p>
            <a:endParaRPr lang="zh-CN" altLang="en-US"/>
          </a:p>
        </p:txBody>
      </p:sp>
      <p:sp>
        <p:nvSpPr>
          <p:cNvPr id="20" name="Shape 10">
            <a:extLst>
              <a:ext uri="{FF2B5EF4-FFF2-40B4-BE49-F238E27FC236}">
                <a16:creationId xmlns:a16="http://schemas.microsoft.com/office/drawing/2014/main" id="{5600D3AE-73D2-1CE3-A8FA-7EC5519A2F84}"/>
              </a:ext>
            </a:extLst>
          </p:cNvPr>
          <p:cNvSpPr/>
          <p:nvPr/>
        </p:nvSpPr>
        <p:spPr>
          <a:xfrm>
            <a:off x="204621" y="1186822"/>
            <a:ext cx="1832459" cy="422521"/>
          </a:xfrm>
          <a:prstGeom prst="roundRect">
            <a:avLst>
              <a:gd name="adj" fmla="val 48387"/>
            </a:avLst>
          </a:prstGeom>
          <a:solidFill>
            <a:srgbClr val="EEF4FF"/>
          </a:solidFill>
          <a:ln w="12700">
            <a:solidFill>
              <a:srgbClr val="EEF4FF">
                <a:alpha val="0"/>
              </a:srgbClr>
            </a:solidFill>
            <a:prstDash val="solid"/>
          </a:ln>
        </p:spPr>
        <p:txBody>
          <a:bodyPr/>
          <a:lstStyle/>
          <a:p>
            <a:endParaRPr lang="zh-CN" altLang="en-US"/>
          </a:p>
        </p:txBody>
      </p:sp>
      <p:sp>
        <p:nvSpPr>
          <p:cNvPr id="21" name="Text 11">
            <a:extLst>
              <a:ext uri="{FF2B5EF4-FFF2-40B4-BE49-F238E27FC236}">
                <a16:creationId xmlns:a16="http://schemas.microsoft.com/office/drawing/2014/main" id="{51DE1A8F-7366-73FA-7967-7D08FBDB992B}"/>
              </a:ext>
            </a:extLst>
          </p:cNvPr>
          <p:cNvSpPr/>
          <p:nvPr/>
        </p:nvSpPr>
        <p:spPr>
          <a:xfrm>
            <a:off x="284987" y="1247244"/>
            <a:ext cx="1579982" cy="301751"/>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核心理论</a:t>
            </a:r>
            <a:r>
              <a:rPr lang="zh-CN" altLang="en-US" sz="2000" b="1">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学习</a:t>
            </a:r>
            <a:endParaRPr lang="en-US" sz="2000" dirty="0"/>
          </a:p>
        </p:txBody>
      </p:sp>
      <p:sp>
        <p:nvSpPr>
          <p:cNvPr id="22" name="Shape 12">
            <a:extLst>
              <a:ext uri="{FF2B5EF4-FFF2-40B4-BE49-F238E27FC236}">
                <a16:creationId xmlns:a16="http://schemas.microsoft.com/office/drawing/2014/main" id="{90CF42CA-E6E9-3B72-E3E4-30BE3EFBA53D}"/>
              </a:ext>
            </a:extLst>
          </p:cNvPr>
          <p:cNvSpPr/>
          <p:nvPr/>
        </p:nvSpPr>
        <p:spPr>
          <a:xfrm>
            <a:off x="284987" y="1677924"/>
            <a:ext cx="5079491" cy="713232"/>
          </a:xfrm>
          <a:prstGeom prst="roundRect">
            <a:avLst>
              <a:gd name="adj" fmla="val 15385"/>
            </a:avLst>
          </a:prstGeom>
          <a:solidFill>
            <a:srgbClr val="F5F8FE"/>
          </a:solidFill>
          <a:ln w="12700">
            <a:solidFill>
              <a:srgbClr val="F5F8FE">
                <a:alpha val="0"/>
              </a:srgbClr>
            </a:solidFill>
            <a:prstDash val="solid"/>
          </a:ln>
        </p:spPr>
        <p:txBody>
          <a:bodyPr/>
          <a:lstStyle/>
          <a:p>
            <a:endParaRPr lang="zh-CN" altLang="en-US"/>
          </a:p>
        </p:txBody>
      </p:sp>
      <p:sp>
        <p:nvSpPr>
          <p:cNvPr id="23" name="Shape 13">
            <a:extLst>
              <a:ext uri="{FF2B5EF4-FFF2-40B4-BE49-F238E27FC236}">
                <a16:creationId xmlns:a16="http://schemas.microsoft.com/office/drawing/2014/main" id="{6D22F886-9613-99DF-B26A-B0F3642B01F1}"/>
              </a:ext>
            </a:extLst>
          </p:cNvPr>
          <p:cNvSpPr/>
          <p:nvPr/>
        </p:nvSpPr>
        <p:spPr>
          <a:xfrm>
            <a:off x="422148" y="1805940"/>
            <a:ext cx="530352" cy="429768"/>
          </a:xfrm>
          <a:prstGeom prst="roundRect">
            <a:avLst>
              <a:gd name="adj" fmla="val 17021"/>
            </a:avLst>
          </a:prstGeom>
          <a:solidFill>
            <a:srgbClr val="EEF4FF"/>
          </a:solidFill>
          <a:ln w="12700">
            <a:solidFill>
              <a:srgbClr val="EEF4FF">
                <a:alpha val="0"/>
              </a:srgbClr>
            </a:solidFill>
            <a:prstDash val="solid"/>
          </a:ln>
        </p:spPr>
      </p:sp>
      <p:sp>
        <p:nvSpPr>
          <p:cNvPr id="24" name="Text 14">
            <a:extLst>
              <a:ext uri="{FF2B5EF4-FFF2-40B4-BE49-F238E27FC236}">
                <a16:creationId xmlns:a16="http://schemas.microsoft.com/office/drawing/2014/main" id="{6E42EE70-327C-BE98-6217-6C62BAB90087}"/>
              </a:ext>
            </a:extLst>
          </p:cNvPr>
          <p:cNvSpPr/>
          <p:nvPr/>
        </p:nvSpPr>
        <p:spPr>
          <a:xfrm>
            <a:off x="458724" y="1860804"/>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6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K/V</a:t>
            </a:r>
            <a:endParaRPr lang="en-US" sz="1600" dirty="0"/>
          </a:p>
        </p:txBody>
      </p:sp>
      <p:sp>
        <p:nvSpPr>
          <p:cNvPr id="25" name="Text 15">
            <a:extLst>
              <a:ext uri="{FF2B5EF4-FFF2-40B4-BE49-F238E27FC236}">
                <a16:creationId xmlns:a16="http://schemas.microsoft.com/office/drawing/2014/main" id="{29E38695-72C0-5063-5E54-E85D8936D3E2}"/>
              </a:ext>
            </a:extLst>
          </p:cNvPr>
          <p:cNvSpPr/>
          <p:nvPr/>
        </p:nvSpPr>
        <p:spPr>
          <a:xfrm>
            <a:off x="1089660" y="1796796"/>
            <a:ext cx="3474720" cy="265176"/>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KV Cache</a:t>
            </a:r>
            <a:endParaRPr lang="en-US" dirty="0"/>
          </a:p>
        </p:txBody>
      </p:sp>
      <p:sp>
        <p:nvSpPr>
          <p:cNvPr id="26" name="Text 16">
            <a:extLst>
              <a:ext uri="{FF2B5EF4-FFF2-40B4-BE49-F238E27FC236}">
                <a16:creationId xmlns:a16="http://schemas.microsoft.com/office/drawing/2014/main" id="{9CD2FB0A-0CDE-736D-A7F7-D60E76722606}"/>
              </a:ext>
            </a:extLst>
          </p:cNvPr>
          <p:cNvSpPr/>
          <p:nvPr/>
        </p:nvSpPr>
        <p:spPr>
          <a:xfrm>
            <a:off x="1089660" y="2098548"/>
            <a:ext cx="3584448" cy="219456"/>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历史 K/V 复用，理解显存 / 时延 / 吞吐权衡</a:t>
            </a:r>
            <a:endParaRPr lang="en-US" sz="1400" dirty="0"/>
          </a:p>
        </p:txBody>
      </p:sp>
      <p:sp>
        <p:nvSpPr>
          <p:cNvPr id="27" name="Shape 17">
            <a:extLst>
              <a:ext uri="{FF2B5EF4-FFF2-40B4-BE49-F238E27FC236}">
                <a16:creationId xmlns:a16="http://schemas.microsoft.com/office/drawing/2014/main" id="{C8CDCE11-4352-30F6-22EE-CB8E1C78CE48}"/>
              </a:ext>
            </a:extLst>
          </p:cNvPr>
          <p:cNvSpPr/>
          <p:nvPr/>
        </p:nvSpPr>
        <p:spPr>
          <a:xfrm>
            <a:off x="284987" y="2537460"/>
            <a:ext cx="5079492" cy="713232"/>
          </a:xfrm>
          <a:prstGeom prst="roundRect">
            <a:avLst>
              <a:gd name="adj" fmla="val 15385"/>
            </a:avLst>
          </a:prstGeom>
          <a:solidFill>
            <a:srgbClr val="F9FBFE"/>
          </a:solidFill>
          <a:ln w="12700">
            <a:solidFill>
              <a:srgbClr val="F9FBFE">
                <a:alpha val="0"/>
              </a:srgbClr>
            </a:solidFill>
            <a:prstDash val="solid"/>
          </a:ln>
        </p:spPr>
        <p:txBody>
          <a:bodyPr/>
          <a:lstStyle/>
          <a:p>
            <a:endParaRPr lang="zh-CN" altLang="en-US"/>
          </a:p>
        </p:txBody>
      </p:sp>
      <p:sp>
        <p:nvSpPr>
          <p:cNvPr id="28" name="Shape 18">
            <a:extLst>
              <a:ext uri="{FF2B5EF4-FFF2-40B4-BE49-F238E27FC236}">
                <a16:creationId xmlns:a16="http://schemas.microsoft.com/office/drawing/2014/main" id="{5185DBA9-2AFC-C1FA-C2DC-832CA15AAC9D}"/>
              </a:ext>
            </a:extLst>
          </p:cNvPr>
          <p:cNvSpPr/>
          <p:nvPr/>
        </p:nvSpPr>
        <p:spPr>
          <a:xfrm>
            <a:off x="422148" y="2665476"/>
            <a:ext cx="530352" cy="429768"/>
          </a:xfrm>
          <a:prstGeom prst="roundRect">
            <a:avLst>
              <a:gd name="adj" fmla="val 17021"/>
            </a:avLst>
          </a:prstGeom>
          <a:solidFill>
            <a:srgbClr val="EEF4FF"/>
          </a:solidFill>
          <a:ln w="12700">
            <a:solidFill>
              <a:srgbClr val="EEF4FF">
                <a:alpha val="0"/>
              </a:srgbClr>
            </a:solidFill>
            <a:prstDash val="solid"/>
          </a:ln>
        </p:spPr>
      </p:sp>
      <p:sp>
        <p:nvSpPr>
          <p:cNvPr id="29" name="Text 19">
            <a:extLst>
              <a:ext uri="{FF2B5EF4-FFF2-40B4-BE49-F238E27FC236}">
                <a16:creationId xmlns:a16="http://schemas.microsoft.com/office/drawing/2014/main" id="{2F752B74-4EE4-AB70-42EA-B1F4B430B3CB}"/>
              </a:ext>
            </a:extLst>
          </p:cNvPr>
          <p:cNvSpPr/>
          <p:nvPr/>
        </p:nvSpPr>
        <p:spPr>
          <a:xfrm>
            <a:off x="458724" y="2720340"/>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P · D</a:t>
            </a:r>
            <a:endParaRPr lang="en-US" sz="1100" dirty="0"/>
          </a:p>
        </p:txBody>
      </p:sp>
      <p:sp>
        <p:nvSpPr>
          <p:cNvPr id="30" name="Text 20">
            <a:extLst>
              <a:ext uri="{FF2B5EF4-FFF2-40B4-BE49-F238E27FC236}">
                <a16:creationId xmlns:a16="http://schemas.microsoft.com/office/drawing/2014/main" id="{DB71722D-160F-C6C0-F0DE-EE8F41CA5E6F}"/>
              </a:ext>
            </a:extLst>
          </p:cNvPr>
          <p:cNvSpPr/>
          <p:nvPr/>
        </p:nvSpPr>
        <p:spPr>
          <a:xfrm>
            <a:off x="1089660" y="2656332"/>
            <a:ext cx="3474720" cy="265176"/>
          </a:xfrm>
          <a:prstGeom prst="rect">
            <a:avLst/>
          </a:prstGeom>
          <a:noFill/>
        </p:spPr>
        <p:txBody>
          <a:bodyPr wrap="square" lIns="0" tIns="0" rIns="0" bIns="0" rtlCol="0" anchor="ctr">
            <a:normAutofit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a:solidFill>
                  <a:srgbClr val="122A4D"/>
                </a:solidFill>
                <a:latin typeface="微软雅黑" panose="020B0503020204020204" pitchFamily="34" charset="-122"/>
                <a:ea typeface="微软雅黑" panose="020B0503020204020204" pitchFamily="34" charset="-122"/>
              </a:rPr>
              <a:t>PD</a:t>
            </a:r>
            <a:r>
              <a:rPr lang="en-US" sz="14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 </a:t>
            </a:r>
            <a:r>
              <a:rPr lang="en-US" b="1">
                <a:solidFill>
                  <a:srgbClr val="122A4D"/>
                </a:solidFill>
                <a:latin typeface="微软雅黑" panose="020B0503020204020204" pitchFamily="34" charset="-122"/>
                <a:ea typeface="微软雅黑" panose="020B0503020204020204" pitchFamily="34" charset="-122"/>
              </a:rPr>
              <a:t>分离</a:t>
            </a:r>
            <a:endParaRPr lang="en-US" b="1" dirty="0">
              <a:solidFill>
                <a:srgbClr val="122A4D"/>
              </a:solidFill>
              <a:latin typeface="微软雅黑" panose="020B0503020204020204" pitchFamily="34" charset="-122"/>
              <a:ea typeface="微软雅黑" panose="020B0503020204020204" pitchFamily="34" charset="-122"/>
            </a:endParaRPr>
          </a:p>
        </p:txBody>
      </p:sp>
      <p:sp>
        <p:nvSpPr>
          <p:cNvPr id="31" name="Text 21">
            <a:extLst>
              <a:ext uri="{FF2B5EF4-FFF2-40B4-BE49-F238E27FC236}">
                <a16:creationId xmlns:a16="http://schemas.microsoft.com/office/drawing/2014/main" id="{13F0228C-6317-0446-D8D3-75FC5D9035FE}"/>
              </a:ext>
            </a:extLst>
          </p:cNvPr>
          <p:cNvSpPr/>
          <p:nvPr/>
        </p:nvSpPr>
        <p:spPr>
          <a:xfrm>
            <a:off x="1089660" y="2958084"/>
            <a:ext cx="4009644" cy="157276"/>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a:solidFill>
                  <a:srgbClr val="61718A"/>
                </a:solidFill>
                <a:latin typeface="微软雅黑" panose="020B0503020204020204" pitchFamily="34" charset="-122"/>
                <a:ea typeface="微软雅黑" panose="020B0503020204020204" pitchFamily="34" charset="-122"/>
              </a:rPr>
              <a:t>Prefill 计算密集、Decode 访存敏感，分阶段优化</a:t>
            </a:r>
            <a:endParaRPr lang="en-US" sz="1400" dirty="0">
              <a:solidFill>
                <a:srgbClr val="61718A"/>
              </a:solidFill>
              <a:latin typeface="微软雅黑" panose="020B0503020204020204" pitchFamily="34" charset="-122"/>
              <a:ea typeface="微软雅黑" panose="020B0503020204020204" pitchFamily="34" charset="-122"/>
            </a:endParaRPr>
          </a:p>
        </p:txBody>
      </p:sp>
      <p:sp>
        <p:nvSpPr>
          <p:cNvPr id="32" name="Shape 22">
            <a:extLst>
              <a:ext uri="{FF2B5EF4-FFF2-40B4-BE49-F238E27FC236}">
                <a16:creationId xmlns:a16="http://schemas.microsoft.com/office/drawing/2014/main" id="{42A9841D-1C06-AB0C-DC71-175351F7730A}"/>
              </a:ext>
            </a:extLst>
          </p:cNvPr>
          <p:cNvSpPr/>
          <p:nvPr/>
        </p:nvSpPr>
        <p:spPr>
          <a:xfrm>
            <a:off x="284988" y="3396996"/>
            <a:ext cx="5079492" cy="713232"/>
          </a:xfrm>
          <a:prstGeom prst="roundRect">
            <a:avLst>
              <a:gd name="adj" fmla="val 15385"/>
            </a:avLst>
          </a:prstGeom>
          <a:solidFill>
            <a:srgbClr val="F5F8FE"/>
          </a:solidFill>
          <a:ln w="12700">
            <a:solidFill>
              <a:srgbClr val="F5F8FE">
                <a:alpha val="0"/>
              </a:srgbClr>
            </a:solidFill>
            <a:prstDash val="solid"/>
          </a:ln>
        </p:spPr>
        <p:txBody>
          <a:bodyPr/>
          <a:lstStyle/>
          <a:p>
            <a:endParaRPr lang="zh-CN" altLang="en-US"/>
          </a:p>
        </p:txBody>
      </p:sp>
      <p:sp>
        <p:nvSpPr>
          <p:cNvPr id="33" name="Shape 23">
            <a:extLst>
              <a:ext uri="{FF2B5EF4-FFF2-40B4-BE49-F238E27FC236}">
                <a16:creationId xmlns:a16="http://schemas.microsoft.com/office/drawing/2014/main" id="{1FC205D9-8ECC-4659-E48B-770FE3D4ECF0}"/>
              </a:ext>
            </a:extLst>
          </p:cNvPr>
          <p:cNvSpPr/>
          <p:nvPr/>
        </p:nvSpPr>
        <p:spPr>
          <a:xfrm>
            <a:off x="422148" y="3525012"/>
            <a:ext cx="530352" cy="429768"/>
          </a:xfrm>
          <a:prstGeom prst="roundRect">
            <a:avLst>
              <a:gd name="adj" fmla="val 17021"/>
            </a:avLst>
          </a:prstGeom>
          <a:solidFill>
            <a:srgbClr val="EEF4FF"/>
          </a:solidFill>
          <a:ln w="12700">
            <a:solidFill>
              <a:srgbClr val="EEF4FF">
                <a:alpha val="0"/>
              </a:srgbClr>
            </a:solidFill>
            <a:prstDash val="solid"/>
          </a:ln>
        </p:spPr>
      </p:sp>
      <p:sp>
        <p:nvSpPr>
          <p:cNvPr id="34" name="Text 24">
            <a:extLst>
              <a:ext uri="{FF2B5EF4-FFF2-40B4-BE49-F238E27FC236}">
                <a16:creationId xmlns:a16="http://schemas.microsoft.com/office/drawing/2014/main" id="{45D745C7-B9A7-2D59-F7A3-98D5667E7AC1}"/>
              </a:ext>
            </a:extLst>
          </p:cNvPr>
          <p:cNvSpPr/>
          <p:nvPr/>
        </p:nvSpPr>
        <p:spPr>
          <a:xfrm>
            <a:off x="458724" y="3579876"/>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IO</a:t>
            </a:r>
            <a:endParaRPr lang="en-US" sz="1100" dirty="0"/>
          </a:p>
        </p:txBody>
      </p:sp>
      <p:sp>
        <p:nvSpPr>
          <p:cNvPr id="35" name="Text 25">
            <a:extLst>
              <a:ext uri="{FF2B5EF4-FFF2-40B4-BE49-F238E27FC236}">
                <a16:creationId xmlns:a16="http://schemas.microsoft.com/office/drawing/2014/main" id="{544EDF50-84F6-7FB3-37FD-D719647C039D}"/>
              </a:ext>
            </a:extLst>
          </p:cNvPr>
          <p:cNvSpPr/>
          <p:nvPr/>
        </p:nvSpPr>
        <p:spPr>
          <a:xfrm>
            <a:off x="1089660" y="3515868"/>
            <a:ext cx="3474720" cy="265176"/>
          </a:xfrm>
          <a:prstGeom prst="rect">
            <a:avLst/>
          </a:prstGeom>
          <a:noFill/>
        </p:spPr>
        <p:txBody>
          <a:bodyPr wrap="square" lIns="0" tIns="0" rIns="0" bIns="0" rtlCol="0" anchor="ctr">
            <a:normAutofit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a:solidFill>
                  <a:srgbClr val="122A4D"/>
                </a:solidFill>
                <a:latin typeface="微软雅黑" panose="020B0503020204020204" pitchFamily="34" charset="-122"/>
                <a:ea typeface="微软雅黑" panose="020B0503020204020204" pitchFamily="34" charset="-122"/>
              </a:rPr>
              <a:t>FlashAttention</a:t>
            </a:r>
            <a:endParaRPr lang="en-US" b="1" dirty="0">
              <a:solidFill>
                <a:srgbClr val="122A4D"/>
              </a:solidFill>
              <a:latin typeface="微软雅黑" panose="020B0503020204020204" pitchFamily="34" charset="-122"/>
              <a:ea typeface="微软雅黑" panose="020B0503020204020204" pitchFamily="34" charset="-122"/>
            </a:endParaRPr>
          </a:p>
        </p:txBody>
      </p:sp>
      <p:sp>
        <p:nvSpPr>
          <p:cNvPr id="36" name="Text 26">
            <a:extLst>
              <a:ext uri="{FF2B5EF4-FFF2-40B4-BE49-F238E27FC236}">
                <a16:creationId xmlns:a16="http://schemas.microsoft.com/office/drawing/2014/main" id="{B7278CF9-F4AD-5DB5-0959-E3982529DF64}"/>
              </a:ext>
            </a:extLst>
          </p:cNvPr>
          <p:cNvSpPr/>
          <p:nvPr/>
        </p:nvSpPr>
        <p:spPr>
          <a:xfrm>
            <a:off x="1089660" y="3817620"/>
            <a:ext cx="3584448" cy="219456"/>
          </a:xfrm>
          <a:prstGeom prst="rect">
            <a:avLst/>
          </a:prstGeom>
          <a:noFill/>
        </p:spPr>
        <p:txBody>
          <a:bodyPr wrap="square" lIns="0" tIns="0" rIns="0" bIns="0" rtlCol="0" anchor="ctr">
            <a:normAutofit fontScale="85000"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a:buNone/>
            </a:pPr>
            <a:r>
              <a:rPr lang="en-US" sz="1400" dirty="0">
                <a:solidFill>
                  <a:srgbClr val="61718A"/>
                </a:solidFill>
                <a:latin typeface="微软雅黑" panose="020B0503020204020204" pitchFamily="34" charset="-122"/>
                <a:ea typeface="微软雅黑" panose="020B0503020204020204" pitchFamily="34" charset="-122"/>
              </a:rPr>
              <a:t>Tile </a:t>
            </a:r>
            <a:r>
              <a:rPr lang="en-US" sz="1400">
                <a:solidFill>
                  <a:srgbClr val="61718A"/>
                </a:solidFill>
                <a:latin typeface="微软雅黑" panose="020B0503020204020204" pitchFamily="34" charset="-122"/>
                <a:ea typeface="微软雅黑" panose="020B0503020204020204" pitchFamily="34" charset="-122"/>
              </a:rPr>
              <a:t>分块 + Online </a:t>
            </a:r>
            <a:r>
              <a:rPr lang="en-US" sz="1400" dirty="0">
                <a:solidFill>
                  <a:srgbClr val="61718A"/>
                </a:solidFill>
                <a:latin typeface="微软雅黑" panose="020B0503020204020204" pitchFamily="34" charset="-122"/>
                <a:ea typeface="微软雅黑" panose="020B0503020204020204" pitchFamily="34" charset="-122"/>
              </a:rPr>
              <a:t>Softmax，降低 </a:t>
            </a:r>
            <a:r>
              <a:rPr lang="en-US" sz="1400">
                <a:solidFill>
                  <a:srgbClr val="61718A"/>
                </a:solidFill>
                <a:latin typeface="微软雅黑" panose="020B0503020204020204" pitchFamily="34" charset="-122"/>
                <a:ea typeface="微软雅黑" panose="020B0503020204020204" pitchFamily="34" charset="-122"/>
              </a:rPr>
              <a:t>HBM 访问开销</a:t>
            </a:r>
            <a:endParaRPr lang="en-US" sz="1400" dirty="0">
              <a:solidFill>
                <a:srgbClr val="61718A"/>
              </a:solidFill>
              <a:latin typeface="微软雅黑" panose="020B0503020204020204" pitchFamily="34" charset="-122"/>
              <a:ea typeface="微软雅黑" panose="020B0503020204020204" pitchFamily="34" charset="-122"/>
            </a:endParaRPr>
          </a:p>
        </p:txBody>
      </p:sp>
      <p:sp>
        <p:nvSpPr>
          <p:cNvPr id="37" name="Shape 27">
            <a:extLst>
              <a:ext uri="{FF2B5EF4-FFF2-40B4-BE49-F238E27FC236}">
                <a16:creationId xmlns:a16="http://schemas.microsoft.com/office/drawing/2014/main" id="{EA3CCF57-535A-E447-123B-13A9FE862117}"/>
              </a:ext>
            </a:extLst>
          </p:cNvPr>
          <p:cNvSpPr/>
          <p:nvPr/>
        </p:nvSpPr>
        <p:spPr>
          <a:xfrm>
            <a:off x="284987" y="4256532"/>
            <a:ext cx="5079493" cy="713232"/>
          </a:xfrm>
          <a:prstGeom prst="roundRect">
            <a:avLst>
              <a:gd name="adj" fmla="val 15385"/>
            </a:avLst>
          </a:prstGeom>
          <a:solidFill>
            <a:srgbClr val="F9FBFE"/>
          </a:solidFill>
          <a:ln w="12700">
            <a:solidFill>
              <a:srgbClr val="F9FBFE">
                <a:alpha val="0"/>
              </a:srgbClr>
            </a:solidFill>
            <a:prstDash val="solid"/>
          </a:ln>
        </p:spPr>
        <p:txBody>
          <a:bodyPr/>
          <a:lstStyle/>
          <a:p>
            <a:endParaRPr lang="zh-CN" altLang="en-US"/>
          </a:p>
        </p:txBody>
      </p:sp>
      <p:sp>
        <p:nvSpPr>
          <p:cNvPr id="38" name="Shape 28">
            <a:extLst>
              <a:ext uri="{FF2B5EF4-FFF2-40B4-BE49-F238E27FC236}">
                <a16:creationId xmlns:a16="http://schemas.microsoft.com/office/drawing/2014/main" id="{2C637B56-5C50-749B-8A31-0AF2BBA65E27}"/>
              </a:ext>
            </a:extLst>
          </p:cNvPr>
          <p:cNvSpPr/>
          <p:nvPr/>
        </p:nvSpPr>
        <p:spPr>
          <a:xfrm>
            <a:off x="422148" y="4384548"/>
            <a:ext cx="530352" cy="429768"/>
          </a:xfrm>
          <a:prstGeom prst="roundRect">
            <a:avLst>
              <a:gd name="adj" fmla="val 17021"/>
            </a:avLst>
          </a:prstGeom>
          <a:solidFill>
            <a:srgbClr val="F2EDFF"/>
          </a:solidFill>
          <a:ln w="12700">
            <a:solidFill>
              <a:srgbClr val="F2EDFF">
                <a:alpha val="0"/>
              </a:srgbClr>
            </a:solidFill>
            <a:prstDash val="solid"/>
          </a:ln>
        </p:spPr>
      </p:sp>
      <p:sp>
        <p:nvSpPr>
          <p:cNvPr id="39" name="Text 29">
            <a:extLst>
              <a:ext uri="{FF2B5EF4-FFF2-40B4-BE49-F238E27FC236}">
                <a16:creationId xmlns:a16="http://schemas.microsoft.com/office/drawing/2014/main" id="{218836F7-705E-BCA7-7E37-18858407E3E7}"/>
              </a:ext>
            </a:extLst>
          </p:cNvPr>
          <p:cNvSpPr/>
          <p:nvPr/>
        </p:nvSpPr>
        <p:spPr>
          <a:xfrm>
            <a:off x="458724" y="4439412"/>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7453C5"/>
                </a:solidFill>
                <a:latin typeface="微软雅黑" panose="020B0503020204020204" pitchFamily="34" charset="-122"/>
                <a:ea typeface="微软雅黑" panose="020B0503020204020204" pitchFamily="34" charset="-122"/>
                <a:cs typeface="微软雅黑" panose="020B0503020204020204" pitchFamily="34" charset="-120"/>
              </a:rPr>
              <a:t>KV</a:t>
            </a:r>
            <a:endParaRPr lang="en-US" sz="1100" dirty="0"/>
          </a:p>
        </p:txBody>
      </p:sp>
      <p:sp>
        <p:nvSpPr>
          <p:cNvPr id="40" name="Text 30">
            <a:extLst>
              <a:ext uri="{FF2B5EF4-FFF2-40B4-BE49-F238E27FC236}">
                <a16:creationId xmlns:a16="http://schemas.microsoft.com/office/drawing/2014/main" id="{F1C6413C-BAF6-091A-8EF1-8D02BB97F8A5}"/>
              </a:ext>
            </a:extLst>
          </p:cNvPr>
          <p:cNvSpPr/>
          <p:nvPr/>
        </p:nvSpPr>
        <p:spPr>
          <a:xfrm>
            <a:off x="1089660" y="4375404"/>
            <a:ext cx="3474720" cy="265176"/>
          </a:xfrm>
          <a:prstGeom prst="rect">
            <a:avLst/>
          </a:prstGeom>
          <a:noFill/>
        </p:spPr>
        <p:txBody>
          <a:bodyPr wrap="square" lIns="0" tIns="0" rIns="0" bIns="0" rtlCol="0" anchor="ctr">
            <a:normAutofit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a:solidFill>
                  <a:srgbClr val="122A4D"/>
                </a:solidFill>
                <a:latin typeface="微软雅黑" panose="020B0503020204020204" pitchFamily="34" charset="-122"/>
                <a:ea typeface="微软雅黑" panose="020B0503020204020204" pitchFamily="34" charset="-122"/>
              </a:rPr>
              <a:t>Flash Decoding</a:t>
            </a:r>
            <a:endParaRPr lang="en-US" b="1" dirty="0">
              <a:solidFill>
                <a:srgbClr val="122A4D"/>
              </a:solidFill>
              <a:latin typeface="微软雅黑" panose="020B0503020204020204" pitchFamily="34" charset="-122"/>
              <a:ea typeface="微软雅黑" panose="020B0503020204020204" pitchFamily="34" charset="-122"/>
            </a:endParaRPr>
          </a:p>
        </p:txBody>
      </p:sp>
      <p:sp>
        <p:nvSpPr>
          <p:cNvPr id="41" name="Text 31">
            <a:extLst>
              <a:ext uri="{FF2B5EF4-FFF2-40B4-BE49-F238E27FC236}">
                <a16:creationId xmlns:a16="http://schemas.microsoft.com/office/drawing/2014/main" id="{E22BB470-DBC9-3887-0920-BD2B47D2C5A8}"/>
              </a:ext>
            </a:extLst>
          </p:cNvPr>
          <p:cNvSpPr/>
          <p:nvPr/>
        </p:nvSpPr>
        <p:spPr>
          <a:xfrm>
            <a:off x="1089660" y="4677156"/>
            <a:ext cx="3584448" cy="219456"/>
          </a:xfrm>
          <a:prstGeom prst="rect">
            <a:avLst/>
          </a:prstGeom>
          <a:noFill/>
        </p:spPr>
        <p:txBody>
          <a:bodyPr wrap="square" lIns="0" tIns="0" rIns="0" bIns="0" rtlCol="0" anchor="ctr">
            <a:normAutofit fontScale="85000"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a:buNone/>
            </a:pPr>
            <a:r>
              <a:rPr lang="en-US" sz="1400">
                <a:solidFill>
                  <a:srgbClr val="61718A"/>
                </a:solidFill>
                <a:latin typeface="微软雅黑" panose="020B0503020204020204" pitchFamily="34" charset="-122"/>
                <a:ea typeface="微软雅黑" panose="020B0503020204020204" pitchFamily="34" charset="-122"/>
              </a:rPr>
              <a:t>KV </a:t>
            </a:r>
            <a:r>
              <a:rPr lang="en-US" sz="1400" dirty="0">
                <a:solidFill>
                  <a:srgbClr val="61718A"/>
                </a:solidFill>
                <a:latin typeface="微软雅黑" panose="020B0503020204020204" pitchFamily="34" charset="-122"/>
                <a:ea typeface="微软雅黑" panose="020B0503020204020204" pitchFamily="34" charset="-122"/>
              </a:rPr>
              <a:t>下按 KV block 并行，归约局部 </a:t>
            </a:r>
            <a:r>
              <a:rPr lang="en-US" sz="1400">
                <a:solidFill>
                  <a:srgbClr val="61718A"/>
                </a:solidFill>
                <a:latin typeface="微软雅黑" panose="020B0503020204020204" pitchFamily="34" charset="-122"/>
                <a:ea typeface="微软雅黑" panose="020B0503020204020204" pitchFamily="34" charset="-122"/>
              </a:rPr>
              <a:t>softmax 状态</a:t>
            </a:r>
            <a:endParaRPr lang="en-US" sz="1400" dirty="0">
              <a:solidFill>
                <a:srgbClr val="61718A"/>
              </a:solidFill>
              <a:latin typeface="微软雅黑" panose="020B0503020204020204" pitchFamily="34" charset="-122"/>
              <a:ea typeface="微软雅黑" panose="020B0503020204020204" pitchFamily="34" charset="-122"/>
            </a:endParaRPr>
          </a:p>
        </p:txBody>
      </p:sp>
      <p:sp>
        <p:nvSpPr>
          <p:cNvPr id="42" name="Shape 32">
            <a:extLst>
              <a:ext uri="{FF2B5EF4-FFF2-40B4-BE49-F238E27FC236}">
                <a16:creationId xmlns:a16="http://schemas.microsoft.com/office/drawing/2014/main" id="{765BF0F7-1E03-6F0D-C5E6-7F67FCD749A0}"/>
              </a:ext>
            </a:extLst>
          </p:cNvPr>
          <p:cNvSpPr/>
          <p:nvPr/>
        </p:nvSpPr>
        <p:spPr>
          <a:xfrm>
            <a:off x="5684520" y="1154819"/>
            <a:ext cx="3264408" cy="4919441"/>
          </a:xfrm>
          <a:prstGeom prst="roundRect">
            <a:avLst>
              <a:gd name="adj" fmla="val 4403"/>
            </a:avLst>
          </a:prstGeom>
          <a:solidFill>
            <a:srgbClr val="FFFFFF"/>
          </a:solidFill>
          <a:ln w="9525">
            <a:solidFill>
              <a:srgbClr val="DCE5F1"/>
            </a:solidFill>
            <a:prstDash val="solid"/>
          </a:ln>
        </p:spPr>
        <p:txBody>
          <a:bodyPr/>
          <a:lstStyle/>
          <a:p>
            <a:endParaRPr lang="zh-CN" altLang="en-US"/>
          </a:p>
        </p:txBody>
      </p:sp>
      <p:sp>
        <p:nvSpPr>
          <p:cNvPr id="43" name="Shape 33">
            <a:extLst>
              <a:ext uri="{FF2B5EF4-FFF2-40B4-BE49-F238E27FC236}">
                <a16:creationId xmlns:a16="http://schemas.microsoft.com/office/drawing/2014/main" id="{EEAF8B3F-2BBB-D4E7-5D8F-4E9DF65522BA}"/>
              </a:ext>
            </a:extLst>
          </p:cNvPr>
          <p:cNvSpPr/>
          <p:nvPr/>
        </p:nvSpPr>
        <p:spPr>
          <a:xfrm>
            <a:off x="5849111" y="1211580"/>
            <a:ext cx="2395727" cy="451865"/>
          </a:xfrm>
          <a:prstGeom prst="roundRect">
            <a:avLst>
              <a:gd name="adj" fmla="val 48387"/>
            </a:avLst>
          </a:prstGeom>
          <a:solidFill>
            <a:srgbClr val="E1F6F2"/>
          </a:solidFill>
          <a:ln w="12700">
            <a:solidFill>
              <a:srgbClr val="E1F6F2">
                <a:alpha val="0"/>
              </a:srgbClr>
            </a:solidFill>
            <a:prstDash val="solid"/>
          </a:ln>
        </p:spPr>
        <p:txBody>
          <a:bodyPr/>
          <a:lstStyle/>
          <a:p>
            <a:endParaRPr lang="zh-CN" altLang="en-US"/>
          </a:p>
        </p:txBody>
      </p:sp>
      <p:sp>
        <p:nvSpPr>
          <p:cNvPr id="44" name="Text 34">
            <a:extLst>
              <a:ext uri="{FF2B5EF4-FFF2-40B4-BE49-F238E27FC236}">
                <a16:creationId xmlns:a16="http://schemas.microsoft.com/office/drawing/2014/main" id="{297772FC-8EC4-679F-35BB-3D60B4F884E8}"/>
              </a:ext>
            </a:extLst>
          </p:cNvPr>
          <p:cNvSpPr/>
          <p:nvPr/>
        </p:nvSpPr>
        <p:spPr>
          <a:xfrm>
            <a:off x="5849112" y="1307763"/>
            <a:ext cx="2395728" cy="264237"/>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zh-CN" altLang="en-US" sz="2000" b="1">
                <a:solidFill>
                  <a:srgbClr val="148C6A"/>
                </a:solidFill>
                <a:latin typeface="微软雅黑" panose="020B0503020204020204" pitchFamily="34" charset="-122"/>
                <a:ea typeface="微软雅黑" panose="020B0503020204020204" pitchFamily="34" charset="-122"/>
                <a:cs typeface="微软雅黑" panose="020B0503020204020204" pitchFamily="34" charset="-120"/>
              </a:rPr>
              <a:t>性能分析与并行优化</a:t>
            </a:r>
            <a:endParaRPr lang="en-US" sz="2000" dirty="0"/>
          </a:p>
        </p:txBody>
      </p:sp>
      <p:sp>
        <p:nvSpPr>
          <p:cNvPr id="45" name="Text 35">
            <a:extLst>
              <a:ext uri="{FF2B5EF4-FFF2-40B4-BE49-F238E27FC236}">
                <a16:creationId xmlns:a16="http://schemas.microsoft.com/office/drawing/2014/main" id="{F595CE5E-B3AE-F214-5264-0EA7A3566972}"/>
              </a:ext>
            </a:extLst>
          </p:cNvPr>
          <p:cNvSpPr/>
          <p:nvPr/>
        </p:nvSpPr>
        <p:spPr>
          <a:xfrm>
            <a:off x="7343489" y="3197320"/>
            <a:ext cx="533400" cy="225093"/>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工具栈</a:t>
            </a:r>
            <a:endParaRPr lang="en-US" sz="1300" dirty="0"/>
          </a:p>
        </p:txBody>
      </p:sp>
      <p:sp>
        <p:nvSpPr>
          <p:cNvPr id="46" name="Shape 36">
            <a:extLst>
              <a:ext uri="{FF2B5EF4-FFF2-40B4-BE49-F238E27FC236}">
                <a16:creationId xmlns:a16="http://schemas.microsoft.com/office/drawing/2014/main" id="{695EFAC4-DAC1-405D-5002-B563227FA0F2}"/>
              </a:ext>
            </a:extLst>
          </p:cNvPr>
          <p:cNvSpPr/>
          <p:nvPr/>
        </p:nvSpPr>
        <p:spPr>
          <a:xfrm>
            <a:off x="5754752" y="2224337"/>
            <a:ext cx="3153028" cy="281161"/>
          </a:xfrm>
          <a:prstGeom prst="roundRect">
            <a:avLst>
              <a:gd name="adj" fmla="val 48387"/>
            </a:avLst>
          </a:prstGeom>
          <a:solidFill>
            <a:srgbClr val="F1F5FA"/>
          </a:solidFill>
          <a:ln w="12700">
            <a:solidFill>
              <a:srgbClr val="F1F5FA">
                <a:alpha val="0"/>
              </a:srgbClr>
            </a:solidFill>
            <a:prstDash val="solid"/>
          </a:ln>
        </p:spPr>
        <p:txBody>
          <a:bodyPr/>
          <a:lstStyle/>
          <a:p>
            <a:endParaRPr lang="zh-CN" altLang="en-US"/>
          </a:p>
        </p:txBody>
      </p:sp>
      <p:sp>
        <p:nvSpPr>
          <p:cNvPr id="47" name="Text 37">
            <a:extLst>
              <a:ext uri="{FF2B5EF4-FFF2-40B4-BE49-F238E27FC236}">
                <a16:creationId xmlns:a16="http://schemas.microsoft.com/office/drawing/2014/main" id="{7686E925-3048-5BC2-004A-2E88CE64F9F5}"/>
              </a:ext>
            </a:extLst>
          </p:cNvPr>
          <p:cNvSpPr/>
          <p:nvPr/>
        </p:nvSpPr>
        <p:spPr>
          <a:xfrm>
            <a:off x="5833174" y="2200906"/>
            <a:ext cx="3031235" cy="334335"/>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1100" b="1">
                <a:solidFill>
                  <a:srgbClr val="172B46"/>
                </a:solidFill>
                <a:latin typeface="微软雅黑" panose="020B0503020204020204" pitchFamily="34" charset="-122"/>
                <a:ea typeface="微软雅黑" panose="020B0503020204020204" pitchFamily="34" charset="-122"/>
              </a:rPr>
              <a:t>TTFT</a:t>
            </a:r>
            <a:r>
              <a:rPr lang="zh-CN" altLang="en-US" sz="1100" b="1">
                <a:solidFill>
                  <a:srgbClr val="172B46"/>
                </a:solidFill>
                <a:latin typeface="微软雅黑" panose="020B0503020204020204" pitchFamily="34" charset="-122"/>
                <a:ea typeface="微软雅黑" panose="020B0503020204020204" pitchFamily="34" charset="-122"/>
              </a:rPr>
              <a:t>：首 </a:t>
            </a:r>
            <a:r>
              <a:rPr lang="en-US" altLang="zh-CN" sz="1100" b="1">
                <a:solidFill>
                  <a:srgbClr val="172B46"/>
                </a:solidFill>
                <a:latin typeface="微软雅黑" panose="020B0503020204020204" pitchFamily="34" charset="-122"/>
                <a:ea typeface="微软雅黑" panose="020B0503020204020204" pitchFamily="34" charset="-122"/>
              </a:rPr>
              <a:t>Token </a:t>
            </a:r>
            <a:r>
              <a:rPr lang="zh-CN" altLang="en-US" sz="1100" b="1">
                <a:solidFill>
                  <a:srgbClr val="172B46"/>
                </a:solidFill>
                <a:latin typeface="微软雅黑" panose="020B0503020204020204" pitchFamily="34" charset="-122"/>
                <a:ea typeface="微软雅黑" panose="020B0503020204020204" pitchFamily="34" charset="-122"/>
              </a:rPr>
              <a:t>时延，关注 </a:t>
            </a:r>
            <a:r>
              <a:rPr lang="en-US" altLang="zh-CN" sz="1100" b="1">
                <a:solidFill>
                  <a:srgbClr val="172B46"/>
                </a:solidFill>
                <a:latin typeface="微软雅黑" panose="020B0503020204020204" pitchFamily="34" charset="-122"/>
                <a:ea typeface="微软雅黑" panose="020B0503020204020204" pitchFamily="34" charset="-122"/>
              </a:rPr>
              <a:t>Prefill </a:t>
            </a:r>
            <a:r>
              <a:rPr lang="zh-CN" altLang="en-US" sz="1100" b="1">
                <a:solidFill>
                  <a:srgbClr val="172B46"/>
                </a:solidFill>
                <a:latin typeface="微软雅黑" panose="020B0503020204020204" pitchFamily="34" charset="-122"/>
                <a:ea typeface="微软雅黑" panose="020B0503020204020204" pitchFamily="34" charset="-122"/>
              </a:rPr>
              <a:t>与排队开销</a:t>
            </a:r>
            <a:endParaRPr lang="en-US" sz="1100" b="1" dirty="0">
              <a:solidFill>
                <a:srgbClr val="172B46"/>
              </a:solidFill>
              <a:latin typeface="微软雅黑" panose="020B0503020204020204" pitchFamily="34" charset="-122"/>
              <a:ea typeface="微软雅黑" panose="020B0503020204020204" pitchFamily="34" charset="-122"/>
            </a:endParaRPr>
          </a:p>
        </p:txBody>
      </p:sp>
      <p:sp>
        <p:nvSpPr>
          <p:cNvPr id="50" name="Shape 40">
            <a:extLst>
              <a:ext uri="{FF2B5EF4-FFF2-40B4-BE49-F238E27FC236}">
                <a16:creationId xmlns:a16="http://schemas.microsoft.com/office/drawing/2014/main" id="{D39735DB-12C0-6624-0A17-CCB38366C1F1}"/>
              </a:ext>
            </a:extLst>
          </p:cNvPr>
          <p:cNvSpPr/>
          <p:nvPr/>
        </p:nvSpPr>
        <p:spPr>
          <a:xfrm>
            <a:off x="7300817" y="3763511"/>
            <a:ext cx="768096" cy="192024"/>
          </a:xfrm>
          <a:prstGeom prst="roundRect">
            <a:avLst>
              <a:gd name="adj" fmla="val 48387"/>
            </a:avLst>
          </a:prstGeom>
          <a:solidFill>
            <a:srgbClr val="F1F5FA"/>
          </a:solidFill>
          <a:ln w="12700">
            <a:solidFill>
              <a:srgbClr val="F1F5FA">
                <a:alpha val="0"/>
              </a:srgbClr>
            </a:solidFill>
            <a:prstDash val="solid"/>
          </a:ln>
        </p:spPr>
        <p:txBody>
          <a:bodyPr/>
          <a:lstStyle/>
          <a:p>
            <a:endParaRPr lang="zh-CN" altLang="en-US"/>
          </a:p>
        </p:txBody>
      </p:sp>
      <p:sp>
        <p:nvSpPr>
          <p:cNvPr id="54" name="Shape 44">
            <a:extLst>
              <a:ext uri="{FF2B5EF4-FFF2-40B4-BE49-F238E27FC236}">
                <a16:creationId xmlns:a16="http://schemas.microsoft.com/office/drawing/2014/main" id="{255CD3D5-C28E-57C3-EFEF-5C6E42BBCF61}"/>
              </a:ext>
            </a:extLst>
          </p:cNvPr>
          <p:cNvSpPr/>
          <p:nvPr/>
        </p:nvSpPr>
        <p:spPr>
          <a:xfrm>
            <a:off x="5984081" y="3086651"/>
            <a:ext cx="2487168" cy="0"/>
          </a:xfrm>
          <a:prstGeom prst="line">
            <a:avLst/>
          </a:prstGeom>
          <a:noFill/>
          <a:ln w="11430">
            <a:solidFill>
              <a:srgbClr val="DCE5F1"/>
            </a:solidFill>
            <a:prstDash val="solid"/>
          </a:ln>
        </p:spPr>
        <p:txBody>
          <a:bodyPr/>
          <a:lstStyle/>
          <a:p>
            <a:endParaRPr lang="zh-CN" altLang="en-US"/>
          </a:p>
        </p:txBody>
      </p:sp>
      <p:sp>
        <p:nvSpPr>
          <p:cNvPr id="55" name="Text 45">
            <a:extLst>
              <a:ext uri="{FF2B5EF4-FFF2-40B4-BE49-F238E27FC236}">
                <a16:creationId xmlns:a16="http://schemas.microsoft.com/office/drawing/2014/main" id="{93FB6045-8910-45FF-2804-5B7F87BB3851}"/>
              </a:ext>
            </a:extLst>
          </p:cNvPr>
          <p:cNvSpPr/>
          <p:nvPr/>
        </p:nvSpPr>
        <p:spPr>
          <a:xfrm>
            <a:off x="5984081" y="3173108"/>
            <a:ext cx="712088" cy="265176"/>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分析链路</a:t>
            </a:r>
            <a:endParaRPr lang="en-US" sz="1300" dirty="0"/>
          </a:p>
        </p:txBody>
      </p:sp>
      <p:sp>
        <p:nvSpPr>
          <p:cNvPr id="56" name="Shape 46">
            <a:extLst>
              <a:ext uri="{FF2B5EF4-FFF2-40B4-BE49-F238E27FC236}">
                <a16:creationId xmlns:a16="http://schemas.microsoft.com/office/drawing/2014/main" id="{C801AA5A-AF60-74B7-8A2B-806903C73C74}"/>
              </a:ext>
            </a:extLst>
          </p:cNvPr>
          <p:cNvSpPr/>
          <p:nvPr/>
        </p:nvSpPr>
        <p:spPr>
          <a:xfrm>
            <a:off x="5994367" y="3524740"/>
            <a:ext cx="137160" cy="137160"/>
          </a:xfrm>
          <a:prstGeom prst="ellipse">
            <a:avLst/>
          </a:prstGeom>
          <a:solidFill>
            <a:srgbClr val="235DDD"/>
          </a:solidFill>
          <a:ln w="12700">
            <a:solidFill>
              <a:srgbClr val="235DDD">
                <a:alpha val="0"/>
              </a:srgbClr>
            </a:solidFill>
            <a:prstDash val="solid"/>
          </a:ln>
        </p:spPr>
      </p:sp>
      <p:sp>
        <p:nvSpPr>
          <p:cNvPr id="57" name="Text 47">
            <a:extLst>
              <a:ext uri="{FF2B5EF4-FFF2-40B4-BE49-F238E27FC236}">
                <a16:creationId xmlns:a16="http://schemas.microsoft.com/office/drawing/2014/main" id="{98DE3FAD-F4F3-BACA-3373-CC9105086242}"/>
              </a:ext>
            </a:extLst>
          </p:cNvPr>
          <p:cNvSpPr/>
          <p:nvPr/>
        </p:nvSpPr>
        <p:spPr>
          <a:xfrm>
            <a:off x="5994367" y="3530226"/>
            <a:ext cx="137160" cy="109728"/>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63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0"/>
              </a:rPr>
              <a:t>01</a:t>
            </a:r>
            <a:endParaRPr lang="en-US" sz="630" dirty="0"/>
          </a:p>
        </p:txBody>
      </p:sp>
      <p:sp>
        <p:nvSpPr>
          <p:cNvPr id="58" name="Text 48">
            <a:extLst>
              <a:ext uri="{FF2B5EF4-FFF2-40B4-BE49-F238E27FC236}">
                <a16:creationId xmlns:a16="http://schemas.microsoft.com/office/drawing/2014/main" id="{9524F36A-FCF5-C386-9D5D-688E79C94E39}"/>
              </a:ext>
            </a:extLst>
          </p:cNvPr>
          <p:cNvSpPr/>
          <p:nvPr/>
        </p:nvSpPr>
        <p:spPr>
          <a:xfrm>
            <a:off x="6204679" y="3483592"/>
            <a:ext cx="589788" cy="19202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4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时间线</a:t>
            </a:r>
            <a:endParaRPr lang="en-US" sz="1040" dirty="0"/>
          </a:p>
        </p:txBody>
      </p:sp>
      <p:sp>
        <p:nvSpPr>
          <p:cNvPr id="59" name="Shape 49">
            <a:extLst>
              <a:ext uri="{FF2B5EF4-FFF2-40B4-BE49-F238E27FC236}">
                <a16:creationId xmlns:a16="http://schemas.microsoft.com/office/drawing/2014/main" id="{BF52B116-EB75-6217-C154-1C6D4E45A5BE}"/>
              </a:ext>
            </a:extLst>
          </p:cNvPr>
          <p:cNvSpPr/>
          <p:nvPr/>
        </p:nvSpPr>
        <p:spPr>
          <a:xfrm>
            <a:off x="5994367" y="3757912"/>
            <a:ext cx="137160" cy="137160"/>
          </a:xfrm>
          <a:prstGeom prst="ellipse">
            <a:avLst/>
          </a:prstGeom>
          <a:solidFill>
            <a:srgbClr val="235DDD"/>
          </a:solidFill>
          <a:ln w="12700">
            <a:solidFill>
              <a:srgbClr val="235DDD">
                <a:alpha val="0"/>
              </a:srgbClr>
            </a:solidFill>
            <a:prstDash val="solid"/>
          </a:ln>
        </p:spPr>
      </p:sp>
      <p:sp>
        <p:nvSpPr>
          <p:cNvPr id="60" name="Text 50">
            <a:extLst>
              <a:ext uri="{FF2B5EF4-FFF2-40B4-BE49-F238E27FC236}">
                <a16:creationId xmlns:a16="http://schemas.microsoft.com/office/drawing/2014/main" id="{0974CFD1-C3AC-E2B7-F1C0-DA2B310D8489}"/>
              </a:ext>
            </a:extLst>
          </p:cNvPr>
          <p:cNvSpPr/>
          <p:nvPr/>
        </p:nvSpPr>
        <p:spPr>
          <a:xfrm>
            <a:off x="5994367" y="3763398"/>
            <a:ext cx="137160" cy="109728"/>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63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0"/>
              </a:rPr>
              <a:t>02</a:t>
            </a:r>
            <a:endParaRPr lang="en-US" sz="630" dirty="0"/>
          </a:p>
        </p:txBody>
      </p:sp>
      <p:sp>
        <p:nvSpPr>
          <p:cNvPr id="61" name="Text 51">
            <a:extLst>
              <a:ext uri="{FF2B5EF4-FFF2-40B4-BE49-F238E27FC236}">
                <a16:creationId xmlns:a16="http://schemas.microsoft.com/office/drawing/2014/main" id="{EF61BEA9-91E4-2784-A78B-EBF25816104D}"/>
              </a:ext>
            </a:extLst>
          </p:cNvPr>
          <p:cNvSpPr/>
          <p:nvPr/>
        </p:nvSpPr>
        <p:spPr>
          <a:xfrm>
            <a:off x="6204679" y="3716764"/>
            <a:ext cx="596645" cy="19202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4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算子热点</a:t>
            </a:r>
            <a:endParaRPr lang="en-US" sz="1040" dirty="0"/>
          </a:p>
        </p:txBody>
      </p:sp>
      <p:sp>
        <p:nvSpPr>
          <p:cNvPr id="62" name="Shape 52">
            <a:extLst>
              <a:ext uri="{FF2B5EF4-FFF2-40B4-BE49-F238E27FC236}">
                <a16:creationId xmlns:a16="http://schemas.microsoft.com/office/drawing/2014/main" id="{10947DD7-3DD4-1FC0-CB68-A063989C06F6}"/>
              </a:ext>
            </a:extLst>
          </p:cNvPr>
          <p:cNvSpPr/>
          <p:nvPr/>
        </p:nvSpPr>
        <p:spPr>
          <a:xfrm>
            <a:off x="5994367" y="3991084"/>
            <a:ext cx="137160" cy="137160"/>
          </a:xfrm>
          <a:prstGeom prst="ellipse">
            <a:avLst/>
          </a:prstGeom>
          <a:solidFill>
            <a:srgbClr val="235DDD"/>
          </a:solidFill>
          <a:ln w="12700">
            <a:solidFill>
              <a:srgbClr val="235DDD">
                <a:alpha val="0"/>
              </a:srgbClr>
            </a:solidFill>
            <a:prstDash val="solid"/>
          </a:ln>
        </p:spPr>
      </p:sp>
      <p:sp>
        <p:nvSpPr>
          <p:cNvPr id="63" name="Text 53">
            <a:extLst>
              <a:ext uri="{FF2B5EF4-FFF2-40B4-BE49-F238E27FC236}">
                <a16:creationId xmlns:a16="http://schemas.microsoft.com/office/drawing/2014/main" id="{039C18FD-5341-6DAD-EF37-AE7F1702A895}"/>
              </a:ext>
            </a:extLst>
          </p:cNvPr>
          <p:cNvSpPr/>
          <p:nvPr/>
        </p:nvSpPr>
        <p:spPr>
          <a:xfrm>
            <a:off x="5994367" y="3996570"/>
            <a:ext cx="137160" cy="109728"/>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63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0"/>
              </a:rPr>
              <a:t>03</a:t>
            </a:r>
            <a:endParaRPr lang="en-US" sz="630" dirty="0"/>
          </a:p>
        </p:txBody>
      </p:sp>
      <p:sp>
        <p:nvSpPr>
          <p:cNvPr id="64" name="Text 54">
            <a:extLst>
              <a:ext uri="{FF2B5EF4-FFF2-40B4-BE49-F238E27FC236}">
                <a16:creationId xmlns:a16="http://schemas.microsoft.com/office/drawing/2014/main" id="{46E582B0-2C54-DEEB-ECB8-3755949FD197}"/>
              </a:ext>
            </a:extLst>
          </p:cNvPr>
          <p:cNvSpPr/>
          <p:nvPr/>
        </p:nvSpPr>
        <p:spPr>
          <a:xfrm>
            <a:off x="6204679" y="3949936"/>
            <a:ext cx="548640" cy="19202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4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通信开销</a:t>
            </a:r>
            <a:endParaRPr lang="en-US" sz="1040" dirty="0"/>
          </a:p>
        </p:txBody>
      </p:sp>
      <p:sp>
        <p:nvSpPr>
          <p:cNvPr id="65" name="Shape 55">
            <a:extLst>
              <a:ext uri="{FF2B5EF4-FFF2-40B4-BE49-F238E27FC236}">
                <a16:creationId xmlns:a16="http://schemas.microsoft.com/office/drawing/2014/main" id="{65DC54B4-D9C5-C1DB-3D61-97CA3177EA8E}"/>
              </a:ext>
            </a:extLst>
          </p:cNvPr>
          <p:cNvSpPr/>
          <p:nvPr/>
        </p:nvSpPr>
        <p:spPr>
          <a:xfrm>
            <a:off x="5994367" y="4224256"/>
            <a:ext cx="137160" cy="137160"/>
          </a:xfrm>
          <a:prstGeom prst="ellipse">
            <a:avLst/>
          </a:prstGeom>
          <a:solidFill>
            <a:srgbClr val="235DDD"/>
          </a:solidFill>
          <a:ln w="12700">
            <a:solidFill>
              <a:srgbClr val="235DDD">
                <a:alpha val="0"/>
              </a:srgbClr>
            </a:solidFill>
            <a:prstDash val="solid"/>
          </a:ln>
        </p:spPr>
      </p:sp>
      <p:sp>
        <p:nvSpPr>
          <p:cNvPr id="66" name="Text 56">
            <a:extLst>
              <a:ext uri="{FF2B5EF4-FFF2-40B4-BE49-F238E27FC236}">
                <a16:creationId xmlns:a16="http://schemas.microsoft.com/office/drawing/2014/main" id="{9A0DB348-27B5-7D52-F25F-22215296ED35}"/>
              </a:ext>
            </a:extLst>
          </p:cNvPr>
          <p:cNvSpPr/>
          <p:nvPr/>
        </p:nvSpPr>
        <p:spPr>
          <a:xfrm>
            <a:off x="5994367" y="4229742"/>
            <a:ext cx="137160" cy="109728"/>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63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0"/>
              </a:rPr>
              <a:t>04</a:t>
            </a:r>
            <a:endParaRPr lang="en-US" sz="630" dirty="0"/>
          </a:p>
        </p:txBody>
      </p:sp>
      <p:sp>
        <p:nvSpPr>
          <p:cNvPr id="67" name="Text 57">
            <a:extLst>
              <a:ext uri="{FF2B5EF4-FFF2-40B4-BE49-F238E27FC236}">
                <a16:creationId xmlns:a16="http://schemas.microsoft.com/office/drawing/2014/main" id="{48F64AAB-163A-FD95-9765-0CF5EB4172A5}"/>
              </a:ext>
            </a:extLst>
          </p:cNvPr>
          <p:cNvSpPr/>
          <p:nvPr/>
        </p:nvSpPr>
        <p:spPr>
          <a:xfrm>
            <a:off x="6204679" y="4183108"/>
            <a:ext cx="548640" cy="19202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4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实验验证</a:t>
            </a:r>
            <a:endParaRPr lang="en-US" sz="1040" dirty="0"/>
          </a:p>
        </p:txBody>
      </p:sp>
      <p:sp>
        <p:nvSpPr>
          <p:cNvPr id="77" name="Shape 67">
            <a:extLst>
              <a:ext uri="{FF2B5EF4-FFF2-40B4-BE49-F238E27FC236}">
                <a16:creationId xmlns:a16="http://schemas.microsoft.com/office/drawing/2014/main" id="{797C4B80-1920-56DE-5F3E-C73A55955590}"/>
              </a:ext>
            </a:extLst>
          </p:cNvPr>
          <p:cNvSpPr/>
          <p:nvPr/>
        </p:nvSpPr>
        <p:spPr>
          <a:xfrm>
            <a:off x="145915" y="6216870"/>
            <a:ext cx="11900169" cy="408905"/>
          </a:xfrm>
          <a:prstGeom prst="roundRect">
            <a:avLst>
              <a:gd name="adj" fmla="val 38889"/>
            </a:avLst>
          </a:prstGeom>
          <a:solidFill>
            <a:srgbClr val="E6F0FF"/>
          </a:solidFill>
          <a:ln w="9525">
            <a:solidFill>
              <a:srgbClr val="E6F0FF"/>
            </a:solidFill>
            <a:prstDash val="solid"/>
          </a:ln>
        </p:spPr>
        <p:txBody>
          <a:bodyPr/>
          <a:lstStyle/>
          <a:p>
            <a:endParaRPr lang="zh-CN" altLang="en-US"/>
          </a:p>
        </p:txBody>
      </p:sp>
      <p:sp>
        <p:nvSpPr>
          <p:cNvPr id="78" name="Text 68">
            <a:extLst>
              <a:ext uri="{FF2B5EF4-FFF2-40B4-BE49-F238E27FC236}">
                <a16:creationId xmlns:a16="http://schemas.microsoft.com/office/drawing/2014/main" id="{1BC25E1D-75E7-A8E3-A3CD-EEABCD6E896A}"/>
              </a:ext>
            </a:extLst>
          </p:cNvPr>
          <p:cNvSpPr/>
          <p:nvPr/>
        </p:nvSpPr>
        <p:spPr>
          <a:xfrm>
            <a:off x="937048" y="6291497"/>
            <a:ext cx="10515600" cy="306679"/>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理论学习  →  环境实验  →  性能分析  →  Wiki / 团队复用</a:t>
            </a:r>
            <a:endParaRPr lang="en-US" sz="1200" dirty="0"/>
          </a:p>
        </p:txBody>
      </p:sp>
      <p:pic>
        <p:nvPicPr>
          <p:cNvPr id="79" name="图片 78" descr="竖版华为公司标志 Vertical Version of Huawei Corporate Logo_2018">
            <a:extLst>
              <a:ext uri="{FF2B5EF4-FFF2-40B4-BE49-F238E27FC236}">
                <a16:creationId xmlns:a16="http://schemas.microsoft.com/office/drawing/2014/main" id="{A22035ED-52C4-9BAC-87EC-7B39A7A557FF}"/>
              </a:ext>
            </a:extLst>
          </p:cNvPr>
          <p:cNvPicPr>
            <a:picLocks noChangeAspect="1"/>
          </p:cNvPicPr>
          <p:nvPr/>
        </p:nvPicPr>
        <p:blipFill>
          <a:blip r:embed="rId3"/>
          <a:stretch>
            <a:fillRect/>
          </a:stretch>
        </p:blipFill>
        <p:spPr>
          <a:xfrm>
            <a:off x="10842019" y="0"/>
            <a:ext cx="810588" cy="802246"/>
          </a:xfrm>
          <a:prstGeom prst="rect">
            <a:avLst/>
          </a:prstGeom>
        </p:spPr>
      </p:pic>
      <p:sp>
        <p:nvSpPr>
          <p:cNvPr id="80" name="Shape 27">
            <a:extLst>
              <a:ext uri="{FF2B5EF4-FFF2-40B4-BE49-F238E27FC236}">
                <a16:creationId xmlns:a16="http://schemas.microsoft.com/office/drawing/2014/main" id="{8FE72572-E1BB-3138-FA41-9A4F2C696C1F}"/>
              </a:ext>
            </a:extLst>
          </p:cNvPr>
          <p:cNvSpPr/>
          <p:nvPr/>
        </p:nvSpPr>
        <p:spPr>
          <a:xfrm>
            <a:off x="284987" y="5138928"/>
            <a:ext cx="5079493" cy="713232"/>
          </a:xfrm>
          <a:prstGeom prst="roundRect">
            <a:avLst>
              <a:gd name="adj" fmla="val 15385"/>
            </a:avLst>
          </a:prstGeom>
          <a:solidFill>
            <a:srgbClr val="F9FBFE"/>
          </a:solidFill>
          <a:ln w="12700">
            <a:solidFill>
              <a:srgbClr val="F9FBFE">
                <a:alpha val="0"/>
              </a:srgbClr>
            </a:solidFill>
            <a:prstDash val="solid"/>
          </a:ln>
        </p:spPr>
        <p:txBody>
          <a:bodyPr/>
          <a:lstStyle/>
          <a:p>
            <a:endParaRPr lang="zh-CN" altLang="en-US"/>
          </a:p>
        </p:txBody>
      </p:sp>
      <p:sp>
        <p:nvSpPr>
          <p:cNvPr id="81" name="Shape 28">
            <a:extLst>
              <a:ext uri="{FF2B5EF4-FFF2-40B4-BE49-F238E27FC236}">
                <a16:creationId xmlns:a16="http://schemas.microsoft.com/office/drawing/2014/main" id="{405FAF90-E2AB-D14C-9C2D-971AD770A2AB}"/>
              </a:ext>
            </a:extLst>
          </p:cNvPr>
          <p:cNvSpPr/>
          <p:nvPr/>
        </p:nvSpPr>
        <p:spPr>
          <a:xfrm>
            <a:off x="422148" y="5266944"/>
            <a:ext cx="530352" cy="429768"/>
          </a:xfrm>
          <a:prstGeom prst="roundRect">
            <a:avLst>
              <a:gd name="adj" fmla="val 17021"/>
            </a:avLst>
          </a:prstGeom>
          <a:solidFill>
            <a:srgbClr val="F2EDFF"/>
          </a:solidFill>
          <a:ln w="12700">
            <a:solidFill>
              <a:srgbClr val="F2EDFF">
                <a:alpha val="0"/>
              </a:srgbClr>
            </a:solidFill>
            <a:prstDash val="solid"/>
          </a:ln>
        </p:spPr>
      </p:sp>
      <p:sp>
        <p:nvSpPr>
          <p:cNvPr id="82" name="Text 29">
            <a:extLst>
              <a:ext uri="{FF2B5EF4-FFF2-40B4-BE49-F238E27FC236}">
                <a16:creationId xmlns:a16="http://schemas.microsoft.com/office/drawing/2014/main" id="{5AF709E5-D347-08CC-B0A7-2668182E3124}"/>
              </a:ext>
            </a:extLst>
          </p:cNvPr>
          <p:cNvSpPr/>
          <p:nvPr/>
        </p:nvSpPr>
        <p:spPr>
          <a:xfrm>
            <a:off x="458724" y="5321808"/>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a:solidFill>
                  <a:srgbClr val="7453C5"/>
                </a:solidFill>
                <a:latin typeface="微软雅黑" panose="020B0503020204020204" pitchFamily="34" charset="-122"/>
                <a:ea typeface="微软雅黑" panose="020B0503020204020204" pitchFamily="34" charset="-122"/>
              </a:rPr>
              <a:t>PA</a:t>
            </a:r>
            <a:endParaRPr lang="en-US" sz="1100" dirty="0"/>
          </a:p>
        </p:txBody>
      </p:sp>
      <p:sp>
        <p:nvSpPr>
          <p:cNvPr id="83" name="Text 30">
            <a:extLst>
              <a:ext uri="{FF2B5EF4-FFF2-40B4-BE49-F238E27FC236}">
                <a16:creationId xmlns:a16="http://schemas.microsoft.com/office/drawing/2014/main" id="{3049B222-A8BF-600B-9EAA-69F838BF53DD}"/>
              </a:ext>
            </a:extLst>
          </p:cNvPr>
          <p:cNvSpPr/>
          <p:nvPr/>
        </p:nvSpPr>
        <p:spPr>
          <a:xfrm>
            <a:off x="1089660" y="5257800"/>
            <a:ext cx="3474720" cy="265176"/>
          </a:xfrm>
          <a:prstGeom prst="rect">
            <a:avLst/>
          </a:prstGeom>
          <a:noFill/>
        </p:spPr>
        <p:txBody>
          <a:bodyPr wrap="square" lIns="0" tIns="0" rIns="0" bIns="0" rtlCol="0" anchor="ctr">
            <a:normAutofit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a:solidFill>
                  <a:srgbClr val="122A4D"/>
                </a:solidFill>
                <a:latin typeface="微软雅黑" panose="020B0503020204020204" pitchFamily="34" charset="-122"/>
                <a:ea typeface="微软雅黑" panose="020B0503020204020204" pitchFamily="34" charset="-122"/>
              </a:rPr>
              <a:t>PagedAttention</a:t>
            </a:r>
            <a:endParaRPr lang="en-US" b="1" dirty="0">
              <a:solidFill>
                <a:srgbClr val="122A4D"/>
              </a:solidFill>
              <a:latin typeface="微软雅黑" panose="020B0503020204020204" pitchFamily="34" charset="-122"/>
              <a:ea typeface="微软雅黑" panose="020B0503020204020204" pitchFamily="34" charset="-122"/>
            </a:endParaRPr>
          </a:p>
        </p:txBody>
      </p:sp>
      <p:sp>
        <p:nvSpPr>
          <p:cNvPr id="84" name="Text 31">
            <a:extLst>
              <a:ext uri="{FF2B5EF4-FFF2-40B4-BE49-F238E27FC236}">
                <a16:creationId xmlns:a16="http://schemas.microsoft.com/office/drawing/2014/main" id="{3F4E3BA3-0AFF-049A-3B9D-D535180F227C}"/>
              </a:ext>
            </a:extLst>
          </p:cNvPr>
          <p:cNvSpPr/>
          <p:nvPr/>
        </p:nvSpPr>
        <p:spPr>
          <a:xfrm>
            <a:off x="1089660" y="5559552"/>
            <a:ext cx="4349072" cy="169164"/>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1200">
                <a:solidFill>
                  <a:srgbClr val="61718A"/>
                </a:solidFill>
                <a:latin typeface="微软雅黑" panose="020B0503020204020204" pitchFamily="34" charset="-122"/>
                <a:ea typeface="微软雅黑" panose="020B0503020204020204" pitchFamily="34" charset="-122"/>
              </a:rPr>
              <a:t>KV Cache </a:t>
            </a:r>
            <a:r>
              <a:rPr lang="zh-CN" altLang="en-US" sz="1200">
                <a:solidFill>
                  <a:srgbClr val="61718A"/>
                </a:solidFill>
                <a:latin typeface="微软雅黑" panose="020B0503020204020204" pitchFamily="34" charset="-122"/>
                <a:ea typeface="微软雅黑" panose="020B0503020204020204" pitchFamily="34" charset="-122"/>
              </a:rPr>
              <a:t>按 </a:t>
            </a:r>
            <a:r>
              <a:rPr lang="en-US" altLang="zh-CN" sz="1200">
                <a:solidFill>
                  <a:srgbClr val="61718A"/>
                </a:solidFill>
                <a:latin typeface="微软雅黑" panose="020B0503020204020204" pitchFamily="34" charset="-122"/>
                <a:ea typeface="微软雅黑" panose="020B0503020204020204" pitchFamily="34" charset="-122"/>
              </a:rPr>
              <a:t>block/page </a:t>
            </a:r>
            <a:r>
              <a:rPr lang="zh-CN" altLang="en-US" sz="1200">
                <a:solidFill>
                  <a:srgbClr val="61718A"/>
                </a:solidFill>
                <a:latin typeface="微软雅黑" panose="020B0503020204020204" pitchFamily="34" charset="-122"/>
                <a:ea typeface="微软雅黑" panose="020B0503020204020204" pitchFamily="34" charset="-122"/>
              </a:rPr>
              <a:t>管理，减少连续显存分配要求与碎片</a:t>
            </a:r>
            <a:endParaRPr lang="en-US" sz="1200" dirty="0">
              <a:solidFill>
                <a:srgbClr val="61718A"/>
              </a:solidFill>
              <a:latin typeface="微软雅黑" panose="020B0503020204020204" pitchFamily="34" charset="-122"/>
              <a:ea typeface="微软雅黑" panose="020B0503020204020204" pitchFamily="34" charset="-122"/>
            </a:endParaRPr>
          </a:p>
        </p:txBody>
      </p:sp>
      <p:sp>
        <p:nvSpPr>
          <p:cNvPr id="85" name="Shape 38">
            <a:extLst>
              <a:ext uri="{FF2B5EF4-FFF2-40B4-BE49-F238E27FC236}">
                <a16:creationId xmlns:a16="http://schemas.microsoft.com/office/drawing/2014/main" id="{7A506BE3-B920-6811-3BEB-10AF8E5B55F7}"/>
              </a:ext>
            </a:extLst>
          </p:cNvPr>
          <p:cNvSpPr/>
          <p:nvPr/>
        </p:nvSpPr>
        <p:spPr>
          <a:xfrm>
            <a:off x="7300817" y="3503415"/>
            <a:ext cx="618744" cy="185420"/>
          </a:xfrm>
          <a:prstGeom prst="roundRect">
            <a:avLst>
              <a:gd name="adj" fmla="val 48387"/>
            </a:avLst>
          </a:prstGeom>
          <a:solidFill>
            <a:srgbClr val="EEF4FF"/>
          </a:solidFill>
          <a:ln w="12700">
            <a:solidFill>
              <a:srgbClr val="EEF4FF">
                <a:alpha val="0"/>
              </a:srgbClr>
            </a:solidFill>
            <a:prstDash val="solid"/>
          </a:ln>
        </p:spPr>
        <p:txBody>
          <a:bodyPr/>
          <a:lstStyle/>
          <a:p>
            <a:endParaRPr lang="zh-CN" altLang="en-US"/>
          </a:p>
        </p:txBody>
      </p:sp>
      <p:sp>
        <p:nvSpPr>
          <p:cNvPr id="86" name="Text 39">
            <a:extLst>
              <a:ext uri="{FF2B5EF4-FFF2-40B4-BE49-F238E27FC236}">
                <a16:creationId xmlns:a16="http://schemas.microsoft.com/office/drawing/2014/main" id="{2A20CB74-0464-1077-9F84-3A5449698B02}"/>
              </a:ext>
            </a:extLst>
          </p:cNvPr>
          <p:cNvSpPr/>
          <p:nvPr/>
        </p:nvSpPr>
        <p:spPr>
          <a:xfrm>
            <a:off x="7346537" y="3481267"/>
            <a:ext cx="533400" cy="22860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dirty="0">
                <a:solidFill>
                  <a:srgbClr val="172B46"/>
                </a:solidFill>
                <a:latin typeface="微软雅黑" panose="020B0503020204020204" pitchFamily="34" charset="-122"/>
                <a:ea typeface="微软雅黑" panose="020B0503020204020204" pitchFamily="34" charset="-122"/>
                <a:cs typeface="微软雅黑" panose="020B0503020204020204" pitchFamily="34" charset="-120"/>
              </a:rPr>
              <a:t>aisbench</a:t>
            </a:r>
            <a:endParaRPr lang="en-US" sz="900" dirty="0"/>
          </a:p>
        </p:txBody>
      </p:sp>
      <p:sp>
        <p:nvSpPr>
          <p:cNvPr id="87" name="Text 41">
            <a:extLst>
              <a:ext uri="{FF2B5EF4-FFF2-40B4-BE49-F238E27FC236}">
                <a16:creationId xmlns:a16="http://schemas.microsoft.com/office/drawing/2014/main" id="{65251081-AAD4-CF0D-5801-18349B63ABBC}"/>
              </a:ext>
            </a:extLst>
          </p:cNvPr>
          <p:cNvSpPr/>
          <p:nvPr/>
        </p:nvSpPr>
        <p:spPr>
          <a:xfrm>
            <a:off x="7348822" y="3743699"/>
            <a:ext cx="676656" cy="22860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zh-CN" sz="900" b="1">
                <a:solidFill>
                  <a:srgbClr val="172B46"/>
                </a:solidFill>
                <a:latin typeface="微软雅黑" panose="020B0503020204020204" pitchFamily="34" charset="-122"/>
                <a:ea typeface="微软雅黑" panose="020B0503020204020204" pitchFamily="34" charset="-122"/>
                <a:cs typeface="微软雅黑" panose="020B0503020204020204" pitchFamily="34" charset="-120"/>
              </a:rPr>
              <a:t>evalscope</a:t>
            </a:r>
            <a:endParaRPr lang="en-US" sz="900" dirty="0"/>
          </a:p>
        </p:txBody>
      </p:sp>
      <p:sp>
        <p:nvSpPr>
          <p:cNvPr id="88" name="Shape 38">
            <a:extLst>
              <a:ext uri="{FF2B5EF4-FFF2-40B4-BE49-F238E27FC236}">
                <a16:creationId xmlns:a16="http://schemas.microsoft.com/office/drawing/2014/main" id="{5CC63E82-4718-C7E6-9958-A665F4F15770}"/>
              </a:ext>
            </a:extLst>
          </p:cNvPr>
          <p:cNvSpPr/>
          <p:nvPr/>
        </p:nvSpPr>
        <p:spPr>
          <a:xfrm>
            <a:off x="7300817" y="4020151"/>
            <a:ext cx="1078992" cy="185420"/>
          </a:xfrm>
          <a:prstGeom prst="roundRect">
            <a:avLst>
              <a:gd name="adj" fmla="val 48387"/>
            </a:avLst>
          </a:prstGeom>
          <a:solidFill>
            <a:srgbClr val="EEF4FF"/>
          </a:solidFill>
          <a:ln w="12700">
            <a:solidFill>
              <a:srgbClr val="EEF4FF">
                <a:alpha val="0"/>
              </a:srgbClr>
            </a:solidFill>
            <a:prstDash val="solid"/>
          </a:ln>
        </p:spPr>
        <p:txBody>
          <a:bodyPr/>
          <a:lstStyle/>
          <a:p>
            <a:pPr algn="ctr"/>
            <a:endParaRPr lang="zh-CN" altLang="en-US" sz="900" b="1">
              <a:solidFill>
                <a:srgbClr val="172B46"/>
              </a:solidFill>
              <a:latin typeface="微软雅黑" panose="020B0503020204020204" pitchFamily="34" charset="-122"/>
              <a:ea typeface="微软雅黑" panose="020B0503020204020204" pitchFamily="34" charset="-122"/>
            </a:endParaRPr>
          </a:p>
        </p:txBody>
      </p:sp>
      <p:sp>
        <p:nvSpPr>
          <p:cNvPr id="89" name="Text 39">
            <a:extLst>
              <a:ext uri="{FF2B5EF4-FFF2-40B4-BE49-F238E27FC236}">
                <a16:creationId xmlns:a16="http://schemas.microsoft.com/office/drawing/2014/main" id="{71D21009-AEF3-F4B6-14A9-C8EC3BBF39B8}"/>
              </a:ext>
            </a:extLst>
          </p:cNvPr>
          <p:cNvSpPr/>
          <p:nvPr/>
        </p:nvSpPr>
        <p:spPr>
          <a:xfrm>
            <a:off x="7346537" y="4006131"/>
            <a:ext cx="987552" cy="22860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dirty="0"/>
          </a:p>
        </p:txBody>
      </p:sp>
      <p:sp>
        <p:nvSpPr>
          <p:cNvPr id="90" name="Text 41">
            <a:extLst>
              <a:ext uri="{FF2B5EF4-FFF2-40B4-BE49-F238E27FC236}">
                <a16:creationId xmlns:a16="http://schemas.microsoft.com/office/drawing/2014/main" id="{A692DD0E-865D-CE78-CCAD-3E11B70678CA}"/>
              </a:ext>
            </a:extLst>
          </p:cNvPr>
          <p:cNvSpPr/>
          <p:nvPr/>
        </p:nvSpPr>
        <p:spPr>
          <a:xfrm>
            <a:off x="7354539" y="3991095"/>
            <a:ext cx="987552" cy="22860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zh-CN" sz="900" b="1">
                <a:solidFill>
                  <a:srgbClr val="172B46"/>
                </a:solidFill>
                <a:latin typeface="微软雅黑" panose="020B0503020204020204" pitchFamily="34" charset="-122"/>
                <a:ea typeface="微软雅黑" panose="020B0503020204020204" pitchFamily="34" charset="-122"/>
                <a:cs typeface="微软雅黑" panose="020B0503020204020204" pitchFamily="34" charset="-120"/>
              </a:rPr>
              <a:t>Pytorch profiling</a:t>
            </a:r>
            <a:endParaRPr lang="en-US" sz="900" dirty="0"/>
          </a:p>
        </p:txBody>
      </p:sp>
      <p:sp>
        <p:nvSpPr>
          <p:cNvPr id="91" name="Shape 36">
            <a:extLst>
              <a:ext uri="{FF2B5EF4-FFF2-40B4-BE49-F238E27FC236}">
                <a16:creationId xmlns:a16="http://schemas.microsoft.com/office/drawing/2014/main" id="{AA29D53A-B35B-B6D0-3BA9-31755A3F7837}"/>
              </a:ext>
            </a:extLst>
          </p:cNvPr>
          <p:cNvSpPr/>
          <p:nvPr/>
        </p:nvSpPr>
        <p:spPr>
          <a:xfrm>
            <a:off x="5757672" y="1799491"/>
            <a:ext cx="2751328" cy="319789"/>
          </a:xfrm>
          <a:prstGeom prst="roundRect">
            <a:avLst>
              <a:gd name="adj" fmla="val 48387"/>
            </a:avLst>
          </a:prstGeom>
          <a:solidFill>
            <a:srgbClr val="F1F5FA"/>
          </a:solidFill>
          <a:ln w="12700">
            <a:solidFill>
              <a:srgbClr val="F1F5FA">
                <a:alpha val="0"/>
              </a:srgbClr>
            </a:solidFill>
            <a:prstDash val="solid"/>
          </a:ln>
        </p:spPr>
        <p:txBody>
          <a:bodyPr/>
          <a:lstStyle/>
          <a:p>
            <a:endParaRPr lang="zh-CN" altLang="en-US"/>
          </a:p>
        </p:txBody>
      </p:sp>
      <p:sp>
        <p:nvSpPr>
          <p:cNvPr id="92" name="Text 37">
            <a:extLst>
              <a:ext uri="{FF2B5EF4-FFF2-40B4-BE49-F238E27FC236}">
                <a16:creationId xmlns:a16="http://schemas.microsoft.com/office/drawing/2014/main" id="{0F67017F-9DF1-572E-6E22-EBEF05D974B0}"/>
              </a:ext>
            </a:extLst>
          </p:cNvPr>
          <p:cNvSpPr/>
          <p:nvPr/>
        </p:nvSpPr>
        <p:spPr>
          <a:xfrm>
            <a:off x="5803393" y="1799491"/>
            <a:ext cx="2616709" cy="298575"/>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1100" b="1">
                <a:solidFill>
                  <a:srgbClr val="172B46"/>
                </a:solidFill>
                <a:latin typeface="微软雅黑" panose="020B0503020204020204" pitchFamily="34" charset="-122"/>
                <a:ea typeface="微软雅黑" panose="020B0503020204020204" pitchFamily="34" charset="-122"/>
              </a:rPr>
              <a:t>TPOT</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Decode </a:t>
            </a:r>
            <a:r>
              <a:rPr lang="zh-CN" altLang="en-US" sz="1100" b="1">
                <a:solidFill>
                  <a:srgbClr val="172B46"/>
                </a:solidFill>
                <a:latin typeface="微软雅黑" panose="020B0503020204020204" pitchFamily="34" charset="-122"/>
                <a:ea typeface="微软雅黑" panose="020B0503020204020204" pitchFamily="34" charset="-122"/>
              </a:rPr>
              <a:t>阶段单 </a:t>
            </a:r>
            <a:r>
              <a:rPr lang="en-US" altLang="zh-CN" sz="1100" b="1">
                <a:solidFill>
                  <a:srgbClr val="172B46"/>
                </a:solidFill>
                <a:latin typeface="微软雅黑" panose="020B0503020204020204" pitchFamily="34" charset="-122"/>
                <a:ea typeface="微软雅黑" panose="020B0503020204020204" pitchFamily="34" charset="-122"/>
              </a:rPr>
              <a:t>Token </a:t>
            </a:r>
            <a:r>
              <a:rPr lang="zh-CN" altLang="en-US" sz="1100" b="1">
                <a:solidFill>
                  <a:srgbClr val="172B46"/>
                </a:solidFill>
                <a:latin typeface="微软雅黑" panose="020B0503020204020204" pitchFamily="34" charset="-122"/>
                <a:ea typeface="微软雅黑" panose="020B0503020204020204" pitchFamily="34" charset="-122"/>
              </a:rPr>
              <a:t>生成效率</a:t>
            </a:r>
            <a:endParaRPr lang="en-US" sz="1100" b="1" dirty="0">
              <a:solidFill>
                <a:srgbClr val="172B46"/>
              </a:solidFill>
              <a:latin typeface="微软雅黑" panose="020B0503020204020204" pitchFamily="34" charset="-122"/>
              <a:ea typeface="微软雅黑" panose="020B0503020204020204" pitchFamily="34" charset="-122"/>
            </a:endParaRPr>
          </a:p>
        </p:txBody>
      </p:sp>
      <p:sp>
        <p:nvSpPr>
          <p:cNvPr id="93" name="Shape 36">
            <a:extLst>
              <a:ext uri="{FF2B5EF4-FFF2-40B4-BE49-F238E27FC236}">
                <a16:creationId xmlns:a16="http://schemas.microsoft.com/office/drawing/2014/main" id="{00DC63E9-4CCB-7FEE-0F82-1449AB600765}"/>
              </a:ext>
            </a:extLst>
          </p:cNvPr>
          <p:cNvSpPr/>
          <p:nvPr/>
        </p:nvSpPr>
        <p:spPr>
          <a:xfrm>
            <a:off x="5740210" y="2656332"/>
            <a:ext cx="3153028" cy="281161"/>
          </a:xfrm>
          <a:prstGeom prst="roundRect">
            <a:avLst>
              <a:gd name="adj" fmla="val 48387"/>
            </a:avLst>
          </a:prstGeom>
          <a:solidFill>
            <a:srgbClr val="F1F5FA"/>
          </a:solidFill>
          <a:ln w="12700">
            <a:solidFill>
              <a:srgbClr val="F1F5FA">
                <a:alpha val="0"/>
              </a:srgbClr>
            </a:solidFill>
            <a:prstDash val="solid"/>
          </a:ln>
        </p:spPr>
        <p:txBody>
          <a:bodyPr/>
          <a:lstStyle/>
          <a:p>
            <a:endParaRPr lang="zh-CN" altLang="en-US" sz="1100" b="1">
              <a:solidFill>
                <a:srgbClr val="172B46"/>
              </a:solidFill>
              <a:latin typeface="微软雅黑" panose="020B0503020204020204" pitchFamily="34" charset="-122"/>
              <a:ea typeface="微软雅黑" panose="020B0503020204020204" pitchFamily="34" charset="-122"/>
            </a:endParaRPr>
          </a:p>
        </p:txBody>
      </p:sp>
      <p:sp>
        <p:nvSpPr>
          <p:cNvPr id="94" name="Text 37">
            <a:extLst>
              <a:ext uri="{FF2B5EF4-FFF2-40B4-BE49-F238E27FC236}">
                <a16:creationId xmlns:a16="http://schemas.microsoft.com/office/drawing/2014/main" id="{6A26F0E6-881F-B653-E5B0-3581BE26535C}"/>
              </a:ext>
            </a:extLst>
          </p:cNvPr>
          <p:cNvSpPr/>
          <p:nvPr/>
        </p:nvSpPr>
        <p:spPr>
          <a:xfrm>
            <a:off x="5795423" y="2627205"/>
            <a:ext cx="2675826" cy="334335"/>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1100" b="1">
                <a:solidFill>
                  <a:srgbClr val="172B46"/>
                </a:solidFill>
                <a:latin typeface="微软雅黑" panose="020B0503020204020204" pitchFamily="34" charset="-122"/>
                <a:ea typeface="微软雅黑" panose="020B0503020204020204" pitchFamily="34" charset="-122"/>
              </a:rPr>
              <a:t>Throughput</a:t>
            </a:r>
            <a:r>
              <a:rPr lang="zh-CN" altLang="en-US" sz="1100" b="1">
                <a:solidFill>
                  <a:srgbClr val="172B46"/>
                </a:solidFill>
                <a:latin typeface="微软雅黑" panose="020B0503020204020204" pitchFamily="34" charset="-122"/>
                <a:ea typeface="微软雅黑" panose="020B0503020204020204" pitchFamily="34" charset="-122"/>
              </a:rPr>
              <a:t>：不同并发下整体 </a:t>
            </a:r>
            <a:r>
              <a:rPr lang="en-US" altLang="zh-CN" sz="1100" b="1">
                <a:solidFill>
                  <a:srgbClr val="172B46"/>
                </a:solidFill>
                <a:latin typeface="微软雅黑" panose="020B0503020204020204" pitchFamily="34" charset="-122"/>
                <a:ea typeface="微软雅黑" panose="020B0503020204020204" pitchFamily="34" charset="-122"/>
              </a:rPr>
              <a:t>tokens/s</a:t>
            </a:r>
            <a:endParaRPr lang="en-US" sz="1100" b="1" dirty="0">
              <a:solidFill>
                <a:srgbClr val="172B46"/>
              </a:solidFill>
              <a:latin typeface="微软雅黑" panose="020B0503020204020204" pitchFamily="34" charset="-122"/>
              <a:ea typeface="微软雅黑" panose="020B0503020204020204" pitchFamily="34" charset="-122"/>
            </a:endParaRPr>
          </a:p>
        </p:txBody>
      </p:sp>
      <p:sp>
        <p:nvSpPr>
          <p:cNvPr id="95" name="Text 37">
            <a:extLst>
              <a:ext uri="{FF2B5EF4-FFF2-40B4-BE49-F238E27FC236}">
                <a16:creationId xmlns:a16="http://schemas.microsoft.com/office/drawing/2014/main" id="{FEE06C01-A81A-112B-1213-1A7D95027BAF}"/>
              </a:ext>
            </a:extLst>
          </p:cNvPr>
          <p:cNvSpPr/>
          <p:nvPr/>
        </p:nvSpPr>
        <p:spPr>
          <a:xfrm>
            <a:off x="5723022" y="4400577"/>
            <a:ext cx="3073347" cy="1507223"/>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zh-CN" altLang="en-US" sz="1100" b="1">
                <a:solidFill>
                  <a:srgbClr val="172B46"/>
                </a:solidFill>
                <a:latin typeface="微软雅黑" panose="020B0503020204020204" pitchFamily="34" charset="-122"/>
                <a:ea typeface="微软雅黑" panose="020B0503020204020204" pitchFamily="34" charset="-122"/>
              </a:rPr>
              <a:t>完成 </a:t>
            </a:r>
            <a:r>
              <a:rPr lang="en-US" altLang="zh-CN" sz="1100" b="1">
                <a:solidFill>
                  <a:srgbClr val="172B46"/>
                </a:solidFill>
                <a:latin typeface="微软雅黑" panose="020B0503020204020204" pitchFamily="34" charset="-122"/>
                <a:ea typeface="微软雅黑" panose="020B0503020204020204" pitchFamily="34" charset="-122"/>
              </a:rPr>
              <a:t>Gemma4 </a:t>
            </a:r>
            <a:r>
              <a:rPr lang="zh-CN" altLang="en-US" sz="1100" b="1">
                <a:solidFill>
                  <a:srgbClr val="172B46"/>
                </a:solidFill>
                <a:latin typeface="微软雅黑" panose="020B0503020204020204" pitchFamily="34" charset="-122"/>
                <a:ea typeface="微软雅黑" panose="020B0503020204020204" pitchFamily="34" charset="-122"/>
              </a:rPr>
              <a:t>多模型、多配置精度与性能验证：开发批量启动、精度评测及性能压测脚本，覆盖 </a:t>
            </a:r>
            <a:r>
              <a:rPr lang="en-US" altLang="zh-CN" sz="1100" b="1">
                <a:solidFill>
                  <a:srgbClr val="172B46"/>
                </a:solidFill>
                <a:latin typeface="微软雅黑" panose="020B0503020204020204" pitchFamily="34" charset="-122"/>
                <a:ea typeface="微软雅黑" panose="020B0503020204020204" pitchFamily="34" charset="-122"/>
              </a:rPr>
              <a:t>AIME2026</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GPQA Diamond</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MMMU-Pro </a:t>
            </a:r>
            <a:r>
              <a:rPr lang="zh-CN" altLang="en-US" sz="1100" b="1">
                <a:solidFill>
                  <a:srgbClr val="172B46"/>
                </a:solidFill>
                <a:latin typeface="微软雅黑" panose="020B0503020204020204" pitchFamily="34" charset="-122"/>
                <a:ea typeface="微软雅黑" panose="020B0503020204020204" pitchFamily="34" charset="-122"/>
              </a:rPr>
              <a:t>三大数据集，以精度差距 ≤</a:t>
            </a:r>
            <a:r>
              <a:rPr lang="en-US" altLang="zh-CN" sz="1100" b="1">
                <a:solidFill>
                  <a:srgbClr val="172B46"/>
                </a:solidFill>
                <a:latin typeface="微软雅黑" panose="020B0503020204020204" pitchFamily="34" charset="-122"/>
                <a:ea typeface="微软雅黑" panose="020B0503020204020204" pitchFamily="34" charset="-122"/>
              </a:rPr>
              <a:t>1% </a:t>
            </a:r>
            <a:r>
              <a:rPr lang="zh-CN" altLang="en-US" sz="1100" b="1">
                <a:solidFill>
                  <a:srgbClr val="172B46"/>
                </a:solidFill>
                <a:latin typeface="微软雅黑" panose="020B0503020204020204" pitchFamily="34" charset="-122"/>
                <a:ea typeface="微软雅黑" panose="020B0503020204020204" pitchFamily="34" charset="-122"/>
              </a:rPr>
              <a:t>为验收目标；对比 </a:t>
            </a:r>
            <a:r>
              <a:rPr lang="en-US" altLang="zh-CN" sz="1100" b="1">
                <a:solidFill>
                  <a:srgbClr val="172B46"/>
                </a:solidFill>
                <a:latin typeface="微软雅黑" panose="020B0503020204020204" pitchFamily="34" charset="-122"/>
                <a:ea typeface="微软雅黑" panose="020B0503020204020204" pitchFamily="34" charset="-122"/>
              </a:rPr>
              <a:t>A5 / H20</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TP / EP</a:t>
            </a:r>
            <a:r>
              <a:rPr lang="zh-CN" altLang="en-US" sz="1100" b="1">
                <a:solidFill>
                  <a:srgbClr val="172B46"/>
                </a:solidFill>
                <a:latin typeface="微软雅黑" panose="020B0503020204020204" pitchFamily="34" charset="-122"/>
                <a:ea typeface="微软雅黑" panose="020B0503020204020204" pitchFamily="34" charset="-122"/>
              </a:rPr>
              <a:t>、量化及不同并发场景下的 </a:t>
            </a:r>
            <a:r>
              <a:rPr lang="en-US" altLang="zh-CN" sz="1100" b="1">
                <a:solidFill>
                  <a:srgbClr val="172B46"/>
                </a:solidFill>
                <a:latin typeface="微软雅黑" panose="020B0503020204020204" pitchFamily="34" charset="-122"/>
                <a:ea typeface="微软雅黑" panose="020B0503020204020204" pitchFamily="34" charset="-122"/>
              </a:rPr>
              <a:t>TTFT</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TPOT</a:t>
            </a:r>
            <a:r>
              <a:rPr lang="zh-CN" altLang="en-US" sz="1100" b="1">
                <a:solidFill>
                  <a:srgbClr val="172B46"/>
                </a:solidFill>
                <a:latin typeface="微软雅黑" panose="020B0503020204020204" pitchFamily="34" charset="-122"/>
                <a:ea typeface="微软雅黑" panose="020B0503020204020204" pitchFamily="34" charset="-122"/>
              </a:rPr>
              <a:t>、吞吐表现，结合 </a:t>
            </a:r>
            <a:r>
              <a:rPr lang="en-US" altLang="zh-CN" sz="1100" b="1">
                <a:solidFill>
                  <a:srgbClr val="172B46"/>
                </a:solidFill>
                <a:latin typeface="微软雅黑" panose="020B0503020204020204" pitchFamily="34" charset="-122"/>
                <a:ea typeface="微软雅黑" panose="020B0503020204020204" pitchFamily="34" charset="-122"/>
              </a:rPr>
              <a:t>Profiling </a:t>
            </a:r>
            <a:r>
              <a:rPr lang="zh-CN" altLang="en-US" sz="1100" b="1">
                <a:solidFill>
                  <a:srgbClr val="172B46"/>
                </a:solidFill>
                <a:latin typeface="微软雅黑" panose="020B0503020204020204" pitchFamily="34" charset="-122"/>
                <a:ea typeface="微软雅黑" panose="020B0503020204020204" pitchFamily="34" charset="-122"/>
              </a:rPr>
              <a:t>定位性能瓶颈，支撑模型优化与版本交付。</a:t>
            </a:r>
            <a:endParaRPr lang="en-US" sz="1100" b="1" dirty="0">
              <a:solidFill>
                <a:srgbClr val="172B46"/>
              </a:solidFill>
              <a:latin typeface="微软雅黑" panose="020B0503020204020204" pitchFamily="34" charset="-122"/>
              <a:ea typeface="微软雅黑" panose="020B0503020204020204" pitchFamily="34" charset="-122"/>
            </a:endParaRPr>
          </a:p>
        </p:txBody>
      </p:sp>
      <p:sp>
        <p:nvSpPr>
          <p:cNvPr id="114" name="Shape 58">
            <a:extLst>
              <a:ext uri="{FF2B5EF4-FFF2-40B4-BE49-F238E27FC236}">
                <a16:creationId xmlns:a16="http://schemas.microsoft.com/office/drawing/2014/main" id="{647A70FD-D735-207A-BD8F-EED1ED97EA1B}"/>
              </a:ext>
            </a:extLst>
          </p:cNvPr>
          <p:cNvSpPr/>
          <p:nvPr/>
        </p:nvSpPr>
        <p:spPr>
          <a:xfrm>
            <a:off x="9028999" y="1123763"/>
            <a:ext cx="3017086" cy="4912225"/>
          </a:xfrm>
          <a:prstGeom prst="roundRect">
            <a:avLst>
              <a:gd name="adj" fmla="val 4459"/>
            </a:avLst>
          </a:prstGeom>
          <a:solidFill>
            <a:srgbClr val="FFFFFF"/>
          </a:solidFill>
          <a:ln w="9525">
            <a:solidFill>
              <a:srgbClr val="DCE5F1"/>
            </a:solidFill>
            <a:prstDash val="solid"/>
          </a:ln>
        </p:spPr>
        <p:txBody>
          <a:bodyPr/>
          <a:lstStyle/>
          <a:p>
            <a:endParaRPr lang="zh-CN" altLang="en-US"/>
          </a:p>
        </p:txBody>
      </p:sp>
      <p:sp>
        <p:nvSpPr>
          <p:cNvPr id="115" name="Shape 59">
            <a:extLst>
              <a:ext uri="{FF2B5EF4-FFF2-40B4-BE49-F238E27FC236}">
                <a16:creationId xmlns:a16="http://schemas.microsoft.com/office/drawing/2014/main" id="{7767D625-C34B-FBAF-5480-0449468EC653}"/>
              </a:ext>
            </a:extLst>
          </p:cNvPr>
          <p:cNvSpPr/>
          <p:nvPr/>
        </p:nvSpPr>
        <p:spPr>
          <a:xfrm>
            <a:off x="9296400" y="1247244"/>
            <a:ext cx="1290456" cy="383379"/>
          </a:xfrm>
          <a:prstGeom prst="roundRect">
            <a:avLst>
              <a:gd name="adj" fmla="val 48387"/>
            </a:avLst>
          </a:prstGeom>
          <a:solidFill>
            <a:srgbClr val="F2EDFF"/>
          </a:solidFill>
          <a:ln w="12700">
            <a:solidFill>
              <a:srgbClr val="F2EDFF">
                <a:alpha val="0"/>
              </a:srgbClr>
            </a:solidFill>
            <a:prstDash val="solid"/>
          </a:ln>
        </p:spPr>
        <p:txBody>
          <a:bodyPr/>
          <a:lstStyle/>
          <a:p>
            <a:endParaRPr lang="zh-CN" altLang="en-US"/>
          </a:p>
        </p:txBody>
      </p:sp>
      <p:sp>
        <p:nvSpPr>
          <p:cNvPr id="116" name="Text 60">
            <a:extLst>
              <a:ext uri="{FF2B5EF4-FFF2-40B4-BE49-F238E27FC236}">
                <a16:creationId xmlns:a16="http://schemas.microsoft.com/office/drawing/2014/main" id="{7906D625-AB06-B916-098D-293908DC662D}"/>
              </a:ext>
            </a:extLst>
          </p:cNvPr>
          <p:cNvSpPr/>
          <p:nvPr/>
        </p:nvSpPr>
        <p:spPr>
          <a:xfrm>
            <a:off x="9296400" y="1316164"/>
            <a:ext cx="1227274" cy="209477"/>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7453C5"/>
                </a:solidFill>
                <a:latin typeface="微软雅黑" panose="020B0503020204020204" pitchFamily="34" charset="-122"/>
                <a:ea typeface="微软雅黑" panose="020B0503020204020204" pitchFamily="34" charset="-122"/>
                <a:cs typeface="微软雅黑" panose="020B0503020204020204" pitchFamily="34" charset="-120"/>
              </a:rPr>
              <a:t>知识资产</a:t>
            </a:r>
            <a:endParaRPr lang="en-US" sz="2000" dirty="0"/>
          </a:p>
        </p:txBody>
      </p:sp>
      <p:sp>
        <p:nvSpPr>
          <p:cNvPr id="117" name="Text 61">
            <a:extLst>
              <a:ext uri="{FF2B5EF4-FFF2-40B4-BE49-F238E27FC236}">
                <a16:creationId xmlns:a16="http://schemas.microsoft.com/office/drawing/2014/main" id="{4327210C-BB3A-ED2E-E664-684C2B5681C8}"/>
              </a:ext>
            </a:extLst>
          </p:cNvPr>
          <p:cNvSpPr/>
          <p:nvPr/>
        </p:nvSpPr>
        <p:spPr>
          <a:xfrm>
            <a:off x="9953647" y="1871571"/>
            <a:ext cx="476511" cy="510369"/>
          </a:xfrm>
          <a:prstGeom prst="rect">
            <a:avLst/>
          </a:prstGeom>
          <a:noFill/>
        </p:spPr>
        <p:txBody>
          <a:bodyPr wrap="square" lIns="0" tIns="0" rIns="0" bIns="0" rtlCol="0" anchor="ctr">
            <a:normAutofit fontScale="85000" lnSpcReduction="2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4600" b="1">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3</a:t>
            </a:r>
            <a:endParaRPr lang="en-US" sz="4600" dirty="0"/>
          </a:p>
        </p:txBody>
      </p:sp>
      <p:sp>
        <p:nvSpPr>
          <p:cNvPr id="118" name="Text 62">
            <a:extLst>
              <a:ext uri="{FF2B5EF4-FFF2-40B4-BE49-F238E27FC236}">
                <a16:creationId xmlns:a16="http://schemas.microsoft.com/office/drawing/2014/main" id="{05196683-F9EF-2BA6-6D00-F5E986685F5E}"/>
              </a:ext>
            </a:extLst>
          </p:cNvPr>
          <p:cNvSpPr/>
          <p:nvPr/>
        </p:nvSpPr>
        <p:spPr>
          <a:xfrm>
            <a:off x="10281195" y="1912638"/>
            <a:ext cx="1486879" cy="301752"/>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篇技术Wiki</a:t>
            </a:r>
            <a:r>
              <a:rPr lang="zh-CN" altLang="en-US" sz="15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沉淀</a:t>
            </a:r>
            <a:endParaRPr lang="en-US" sz="1500" dirty="0"/>
          </a:p>
        </p:txBody>
      </p:sp>
      <p:sp>
        <p:nvSpPr>
          <p:cNvPr id="119" name="Text 63">
            <a:extLst>
              <a:ext uri="{FF2B5EF4-FFF2-40B4-BE49-F238E27FC236}">
                <a16:creationId xmlns:a16="http://schemas.microsoft.com/office/drawing/2014/main" id="{993507E8-8269-6B93-8B4B-D3F2C66A2342}"/>
              </a:ext>
            </a:extLst>
          </p:cNvPr>
          <p:cNvSpPr/>
          <p:nvPr/>
        </p:nvSpPr>
        <p:spPr>
          <a:xfrm>
            <a:off x="9324752" y="3118244"/>
            <a:ext cx="2386584" cy="640080"/>
          </a:xfrm>
          <a:prstGeom prst="rect">
            <a:avLst/>
          </a:prstGeom>
          <a:noFill/>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推理框架  /  </a:t>
            </a:r>
            <a:r>
              <a:rPr lang="zh-CN" altLang="en-US" sz="120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并行优化</a:t>
            </a:r>
            <a:r>
              <a:rPr lang="en-US" sz="120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  /  </a:t>
            </a:r>
            <a:r>
              <a:rPr lang="zh-CN" altLang="en-US" sz="1200">
                <a:solidFill>
                  <a:srgbClr val="61718A"/>
                </a:solidFill>
                <a:latin typeface="微软雅黑" panose="020B0503020204020204" pitchFamily="34" charset="-122"/>
                <a:ea typeface="微软雅黑" panose="020B0503020204020204" pitchFamily="34" charset="-122"/>
              </a:rPr>
              <a:t>性能</a:t>
            </a:r>
            <a:r>
              <a:rPr lang="en-US" sz="1200">
                <a:solidFill>
                  <a:srgbClr val="61718A"/>
                </a:solidFill>
                <a:latin typeface="微软雅黑" panose="020B0503020204020204" pitchFamily="34" charset="-122"/>
                <a:ea typeface="微软雅黑" panose="020B0503020204020204" pitchFamily="34" charset="-122"/>
              </a:rPr>
              <a:t>分析</a:t>
            </a:r>
            <a:endParaRPr lang="en-US" sz="1200" dirty="0">
              <a:solidFill>
                <a:srgbClr val="61718A"/>
              </a:solidFill>
              <a:latin typeface="微软雅黑" panose="020B0503020204020204" pitchFamily="34" charset="-122"/>
              <a:ea typeface="微软雅黑" panose="020B0503020204020204" pitchFamily="34" charset="-122"/>
            </a:endParaRPr>
          </a:p>
        </p:txBody>
      </p:sp>
      <p:sp>
        <p:nvSpPr>
          <p:cNvPr id="120" name="Shape 64">
            <a:extLst>
              <a:ext uri="{FF2B5EF4-FFF2-40B4-BE49-F238E27FC236}">
                <a16:creationId xmlns:a16="http://schemas.microsoft.com/office/drawing/2014/main" id="{FDA812EF-9445-1CA5-F569-6396DBB40106}"/>
              </a:ext>
            </a:extLst>
          </p:cNvPr>
          <p:cNvSpPr/>
          <p:nvPr/>
        </p:nvSpPr>
        <p:spPr>
          <a:xfrm>
            <a:off x="9241536" y="4141960"/>
            <a:ext cx="2350008" cy="0"/>
          </a:xfrm>
          <a:prstGeom prst="line">
            <a:avLst/>
          </a:prstGeom>
          <a:noFill/>
          <a:ln w="11430">
            <a:solidFill>
              <a:srgbClr val="DCE5F1"/>
            </a:solidFill>
            <a:prstDash val="solid"/>
          </a:ln>
        </p:spPr>
        <p:txBody>
          <a:bodyPr/>
          <a:lstStyle/>
          <a:p>
            <a:endParaRPr lang="zh-CN" altLang="en-US"/>
          </a:p>
        </p:txBody>
      </p:sp>
      <p:sp>
        <p:nvSpPr>
          <p:cNvPr id="121" name="Text 65">
            <a:extLst>
              <a:ext uri="{FF2B5EF4-FFF2-40B4-BE49-F238E27FC236}">
                <a16:creationId xmlns:a16="http://schemas.microsoft.com/office/drawing/2014/main" id="{E45EB6B0-D824-14DE-A3BB-08652156C8FB}"/>
              </a:ext>
            </a:extLst>
          </p:cNvPr>
          <p:cNvSpPr/>
          <p:nvPr/>
        </p:nvSpPr>
        <p:spPr>
          <a:xfrm>
            <a:off x="9346692" y="4372414"/>
            <a:ext cx="2194560" cy="27432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组内知识</a:t>
            </a:r>
            <a:r>
              <a:rPr lang="zh-CN" altLang="en-US" sz="14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池</a:t>
            </a:r>
            <a:endParaRPr lang="en-US" sz="1400" dirty="0"/>
          </a:p>
        </p:txBody>
      </p:sp>
      <p:sp>
        <p:nvSpPr>
          <p:cNvPr id="122" name="Text 66">
            <a:extLst>
              <a:ext uri="{FF2B5EF4-FFF2-40B4-BE49-F238E27FC236}">
                <a16:creationId xmlns:a16="http://schemas.microsoft.com/office/drawing/2014/main" id="{C68DF6C9-AD0A-11B1-4890-7A82C2E00AC4}"/>
              </a:ext>
            </a:extLst>
          </p:cNvPr>
          <p:cNvSpPr/>
          <p:nvPr/>
        </p:nvSpPr>
        <p:spPr>
          <a:xfrm>
            <a:off x="9474740" y="4838976"/>
            <a:ext cx="2116804" cy="859536"/>
          </a:xfrm>
          <a:prstGeom prst="rect">
            <a:avLst/>
          </a:prstGeom>
          <a:noFill/>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2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围绕推理优化原理与工具使用，沉淀可复用的分析方法与工程经验。</a:t>
            </a:r>
            <a:endParaRPr lang="en-US" sz="1120" dirty="0"/>
          </a:p>
        </p:txBody>
      </p:sp>
      <p:sp>
        <p:nvSpPr>
          <p:cNvPr id="124" name="文本框 123">
            <a:extLst>
              <a:ext uri="{FF2B5EF4-FFF2-40B4-BE49-F238E27FC236}">
                <a16:creationId xmlns:a16="http://schemas.microsoft.com/office/drawing/2014/main" id="{33A075CB-FEA6-788C-5619-EEF84DFF7A17}"/>
              </a:ext>
            </a:extLst>
          </p:cNvPr>
          <p:cNvSpPr txBox="1"/>
          <p:nvPr/>
        </p:nvSpPr>
        <p:spPr>
          <a:xfrm>
            <a:off x="9346692" y="1885948"/>
            <a:ext cx="1085444" cy="367425"/>
          </a:xfrm>
          <a:prstGeom prst="rect">
            <a:avLst/>
          </a:prstGeom>
          <a:noFill/>
        </p:spPr>
        <p:txBody>
          <a:bodyPr wrap="square">
            <a:spAutoFit/>
          </a:bodyPr>
          <a:lstStyle/>
          <a:p>
            <a:r>
              <a:rPr lang="zh-CN" altLang="en-US" sz="1800" b="1">
                <a:solidFill>
                  <a:srgbClr val="122A4D"/>
                </a:solidFill>
                <a:latin typeface="微软雅黑" panose="020B0503020204020204" pitchFamily="34" charset="-122"/>
                <a:ea typeface="微软雅黑" panose="020B0503020204020204" pitchFamily="34" charset="-122"/>
              </a:rPr>
              <a:t>计划</a:t>
            </a:r>
            <a:endParaRPr lang="zh-CN" altLang="en-US"/>
          </a:p>
        </p:txBody>
      </p:sp>
      <p:pic>
        <p:nvPicPr>
          <p:cNvPr id="3" name="图片 2">
            <a:extLst>
              <a:ext uri="{FF2B5EF4-FFF2-40B4-BE49-F238E27FC236}">
                <a16:creationId xmlns:a16="http://schemas.microsoft.com/office/drawing/2014/main" id="{D6757FE1-7477-6E58-2822-044055D51D22}"/>
              </a:ext>
            </a:extLst>
          </p:cNvPr>
          <p:cNvPicPr>
            <a:picLocks noChangeAspect="1"/>
          </p:cNvPicPr>
          <p:nvPr/>
        </p:nvPicPr>
        <p:blipFill>
          <a:blip r:embed="rId4"/>
          <a:stretch>
            <a:fillRect/>
          </a:stretch>
        </p:blipFill>
        <p:spPr>
          <a:xfrm>
            <a:off x="9278631" y="2362640"/>
            <a:ext cx="662997" cy="640135"/>
          </a:xfrm>
          <a:prstGeom prst="rect">
            <a:avLst/>
          </a:prstGeom>
        </p:spPr>
      </p:pic>
      <p:sp>
        <p:nvSpPr>
          <p:cNvPr id="6" name="文本框 5">
            <a:extLst>
              <a:ext uri="{FF2B5EF4-FFF2-40B4-BE49-F238E27FC236}">
                <a16:creationId xmlns:a16="http://schemas.microsoft.com/office/drawing/2014/main" id="{AFBE1839-1ACB-1706-70ED-D02609251C11}"/>
              </a:ext>
            </a:extLst>
          </p:cNvPr>
          <p:cNvSpPr txBox="1"/>
          <p:nvPr/>
        </p:nvSpPr>
        <p:spPr>
          <a:xfrm>
            <a:off x="8961207" y="3444945"/>
            <a:ext cx="1297844" cy="461665"/>
          </a:xfrm>
          <a:prstGeom prst="rect">
            <a:avLst/>
          </a:prstGeom>
          <a:noFill/>
        </p:spPr>
        <p:txBody>
          <a:bodyPr wrap="square">
            <a:spAutoFit/>
          </a:bodyPr>
          <a:lstStyle/>
          <a:p>
            <a:r>
              <a:rPr lang="en-US" altLang="zh-CN" sz="1200"/>
              <a:t>PagedAttention</a:t>
            </a:r>
          </a:p>
          <a:p>
            <a:r>
              <a:rPr lang="en-US" altLang="zh-CN" sz="1200"/>
              <a:t>Radix prefixcache</a:t>
            </a:r>
            <a:endParaRPr lang="zh-CN" altLang="en-US" sz="1200"/>
          </a:p>
        </p:txBody>
      </p:sp>
      <p:sp>
        <p:nvSpPr>
          <p:cNvPr id="8" name="文本框 7">
            <a:extLst>
              <a:ext uri="{FF2B5EF4-FFF2-40B4-BE49-F238E27FC236}">
                <a16:creationId xmlns:a16="http://schemas.microsoft.com/office/drawing/2014/main" id="{F0FAF66C-201A-AFBB-7AD9-C480501032BC}"/>
              </a:ext>
            </a:extLst>
          </p:cNvPr>
          <p:cNvSpPr txBox="1"/>
          <p:nvPr/>
        </p:nvSpPr>
        <p:spPr>
          <a:xfrm>
            <a:off x="10146905" y="3447123"/>
            <a:ext cx="742277" cy="461665"/>
          </a:xfrm>
          <a:prstGeom prst="rect">
            <a:avLst/>
          </a:prstGeom>
          <a:noFill/>
        </p:spPr>
        <p:txBody>
          <a:bodyPr wrap="square">
            <a:spAutoFit/>
          </a:bodyPr>
          <a:lstStyle/>
          <a:p>
            <a:r>
              <a:rPr lang="en-US" altLang="zh-CN" sz="1200"/>
              <a:t>TP / PP </a:t>
            </a:r>
          </a:p>
          <a:p>
            <a:r>
              <a:rPr lang="en-US" altLang="zh-CN" sz="1200"/>
              <a:t> DP / EP</a:t>
            </a:r>
            <a:endParaRPr lang="zh-CN" altLang="en-US" sz="1200"/>
          </a:p>
        </p:txBody>
      </p:sp>
      <p:sp>
        <p:nvSpPr>
          <p:cNvPr id="10" name="文本框 9">
            <a:extLst>
              <a:ext uri="{FF2B5EF4-FFF2-40B4-BE49-F238E27FC236}">
                <a16:creationId xmlns:a16="http://schemas.microsoft.com/office/drawing/2014/main" id="{B792B195-CE56-3F74-2434-F4A1C01CF076}"/>
              </a:ext>
            </a:extLst>
          </p:cNvPr>
          <p:cNvSpPr txBox="1"/>
          <p:nvPr/>
        </p:nvSpPr>
        <p:spPr>
          <a:xfrm>
            <a:off x="10842019" y="3360599"/>
            <a:ext cx="1204066" cy="646331"/>
          </a:xfrm>
          <a:prstGeom prst="rect">
            <a:avLst/>
          </a:prstGeom>
          <a:noFill/>
        </p:spPr>
        <p:txBody>
          <a:bodyPr wrap="square">
            <a:spAutoFit/>
          </a:bodyPr>
          <a:lstStyle/>
          <a:p>
            <a:r>
              <a:rPr lang="en-US" altLang="zh-CN" sz="1200"/>
              <a:t>TTFT</a:t>
            </a:r>
            <a:r>
              <a:rPr lang="zh-CN" altLang="en-US" sz="1200"/>
              <a:t>、</a:t>
            </a:r>
            <a:r>
              <a:rPr lang="en-US" altLang="zh-CN" sz="1200"/>
              <a:t>TPOT</a:t>
            </a:r>
            <a:r>
              <a:rPr lang="zh-CN" altLang="en-US" sz="1200"/>
              <a:t>、吞吐、</a:t>
            </a:r>
            <a:r>
              <a:rPr lang="en-US" altLang="zh-CN" sz="1200"/>
              <a:t>Profiling</a:t>
            </a:r>
            <a:r>
              <a:rPr lang="zh-CN" altLang="en-US" sz="1200"/>
              <a:t>、</a:t>
            </a:r>
            <a:r>
              <a:rPr lang="en-US" altLang="zh-CN" sz="1200"/>
              <a:t>MXFP4/MXFP8 </a:t>
            </a:r>
            <a:endParaRPr lang="zh-CN" altLang="en-US" sz="1200"/>
          </a:p>
        </p:txBody>
      </p:sp>
      <p:pic>
        <p:nvPicPr>
          <p:cNvPr id="11" name="图片 10">
            <a:extLst>
              <a:ext uri="{FF2B5EF4-FFF2-40B4-BE49-F238E27FC236}">
                <a16:creationId xmlns:a16="http://schemas.microsoft.com/office/drawing/2014/main" id="{E07F6901-6DC6-1DA0-3D7E-FD0A58726AD0}"/>
              </a:ext>
            </a:extLst>
          </p:cNvPr>
          <p:cNvPicPr>
            <a:picLocks noChangeAspect="1"/>
          </p:cNvPicPr>
          <p:nvPr/>
        </p:nvPicPr>
        <p:blipFill>
          <a:blip r:embed="rId5"/>
          <a:stretch>
            <a:fillRect/>
          </a:stretch>
        </p:blipFill>
        <p:spPr>
          <a:xfrm>
            <a:off x="10182961" y="2327638"/>
            <a:ext cx="807790" cy="701101"/>
          </a:xfrm>
          <a:prstGeom prst="rect">
            <a:avLst/>
          </a:prstGeom>
        </p:spPr>
      </p:pic>
      <p:pic>
        <p:nvPicPr>
          <p:cNvPr id="12" name="图片 11">
            <a:extLst>
              <a:ext uri="{FF2B5EF4-FFF2-40B4-BE49-F238E27FC236}">
                <a16:creationId xmlns:a16="http://schemas.microsoft.com/office/drawing/2014/main" id="{CC72FF90-2CB2-E979-4C59-BAFE53BBD2F3}"/>
              </a:ext>
            </a:extLst>
          </p:cNvPr>
          <p:cNvPicPr>
            <a:picLocks noChangeAspect="1"/>
          </p:cNvPicPr>
          <p:nvPr/>
        </p:nvPicPr>
        <p:blipFill>
          <a:blip r:embed="rId6"/>
          <a:stretch>
            <a:fillRect/>
          </a:stretch>
        </p:blipFill>
        <p:spPr>
          <a:xfrm>
            <a:off x="11072645" y="2424069"/>
            <a:ext cx="602032" cy="586791"/>
          </a:xfrm>
          <a:prstGeom prst="rect">
            <a:avLst/>
          </a:prstGeom>
        </p:spPr>
      </p:pic>
    </p:spTree>
    <p:custDataLst>
      <p:tags r:id="rId1"/>
    </p:custDataLst>
    <p:extLst>
      <p:ext uri="{BB962C8B-B14F-4D97-AF65-F5344CB8AC3E}">
        <p14:creationId xmlns:p14="http://schemas.microsoft.com/office/powerpoint/2010/main" val="40011358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8BC9E4-A017-CECE-03F0-3373C67FD980}"/>
              </a:ext>
            </a:extLst>
          </p:cNvPr>
          <p:cNvSpPr>
            <a:spLocks noGrp="1"/>
          </p:cNvSpPr>
          <p:nvPr>
            <p:ph type="ctrTitle"/>
          </p:nvPr>
        </p:nvSpPr>
        <p:spPr/>
        <p:txBody>
          <a:bodyPr/>
          <a:lstStyle/>
          <a:p>
            <a:endParaRPr lang="zh-CN" altLang="en-US"/>
          </a:p>
        </p:txBody>
      </p:sp>
      <p:sp>
        <p:nvSpPr>
          <p:cNvPr id="3" name="副标题 2">
            <a:extLst>
              <a:ext uri="{FF2B5EF4-FFF2-40B4-BE49-F238E27FC236}">
                <a16:creationId xmlns:a16="http://schemas.microsoft.com/office/drawing/2014/main" id="{70CF2B2C-ACC3-3AAE-B399-F18F4CB9B542}"/>
              </a:ext>
            </a:extLst>
          </p:cNvPr>
          <p:cNvSpPr>
            <a:spLocks noGrp="1"/>
          </p:cNvSpPr>
          <p:nvPr>
            <p:ph type="subTitle" idx="1"/>
          </p:nvPr>
        </p:nvSpPr>
        <p:spPr/>
        <p:txBody>
          <a:bodyPr/>
          <a:lstStyle/>
          <a:p>
            <a:endParaRPr lang="zh-CN" altLang="en-US"/>
          </a:p>
        </p:txBody>
      </p:sp>
      <p:sp>
        <p:nvSpPr>
          <p:cNvPr id="4" name="灯片编号占位符 3">
            <a:extLst>
              <a:ext uri="{FF2B5EF4-FFF2-40B4-BE49-F238E27FC236}">
                <a16:creationId xmlns:a16="http://schemas.microsoft.com/office/drawing/2014/main" id="{43D8D583-BEEB-F45A-C863-F6BA63F1F63F}"/>
              </a:ext>
            </a:extLst>
          </p:cNvPr>
          <p:cNvSpPr>
            <a:spLocks noGrp="1"/>
          </p:cNvSpPr>
          <p:nvPr>
            <p:ph type="sldNum" sz="quarter" idx="12"/>
          </p:nvPr>
        </p:nvSpPr>
        <p:spPr/>
        <p:txBody>
          <a:bodyPr/>
          <a:lstStyle/>
          <a:p>
            <a:fld id="{49AE70B2-8BF9-45C0-BB95-33D1B9D3A854}" type="slidenum">
              <a:rPr lang="zh-CN" altLang="en-US" smtClean="0"/>
              <a:t>5</a:t>
            </a:fld>
            <a:endParaRPr lang="zh-CN" altLang="en-US" dirty="0"/>
          </a:p>
        </p:txBody>
      </p:sp>
      <p:pic>
        <p:nvPicPr>
          <p:cNvPr id="13" name="图片 12">
            <a:extLst>
              <a:ext uri="{FF2B5EF4-FFF2-40B4-BE49-F238E27FC236}">
                <a16:creationId xmlns:a16="http://schemas.microsoft.com/office/drawing/2014/main" id="{977CD4F4-F8F7-2826-D456-D4CBE8681C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79" y="0"/>
            <a:ext cx="12185521" cy="6858000"/>
          </a:xfrm>
          <a:prstGeom prst="rect">
            <a:avLst/>
          </a:prstGeom>
        </p:spPr>
      </p:pic>
      <p:pic>
        <p:nvPicPr>
          <p:cNvPr id="5" name="图片 4" descr="竖版华为公司标志 Vertical Version of Huawei Corporate Logo_2018">
            <a:extLst>
              <a:ext uri="{FF2B5EF4-FFF2-40B4-BE49-F238E27FC236}">
                <a16:creationId xmlns:a16="http://schemas.microsoft.com/office/drawing/2014/main" id="{E8B77A8B-6C9C-7D30-A809-C306FB81E3D3}"/>
              </a:ext>
            </a:extLst>
          </p:cNvPr>
          <p:cNvPicPr>
            <a:picLocks noChangeAspect="1"/>
          </p:cNvPicPr>
          <p:nvPr/>
        </p:nvPicPr>
        <p:blipFill>
          <a:blip r:embed="rId3"/>
          <a:stretch>
            <a:fillRect/>
          </a:stretch>
        </p:blipFill>
        <p:spPr>
          <a:xfrm>
            <a:off x="10842019" y="0"/>
            <a:ext cx="810588" cy="802246"/>
          </a:xfrm>
          <a:prstGeom prst="rect">
            <a:avLst/>
          </a:prstGeom>
        </p:spPr>
      </p:pic>
    </p:spTree>
    <p:extLst>
      <p:ext uri="{BB962C8B-B14F-4D97-AF65-F5344CB8AC3E}">
        <p14:creationId xmlns:p14="http://schemas.microsoft.com/office/powerpoint/2010/main" val="646971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AE94D137-739A-7A53-824C-B1E664D219FB}"/>
              </a:ext>
            </a:extLst>
          </p:cNvPr>
          <p:cNvSpPr>
            <a:spLocks noGrp="1"/>
          </p:cNvSpPr>
          <p:nvPr>
            <p:ph type="sldNum" sz="quarter" idx="12"/>
          </p:nvPr>
        </p:nvSpPr>
        <p:spPr/>
        <p:txBody>
          <a:bodyPr/>
          <a:lstStyle/>
          <a:p>
            <a:fld id="{49AE70B2-8BF9-45C0-BB95-33D1B9D3A854}" type="slidenum">
              <a:rPr lang="zh-CN" altLang="en-US" smtClean="0"/>
              <a:t>6</a:t>
            </a:fld>
            <a:endParaRPr lang="zh-CN" altLang="en-US" dirty="0"/>
          </a:p>
        </p:txBody>
      </p:sp>
      <p:sp>
        <p:nvSpPr>
          <p:cNvPr id="73" name="Text 1">
            <a:extLst>
              <a:ext uri="{FF2B5EF4-FFF2-40B4-BE49-F238E27FC236}">
                <a16:creationId xmlns:a16="http://schemas.microsoft.com/office/drawing/2014/main" id="{6D2227AA-E469-F7C6-9C2B-4AB4BCA7AF9C}"/>
              </a:ext>
            </a:extLst>
          </p:cNvPr>
          <p:cNvSpPr/>
          <p:nvPr/>
        </p:nvSpPr>
        <p:spPr>
          <a:xfrm>
            <a:off x="548640" y="292608"/>
            <a:ext cx="5486400" cy="228600"/>
          </a:xfrm>
          <a:prstGeom prst="rect">
            <a:avLst/>
          </a:prstGeom>
          <a:noFill/>
          <a:ln/>
        </p:spPr>
        <p:txBody>
          <a:bodyPr wrap="square" lIns="0" tIns="0" rIns="0" bIns="0" rtlCol="0" anchor="ctr">
            <a:normAutofit/>
          </a:bodyPr>
          <a:lstStyle/>
          <a:p>
            <a:pPr marL="0" indent="0" algn="l">
              <a:buNone/>
            </a:pPr>
            <a:r>
              <a:rPr lang="en-US" sz="1200" b="1">
                <a:solidFill>
                  <a:srgbClr val="1675C6"/>
                </a:solidFill>
                <a:latin typeface="Microsoft YaHei" pitchFamily="34" charset="0"/>
                <a:ea typeface="Microsoft YaHei" pitchFamily="34" charset="-122"/>
                <a:cs typeface="Microsoft YaHei" pitchFamily="34" charset="-120"/>
              </a:rPr>
              <a:t>模型适配  /  推理框架源码分析</a:t>
            </a:r>
            <a:endParaRPr lang="en-US" sz="1200" dirty="0"/>
          </a:p>
        </p:txBody>
      </p:sp>
      <p:sp>
        <p:nvSpPr>
          <p:cNvPr id="74" name="Text 2">
            <a:extLst>
              <a:ext uri="{FF2B5EF4-FFF2-40B4-BE49-F238E27FC236}">
                <a16:creationId xmlns:a16="http://schemas.microsoft.com/office/drawing/2014/main" id="{5AC1F741-D7CB-9D26-0D8B-CE779D39C52E}"/>
              </a:ext>
            </a:extLst>
          </p:cNvPr>
          <p:cNvSpPr/>
          <p:nvPr/>
        </p:nvSpPr>
        <p:spPr>
          <a:xfrm>
            <a:off x="548640" y="640080"/>
            <a:ext cx="9966960" cy="502920"/>
          </a:xfrm>
          <a:prstGeom prst="rect">
            <a:avLst/>
          </a:prstGeom>
          <a:noFill/>
          <a:ln/>
        </p:spPr>
        <p:txBody>
          <a:bodyPr wrap="square" lIns="0" tIns="0" rIns="0" bIns="0" rtlCol="0" anchor="ctr">
            <a:normAutofit/>
          </a:bodyPr>
          <a:lstStyle/>
          <a:p>
            <a:pPr marL="0" indent="0" algn="l">
              <a:buNone/>
            </a:pPr>
            <a:r>
              <a:rPr lang="en-US" sz="2700" b="1" dirty="0">
                <a:solidFill>
                  <a:srgbClr val="172C49"/>
                </a:solidFill>
                <a:latin typeface="Microsoft YaHei" pitchFamily="34" charset="0"/>
                <a:ea typeface="Microsoft YaHei" pitchFamily="34" charset="-122"/>
                <a:cs typeface="Microsoft YaHei" pitchFamily="34" charset="-120"/>
              </a:rPr>
              <a:t>Gemma4 MXFP4：从 quant_config 到 quant_method</a:t>
            </a:r>
            <a:endParaRPr lang="en-US" sz="2700" dirty="0"/>
          </a:p>
        </p:txBody>
      </p:sp>
      <p:sp>
        <p:nvSpPr>
          <p:cNvPr id="75" name="Shape 3">
            <a:extLst>
              <a:ext uri="{FF2B5EF4-FFF2-40B4-BE49-F238E27FC236}">
                <a16:creationId xmlns:a16="http://schemas.microsoft.com/office/drawing/2014/main" id="{9853F208-4B2C-7A67-1A77-67ADC58FB47F}"/>
              </a:ext>
            </a:extLst>
          </p:cNvPr>
          <p:cNvSpPr/>
          <p:nvPr/>
        </p:nvSpPr>
        <p:spPr>
          <a:xfrm>
            <a:off x="2916936" y="269748"/>
            <a:ext cx="2084832" cy="274320"/>
          </a:xfrm>
          <a:prstGeom prst="roundRect">
            <a:avLst/>
          </a:prstGeom>
          <a:solidFill>
            <a:srgbClr val="EAF4FF"/>
          </a:solidFill>
          <a:ln w="12700">
            <a:solidFill>
              <a:srgbClr val="EAF4FF"/>
            </a:solidFill>
            <a:prstDash val="solid"/>
          </a:ln>
        </p:spPr>
        <p:txBody>
          <a:bodyPr/>
          <a:lstStyle/>
          <a:p>
            <a:endParaRPr lang="zh-CN" altLang="en-US"/>
          </a:p>
        </p:txBody>
      </p:sp>
      <p:sp>
        <p:nvSpPr>
          <p:cNvPr id="76" name="Text 4">
            <a:extLst>
              <a:ext uri="{FF2B5EF4-FFF2-40B4-BE49-F238E27FC236}">
                <a16:creationId xmlns:a16="http://schemas.microsoft.com/office/drawing/2014/main" id="{C6D5F2BC-9D5B-5E29-BD74-11FD9894C703}"/>
              </a:ext>
            </a:extLst>
          </p:cNvPr>
          <p:cNvSpPr/>
          <p:nvPr/>
        </p:nvSpPr>
        <p:spPr>
          <a:xfrm>
            <a:off x="2830068" y="283464"/>
            <a:ext cx="2084832" cy="228600"/>
          </a:xfrm>
          <a:prstGeom prst="rect">
            <a:avLst/>
          </a:prstGeom>
          <a:noFill/>
          <a:ln/>
        </p:spPr>
        <p:txBody>
          <a:bodyPr wrap="square" lIns="0" tIns="0" rIns="0" bIns="0" rtlCol="0" anchor="ctr">
            <a:normAutofit/>
          </a:bodyPr>
          <a:lstStyle/>
          <a:p>
            <a:pPr marL="0" indent="0" algn="ctr">
              <a:buNone/>
            </a:pPr>
            <a:r>
              <a:rPr lang="en-US" sz="1100" b="1" dirty="0">
                <a:solidFill>
                  <a:srgbClr val="0A5AA0"/>
                </a:solidFill>
                <a:latin typeface="Microsoft YaHei" pitchFamily="34" charset="0"/>
                <a:ea typeface="Microsoft YaHei" pitchFamily="34" charset="-122"/>
                <a:cs typeface="Microsoft YaHei" pitchFamily="34" charset="-120"/>
              </a:rPr>
              <a:t>vLLM-Ascend · PR #14607</a:t>
            </a:r>
            <a:endParaRPr lang="en-US" sz="1100" dirty="0"/>
          </a:p>
        </p:txBody>
      </p:sp>
      <p:sp>
        <p:nvSpPr>
          <p:cNvPr id="77" name="Text 5">
            <a:extLst>
              <a:ext uri="{FF2B5EF4-FFF2-40B4-BE49-F238E27FC236}">
                <a16:creationId xmlns:a16="http://schemas.microsoft.com/office/drawing/2014/main" id="{FE32EC26-37D1-5C2E-F39E-1917E9F773A6}"/>
              </a:ext>
            </a:extLst>
          </p:cNvPr>
          <p:cNvSpPr/>
          <p:nvPr/>
        </p:nvSpPr>
        <p:spPr>
          <a:xfrm>
            <a:off x="566928" y="1188720"/>
            <a:ext cx="11064240" cy="256032"/>
          </a:xfrm>
          <a:prstGeom prst="rect">
            <a:avLst/>
          </a:prstGeom>
          <a:noFill/>
          <a:ln/>
        </p:spPr>
        <p:txBody>
          <a:bodyPr wrap="square" lIns="0" tIns="0" rIns="0" bIns="0" rtlCol="0" anchor="ctr">
            <a:normAutofit/>
          </a:bodyPr>
          <a:lstStyle/>
          <a:p>
            <a:pPr marL="0" indent="0" algn="l">
              <a:buNone/>
            </a:pPr>
            <a:r>
              <a:rPr lang="en-US" sz="1300" dirty="0">
                <a:solidFill>
                  <a:srgbClr val="657792"/>
                </a:solidFill>
                <a:latin typeface="Microsoft YaHei" pitchFamily="34" charset="0"/>
                <a:ea typeface="Microsoft YaHei" pitchFamily="34" charset="-122"/>
                <a:cs typeface="Microsoft YaHei" pitchFamily="34" charset="-120"/>
              </a:rPr>
              <a:t>两条层初始化路径，最终汇入同一量化方法选择机制</a:t>
            </a:r>
            <a:endParaRPr lang="en-US" sz="1300" dirty="0"/>
          </a:p>
        </p:txBody>
      </p:sp>
      <p:sp>
        <p:nvSpPr>
          <p:cNvPr id="78" name="Shape 6">
            <a:extLst>
              <a:ext uri="{FF2B5EF4-FFF2-40B4-BE49-F238E27FC236}">
                <a16:creationId xmlns:a16="http://schemas.microsoft.com/office/drawing/2014/main" id="{FB732387-465A-95FD-012E-E45AB6DF5659}"/>
              </a:ext>
            </a:extLst>
          </p:cNvPr>
          <p:cNvSpPr/>
          <p:nvPr/>
        </p:nvSpPr>
        <p:spPr>
          <a:xfrm>
            <a:off x="512064" y="1645920"/>
            <a:ext cx="2176272" cy="2587752"/>
          </a:xfrm>
          <a:prstGeom prst="roundRect">
            <a:avLst/>
          </a:prstGeom>
          <a:solidFill>
            <a:srgbClr val="FFFFFF"/>
          </a:solidFill>
          <a:ln w="12700">
            <a:solidFill>
              <a:srgbClr val="D9E3EF"/>
            </a:solidFill>
            <a:prstDash val="solid"/>
          </a:ln>
        </p:spPr>
        <p:txBody>
          <a:bodyPr/>
          <a:lstStyle/>
          <a:p>
            <a:endParaRPr lang="zh-CN" altLang="en-US"/>
          </a:p>
        </p:txBody>
      </p:sp>
      <p:sp>
        <p:nvSpPr>
          <p:cNvPr id="79" name="Shape 7">
            <a:extLst>
              <a:ext uri="{FF2B5EF4-FFF2-40B4-BE49-F238E27FC236}">
                <a16:creationId xmlns:a16="http://schemas.microsoft.com/office/drawing/2014/main" id="{ABE1D6FA-E5A2-38D7-8DB1-114D9877CFB8}"/>
              </a:ext>
            </a:extLst>
          </p:cNvPr>
          <p:cNvSpPr/>
          <p:nvPr/>
        </p:nvSpPr>
        <p:spPr>
          <a:xfrm>
            <a:off x="658368" y="1810512"/>
            <a:ext cx="438912" cy="320040"/>
          </a:xfrm>
          <a:prstGeom prst="roundRect">
            <a:avLst/>
          </a:prstGeom>
          <a:solidFill>
            <a:srgbClr val="1675C6"/>
          </a:solidFill>
          <a:ln w="12700">
            <a:solidFill>
              <a:srgbClr val="1675C6"/>
            </a:solidFill>
            <a:prstDash val="solid"/>
          </a:ln>
        </p:spPr>
      </p:sp>
      <p:sp>
        <p:nvSpPr>
          <p:cNvPr id="80" name="Text 8">
            <a:extLst>
              <a:ext uri="{FF2B5EF4-FFF2-40B4-BE49-F238E27FC236}">
                <a16:creationId xmlns:a16="http://schemas.microsoft.com/office/drawing/2014/main" id="{94B76842-3DCD-4027-12D3-627A442BB488}"/>
              </a:ext>
            </a:extLst>
          </p:cNvPr>
          <p:cNvSpPr/>
          <p:nvPr/>
        </p:nvSpPr>
        <p:spPr>
          <a:xfrm>
            <a:off x="658368" y="1819656"/>
            <a:ext cx="438912"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Microsoft YaHei" pitchFamily="34" charset="0"/>
                <a:ea typeface="Microsoft YaHei" pitchFamily="34" charset="-122"/>
                <a:cs typeface="Microsoft YaHei" pitchFamily="34" charset="-120"/>
              </a:rPr>
              <a:t>01</a:t>
            </a:r>
            <a:endParaRPr lang="en-US" sz="1300" dirty="0"/>
          </a:p>
        </p:txBody>
      </p:sp>
      <p:sp>
        <p:nvSpPr>
          <p:cNvPr id="81" name="Text 9">
            <a:extLst>
              <a:ext uri="{FF2B5EF4-FFF2-40B4-BE49-F238E27FC236}">
                <a16:creationId xmlns:a16="http://schemas.microsoft.com/office/drawing/2014/main" id="{9F190B0E-9908-1824-D204-63BB069AA7DF}"/>
              </a:ext>
            </a:extLst>
          </p:cNvPr>
          <p:cNvSpPr/>
          <p:nvPr/>
        </p:nvSpPr>
        <p:spPr>
          <a:xfrm>
            <a:off x="1207008" y="1819656"/>
            <a:ext cx="1335024" cy="301752"/>
          </a:xfrm>
          <a:prstGeom prst="rect">
            <a:avLst/>
          </a:prstGeom>
          <a:noFill/>
          <a:ln/>
        </p:spPr>
        <p:txBody>
          <a:bodyPr wrap="square" lIns="0" tIns="0" rIns="0" bIns="0" rtlCol="0" anchor="ctr">
            <a:normAutofit/>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量化配置入口</a:t>
            </a:r>
            <a:endParaRPr lang="en-US" sz="1500" dirty="0"/>
          </a:p>
        </p:txBody>
      </p:sp>
      <p:sp>
        <p:nvSpPr>
          <p:cNvPr id="82" name="Shape 10">
            <a:extLst>
              <a:ext uri="{FF2B5EF4-FFF2-40B4-BE49-F238E27FC236}">
                <a16:creationId xmlns:a16="http://schemas.microsoft.com/office/drawing/2014/main" id="{3D9DF58A-428E-325C-2750-E1663BF57C49}"/>
              </a:ext>
            </a:extLst>
          </p:cNvPr>
          <p:cNvSpPr/>
          <p:nvPr/>
        </p:nvSpPr>
        <p:spPr>
          <a:xfrm>
            <a:off x="676656" y="2258568"/>
            <a:ext cx="1847088" cy="0"/>
          </a:xfrm>
          <a:prstGeom prst="line">
            <a:avLst/>
          </a:prstGeom>
          <a:solidFill>
            <a:srgbClr val="FFFFFF">
              <a:alpha val="0"/>
            </a:srgbClr>
          </a:solidFill>
          <a:ln w="12700">
            <a:solidFill>
              <a:srgbClr val="D9E3EF"/>
            </a:solidFill>
            <a:prstDash val="solid"/>
          </a:ln>
        </p:spPr>
      </p:sp>
      <p:sp>
        <p:nvSpPr>
          <p:cNvPr id="83" name="Text 11">
            <a:extLst>
              <a:ext uri="{FF2B5EF4-FFF2-40B4-BE49-F238E27FC236}">
                <a16:creationId xmlns:a16="http://schemas.microsoft.com/office/drawing/2014/main" id="{AE107393-B495-46F3-EC2B-70CC4EAD1931}"/>
              </a:ext>
            </a:extLst>
          </p:cNvPr>
          <p:cNvSpPr/>
          <p:nvPr/>
        </p:nvSpPr>
        <p:spPr>
          <a:xfrm>
            <a:off x="713232" y="2423160"/>
            <a:ext cx="1801368" cy="256032"/>
          </a:xfrm>
          <a:prstGeom prst="rect">
            <a:avLst/>
          </a:prstGeom>
          <a:noFill/>
          <a:ln/>
        </p:spPr>
        <p:txBody>
          <a:bodyPr wrap="square" lIns="0" tIns="0" rIns="0" bIns="0" rtlCol="0" anchor="ctr">
            <a:normAutofit/>
          </a:bodyPr>
          <a:lstStyle/>
          <a:p>
            <a:pPr marL="0" indent="0" algn="ctr">
              <a:buNone/>
            </a:pPr>
            <a:r>
              <a:rPr lang="en-US" sz="1200" dirty="0">
                <a:solidFill>
                  <a:srgbClr val="657792"/>
                </a:solidFill>
                <a:latin typeface="Arial" pitchFamily="34" charset="0"/>
                <a:ea typeface="Arial" pitchFamily="34" charset="-122"/>
                <a:cs typeface="Arial" pitchFamily="34" charset="-120"/>
              </a:rPr>
              <a:t>vllm_config.quant_config</a:t>
            </a:r>
            <a:endParaRPr lang="en-US" sz="1200" dirty="0"/>
          </a:p>
        </p:txBody>
      </p:sp>
      <p:sp>
        <p:nvSpPr>
          <p:cNvPr id="84" name="Shape 12">
            <a:extLst>
              <a:ext uri="{FF2B5EF4-FFF2-40B4-BE49-F238E27FC236}">
                <a16:creationId xmlns:a16="http://schemas.microsoft.com/office/drawing/2014/main" id="{2EEA2619-FB51-FF41-8C70-F9A9ACBD382B}"/>
              </a:ext>
            </a:extLst>
          </p:cNvPr>
          <p:cNvSpPr/>
          <p:nvPr/>
        </p:nvSpPr>
        <p:spPr>
          <a:xfrm>
            <a:off x="580644" y="2825496"/>
            <a:ext cx="1888236" cy="694944"/>
          </a:xfrm>
          <a:prstGeom prst="roundRect">
            <a:avLst/>
          </a:prstGeom>
          <a:solidFill>
            <a:srgbClr val="EAF4FF"/>
          </a:solidFill>
          <a:ln w="12700">
            <a:solidFill>
              <a:srgbClr val="EAF4FF"/>
            </a:solidFill>
            <a:prstDash val="solid"/>
          </a:ln>
        </p:spPr>
        <p:txBody>
          <a:bodyPr/>
          <a:lstStyle/>
          <a:p>
            <a:endParaRPr lang="zh-CN" altLang="en-US"/>
          </a:p>
        </p:txBody>
      </p:sp>
      <p:sp>
        <p:nvSpPr>
          <p:cNvPr id="85" name="Text 13">
            <a:extLst>
              <a:ext uri="{FF2B5EF4-FFF2-40B4-BE49-F238E27FC236}">
                <a16:creationId xmlns:a16="http://schemas.microsoft.com/office/drawing/2014/main" id="{2F93915D-621E-2109-C8F4-9A51C0297B1B}"/>
              </a:ext>
            </a:extLst>
          </p:cNvPr>
          <p:cNvSpPr/>
          <p:nvPr/>
        </p:nvSpPr>
        <p:spPr>
          <a:xfrm>
            <a:off x="580644" y="2935224"/>
            <a:ext cx="1869948" cy="438912"/>
          </a:xfrm>
          <a:prstGeom prst="rect">
            <a:avLst/>
          </a:prstGeom>
          <a:noFill/>
          <a:ln/>
        </p:spPr>
        <p:txBody>
          <a:bodyPr wrap="square" lIns="0" tIns="0" rIns="0" bIns="0" rtlCol="0" anchor="ctr">
            <a:normAutofit fontScale="92500" lnSpcReduction="10000"/>
          </a:bodyPr>
          <a:lstStyle/>
          <a:p>
            <a:pPr marL="0" indent="0" algn="ctr">
              <a:buNone/>
            </a:pPr>
            <a:r>
              <a:rPr lang="en-US" sz="1600" b="1">
                <a:solidFill>
                  <a:srgbClr val="0A5AA0"/>
                </a:solidFill>
                <a:latin typeface="Microsoft YaHei" pitchFamily="34" charset="0"/>
                <a:ea typeface="Microsoft YaHei" pitchFamily="34" charset="-122"/>
                <a:cs typeface="Microsoft YaHei" pitchFamily="34" charset="-120"/>
              </a:rPr>
              <a:t>Ascend ModelSlim</a:t>
            </a:r>
            <a:endParaRPr lang="en-US" sz="1600" dirty="0"/>
          </a:p>
          <a:p>
            <a:pPr marL="0" indent="0" algn="ctr">
              <a:buNone/>
            </a:pPr>
            <a:r>
              <a:rPr lang="en-US" sz="1600" b="1" dirty="0">
                <a:solidFill>
                  <a:srgbClr val="0A5AA0"/>
                </a:solidFill>
                <a:latin typeface="Microsoft YaHei" pitchFamily="34" charset="0"/>
                <a:ea typeface="Microsoft YaHei" pitchFamily="34" charset="-122"/>
                <a:cs typeface="Microsoft YaHei" pitchFamily="34" charset="-120"/>
              </a:rPr>
              <a:t>Config</a:t>
            </a:r>
            <a:endParaRPr lang="en-US" sz="1600" dirty="0"/>
          </a:p>
        </p:txBody>
      </p:sp>
      <p:sp>
        <p:nvSpPr>
          <p:cNvPr id="86" name="Text 14">
            <a:extLst>
              <a:ext uri="{FF2B5EF4-FFF2-40B4-BE49-F238E27FC236}">
                <a16:creationId xmlns:a16="http://schemas.microsoft.com/office/drawing/2014/main" id="{2A3ED970-9F83-9CE4-5A65-7D9B58083CB3}"/>
              </a:ext>
            </a:extLst>
          </p:cNvPr>
          <p:cNvSpPr/>
          <p:nvPr/>
        </p:nvSpPr>
        <p:spPr>
          <a:xfrm>
            <a:off x="713232" y="3703320"/>
            <a:ext cx="1801368" cy="320040"/>
          </a:xfrm>
          <a:prstGeom prst="rect">
            <a:avLst/>
          </a:prstGeom>
          <a:noFill/>
          <a:ln/>
        </p:spPr>
        <p:txBody>
          <a:bodyPr wrap="square" lIns="0" tIns="0" rIns="0" bIns="0" rtlCol="0" anchor="ctr">
            <a:normAutofit lnSpcReduction="10000"/>
          </a:bodyPr>
          <a:lstStyle/>
          <a:p>
            <a:pPr marL="0" indent="0" algn="ctr">
              <a:buNone/>
            </a:pPr>
            <a:r>
              <a:rPr lang="en-US" sz="1100" dirty="0">
                <a:solidFill>
                  <a:srgbClr val="657792"/>
                </a:solidFill>
                <a:latin typeface="Microsoft YaHei" pitchFamily="34" charset="0"/>
                <a:ea typeface="Microsoft YaHei" pitchFamily="34" charset="-122"/>
                <a:cs typeface="Microsoft YaHei" pitchFamily="34" charset="-120"/>
              </a:rPr>
              <a:t>读取 ModelSlim 层级量化描述</a:t>
            </a:r>
            <a:endParaRPr lang="en-US" sz="1100" dirty="0"/>
          </a:p>
        </p:txBody>
      </p:sp>
      <p:sp>
        <p:nvSpPr>
          <p:cNvPr id="87" name="Shape 15">
            <a:extLst>
              <a:ext uri="{FF2B5EF4-FFF2-40B4-BE49-F238E27FC236}">
                <a16:creationId xmlns:a16="http://schemas.microsoft.com/office/drawing/2014/main" id="{73CB68FE-4571-845C-F390-D8275B6B56DF}"/>
              </a:ext>
            </a:extLst>
          </p:cNvPr>
          <p:cNvSpPr/>
          <p:nvPr/>
        </p:nvSpPr>
        <p:spPr>
          <a:xfrm>
            <a:off x="2916936" y="1645920"/>
            <a:ext cx="2971800" cy="2587752"/>
          </a:xfrm>
          <a:prstGeom prst="roundRect">
            <a:avLst/>
          </a:prstGeom>
          <a:solidFill>
            <a:srgbClr val="FFFFFF"/>
          </a:solidFill>
          <a:ln w="12700">
            <a:solidFill>
              <a:srgbClr val="D9E3EF"/>
            </a:solidFill>
            <a:prstDash val="solid"/>
          </a:ln>
        </p:spPr>
        <p:txBody>
          <a:bodyPr/>
          <a:lstStyle/>
          <a:p>
            <a:endParaRPr lang="zh-CN" altLang="en-US"/>
          </a:p>
        </p:txBody>
      </p:sp>
      <p:sp>
        <p:nvSpPr>
          <p:cNvPr id="88" name="Shape 16">
            <a:extLst>
              <a:ext uri="{FF2B5EF4-FFF2-40B4-BE49-F238E27FC236}">
                <a16:creationId xmlns:a16="http://schemas.microsoft.com/office/drawing/2014/main" id="{AA7BE290-3E0D-9A77-B9FA-B4C98FCFA9EE}"/>
              </a:ext>
            </a:extLst>
          </p:cNvPr>
          <p:cNvSpPr/>
          <p:nvPr/>
        </p:nvSpPr>
        <p:spPr>
          <a:xfrm>
            <a:off x="3063240" y="1810512"/>
            <a:ext cx="438912" cy="320040"/>
          </a:xfrm>
          <a:prstGeom prst="roundRect">
            <a:avLst/>
          </a:prstGeom>
          <a:solidFill>
            <a:srgbClr val="1675C6"/>
          </a:solidFill>
          <a:ln w="12700">
            <a:solidFill>
              <a:srgbClr val="1675C6"/>
            </a:solidFill>
            <a:prstDash val="solid"/>
          </a:ln>
        </p:spPr>
      </p:sp>
      <p:sp>
        <p:nvSpPr>
          <p:cNvPr id="89" name="Text 17">
            <a:extLst>
              <a:ext uri="{FF2B5EF4-FFF2-40B4-BE49-F238E27FC236}">
                <a16:creationId xmlns:a16="http://schemas.microsoft.com/office/drawing/2014/main" id="{7B8BB60E-A89E-8D78-1F78-14244F23D15D}"/>
              </a:ext>
            </a:extLst>
          </p:cNvPr>
          <p:cNvSpPr/>
          <p:nvPr/>
        </p:nvSpPr>
        <p:spPr>
          <a:xfrm>
            <a:off x="3063240" y="1819656"/>
            <a:ext cx="438912"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Microsoft YaHei" pitchFamily="34" charset="0"/>
                <a:ea typeface="Microsoft YaHei" pitchFamily="34" charset="-122"/>
                <a:cs typeface="Microsoft YaHei" pitchFamily="34" charset="-120"/>
              </a:rPr>
              <a:t>02</a:t>
            </a:r>
            <a:endParaRPr lang="en-US" sz="1300" dirty="0"/>
          </a:p>
        </p:txBody>
      </p:sp>
      <p:sp>
        <p:nvSpPr>
          <p:cNvPr id="90" name="Text 18">
            <a:extLst>
              <a:ext uri="{FF2B5EF4-FFF2-40B4-BE49-F238E27FC236}">
                <a16:creationId xmlns:a16="http://schemas.microsoft.com/office/drawing/2014/main" id="{68CE65B8-210F-688E-977B-D9DD9184ECE2}"/>
              </a:ext>
            </a:extLst>
          </p:cNvPr>
          <p:cNvSpPr/>
          <p:nvPr/>
        </p:nvSpPr>
        <p:spPr>
          <a:xfrm>
            <a:off x="3611880" y="1819656"/>
            <a:ext cx="2130552" cy="301752"/>
          </a:xfrm>
          <a:prstGeom prst="rect">
            <a:avLst/>
          </a:prstGeom>
          <a:noFill/>
          <a:ln/>
        </p:spPr>
        <p:txBody>
          <a:bodyPr wrap="square" lIns="0" tIns="0" rIns="0" bIns="0" rtlCol="0" anchor="ctr">
            <a:normAutofit fontScale="92500"/>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Ascend Gemma4 适配层</a:t>
            </a:r>
            <a:endParaRPr lang="en-US" sz="1500" dirty="0"/>
          </a:p>
        </p:txBody>
      </p:sp>
      <p:sp>
        <p:nvSpPr>
          <p:cNvPr id="91" name="Shape 19">
            <a:extLst>
              <a:ext uri="{FF2B5EF4-FFF2-40B4-BE49-F238E27FC236}">
                <a16:creationId xmlns:a16="http://schemas.microsoft.com/office/drawing/2014/main" id="{2FBAFAF2-EE10-A59F-D2C5-84AF6B7C7726}"/>
              </a:ext>
            </a:extLst>
          </p:cNvPr>
          <p:cNvSpPr/>
          <p:nvPr/>
        </p:nvSpPr>
        <p:spPr>
          <a:xfrm>
            <a:off x="3081528" y="2258568"/>
            <a:ext cx="2642616" cy="0"/>
          </a:xfrm>
          <a:prstGeom prst="line">
            <a:avLst/>
          </a:prstGeom>
          <a:solidFill>
            <a:srgbClr val="FFFFFF">
              <a:alpha val="0"/>
            </a:srgbClr>
          </a:solidFill>
          <a:ln w="12700">
            <a:solidFill>
              <a:srgbClr val="D9E3EF"/>
            </a:solidFill>
            <a:prstDash val="solid"/>
          </a:ln>
        </p:spPr>
      </p:sp>
      <p:sp>
        <p:nvSpPr>
          <p:cNvPr id="92" name="Text 20">
            <a:extLst>
              <a:ext uri="{FF2B5EF4-FFF2-40B4-BE49-F238E27FC236}">
                <a16:creationId xmlns:a16="http://schemas.microsoft.com/office/drawing/2014/main" id="{0F086AF0-12F7-17D9-0367-651105D3ECEC}"/>
              </a:ext>
            </a:extLst>
          </p:cNvPr>
          <p:cNvSpPr/>
          <p:nvPr/>
        </p:nvSpPr>
        <p:spPr>
          <a:xfrm>
            <a:off x="3090672" y="2322576"/>
            <a:ext cx="2615184" cy="384048"/>
          </a:xfrm>
          <a:prstGeom prst="rect">
            <a:avLst/>
          </a:prstGeom>
          <a:noFill/>
          <a:ln/>
        </p:spPr>
        <p:txBody>
          <a:bodyPr wrap="square" lIns="0" tIns="0" rIns="0" bIns="0" rtlCol="0" anchor="ctr">
            <a:normAutofit/>
          </a:bodyPr>
          <a:lstStyle/>
          <a:p>
            <a:pPr marL="0" indent="0" algn="ctr">
              <a:buNone/>
            </a:pPr>
            <a:r>
              <a:rPr lang="en-US" sz="1200" b="1" dirty="0">
                <a:solidFill>
                  <a:srgbClr val="0A5AA0"/>
                </a:solidFill>
                <a:latin typeface="Arial" pitchFamily="34" charset="0"/>
                <a:ea typeface="Arial" pitchFamily="34" charset="-122"/>
                <a:cs typeface="Arial" pitchFamily="34" charset="-120"/>
              </a:rPr>
              <a:t>AscendGemma4ForConditional</a:t>
            </a:r>
            <a:endParaRPr lang="en-US" sz="1200" dirty="0"/>
          </a:p>
          <a:p>
            <a:pPr marL="0" indent="0" algn="ctr">
              <a:buNone/>
            </a:pPr>
            <a:r>
              <a:rPr lang="en-US" sz="1200" b="1" dirty="0">
                <a:solidFill>
                  <a:srgbClr val="0A5AA0"/>
                </a:solidFill>
                <a:latin typeface="Arial" pitchFamily="34" charset="0"/>
                <a:ea typeface="Arial" pitchFamily="34" charset="-122"/>
                <a:cs typeface="Arial" pitchFamily="34" charset="-120"/>
              </a:rPr>
              <a:t>Generation</a:t>
            </a:r>
            <a:endParaRPr lang="en-US" sz="1200" dirty="0"/>
          </a:p>
        </p:txBody>
      </p:sp>
      <p:sp>
        <p:nvSpPr>
          <p:cNvPr id="93" name="Shape 21">
            <a:extLst>
              <a:ext uri="{FF2B5EF4-FFF2-40B4-BE49-F238E27FC236}">
                <a16:creationId xmlns:a16="http://schemas.microsoft.com/office/drawing/2014/main" id="{5C40C6A4-B5F1-7D6E-4636-757FA73B9D1F}"/>
              </a:ext>
            </a:extLst>
          </p:cNvPr>
          <p:cNvSpPr/>
          <p:nvPr/>
        </p:nvSpPr>
        <p:spPr>
          <a:xfrm>
            <a:off x="3127248" y="2761488"/>
            <a:ext cx="2560320" cy="585216"/>
          </a:xfrm>
          <a:prstGeom prst="roundRect">
            <a:avLst/>
          </a:prstGeom>
          <a:solidFill>
            <a:srgbClr val="EAF4FF"/>
          </a:solidFill>
          <a:ln w="12700">
            <a:solidFill>
              <a:srgbClr val="EAF4FF"/>
            </a:solidFill>
            <a:prstDash val="solid"/>
          </a:ln>
        </p:spPr>
      </p:sp>
      <p:sp>
        <p:nvSpPr>
          <p:cNvPr id="94" name="Text 22">
            <a:extLst>
              <a:ext uri="{FF2B5EF4-FFF2-40B4-BE49-F238E27FC236}">
                <a16:creationId xmlns:a16="http://schemas.microsoft.com/office/drawing/2014/main" id="{454269FC-9A7C-25E5-42C6-9136BBA9475D}"/>
              </a:ext>
            </a:extLst>
          </p:cNvPr>
          <p:cNvSpPr/>
          <p:nvPr/>
        </p:nvSpPr>
        <p:spPr>
          <a:xfrm>
            <a:off x="3197311" y="2788920"/>
            <a:ext cx="2359152" cy="201168"/>
          </a:xfrm>
          <a:prstGeom prst="rect">
            <a:avLst/>
          </a:prstGeom>
          <a:noFill/>
          <a:ln/>
        </p:spPr>
        <p:txBody>
          <a:bodyPr wrap="square" lIns="0" tIns="0" rIns="0" bIns="0" rtlCol="0" anchor="ctr">
            <a:normAutofit/>
          </a:bodyPr>
          <a:lstStyle/>
          <a:p>
            <a:pPr marL="0" indent="0" algn="l">
              <a:buNone/>
            </a:pPr>
            <a:r>
              <a:rPr lang="en-US" sz="1100" dirty="0">
                <a:solidFill>
                  <a:srgbClr val="657792"/>
                </a:solidFill>
                <a:latin typeface="Microsoft YaHei" pitchFamily="34" charset="0"/>
                <a:ea typeface="Microsoft YaHei" pitchFamily="34" charset="-122"/>
                <a:cs typeface="Microsoft YaHei" pitchFamily="34" charset="-120"/>
              </a:rPr>
              <a:t>路径 A · 多模态投影</a:t>
            </a:r>
            <a:endParaRPr lang="en-US" sz="1100" dirty="0"/>
          </a:p>
        </p:txBody>
      </p:sp>
      <p:sp>
        <p:nvSpPr>
          <p:cNvPr id="95" name="Text 23">
            <a:extLst>
              <a:ext uri="{FF2B5EF4-FFF2-40B4-BE49-F238E27FC236}">
                <a16:creationId xmlns:a16="http://schemas.microsoft.com/office/drawing/2014/main" id="{FEF82242-E155-EF36-5DE7-0D5F2F25A52A}"/>
              </a:ext>
            </a:extLst>
          </p:cNvPr>
          <p:cNvSpPr/>
          <p:nvPr/>
        </p:nvSpPr>
        <p:spPr>
          <a:xfrm>
            <a:off x="3186684" y="3031236"/>
            <a:ext cx="2537460" cy="246888"/>
          </a:xfrm>
          <a:prstGeom prst="rect">
            <a:avLst/>
          </a:prstGeom>
          <a:noFill/>
          <a:ln/>
        </p:spPr>
        <p:txBody>
          <a:bodyPr wrap="square" lIns="0" tIns="0" rIns="0" bIns="0" rtlCol="0" anchor="ctr">
            <a:normAutofit fontScale="77500" lnSpcReduction="20000"/>
          </a:bodyPr>
          <a:lstStyle/>
          <a:p>
            <a:pPr marL="0" indent="0" algn="l">
              <a:buNone/>
            </a:pPr>
            <a:r>
              <a:rPr lang="en-US" sz="1250" b="1">
                <a:solidFill>
                  <a:srgbClr val="172C49"/>
                </a:solidFill>
                <a:latin typeface="Microsoft YaHei" pitchFamily="34" charset="0"/>
                <a:ea typeface="Microsoft YaHei" pitchFamily="34" charset="-122"/>
                <a:cs typeface="Microsoft YaHei" pitchFamily="34" charset="-120"/>
              </a:rPr>
              <a:t>Gemma4 Multimodal Embedder </a:t>
            </a:r>
            <a:r>
              <a:rPr lang="en-US" sz="1250" b="1" dirty="0">
                <a:solidFill>
                  <a:srgbClr val="172C49"/>
                </a:solidFill>
                <a:latin typeface="Microsoft YaHei" pitchFamily="34" charset="0"/>
                <a:ea typeface="Microsoft YaHei" pitchFamily="34" charset="-122"/>
                <a:cs typeface="Microsoft YaHei" pitchFamily="34" charset="-120"/>
              </a:rPr>
              <a:t>→ ReplicatedLinear</a:t>
            </a:r>
            <a:endParaRPr lang="en-US" sz="1250" dirty="0"/>
          </a:p>
        </p:txBody>
      </p:sp>
      <p:sp>
        <p:nvSpPr>
          <p:cNvPr id="96" name="Shape 24">
            <a:extLst>
              <a:ext uri="{FF2B5EF4-FFF2-40B4-BE49-F238E27FC236}">
                <a16:creationId xmlns:a16="http://schemas.microsoft.com/office/drawing/2014/main" id="{EA4324B6-F51C-6240-4ED7-00C13C114D2D}"/>
              </a:ext>
            </a:extLst>
          </p:cNvPr>
          <p:cNvSpPr/>
          <p:nvPr/>
        </p:nvSpPr>
        <p:spPr>
          <a:xfrm>
            <a:off x="3127248" y="3428999"/>
            <a:ext cx="2560320" cy="690371"/>
          </a:xfrm>
          <a:prstGeom prst="roundRect">
            <a:avLst/>
          </a:prstGeom>
          <a:solidFill>
            <a:srgbClr val="F0F4F9"/>
          </a:solidFill>
          <a:ln w="12700">
            <a:solidFill>
              <a:srgbClr val="F0F4F9"/>
            </a:solidFill>
            <a:prstDash val="solid"/>
          </a:ln>
        </p:spPr>
        <p:txBody>
          <a:bodyPr/>
          <a:lstStyle/>
          <a:p>
            <a:endParaRPr lang="zh-CN" altLang="en-US"/>
          </a:p>
        </p:txBody>
      </p:sp>
      <p:sp>
        <p:nvSpPr>
          <p:cNvPr id="97" name="Text 25">
            <a:extLst>
              <a:ext uri="{FF2B5EF4-FFF2-40B4-BE49-F238E27FC236}">
                <a16:creationId xmlns:a16="http://schemas.microsoft.com/office/drawing/2014/main" id="{47A8B770-78C7-7121-C3B6-47B89B2DE66F}"/>
              </a:ext>
            </a:extLst>
          </p:cNvPr>
          <p:cNvSpPr/>
          <p:nvPr/>
        </p:nvSpPr>
        <p:spPr>
          <a:xfrm>
            <a:off x="3197311" y="3483864"/>
            <a:ext cx="2359152" cy="201168"/>
          </a:xfrm>
          <a:prstGeom prst="rect">
            <a:avLst/>
          </a:prstGeom>
          <a:noFill/>
          <a:ln/>
        </p:spPr>
        <p:txBody>
          <a:bodyPr wrap="square" lIns="0" tIns="0" rIns="0" bIns="0" rtlCol="0" anchor="ctr">
            <a:normAutofit/>
          </a:bodyPr>
          <a:lstStyle/>
          <a:p>
            <a:pPr marL="0" indent="0" algn="l">
              <a:buNone/>
            </a:pPr>
            <a:r>
              <a:rPr lang="en-US" sz="1100" dirty="0">
                <a:solidFill>
                  <a:srgbClr val="657792"/>
                </a:solidFill>
                <a:latin typeface="Microsoft YaHei" pitchFamily="34" charset="0"/>
                <a:ea typeface="Microsoft YaHei" pitchFamily="34" charset="-122"/>
                <a:cs typeface="Microsoft YaHei" pitchFamily="34" charset="-120"/>
              </a:rPr>
              <a:t>路径 B · ViT 层</a:t>
            </a:r>
            <a:endParaRPr lang="en-US" sz="1100" dirty="0"/>
          </a:p>
        </p:txBody>
      </p:sp>
      <p:sp>
        <p:nvSpPr>
          <p:cNvPr id="98" name="Text 26">
            <a:extLst>
              <a:ext uri="{FF2B5EF4-FFF2-40B4-BE49-F238E27FC236}">
                <a16:creationId xmlns:a16="http://schemas.microsoft.com/office/drawing/2014/main" id="{3DF2916F-5009-902B-245E-ADC761FA8CA8}"/>
              </a:ext>
            </a:extLst>
          </p:cNvPr>
          <p:cNvSpPr/>
          <p:nvPr/>
        </p:nvSpPr>
        <p:spPr>
          <a:xfrm>
            <a:off x="3227832" y="3730752"/>
            <a:ext cx="2359152" cy="246888"/>
          </a:xfrm>
          <a:prstGeom prst="rect">
            <a:avLst/>
          </a:prstGeom>
          <a:noFill/>
          <a:ln/>
        </p:spPr>
        <p:txBody>
          <a:bodyPr wrap="square" lIns="0" tIns="0" rIns="0" bIns="0" rtlCol="0" anchor="ctr">
            <a:normAutofit fontScale="77500" lnSpcReduction="20000"/>
          </a:bodyPr>
          <a:lstStyle/>
          <a:p>
            <a:pPr marL="0" indent="0" algn="l">
              <a:buNone/>
            </a:pPr>
            <a:r>
              <a:rPr lang="en-US" sz="1250" b="1" dirty="0">
                <a:solidFill>
                  <a:srgbClr val="172C49"/>
                </a:solidFill>
                <a:latin typeface="Microsoft YaHei" pitchFamily="34" charset="0"/>
                <a:ea typeface="Microsoft YaHei" pitchFamily="34" charset="-122"/>
                <a:cs typeface="Microsoft YaHei" pitchFamily="34" charset="-120"/>
              </a:rPr>
              <a:t>vision_tower → recursive_replace_linear()</a:t>
            </a:r>
            <a:endParaRPr lang="en-US" sz="1250" dirty="0"/>
          </a:p>
        </p:txBody>
      </p:sp>
      <p:sp>
        <p:nvSpPr>
          <p:cNvPr id="99" name="Shape 27">
            <a:extLst>
              <a:ext uri="{FF2B5EF4-FFF2-40B4-BE49-F238E27FC236}">
                <a16:creationId xmlns:a16="http://schemas.microsoft.com/office/drawing/2014/main" id="{955D1E9E-F846-5338-A31B-FFCC606ADAB0}"/>
              </a:ext>
            </a:extLst>
          </p:cNvPr>
          <p:cNvSpPr/>
          <p:nvPr/>
        </p:nvSpPr>
        <p:spPr>
          <a:xfrm>
            <a:off x="6108192" y="1645920"/>
            <a:ext cx="2560320" cy="2587752"/>
          </a:xfrm>
          <a:prstGeom prst="roundRect">
            <a:avLst/>
          </a:prstGeom>
          <a:solidFill>
            <a:srgbClr val="FFFFFF"/>
          </a:solidFill>
          <a:ln w="12700">
            <a:solidFill>
              <a:srgbClr val="D9E3EF"/>
            </a:solidFill>
            <a:prstDash val="solid"/>
          </a:ln>
        </p:spPr>
      </p:sp>
      <p:sp>
        <p:nvSpPr>
          <p:cNvPr id="100" name="Shape 28">
            <a:extLst>
              <a:ext uri="{FF2B5EF4-FFF2-40B4-BE49-F238E27FC236}">
                <a16:creationId xmlns:a16="http://schemas.microsoft.com/office/drawing/2014/main" id="{2B684E81-AEF6-982A-D39D-6E74818AE671}"/>
              </a:ext>
            </a:extLst>
          </p:cNvPr>
          <p:cNvSpPr/>
          <p:nvPr/>
        </p:nvSpPr>
        <p:spPr>
          <a:xfrm>
            <a:off x="6254496" y="1810512"/>
            <a:ext cx="438912" cy="320040"/>
          </a:xfrm>
          <a:prstGeom prst="roundRect">
            <a:avLst/>
          </a:prstGeom>
          <a:solidFill>
            <a:srgbClr val="1675C6"/>
          </a:solidFill>
          <a:ln w="12700">
            <a:solidFill>
              <a:srgbClr val="1675C6"/>
            </a:solidFill>
            <a:prstDash val="solid"/>
          </a:ln>
        </p:spPr>
      </p:sp>
      <p:sp>
        <p:nvSpPr>
          <p:cNvPr id="101" name="Text 29">
            <a:extLst>
              <a:ext uri="{FF2B5EF4-FFF2-40B4-BE49-F238E27FC236}">
                <a16:creationId xmlns:a16="http://schemas.microsoft.com/office/drawing/2014/main" id="{DF5DE8D5-0C64-3350-897C-B39F038A71C9}"/>
              </a:ext>
            </a:extLst>
          </p:cNvPr>
          <p:cNvSpPr/>
          <p:nvPr/>
        </p:nvSpPr>
        <p:spPr>
          <a:xfrm>
            <a:off x="6254496" y="1819656"/>
            <a:ext cx="438912"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Microsoft YaHei" pitchFamily="34" charset="0"/>
                <a:ea typeface="Microsoft YaHei" pitchFamily="34" charset="-122"/>
                <a:cs typeface="Microsoft YaHei" pitchFamily="34" charset="-120"/>
              </a:rPr>
              <a:t>03</a:t>
            </a:r>
            <a:endParaRPr lang="en-US" sz="1300" dirty="0"/>
          </a:p>
        </p:txBody>
      </p:sp>
      <p:sp>
        <p:nvSpPr>
          <p:cNvPr id="102" name="Text 30">
            <a:extLst>
              <a:ext uri="{FF2B5EF4-FFF2-40B4-BE49-F238E27FC236}">
                <a16:creationId xmlns:a16="http://schemas.microsoft.com/office/drawing/2014/main" id="{239DFC05-37C5-1518-AB76-3BF9ABF9B696}"/>
              </a:ext>
            </a:extLst>
          </p:cNvPr>
          <p:cNvSpPr/>
          <p:nvPr/>
        </p:nvSpPr>
        <p:spPr>
          <a:xfrm>
            <a:off x="6803136" y="1819656"/>
            <a:ext cx="1719072" cy="301752"/>
          </a:xfrm>
          <a:prstGeom prst="rect">
            <a:avLst/>
          </a:prstGeom>
          <a:noFill/>
          <a:ln/>
        </p:spPr>
        <p:txBody>
          <a:bodyPr wrap="square" lIns="0" tIns="0" rIns="0" bIns="0" rtlCol="0" anchor="ctr">
            <a:normAutofit/>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vLLM Linear 抽象</a:t>
            </a:r>
            <a:endParaRPr lang="en-US" sz="1500" dirty="0"/>
          </a:p>
        </p:txBody>
      </p:sp>
      <p:sp>
        <p:nvSpPr>
          <p:cNvPr id="103" name="Shape 31">
            <a:extLst>
              <a:ext uri="{FF2B5EF4-FFF2-40B4-BE49-F238E27FC236}">
                <a16:creationId xmlns:a16="http://schemas.microsoft.com/office/drawing/2014/main" id="{E718F25E-362F-FB92-DD41-17C3BA0C1D0A}"/>
              </a:ext>
            </a:extLst>
          </p:cNvPr>
          <p:cNvSpPr/>
          <p:nvPr/>
        </p:nvSpPr>
        <p:spPr>
          <a:xfrm>
            <a:off x="6272784" y="2258568"/>
            <a:ext cx="2231136" cy="0"/>
          </a:xfrm>
          <a:prstGeom prst="line">
            <a:avLst/>
          </a:prstGeom>
          <a:solidFill>
            <a:srgbClr val="FFFFFF">
              <a:alpha val="0"/>
            </a:srgbClr>
          </a:solidFill>
          <a:ln w="12700">
            <a:solidFill>
              <a:srgbClr val="D9E3EF"/>
            </a:solidFill>
            <a:prstDash val="solid"/>
          </a:ln>
        </p:spPr>
      </p:sp>
      <p:sp>
        <p:nvSpPr>
          <p:cNvPr id="104" name="Shape 32">
            <a:extLst>
              <a:ext uri="{FF2B5EF4-FFF2-40B4-BE49-F238E27FC236}">
                <a16:creationId xmlns:a16="http://schemas.microsoft.com/office/drawing/2014/main" id="{0611BA82-1C19-97EB-9BA7-E3ED9E6081C4}"/>
              </a:ext>
            </a:extLst>
          </p:cNvPr>
          <p:cNvSpPr/>
          <p:nvPr/>
        </p:nvSpPr>
        <p:spPr>
          <a:xfrm>
            <a:off x="6300216" y="2404872"/>
            <a:ext cx="2176272" cy="685800"/>
          </a:xfrm>
          <a:prstGeom prst="roundRect">
            <a:avLst/>
          </a:prstGeom>
          <a:solidFill>
            <a:srgbClr val="F0F4F9"/>
          </a:solidFill>
          <a:ln w="12700">
            <a:solidFill>
              <a:srgbClr val="F0F4F9"/>
            </a:solidFill>
            <a:prstDash val="solid"/>
          </a:ln>
        </p:spPr>
      </p:sp>
      <p:sp>
        <p:nvSpPr>
          <p:cNvPr id="105" name="Text 33">
            <a:extLst>
              <a:ext uri="{FF2B5EF4-FFF2-40B4-BE49-F238E27FC236}">
                <a16:creationId xmlns:a16="http://schemas.microsoft.com/office/drawing/2014/main" id="{EF2AAD96-EAF3-A05F-8A4F-5FFA601E1A48}"/>
              </a:ext>
            </a:extLst>
          </p:cNvPr>
          <p:cNvSpPr/>
          <p:nvPr/>
        </p:nvSpPr>
        <p:spPr>
          <a:xfrm>
            <a:off x="6400800" y="2496312"/>
            <a:ext cx="1975104" cy="201168"/>
          </a:xfrm>
          <a:prstGeom prst="rect">
            <a:avLst/>
          </a:prstGeom>
          <a:noFill/>
          <a:ln/>
        </p:spPr>
        <p:txBody>
          <a:bodyPr wrap="square" lIns="0" tIns="0" rIns="0" bIns="0" rtlCol="0" anchor="ctr">
            <a:normAutofit/>
          </a:bodyPr>
          <a:lstStyle/>
          <a:p>
            <a:pPr marL="0" indent="0" algn="l">
              <a:buNone/>
            </a:pPr>
            <a:r>
              <a:rPr lang="en-US" sz="1100" dirty="0">
                <a:solidFill>
                  <a:srgbClr val="657792"/>
                </a:solidFill>
                <a:latin typeface="Microsoft YaHei" pitchFamily="34" charset="0"/>
                <a:ea typeface="Microsoft YaHei" pitchFamily="34" charset="-122"/>
                <a:cs typeface="Microsoft YaHei" pitchFamily="34" charset="-120"/>
              </a:rPr>
              <a:t>层对象</a:t>
            </a:r>
            <a:endParaRPr lang="en-US" sz="1100" dirty="0"/>
          </a:p>
        </p:txBody>
      </p:sp>
      <p:sp>
        <p:nvSpPr>
          <p:cNvPr id="106" name="Text 34">
            <a:extLst>
              <a:ext uri="{FF2B5EF4-FFF2-40B4-BE49-F238E27FC236}">
                <a16:creationId xmlns:a16="http://schemas.microsoft.com/office/drawing/2014/main" id="{FD8665DE-4429-B0C9-3373-9BD21454498A}"/>
              </a:ext>
            </a:extLst>
          </p:cNvPr>
          <p:cNvSpPr/>
          <p:nvPr/>
        </p:nvSpPr>
        <p:spPr>
          <a:xfrm>
            <a:off x="6400800" y="2706624"/>
            <a:ext cx="1975104" cy="347472"/>
          </a:xfrm>
          <a:prstGeom prst="rect">
            <a:avLst/>
          </a:prstGeom>
          <a:noFill/>
          <a:ln/>
        </p:spPr>
        <p:txBody>
          <a:bodyPr wrap="square" lIns="0" tIns="0" rIns="0" bIns="0" rtlCol="0" anchor="ctr">
            <a:normAutofit lnSpcReduction="10000"/>
          </a:bodyPr>
          <a:lstStyle/>
          <a:p>
            <a:pPr marL="0" indent="0" algn="l">
              <a:buNone/>
            </a:pPr>
            <a:r>
              <a:rPr lang="en-US" sz="1250" b="1" dirty="0">
                <a:solidFill>
                  <a:srgbClr val="172C49"/>
                </a:solidFill>
                <a:latin typeface="Microsoft YaHei" pitchFamily="34" charset="0"/>
                <a:ea typeface="Microsoft YaHei" pitchFamily="34" charset="-122"/>
                <a:cs typeface="Microsoft YaHei" pitchFamily="34" charset="-120"/>
              </a:rPr>
              <a:t>ReplicatedLinear / LinearBase</a:t>
            </a:r>
            <a:endParaRPr lang="en-US" sz="1250" dirty="0"/>
          </a:p>
        </p:txBody>
      </p:sp>
      <p:sp>
        <p:nvSpPr>
          <p:cNvPr id="107" name="Shape 35">
            <a:extLst>
              <a:ext uri="{FF2B5EF4-FFF2-40B4-BE49-F238E27FC236}">
                <a16:creationId xmlns:a16="http://schemas.microsoft.com/office/drawing/2014/main" id="{3C96164C-F109-7CD4-AA3D-63CC68B34C66}"/>
              </a:ext>
            </a:extLst>
          </p:cNvPr>
          <p:cNvSpPr/>
          <p:nvPr/>
        </p:nvSpPr>
        <p:spPr>
          <a:xfrm>
            <a:off x="7388352" y="3108960"/>
            <a:ext cx="0" cy="256032"/>
          </a:xfrm>
          <a:prstGeom prst="line">
            <a:avLst/>
          </a:prstGeom>
          <a:solidFill>
            <a:srgbClr val="FFFFFF">
              <a:alpha val="0"/>
            </a:srgbClr>
          </a:solidFill>
          <a:ln w="12700">
            <a:solidFill>
              <a:srgbClr val="1675C6"/>
            </a:solidFill>
            <a:prstDash val="solid"/>
          </a:ln>
        </p:spPr>
      </p:sp>
      <p:sp>
        <p:nvSpPr>
          <p:cNvPr id="108" name="Shape 36">
            <a:extLst>
              <a:ext uri="{FF2B5EF4-FFF2-40B4-BE49-F238E27FC236}">
                <a16:creationId xmlns:a16="http://schemas.microsoft.com/office/drawing/2014/main" id="{453E89A9-CDD4-1FBB-53AE-CFF245720F02}"/>
              </a:ext>
            </a:extLst>
          </p:cNvPr>
          <p:cNvSpPr/>
          <p:nvPr/>
        </p:nvSpPr>
        <p:spPr>
          <a:xfrm>
            <a:off x="6300216" y="3401568"/>
            <a:ext cx="2176272" cy="521208"/>
          </a:xfrm>
          <a:prstGeom prst="roundRect">
            <a:avLst/>
          </a:prstGeom>
          <a:solidFill>
            <a:srgbClr val="EAF4FF"/>
          </a:solidFill>
          <a:ln w="12700">
            <a:solidFill>
              <a:srgbClr val="EAF4FF"/>
            </a:solidFill>
            <a:prstDash val="solid"/>
          </a:ln>
        </p:spPr>
      </p:sp>
      <p:sp>
        <p:nvSpPr>
          <p:cNvPr id="109" name="Text 37">
            <a:extLst>
              <a:ext uri="{FF2B5EF4-FFF2-40B4-BE49-F238E27FC236}">
                <a16:creationId xmlns:a16="http://schemas.microsoft.com/office/drawing/2014/main" id="{A0DD9CDA-87F3-07D4-5AD1-53C92D962D11}"/>
              </a:ext>
            </a:extLst>
          </p:cNvPr>
          <p:cNvSpPr/>
          <p:nvPr/>
        </p:nvSpPr>
        <p:spPr>
          <a:xfrm>
            <a:off x="6409944" y="3447288"/>
            <a:ext cx="1956816" cy="411480"/>
          </a:xfrm>
          <a:prstGeom prst="rect">
            <a:avLst/>
          </a:prstGeom>
          <a:noFill/>
          <a:ln/>
        </p:spPr>
        <p:txBody>
          <a:bodyPr wrap="square" lIns="0" tIns="0" rIns="0" bIns="0" rtlCol="0" anchor="ctr">
            <a:normAutofit/>
          </a:bodyPr>
          <a:lstStyle/>
          <a:p>
            <a:pPr marL="0" indent="0" algn="ctr">
              <a:buNone/>
            </a:pPr>
            <a:r>
              <a:rPr lang="en-US" sz="1300" b="1" dirty="0">
                <a:solidFill>
                  <a:srgbClr val="0A5AA0"/>
                </a:solidFill>
                <a:latin typeface="Arial" pitchFamily="34" charset="0"/>
                <a:ea typeface="Arial" pitchFamily="34" charset="-122"/>
                <a:cs typeface="Arial" pitchFamily="34" charset="-120"/>
              </a:rPr>
              <a:t>get_quant_method</a:t>
            </a:r>
            <a:endParaRPr lang="en-US" sz="1300" dirty="0"/>
          </a:p>
          <a:p>
            <a:pPr marL="0" indent="0" algn="ctr">
              <a:buNone/>
            </a:pPr>
            <a:r>
              <a:rPr lang="en-US" sz="1300" b="1" dirty="0">
                <a:solidFill>
                  <a:srgbClr val="0A5AA0"/>
                </a:solidFill>
                <a:latin typeface="Arial" pitchFamily="34" charset="0"/>
                <a:ea typeface="Arial" pitchFamily="34" charset="-122"/>
                <a:cs typeface="Arial" pitchFamily="34" charset="-120"/>
              </a:rPr>
              <a:t>(layer, prefix)</a:t>
            </a:r>
            <a:endParaRPr lang="en-US" sz="1300" dirty="0"/>
          </a:p>
        </p:txBody>
      </p:sp>
      <p:sp>
        <p:nvSpPr>
          <p:cNvPr id="110" name="Shape 38">
            <a:extLst>
              <a:ext uri="{FF2B5EF4-FFF2-40B4-BE49-F238E27FC236}">
                <a16:creationId xmlns:a16="http://schemas.microsoft.com/office/drawing/2014/main" id="{3B813E2E-C04E-3CED-917D-73A10F2D64E1}"/>
              </a:ext>
            </a:extLst>
          </p:cNvPr>
          <p:cNvSpPr/>
          <p:nvPr/>
        </p:nvSpPr>
        <p:spPr>
          <a:xfrm>
            <a:off x="8887968" y="1645920"/>
            <a:ext cx="2788920" cy="2587752"/>
          </a:xfrm>
          <a:prstGeom prst="roundRect">
            <a:avLst/>
          </a:prstGeom>
          <a:solidFill>
            <a:srgbClr val="FFFFFF"/>
          </a:solidFill>
          <a:ln w="12700">
            <a:solidFill>
              <a:srgbClr val="D9E3EF"/>
            </a:solidFill>
            <a:prstDash val="solid"/>
          </a:ln>
        </p:spPr>
      </p:sp>
      <p:sp>
        <p:nvSpPr>
          <p:cNvPr id="111" name="Shape 39">
            <a:extLst>
              <a:ext uri="{FF2B5EF4-FFF2-40B4-BE49-F238E27FC236}">
                <a16:creationId xmlns:a16="http://schemas.microsoft.com/office/drawing/2014/main" id="{17286128-CAA3-AE7D-6105-27391448E53D}"/>
              </a:ext>
            </a:extLst>
          </p:cNvPr>
          <p:cNvSpPr/>
          <p:nvPr/>
        </p:nvSpPr>
        <p:spPr>
          <a:xfrm>
            <a:off x="9034272" y="1810512"/>
            <a:ext cx="438912" cy="320040"/>
          </a:xfrm>
          <a:prstGeom prst="roundRect">
            <a:avLst/>
          </a:prstGeom>
          <a:solidFill>
            <a:srgbClr val="16794F"/>
          </a:solidFill>
          <a:ln w="12700">
            <a:solidFill>
              <a:srgbClr val="16794F"/>
            </a:solidFill>
            <a:prstDash val="solid"/>
          </a:ln>
        </p:spPr>
      </p:sp>
      <p:sp>
        <p:nvSpPr>
          <p:cNvPr id="112" name="Text 40">
            <a:extLst>
              <a:ext uri="{FF2B5EF4-FFF2-40B4-BE49-F238E27FC236}">
                <a16:creationId xmlns:a16="http://schemas.microsoft.com/office/drawing/2014/main" id="{51B449E3-47A0-E5A4-152D-5232E0C7D5F1}"/>
              </a:ext>
            </a:extLst>
          </p:cNvPr>
          <p:cNvSpPr/>
          <p:nvPr/>
        </p:nvSpPr>
        <p:spPr>
          <a:xfrm>
            <a:off x="9034272" y="1819656"/>
            <a:ext cx="438912"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Microsoft YaHei" pitchFamily="34" charset="0"/>
                <a:ea typeface="Microsoft YaHei" pitchFamily="34" charset="-122"/>
                <a:cs typeface="Microsoft YaHei" pitchFamily="34" charset="-120"/>
              </a:rPr>
              <a:t>04</a:t>
            </a:r>
            <a:endParaRPr lang="en-US" sz="1300" dirty="0"/>
          </a:p>
        </p:txBody>
      </p:sp>
      <p:sp>
        <p:nvSpPr>
          <p:cNvPr id="113" name="Text 41">
            <a:extLst>
              <a:ext uri="{FF2B5EF4-FFF2-40B4-BE49-F238E27FC236}">
                <a16:creationId xmlns:a16="http://schemas.microsoft.com/office/drawing/2014/main" id="{EB98FECC-488A-47C7-282D-BA35167B0B78}"/>
              </a:ext>
            </a:extLst>
          </p:cNvPr>
          <p:cNvSpPr/>
          <p:nvPr/>
        </p:nvSpPr>
        <p:spPr>
          <a:xfrm>
            <a:off x="9582912" y="1819656"/>
            <a:ext cx="1947672" cy="301752"/>
          </a:xfrm>
          <a:prstGeom prst="rect">
            <a:avLst/>
          </a:prstGeom>
          <a:noFill/>
          <a:ln/>
        </p:spPr>
        <p:txBody>
          <a:bodyPr wrap="square" lIns="0" tIns="0" rIns="0" bIns="0" rtlCol="0" anchor="ctr">
            <a:normAutofit/>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Ascend 量化方法实现</a:t>
            </a:r>
            <a:endParaRPr lang="en-US" sz="1500" dirty="0"/>
          </a:p>
        </p:txBody>
      </p:sp>
      <p:sp>
        <p:nvSpPr>
          <p:cNvPr id="114" name="Shape 42">
            <a:extLst>
              <a:ext uri="{FF2B5EF4-FFF2-40B4-BE49-F238E27FC236}">
                <a16:creationId xmlns:a16="http://schemas.microsoft.com/office/drawing/2014/main" id="{B14FFA63-010D-EC1F-B306-D08AD40B8A29}"/>
              </a:ext>
            </a:extLst>
          </p:cNvPr>
          <p:cNvSpPr/>
          <p:nvPr/>
        </p:nvSpPr>
        <p:spPr>
          <a:xfrm>
            <a:off x="9052560" y="2258568"/>
            <a:ext cx="2459736" cy="0"/>
          </a:xfrm>
          <a:prstGeom prst="line">
            <a:avLst/>
          </a:prstGeom>
          <a:solidFill>
            <a:srgbClr val="FFFFFF">
              <a:alpha val="0"/>
            </a:srgbClr>
          </a:solidFill>
          <a:ln w="12700">
            <a:solidFill>
              <a:srgbClr val="D9E3EF"/>
            </a:solidFill>
            <a:prstDash val="solid"/>
          </a:ln>
        </p:spPr>
      </p:sp>
      <p:sp>
        <p:nvSpPr>
          <p:cNvPr id="115" name="Shape 43">
            <a:extLst>
              <a:ext uri="{FF2B5EF4-FFF2-40B4-BE49-F238E27FC236}">
                <a16:creationId xmlns:a16="http://schemas.microsoft.com/office/drawing/2014/main" id="{BB332CE5-8C76-2016-FD13-F905DDDB06CB}"/>
              </a:ext>
            </a:extLst>
          </p:cNvPr>
          <p:cNvSpPr/>
          <p:nvPr/>
        </p:nvSpPr>
        <p:spPr>
          <a:xfrm>
            <a:off x="9079992" y="2414016"/>
            <a:ext cx="2414016" cy="521208"/>
          </a:xfrm>
          <a:prstGeom prst="roundRect">
            <a:avLst/>
          </a:prstGeom>
          <a:solidFill>
            <a:srgbClr val="F0F4F9"/>
          </a:solidFill>
          <a:ln w="12700">
            <a:solidFill>
              <a:srgbClr val="F0F4F9"/>
            </a:solidFill>
            <a:prstDash val="solid"/>
          </a:ln>
        </p:spPr>
      </p:sp>
      <p:sp>
        <p:nvSpPr>
          <p:cNvPr id="116" name="Text 44">
            <a:extLst>
              <a:ext uri="{FF2B5EF4-FFF2-40B4-BE49-F238E27FC236}">
                <a16:creationId xmlns:a16="http://schemas.microsoft.com/office/drawing/2014/main" id="{82EE2660-DD88-1D04-381E-0BD8D9E12DE3}"/>
              </a:ext>
            </a:extLst>
          </p:cNvPr>
          <p:cNvSpPr/>
          <p:nvPr/>
        </p:nvSpPr>
        <p:spPr>
          <a:xfrm>
            <a:off x="9198864" y="2532888"/>
            <a:ext cx="2176272" cy="283464"/>
          </a:xfrm>
          <a:prstGeom prst="rect">
            <a:avLst/>
          </a:prstGeom>
          <a:noFill/>
          <a:ln/>
        </p:spPr>
        <p:txBody>
          <a:bodyPr wrap="square" lIns="0" tIns="0" rIns="0" bIns="0" rtlCol="0" anchor="ctr">
            <a:normAutofit/>
          </a:bodyPr>
          <a:lstStyle/>
          <a:p>
            <a:pPr marL="0" indent="0" algn="ctr">
              <a:buNone/>
            </a:pPr>
            <a:r>
              <a:rPr lang="en-US" sz="1500" b="1" dirty="0">
                <a:solidFill>
                  <a:srgbClr val="172C49"/>
                </a:solidFill>
                <a:latin typeface="Arial" pitchFamily="34" charset="0"/>
                <a:ea typeface="Arial" pitchFamily="34" charset="-122"/>
                <a:cs typeface="Arial" pitchFamily="34" charset="-120"/>
              </a:rPr>
              <a:t>AscendLinearMethod</a:t>
            </a:r>
            <a:endParaRPr lang="en-US" sz="1500" dirty="0"/>
          </a:p>
        </p:txBody>
      </p:sp>
      <p:sp>
        <p:nvSpPr>
          <p:cNvPr id="117" name="Text 45">
            <a:extLst>
              <a:ext uri="{FF2B5EF4-FFF2-40B4-BE49-F238E27FC236}">
                <a16:creationId xmlns:a16="http://schemas.microsoft.com/office/drawing/2014/main" id="{5BE65EB8-EEE2-58FC-7E80-CE8B0A9002CE}"/>
              </a:ext>
            </a:extLst>
          </p:cNvPr>
          <p:cNvSpPr/>
          <p:nvPr/>
        </p:nvSpPr>
        <p:spPr>
          <a:xfrm>
            <a:off x="9125712" y="3008376"/>
            <a:ext cx="2304288" cy="237744"/>
          </a:xfrm>
          <a:prstGeom prst="rect">
            <a:avLst/>
          </a:prstGeom>
          <a:noFill/>
          <a:ln/>
        </p:spPr>
        <p:txBody>
          <a:bodyPr wrap="square" lIns="0" tIns="0" rIns="0" bIns="0" rtlCol="0" anchor="ctr">
            <a:normAutofit/>
          </a:bodyPr>
          <a:lstStyle/>
          <a:p>
            <a:pPr marL="0" indent="0" algn="ctr">
              <a:buNone/>
            </a:pPr>
            <a:r>
              <a:rPr lang="en-US" sz="1100" dirty="0">
                <a:solidFill>
                  <a:srgbClr val="657792"/>
                </a:solidFill>
                <a:latin typeface="Microsoft YaHei" pitchFamily="34" charset="0"/>
                <a:ea typeface="Microsoft YaHei" pitchFamily="34" charset="-122"/>
                <a:cs typeface="Microsoft YaHei" pitchFamily="34" charset="-120"/>
              </a:rPr>
              <a:t>包装具体量化 scheme  ↘</a:t>
            </a:r>
            <a:endParaRPr lang="en-US" sz="1100" dirty="0"/>
          </a:p>
        </p:txBody>
      </p:sp>
      <p:sp>
        <p:nvSpPr>
          <p:cNvPr id="118" name="Shape 46">
            <a:extLst>
              <a:ext uri="{FF2B5EF4-FFF2-40B4-BE49-F238E27FC236}">
                <a16:creationId xmlns:a16="http://schemas.microsoft.com/office/drawing/2014/main" id="{17C2E598-1FA1-16E6-DA7A-8FC7ABD8ECE7}"/>
              </a:ext>
            </a:extLst>
          </p:cNvPr>
          <p:cNvSpPr/>
          <p:nvPr/>
        </p:nvSpPr>
        <p:spPr>
          <a:xfrm>
            <a:off x="9079992" y="3291840"/>
            <a:ext cx="2414016" cy="566928"/>
          </a:xfrm>
          <a:prstGeom prst="roundRect">
            <a:avLst/>
          </a:prstGeom>
          <a:solidFill>
            <a:srgbClr val="E8F8F0"/>
          </a:solidFill>
          <a:ln w="12700">
            <a:solidFill>
              <a:srgbClr val="E8F8F0"/>
            </a:solidFill>
            <a:prstDash val="solid"/>
          </a:ln>
        </p:spPr>
      </p:sp>
      <p:sp>
        <p:nvSpPr>
          <p:cNvPr id="119" name="Text 47">
            <a:extLst>
              <a:ext uri="{FF2B5EF4-FFF2-40B4-BE49-F238E27FC236}">
                <a16:creationId xmlns:a16="http://schemas.microsoft.com/office/drawing/2014/main" id="{5AC3630B-BC50-739A-8DF1-C87C3BA778D3}"/>
              </a:ext>
            </a:extLst>
          </p:cNvPr>
          <p:cNvSpPr/>
          <p:nvPr/>
        </p:nvSpPr>
        <p:spPr>
          <a:xfrm>
            <a:off x="9189720" y="3374136"/>
            <a:ext cx="2194560" cy="384048"/>
          </a:xfrm>
          <a:prstGeom prst="rect">
            <a:avLst/>
          </a:prstGeom>
          <a:noFill/>
          <a:ln/>
        </p:spPr>
        <p:txBody>
          <a:bodyPr wrap="square" lIns="0" tIns="0" rIns="0" bIns="0" rtlCol="0" anchor="ctr">
            <a:normAutofit lnSpcReduction="10000"/>
          </a:bodyPr>
          <a:lstStyle/>
          <a:p>
            <a:pPr marL="0" indent="0" algn="ctr">
              <a:buNone/>
            </a:pPr>
            <a:r>
              <a:rPr lang="en-US" sz="1400" b="1" dirty="0">
                <a:solidFill>
                  <a:srgbClr val="16794F"/>
                </a:solidFill>
                <a:latin typeface="Microsoft YaHei" pitchFamily="34" charset="0"/>
                <a:ea typeface="Microsoft YaHei" pitchFamily="34" charset="-122"/>
                <a:cs typeface="Microsoft YaHei" pitchFamily="34" charset="-120"/>
              </a:rPr>
              <a:t>W4A4 MXFP4 Dynamic</a:t>
            </a:r>
            <a:endParaRPr lang="en-US" sz="1400" dirty="0"/>
          </a:p>
          <a:p>
            <a:pPr marL="0" indent="0" algn="ctr">
              <a:buNone/>
            </a:pPr>
            <a:r>
              <a:rPr lang="en-US" sz="1400" b="1" dirty="0">
                <a:solidFill>
                  <a:srgbClr val="16794F"/>
                </a:solidFill>
                <a:latin typeface="Microsoft YaHei" pitchFamily="34" charset="0"/>
                <a:ea typeface="Microsoft YaHei" pitchFamily="34" charset="-122"/>
                <a:cs typeface="Microsoft YaHei" pitchFamily="34" charset="-120"/>
              </a:rPr>
              <a:t>LinearMethod</a:t>
            </a:r>
            <a:endParaRPr lang="en-US" sz="1400" dirty="0"/>
          </a:p>
        </p:txBody>
      </p:sp>
      <p:sp>
        <p:nvSpPr>
          <p:cNvPr id="120" name="Text 48">
            <a:extLst>
              <a:ext uri="{FF2B5EF4-FFF2-40B4-BE49-F238E27FC236}">
                <a16:creationId xmlns:a16="http://schemas.microsoft.com/office/drawing/2014/main" id="{6DCE7685-FEDC-2A56-E7AF-E64352B5FA2F}"/>
              </a:ext>
            </a:extLst>
          </p:cNvPr>
          <p:cNvSpPr/>
          <p:nvPr/>
        </p:nvSpPr>
        <p:spPr>
          <a:xfrm>
            <a:off x="2702052" y="2724912"/>
            <a:ext cx="256032" cy="438912"/>
          </a:xfrm>
          <a:prstGeom prst="rect">
            <a:avLst/>
          </a:prstGeom>
          <a:noFill/>
          <a:ln/>
        </p:spPr>
        <p:txBody>
          <a:bodyPr wrap="square" lIns="0" tIns="0" rIns="0" bIns="0" rtlCol="0" anchor="ctr">
            <a:normAutofit/>
          </a:bodyPr>
          <a:lstStyle/>
          <a:p>
            <a:pPr marL="0" indent="0" algn="ctr">
              <a:buNone/>
            </a:pPr>
            <a:r>
              <a:rPr lang="en-US" sz="2600" b="1" dirty="0">
                <a:solidFill>
                  <a:srgbClr val="1675C6"/>
                </a:solidFill>
                <a:latin typeface="Microsoft YaHei" pitchFamily="34" charset="0"/>
                <a:ea typeface="Microsoft YaHei" pitchFamily="34" charset="-122"/>
                <a:cs typeface="Microsoft YaHei" pitchFamily="34" charset="-120"/>
              </a:rPr>
              <a:t>→</a:t>
            </a:r>
            <a:endParaRPr lang="en-US" sz="2600" dirty="0"/>
          </a:p>
        </p:txBody>
      </p:sp>
      <p:sp>
        <p:nvSpPr>
          <p:cNvPr id="121" name="Text 49">
            <a:extLst>
              <a:ext uri="{FF2B5EF4-FFF2-40B4-BE49-F238E27FC236}">
                <a16:creationId xmlns:a16="http://schemas.microsoft.com/office/drawing/2014/main" id="{13A41F56-F18A-84F8-6F10-CEEB9D6D9D0C}"/>
              </a:ext>
            </a:extLst>
          </p:cNvPr>
          <p:cNvSpPr/>
          <p:nvPr/>
        </p:nvSpPr>
        <p:spPr>
          <a:xfrm>
            <a:off x="5893308" y="2724912"/>
            <a:ext cx="256032" cy="438912"/>
          </a:xfrm>
          <a:prstGeom prst="rect">
            <a:avLst/>
          </a:prstGeom>
          <a:noFill/>
          <a:ln/>
        </p:spPr>
        <p:txBody>
          <a:bodyPr wrap="square" lIns="0" tIns="0" rIns="0" bIns="0" rtlCol="0" anchor="ctr">
            <a:normAutofit/>
          </a:bodyPr>
          <a:lstStyle/>
          <a:p>
            <a:pPr marL="0" indent="0" algn="ctr">
              <a:buNone/>
            </a:pPr>
            <a:r>
              <a:rPr lang="en-US" sz="2600" b="1" dirty="0">
                <a:solidFill>
                  <a:srgbClr val="1675C6"/>
                </a:solidFill>
                <a:latin typeface="Microsoft YaHei" pitchFamily="34" charset="0"/>
                <a:ea typeface="Microsoft YaHei" pitchFamily="34" charset="-122"/>
                <a:cs typeface="Microsoft YaHei" pitchFamily="34" charset="-120"/>
              </a:rPr>
              <a:t>→</a:t>
            </a:r>
            <a:endParaRPr lang="en-US" sz="2600" dirty="0"/>
          </a:p>
        </p:txBody>
      </p:sp>
      <p:sp>
        <p:nvSpPr>
          <p:cNvPr id="122" name="Text 50">
            <a:extLst>
              <a:ext uri="{FF2B5EF4-FFF2-40B4-BE49-F238E27FC236}">
                <a16:creationId xmlns:a16="http://schemas.microsoft.com/office/drawing/2014/main" id="{2B27FA00-3FDD-FF18-BE1F-E3F06EECC896}"/>
              </a:ext>
            </a:extLst>
          </p:cNvPr>
          <p:cNvSpPr/>
          <p:nvPr/>
        </p:nvSpPr>
        <p:spPr>
          <a:xfrm>
            <a:off x="8654796" y="2724912"/>
            <a:ext cx="256032" cy="438912"/>
          </a:xfrm>
          <a:prstGeom prst="rect">
            <a:avLst/>
          </a:prstGeom>
          <a:noFill/>
          <a:ln/>
        </p:spPr>
        <p:txBody>
          <a:bodyPr wrap="square" lIns="0" tIns="0" rIns="0" bIns="0" rtlCol="0" anchor="ctr">
            <a:normAutofit/>
          </a:bodyPr>
          <a:lstStyle/>
          <a:p>
            <a:pPr marL="0" indent="0" algn="ctr">
              <a:buNone/>
            </a:pPr>
            <a:r>
              <a:rPr lang="en-US" sz="2600" b="1" dirty="0">
                <a:solidFill>
                  <a:srgbClr val="1675C6"/>
                </a:solidFill>
                <a:latin typeface="Microsoft YaHei" pitchFamily="34" charset="0"/>
                <a:ea typeface="Microsoft YaHei" pitchFamily="34" charset="-122"/>
                <a:cs typeface="Microsoft YaHei" pitchFamily="34" charset="-120"/>
              </a:rPr>
              <a:t>→</a:t>
            </a:r>
            <a:endParaRPr lang="en-US" sz="2600" dirty="0"/>
          </a:p>
        </p:txBody>
      </p:sp>
      <p:sp>
        <p:nvSpPr>
          <p:cNvPr id="123" name="Shape 51">
            <a:extLst>
              <a:ext uri="{FF2B5EF4-FFF2-40B4-BE49-F238E27FC236}">
                <a16:creationId xmlns:a16="http://schemas.microsoft.com/office/drawing/2014/main" id="{1B2EEA1B-B6DE-C8C4-E134-A565D65B9AAF}"/>
              </a:ext>
            </a:extLst>
          </p:cNvPr>
          <p:cNvSpPr/>
          <p:nvPr/>
        </p:nvSpPr>
        <p:spPr>
          <a:xfrm>
            <a:off x="512064" y="4498848"/>
            <a:ext cx="11155680" cy="457200"/>
          </a:xfrm>
          <a:prstGeom prst="roundRect">
            <a:avLst/>
          </a:prstGeom>
          <a:solidFill>
            <a:srgbClr val="172C49"/>
          </a:solidFill>
          <a:ln w="12700">
            <a:solidFill>
              <a:srgbClr val="172C49"/>
            </a:solidFill>
            <a:prstDash val="solid"/>
          </a:ln>
        </p:spPr>
        <p:txBody>
          <a:bodyPr/>
          <a:lstStyle/>
          <a:p>
            <a:endParaRPr lang="zh-CN" altLang="en-US"/>
          </a:p>
        </p:txBody>
      </p:sp>
      <p:sp>
        <p:nvSpPr>
          <p:cNvPr id="124" name="Text 52">
            <a:extLst>
              <a:ext uri="{FF2B5EF4-FFF2-40B4-BE49-F238E27FC236}">
                <a16:creationId xmlns:a16="http://schemas.microsoft.com/office/drawing/2014/main" id="{0C8B7229-7E8C-522D-0929-C0AB3CE9A523}"/>
              </a:ext>
            </a:extLst>
          </p:cNvPr>
          <p:cNvSpPr/>
          <p:nvPr/>
        </p:nvSpPr>
        <p:spPr>
          <a:xfrm>
            <a:off x="722376" y="4581144"/>
            <a:ext cx="1472184" cy="237744"/>
          </a:xfrm>
          <a:prstGeom prst="rect">
            <a:avLst/>
          </a:prstGeom>
          <a:noFill/>
          <a:ln/>
        </p:spPr>
        <p:txBody>
          <a:bodyPr wrap="square" lIns="0" tIns="0" rIns="0" bIns="0" rtlCol="0" anchor="ctr">
            <a:normAutofit/>
          </a:bodyPr>
          <a:lstStyle/>
          <a:p>
            <a:pPr marL="0" indent="0" algn="l">
              <a:buNone/>
            </a:pPr>
            <a:r>
              <a:rPr lang="en-US" sz="1200" b="1" dirty="0">
                <a:solidFill>
                  <a:srgbClr val="FFFFFF"/>
                </a:solidFill>
                <a:latin typeface="Microsoft YaHei" pitchFamily="34" charset="0"/>
                <a:ea typeface="Microsoft YaHei" pitchFamily="34" charset="-122"/>
                <a:cs typeface="Microsoft YaHei" pitchFamily="34" charset="-120"/>
              </a:rPr>
              <a:t>方法生命周期</a:t>
            </a:r>
            <a:endParaRPr lang="en-US" sz="1200" dirty="0"/>
          </a:p>
        </p:txBody>
      </p:sp>
      <p:sp>
        <p:nvSpPr>
          <p:cNvPr id="125" name="Text 53">
            <a:extLst>
              <a:ext uri="{FF2B5EF4-FFF2-40B4-BE49-F238E27FC236}">
                <a16:creationId xmlns:a16="http://schemas.microsoft.com/office/drawing/2014/main" id="{CB68E979-BAF0-5ABA-A943-598937319CBE}"/>
              </a:ext>
            </a:extLst>
          </p:cNvPr>
          <p:cNvSpPr/>
          <p:nvPr/>
        </p:nvSpPr>
        <p:spPr>
          <a:xfrm>
            <a:off x="2130552" y="4581144"/>
            <a:ext cx="2487168" cy="237744"/>
          </a:xfrm>
          <a:prstGeom prst="rect">
            <a:avLst/>
          </a:prstGeom>
          <a:noFill/>
          <a:ln/>
        </p:spPr>
        <p:txBody>
          <a:bodyPr wrap="square" lIns="0" tIns="0" rIns="0" bIns="0" rtlCol="0" anchor="ctr">
            <a:normAutofit/>
          </a:bodyPr>
          <a:lstStyle/>
          <a:p>
            <a:pPr marL="0" indent="0" algn="l">
              <a:buNone/>
            </a:pPr>
            <a:r>
              <a:rPr lang="en-US" sz="1200" dirty="0">
                <a:solidFill>
                  <a:srgbClr val="FFFFFF"/>
                </a:solidFill>
                <a:latin typeface="Arial" pitchFamily="34" charset="0"/>
                <a:ea typeface="Arial" pitchFamily="34" charset="-122"/>
                <a:cs typeface="Arial" pitchFamily="34" charset="-120"/>
              </a:rPr>
              <a:t>初始化：create_weights()</a:t>
            </a:r>
            <a:endParaRPr lang="en-US" sz="1200" dirty="0"/>
          </a:p>
        </p:txBody>
      </p:sp>
      <p:sp>
        <p:nvSpPr>
          <p:cNvPr id="126" name="Text 54">
            <a:extLst>
              <a:ext uri="{FF2B5EF4-FFF2-40B4-BE49-F238E27FC236}">
                <a16:creationId xmlns:a16="http://schemas.microsoft.com/office/drawing/2014/main" id="{DF09006B-D2C2-C925-DC0F-CAE793FA7DCD}"/>
              </a:ext>
            </a:extLst>
          </p:cNvPr>
          <p:cNvSpPr/>
          <p:nvPr/>
        </p:nvSpPr>
        <p:spPr>
          <a:xfrm>
            <a:off x="4791456" y="4581144"/>
            <a:ext cx="3730752" cy="237744"/>
          </a:xfrm>
          <a:prstGeom prst="rect">
            <a:avLst/>
          </a:prstGeom>
          <a:noFill/>
          <a:ln/>
        </p:spPr>
        <p:txBody>
          <a:bodyPr wrap="square" lIns="0" tIns="0" rIns="0" bIns="0" rtlCol="0" anchor="ctr">
            <a:normAutofit/>
          </a:bodyPr>
          <a:lstStyle/>
          <a:p>
            <a:pPr marL="0" indent="0" algn="l">
              <a:buNone/>
            </a:pPr>
            <a:r>
              <a:rPr lang="en-US" sz="1200" dirty="0">
                <a:solidFill>
                  <a:srgbClr val="FFFFFF"/>
                </a:solidFill>
                <a:latin typeface="Arial" pitchFamily="34" charset="0"/>
                <a:ea typeface="Arial" pitchFamily="34" charset="-122"/>
                <a:cs typeface="Arial" pitchFamily="34" charset="-120"/>
              </a:rPr>
              <a:t>加载后：process_weights_after_loading()</a:t>
            </a:r>
            <a:endParaRPr lang="en-US" sz="1200" dirty="0"/>
          </a:p>
        </p:txBody>
      </p:sp>
      <p:sp>
        <p:nvSpPr>
          <p:cNvPr id="127" name="Text 55">
            <a:extLst>
              <a:ext uri="{FF2B5EF4-FFF2-40B4-BE49-F238E27FC236}">
                <a16:creationId xmlns:a16="http://schemas.microsoft.com/office/drawing/2014/main" id="{5F992E2A-5FF6-47BE-4ABA-92E9DF2974FE}"/>
              </a:ext>
            </a:extLst>
          </p:cNvPr>
          <p:cNvSpPr/>
          <p:nvPr/>
        </p:nvSpPr>
        <p:spPr>
          <a:xfrm>
            <a:off x="8686800" y="4581144"/>
            <a:ext cx="2679192" cy="237744"/>
          </a:xfrm>
          <a:prstGeom prst="rect">
            <a:avLst/>
          </a:prstGeom>
          <a:noFill/>
          <a:ln/>
        </p:spPr>
        <p:txBody>
          <a:bodyPr wrap="square" lIns="0" tIns="0" rIns="0" bIns="0" rtlCol="0" anchor="ctr">
            <a:normAutofit/>
          </a:bodyPr>
          <a:lstStyle/>
          <a:p>
            <a:pPr marL="0" indent="0" algn="l">
              <a:buNone/>
            </a:pPr>
            <a:r>
              <a:rPr lang="en-US" sz="1200" dirty="0">
                <a:solidFill>
                  <a:srgbClr val="FFFFFF"/>
                </a:solidFill>
                <a:latin typeface="Arial" pitchFamily="34" charset="0"/>
                <a:ea typeface="Arial" pitchFamily="34" charset="-122"/>
                <a:cs typeface="Arial" pitchFamily="34" charset="-120"/>
              </a:rPr>
              <a:t>推理：forward() → apply()</a:t>
            </a:r>
            <a:endParaRPr lang="en-US" sz="1200" dirty="0"/>
          </a:p>
        </p:txBody>
      </p:sp>
      <p:sp>
        <p:nvSpPr>
          <p:cNvPr id="128" name="Text 56">
            <a:extLst>
              <a:ext uri="{FF2B5EF4-FFF2-40B4-BE49-F238E27FC236}">
                <a16:creationId xmlns:a16="http://schemas.microsoft.com/office/drawing/2014/main" id="{45B32FA8-7EC6-782B-6D33-6BD08439B0A2}"/>
              </a:ext>
            </a:extLst>
          </p:cNvPr>
          <p:cNvSpPr/>
          <p:nvPr/>
        </p:nvSpPr>
        <p:spPr>
          <a:xfrm>
            <a:off x="548640" y="5193792"/>
            <a:ext cx="2194560" cy="301752"/>
          </a:xfrm>
          <a:prstGeom prst="rect">
            <a:avLst/>
          </a:prstGeom>
          <a:noFill/>
          <a:ln/>
        </p:spPr>
        <p:txBody>
          <a:bodyPr wrap="square" lIns="0" tIns="0" rIns="0" bIns="0" rtlCol="0" anchor="ctr">
            <a:normAutofit/>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问题与修复</a:t>
            </a:r>
            <a:endParaRPr lang="en-US" sz="1500" dirty="0"/>
          </a:p>
        </p:txBody>
      </p:sp>
      <p:sp>
        <p:nvSpPr>
          <p:cNvPr id="129" name="Shape 57">
            <a:extLst>
              <a:ext uri="{FF2B5EF4-FFF2-40B4-BE49-F238E27FC236}">
                <a16:creationId xmlns:a16="http://schemas.microsoft.com/office/drawing/2014/main" id="{319A612A-355E-38A1-C8B8-CDD2C2092FBA}"/>
              </a:ext>
            </a:extLst>
          </p:cNvPr>
          <p:cNvSpPr/>
          <p:nvPr/>
        </p:nvSpPr>
        <p:spPr>
          <a:xfrm>
            <a:off x="521208" y="5550408"/>
            <a:ext cx="3511296" cy="749808"/>
          </a:xfrm>
          <a:prstGeom prst="roundRect">
            <a:avLst/>
          </a:prstGeom>
          <a:solidFill>
            <a:srgbClr val="FFF5E4"/>
          </a:solidFill>
          <a:ln w="12700">
            <a:solidFill>
              <a:srgbClr val="FFF5E4"/>
            </a:solidFill>
            <a:prstDash val="solid"/>
          </a:ln>
        </p:spPr>
        <p:txBody>
          <a:bodyPr/>
          <a:lstStyle/>
          <a:p>
            <a:endParaRPr lang="zh-CN" altLang="en-US"/>
          </a:p>
        </p:txBody>
      </p:sp>
      <p:sp>
        <p:nvSpPr>
          <p:cNvPr id="130" name="Text 58">
            <a:extLst>
              <a:ext uri="{FF2B5EF4-FFF2-40B4-BE49-F238E27FC236}">
                <a16:creationId xmlns:a16="http://schemas.microsoft.com/office/drawing/2014/main" id="{8C4B36BB-1BCE-74A5-27DB-25C38BA45CF5}"/>
              </a:ext>
            </a:extLst>
          </p:cNvPr>
          <p:cNvSpPr/>
          <p:nvPr/>
        </p:nvSpPr>
        <p:spPr>
          <a:xfrm>
            <a:off x="722376" y="5614416"/>
            <a:ext cx="3200400" cy="237744"/>
          </a:xfrm>
          <a:prstGeom prst="rect">
            <a:avLst/>
          </a:prstGeom>
          <a:noFill/>
          <a:ln/>
        </p:spPr>
        <p:txBody>
          <a:bodyPr wrap="square" lIns="0" tIns="0" rIns="0" bIns="0" rtlCol="0" anchor="ctr">
            <a:normAutofit/>
          </a:bodyPr>
          <a:lstStyle/>
          <a:p>
            <a:pPr marL="0" indent="0" algn="l">
              <a:buNone/>
            </a:pPr>
            <a:r>
              <a:rPr lang="en-US" sz="1200" b="1" dirty="0">
                <a:solidFill>
                  <a:srgbClr val="C17B1A"/>
                </a:solidFill>
                <a:latin typeface="Microsoft YaHei" pitchFamily="34" charset="0"/>
                <a:ea typeface="Microsoft YaHei" pitchFamily="34" charset="-122"/>
                <a:cs typeface="Microsoft YaHei" pitchFamily="34" charset="-120"/>
              </a:rPr>
              <a:t>问题：ViT intermediate_size = 4304</a:t>
            </a:r>
            <a:endParaRPr lang="en-US" sz="1200" dirty="0"/>
          </a:p>
        </p:txBody>
      </p:sp>
      <p:sp>
        <p:nvSpPr>
          <p:cNvPr id="131" name="Text 59">
            <a:extLst>
              <a:ext uri="{FF2B5EF4-FFF2-40B4-BE49-F238E27FC236}">
                <a16:creationId xmlns:a16="http://schemas.microsoft.com/office/drawing/2014/main" id="{F670C953-37C3-6413-FE33-B6296C7D5D47}"/>
              </a:ext>
            </a:extLst>
          </p:cNvPr>
          <p:cNvSpPr/>
          <p:nvPr/>
        </p:nvSpPr>
        <p:spPr>
          <a:xfrm>
            <a:off x="722376" y="5907024"/>
            <a:ext cx="3172968" cy="219456"/>
          </a:xfrm>
          <a:prstGeom prst="rect">
            <a:avLst/>
          </a:prstGeom>
          <a:noFill/>
          <a:ln/>
        </p:spPr>
        <p:txBody>
          <a:bodyPr wrap="square" lIns="0" tIns="0" rIns="0" bIns="0" rtlCol="0" anchor="ctr">
            <a:normAutofit/>
          </a:bodyPr>
          <a:lstStyle/>
          <a:p>
            <a:pPr marL="0" indent="0" algn="l">
              <a:buNone/>
            </a:pPr>
            <a:r>
              <a:rPr lang="en-US" sz="1100" dirty="0">
                <a:solidFill>
                  <a:srgbClr val="273B55"/>
                </a:solidFill>
                <a:latin typeface="Microsoft YaHei" pitchFamily="34" charset="0"/>
                <a:ea typeface="Microsoft YaHei" pitchFamily="34" charset="-122"/>
                <a:cs typeface="Microsoft YaHei" pitchFamily="34" charset="-120"/>
              </a:rPr>
              <a:t>非 64 对齐，旧判断可能跳过 Vision 量化</a:t>
            </a:r>
            <a:endParaRPr lang="en-US" sz="1100" dirty="0"/>
          </a:p>
        </p:txBody>
      </p:sp>
      <p:sp>
        <p:nvSpPr>
          <p:cNvPr id="132" name="Shape 60">
            <a:extLst>
              <a:ext uri="{FF2B5EF4-FFF2-40B4-BE49-F238E27FC236}">
                <a16:creationId xmlns:a16="http://schemas.microsoft.com/office/drawing/2014/main" id="{3A124647-D2BB-045E-4A14-B63C7822D746}"/>
              </a:ext>
            </a:extLst>
          </p:cNvPr>
          <p:cNvSpPr/>
          <p:nvPr/>
        </p:nvSpPr>
        <p:spPr>
          <a:xfrm>
            <a:off x="4206240" y="5550408"/>
            <a:ext cx="3712464" cy="749808"/>
          </a:xfrm>
          <a:prstGeom prst="roundRect">
            <a:avLst/>
          </a:prstGeom>
          <a:solidFill>
            <a:srgbClr val="EAF4FF"/>
          </a:solidFill>
          <a:ln w="12700">
            <a:solidFill>
              <a:srgbClr val="EAF4FF"/>
            </a:solidFill>
            <a:prstDash val="solid"/>
          </a:ln>
        </p:spPr>
      </p:sp>
      <p:sp>
        <p:nvSpPr>
          <p:cNvPr id="133" name="Text 61">
            <a:extLst>
              <a:ext uri="{FF2B5EF4-FFF2-40B4-BE49-F238E27FC236}">
                <a16:creationId xmlns:a16="http://schemas.microsoft.com/office/drawing/2014/main" id="{7372ABBD-5811-018E-9247-61FCCA4EEB0D}"/>
              </a:ext>
            </a:extLst>
          </p:cNvPr>
          <p:cNvSpPr/>
          <p:nvPr/>
        </p:nvSpPr>
        <p:spPr>
          <a:xfrm>
            <a:off x="4416552" y="5614416"/>
            <a:ext cx="3337560" cy="237744"/>
          </a:xfrm>
          <a:prstGeom prst="rect">
            <a:avLst/>
          </a:prstGeom>
          <a:noFill/>
          <a:ln/>
        </p:spPr>
        <p:txBody>
          <a:bodyPr wrap="square" lIns="0" tIns="0" rIns="0" bIns="0" rtlCol="0" anchor="ctr">
            <a:normAutofit/>
          </a:bodyPr>
          <a:lstStyle/>
          <a:p>
            <a:pPr marL="0" indent="0" algn="l">
              <a:buNone/>
            </a:pPr>
            <a:r>
              <a:rPr lang="en-US" sz="1200" b="1" dirty="0">
                <a:solidFill>
                  <a:srgbClr val="0A5AA0"/>
                </a:solidFill>
                <a:latin typeface="Microsoft YaHei" pitchFamily="34" charset="0"/>
                <a:ea typeface="Microsoft YaHei" pitchFamily="34" charset="-122"/>
                <a:cs typeface="Microsoft YaHei" pitchFamily="34" charset="-120"/>
              </a:rPr>
              <a:t>修复：向塔及投影层传递 quant_config</a:t>
            </a:r>
            <a:endParaRPr lang="en-US" sz="1200" dirty="0"/>
          </a:p>
        </p:txBody>
      </p:sp>
      <p:sp>
        <p:nvSpPr>
          <p:cNvPr id="134" name="Text 62">
            <a:extLst>
              <a:ext uri="{FF2B5EF4-FFF2-40B4-BE49-F238E27FC236}">
                <a16:creationId xmlns:a16="http://schemas.microsoft.com/office/drawing/2014/main" id="{3EE5787F-6367-ADC5-9325-DBE46BFB2335}"/>
              </a:ext>
            </a:extLst>
          </p:cNvPr>
          <p:cNvSpPr/>
          <p:nvPr/>
        </p:nvSpPr>
        <p:spPr>
          <a:xfrm>
            <a:off x="4416552" y="5907024"/>
            <a:ext cx="3337560" cy="219456"/>
          </a:xfrm>
          <a:prstGeom prst="rect">
            <a:avLst/>
          </a:prstGeom>
          <a:noFill/>
          <a:ln/>
        </p:spPr>
        <p:txBody>
          <a:bodyPr wrap="square" lIns="0" tIns="0" rIns="0" bIns="0" rtlCol="0" anchor="ctr">
            <a:normAutofit/>
          </a:bodyPr>
          <a:lstStyle/>
          <a:p>
            <a:pPr marL="0" indent="0" algn="l">
              <a:buNone/>
            </a:pPr>
            <a:r>
              <a:rPr lang="en-US" sz="1100" dirty="0">
                <a:solidFill>
                  <a:srgbClr val="273B55"/>
                </a:solidFill>
                <a:latin typeface="Microsoft YaHei" pitchFamily="34" charset="0"/>
                <a:ea typeface="Microsoft YaHei" pitchFamily="34" charset="-122"/>
                <a:cs typeface="Microsoft YaHei" pitchFamily="34" charset="-120"/>
              </a:rPr>
              <a:t>并将 Vision nn.Linear 替换为可量化层</a:t>
            </a:r>
            <a:endParaRPr lang="en-US" sz="1100" dirty="0"/>
          </a:p>
        </p:txBody>
      </p:sp>
      <p:sp>
        <p:nvSpPr>
          <p:cNvPr id="135" name="Shape 63">
            <a:extLst>
              <a:ext uri="{FF2B5EF4-FFF2-40B4-BE49-F238E27FC236}">
                <a16:creationId xmlns:a16="http://schemas.microsoft.com/office/drawing/2014/main" id="{E93E1AAE-B576-5BEE-EFFD-97C617CCCE92}"/>
              </a:ext>
            </a:extLst>
          </p:cNvPr>
          <p:cNvSpPr/>
          <p:nvPr/>
        </p:nvSpPr>
        <p:spPr>
          <a:xfrm>
            <a:off x="8101584" y="5550408"/>
            <a:ext cx="3575304" cy="749808"/>
          </a:xfrm>
          <a:prstGeom prst="roundRect">
            <a:avLst/>
          </a:prstGeom>
          <a:solidFill>
            <a:srgbClr val="E8F8F0"/>
          </a:solidFill>
          <a:ln w="12700">
            <a:solidFill>
              <a:srgbClr val="E8F8F0"/>
            </a:solidFill>
            <a:prstDash val="solid"/>
          </a:ln>
        </p:spPr>
      </p:sp>
      <p:sp>
        <p:nvSpPr>
          <p:cNvPr id="136" name="Text 64">
            <a:extLst>
              <a:ext uri="{FF2B5EF4-FFF2-40B4-BE49-F238E27FC236}">
                <a16:creationId xmlns:a16="http://schemas.microsoft.com/office/drawing/2014/main" id="{8448FD03-0361-5ED1-BFA2-8A7D58E536E3}"/>
              </a:ext>
            </a:extLst>
          </p:cNvPr>
          <p:cNvSpPr/>
          <p:nvPr/>
        </p:nvSpPr>
        <p:spPr>
          <a:xfrm>
            <a:off x="8284464" y="5614416"/>
            <a:ext cx="3182112" cy="237744"/>
          </a:xfrm>
          <a:prstGeom prst="rect">
            <a:avLst/>
          </a:prstGeom>
          <a:noFill/>
          <a:ln/>
        </p:spPr>
        <p:txBody>
          <a:bodyPr wrap="square" lIns="0" tIns="0" rIns="0" bIns="0" rtlCol="0" anchor="ctr">
            <a:normAutofit/>
          </a:bodyPr>
          <a:lstStyle/>
          <a:p>
            <a:pPr marL="0" indent="0" algn="l">
              <a:buNone/>
            </a:pPr>
            <a:r>
              <a:rPr lang="en-US" sz="1200" b="1" dirty="0">
                <a:solidFill>
                  <a:srgbClr val="16794F"/>
                </a:solidFill>
                <a:latin typeface="Microsoft YaHei" pitchFamily="34" charset="0"/>
                <a:ea typeface="Microsoft YaHei" pitchFamily="34" charset="-122"/>
                <a:cs typeface="Microsoft YaHei" pitchFamily="34" charset="-120"/>
              </a:rPr>
              <a:t>正确性：检查实际 quant_method</a:t>
            </a:r>
            <a:endParaRPr lang="en-US" sz="1200" dirty="0"/>
          </a:p>
        </p:txBody>
      </p:sp>
      <p:sp>
        <p:nvSpPr>
          <p:cNvPr id="137" name="Text 65">
            <a:extLst>
              <a:ext uri="{FF2B5EF4-FFF2-40B4-BE49-F238E27FC236}">
                <a16:creationId xmlns:a16="http://schemas.microsoft.com/office/drawing/2014/main" id="{7DF8C6CD-8DFB-5D76-3195-25D908BAA84C}"/>
              </a:ext>
            </a:extLst>
          </p:cNvPr>
          <p:cNvSpPr/>
          <p:nvPr/>
        </p:nvSpPr>
        <p:spPr>
          <a:xfrm>
            <a:off x="8284464" y="5907024"/>
            <a:ext cx="3209544" cy="219456"/>
          </a:xfrm>
          <a:prstGeom prst="rect">
            <a:avLst/>
          </a:prstGeom>
          <a:noFill/>
          <a:ln/>
        </p:spPr>
        <p:txBody>
          <a:bodyPr wrap="square" lIns="0" tIns="0" rIns="0" bIns="0" rtlCol="0" anchor="ctr">
            <a:normAutofit/>
          </a:bodyPr>
          <a:lstStyle/>
          <a:p>
            <a:pPr marL="0" indent="0" algn="l">
              <a:buNone/>
            </a:pPr>
            <a:r>
              <a:rPr lang="en-US" sz="1070" dirty="0">
                <a:solidFill>
                  <a:srgbClr val="273B55"/>
                </a:solidFill>
                <a:latin typeface="Microsoft YaHei" pitchFamily="34" charset="0"/>
                <a:ea typeface="Microsoft YaHei" pitchFamily="34" charset="-122"/>
                <a:cs typeface="Microsoft YaHei" pitchFamily="34" charset="-120"/>
              </a:rPr>
              <a:t>Patch 输入保持模型激活 dtype (BF16/FP16)</a:t>
            </a:r>
            <a:endParaRPr lang="en-US" sz="1070" dirty="0"/>
          </a:p>
        </p:txBody>
      </p:sp>
      <p:sp>
        <p:nvSpPr>
          <p:cNvPr id="138" name="Text 66">
            <a:extLst>
              <a:ext uri="{FF2B5EF4-FFF2-40B4-BE49-F238E27FC236}">
                <a16:creationId xmlns:a16="http://schemas.microsoft.com/office/drawing/2014/main" id="{071BA808-ECF8-FD6C-5FD1-D20973AFD34D}"/>
              </a:ext>
            </a:extLst>
          </p:cNvPr>
          <p:cNvSpPr/>
          <p:nvPr/>
        </p:nvSpPr>
        <p:spPr>
          <a:xfrm>
            <a:off x="539496" y="6519672"/>
            <a:ext cx="11155680" cy="201168"/>
          </a:xfrm>
          <a:prstGeom prst="rect">
            <a:avLst/>
          </a:prstGeom>
          <a:noFill/>
          <a:ln/>
        </p:spPr>
        <p:txBody>
          <a:bodyPr wrap="square" lIns="0" tIns="0" rIns="0" bIns="0" rtlCol="0" anchor="ctr">
            <a:normAutofit/>
          </a:bodyPr>
          <a:lstStyle/>
          <a:p>
            <a:pPr marL="0" indent="0" algn="l">
              <a:buNone/>
            </a:pPr>
            <a:r>
              <a:rPr lang="en-US" sz="1000" dirty="0">
                <a:solidFill>
                  <a:srgbClr val="657792"/>
                </a:solidFill>
                <a:latin typeface="Microsoft YaHei" pitchFamily="34" charset="0"/>
                <a:ea typeface="Microsoft YaHei" pitchFamily="34" charset="-122"/>
                <a:cs typeface="Microsoft YaHei" pitchFamily="34" charset="-120"/>
              </a:rPr>
              <a:t>代码锚点：vLLM · Gemma4MultimodalEmbedder / LinearBase    |    vLLM-Ascend · Gemma4 Adapter / AscendModelSlimConfig</a:t>
            </a:r>
            <a:endParaRPr lang="en-US" sz="1000" dirty="0"/>
          </a:p>
        </p:txBody>
      </p:sp>
      <p:pic>
        <p:nvPicPr>
          <p:cNvPr id="139" name="图片 138" descr="竖版华为公司标志 Vertical Version of Huawei Corporate Logo_2018">
            <a:extLst>
              <a:ext uri="{FF2B5EF4-FFF2-40B4-BE49-F238E27FC236}">
                <a16:creationId xmlns:a16="http://schemas.microsoft.com/office/drawing/2014/main" id="{756FAF99-1B5E-7C79-D8B9-6A9AA3B694B2}"/>
              </a:ext>
            </a:extLst>
          </p:cNvPr>
          <p:cNvPicPr>
            <a:picLocks noChangeAspect="1"/>
          </p:cNvPicPr>
          <p:nvPr/>
        </p:nvPicPr>
        <p:blipFill>
          <a:blip r:embed="rId2"/>
          <a:stretch>
            <a:fillRect/>
          </a:stretch>
        </p:blipFill>
        <p:spPr>
          <a:xfrm>
            <a:off x="10842019" y="0"/>
            <a:ext cx="810588" cy="802246"/>
          </a:xfrm>
          <a:prstGeom prst="rect">
            <a:avLst/>
          </a:prstGeom>
        </p:spPr>
      </p:pic>
    </p:spTree>
    <p:extLst>
      <p:ext uri="{BB962C8B-B14F-4D97-AF65-F5344CB8AC3E}">
        <p14:creationId xmlns:p14="http://schemas.microsoft.com/office/powerpoint/2010/main" val="8449023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p:cNvSpPr txBox="1"/>
          <p:nvPr/>
        </p:nvSpPr>
        <p:spPr>
          <a:xfrm>
            <a:off x="432955" y="129715"/>
            <a:ext cx="5563509"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重大项目课题：</a:t>
            </a:r>
            <a:endPar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数据知识双驱的合成逆合成全流程求解优化架构</a:t>
            </a:r>
          </a:p>
        </p:txBody>
      </p:sp>
      <p:sp>
        <p:nvSpPr>
          <p:cNvPr id="21" name="Slide Number Placeholder 20">
            <a:extLst>
              <a:ext uri="{FF2B5EF4-FFF2-40B4-BE49-F238E27FC236}">
                <a16:creationId xmlns:a16="http://schemas.microsoft.com/office/drawing/2014/main" id="{6EE9455F-9A15-04AD-1D64-E92BAA2FDE3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E8CDBE03-7082-2DE0-EC45-82FB1E313151}"/>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138" name="Text Placeholder 1">
            <a:extLst>
              <a:ext uri="{FF2B5EF4-FFF2-40B4-BE49-F238E27FC236}">
                <a16:creationId xmlns:a16="http://schemas.microsoft.com/office/drawing/2014/main" id="{D6EDEF01-FE8E-4772-68BE-C8A6106EAAA2}"/>
              </a:ext>
            </a:extLst>
          </p:cNvPr>
          <p:cNvSpPr txBox="1"/>
          <p:nvPr/>
        </p:nvSpPr>
        <p:spPr bwMode="gray">
          <a:xfrm>
            <a:off x="1053525" y="1011738"/>
            <a:ext cx="10930770" cy="424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noAutofit/>
          </a:bodyPr>
          <a:lstStyle>
            <a:lvl1pPr marL="0" indent="0" algn="l" rtl="0" eaLnBrk="1" fontAlgn="base" hangingPunct="1">
              <a:spcBef>
                <a:spcPts val="0"/>
              </a:spcBef>
              <a:spcAft>
                <a:spcPct val="0"/>
              </a:spcAft>
              <a:buNone/>
              <a:defRPr sz="2800">
                <a:solidFill>
                  <a:schemeClr val="tx2"/>
                </a:solidFill>
                <a:latin typeface="+mn-lt"/>
                <a:ea typeface="+mn-ea"/>
                <a:cs typeface="+mn-cs"/>
                <a:sym typeface="Arial" panose="020B0604020202020204"/>
              </a:defRPr>
            </a:lvl1pPr>
            <a:lvl2pPr marL="0" indent="0" algn="l" rtl="0" eaLnBrk="1" fontAlgn="base" hangingPunct="1">
              <a:spcBef>
                <a:spcPts val="0"/>
              </a:spcBef>
              <a:spcAft>
                <a:spcPct val="0"/>
              </a:spcAft>
              <a:buFont typeface="Arial" panose="020B0604020202020204" pitchFamily="34" charset="0"/>
              <a:buNone/>
              <a:defRPr sz="2800">
                <a:solidFill>
                  <a:schemeClr val="accent1"/>
                </a:solidFill>
                <a:latin typeface="+mn-lt"/>
                <a:cs typeface="+mn-cs"/>
                <a:sym typeface="Arial" panose="020B0604020202020204"/>
              </a:defRPr>
            </a:lvl2pPr>
            <a:lvl3pPr marL="516255" indent="-171450"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sym typeface="Arial" panose="020B0604020202020204"/>
              </a:defRPr>
            </a:lvl3pPr>
            <a:lvl4pPr marL="684530" indent="-16700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sym typeface="Arial" panose="020B0604020202020204"/>
              </a:defRPr>
            </a:lvl4pPr>
            <a:lvl5pPr marL="8591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sym typeface="Arial" panose="020B0604020202020204"/>
              </a:defRPr>
            </a:lvl5pPr>
            <a:lvl6pPr marL="13163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defRPr>
            </a:lvl6pPr>
            <a:lvl7pPr marL="17735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defRPr>
            </a:lvl7pPr>
            <a:lvl8pPr marL="22307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defRPr>
            </a:lvl8pPr>
            <a:lvl9pPr marL="26879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defRPr>
            </a:lvl9pPr>
          </a:lstStyle>
          <a:p>
            <a:pPr marL="0" marR="0" lvl="0" indent="0" algn="l" defTabSz="914400" rtl="0" eaLnBrk="1" fontAlgn="base" latinLnBrk="0" hangingPunct="1">
              <a:lnSpc>
                <a:spcPct val="100000"/>
              </a:lnSpc>
              <a:spcBef>
                <a:spcPct val="60000"/>
              </a:spcBef>
              <a:spcAft>
                <a:spcPct val="0"/>
              </a:spcAft>
              <a:buClrTx/>
              <a:buSzTx/>
              <a:buFontTx/>
              <a:buNone/>
              <a:tabLst/>
              <a:defRPr/>
            </a:pPr>
            <a:r>
              <a:rPr kumimoji="0" lang="zh-CN" altLang="en-US" sz="3200" b="1" i="0" u="none" strike="noStrike" kern="0" cap="none" spc="0" normalizeH="0" baseline="0" noProof="0" dirty="0">
                <a:ln>
                  <a:noFill/>
                </a:ln>
                <a:solidFill>
                  <a:srgbClr val="0339A6"/>
                </a:solidFill>
                <a:effectLst/>
                <a:uLnTx/>
                <a:uFillTx/>
                <a:latin typeface="微软雅黑" panose="020B0503020204020204" pitchFamily="34" charset="-122"/>
                <a:ea typeface="微软雅黑" panose="020B0503020204020204" pitchFamily="34" charset="-122"/>
                <a:cs typeface="+mn-cs"/>
                <a:sym typeface="Arial" panose="020B0604020202020204"/>
              </a:rPr>
              <a:t>项目背景</a:t>
            </a:r>
          </a:p>
        </p:txBody>
      </p:sp>
      <p:sp>
        <p:nvSpPr>
          <p:cNvPr id="139" name="圆角矩形 22">
            <a:extLst>
              <a:ext uri="{FF2B5EF4-FFF2-40B4-BE49-F238E27FC236}">
                <a16:creationId xmlns:a16="http://schemas.microsoft.com/office/drawing/2014/main" id="{BF743615-8973-DED4-9857-55C7FF5CDA8C}"/>
              </a:ext>
            </a:extLst>
          </p:cNvPr>
          <p:cNvSpPr/>
          <p:nvPr/>
        </p:nvSpPr>
        <p:spPr>
          <a:xfrm>
            <a:off x="318743" y="1539866"/>
            <a:ext cx="3645535" cy="4591685"/>
          </a:xfrm>
          <a:prstGeom prst="roundRect">
            <a:avLst>
              <a:gd name="adj" fmla="val 6183"/>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40" name="圆角矩形 23">
            <a:extLst>
              <a:ext uri="{FF2B5EF4-FFF2-40B4-BE49-F238E27FC236}">
                <a16:creationId xmlns:a16="http://schemas.microsoft.com/office/drawing/2014/main" id="{C74FF1B5-ED13-A905-D4D0-67EF36ACD0E3}"/>
              </a:ext>
            </a:extLst>
          </p:cNvPr>
          <p:cNvSpPr/>
          <p:nvPr/>
        </p:nvSpPr>
        <p:spPr>
          <a:xfrm>
            <a:off x="466725" y="2724150"/>
            <a:ext cx="3350260" cy="3344545"/>
          </a:xfrm>
          <a:prstGeom prst="roundRect">
            <a:avLst>
              <a:gd name="adj" fmla="val 5600"/>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pic>
        <p:nvPicPr>
          <p:cNvPr id="141" name="图片 140" descr="截屏2023-11-09 21.04.04">
            <a:extLst>
              <a:ext uri="{FF2B5EF4-FFF2-40B4-BE49-F238E27FC236}">
                <a16:creationId xmlns:a16="http://schemas.microsoft.com/office/drawing/2014/main" id="{63D8AED7-148F-9518-0D52-097CAD0CD774}"/>
              </a:ext>
            </a:extLst>
          </p:cNvPr>
          <p:cNvPicPr>
            <a:picLocks noChangeAspect="1"/>
          </p:cNvPicPr>
          <p:nvPr>
            <p:custDataLst>
              <p:tags r:id="rId1"/>
            </p:custDataLst>
          </p:nvPr>
        </p:nvPicPr>
        <p:blipFill>
          <a:blip r:embed="rId17"/>
          <a:stretch>
            <a:fillRect/>
          </a:stretch>
        </p:blipFill>
        <p:spPr>
          <a:xfrm>
            <a:off x="2622550" y="3794125"/>
            <a:ext cx="1017905" cy="904875"/>
          </a:xfrm>
          <a:prstGeom prst="rect">
            <a:avLst/>
          </a:prstGeom>
        </p:spPr>
      </p:pic>
      <p:pic>
        <p:nvPicPr>
          <p:cNvPr id="142" name="图片 141" descr="截屏2023-11-09 21.04.25">
            <a:extLst>
              <a:ext uri="{FF2B5EF4-FFF2-40B4-BE49-F238E27FC236}">
                <a16:creationId xmlns:a16="http://schemas.microsoft.com/office/drawing/2014/main" id="{92116694-0F6D-BA65-DC70-7CF860F5B68B}"/>
              </a:ext>
            </a:extLst>
          </p:cNvPr>
          <p:cNvPicPr>
            <a:picLocks noChangeAspect="1"/>
          </p:cNvPicPr>
          <p:nvPr>
            <p:custDataLst>
              <p:tags r:id="rId2"/>
            </p:custDataLst>
          </p:nvPr>
        </p:nvPicPr>
        <p:blipFill>
          <a:blip r:embed="rId18"/>
          <a:stretch>
            <a:fillRect/>
          </a:stretch>
        </p:blipFill>
        <p:spPr>
          <a:xfrm>
            <a:off x="1487805" y="4473575"/>
            <a:ext cx="852170" cy="694690"/>
          </a:xfrm>
          <a:prstGeom prst="rect">
            <a:avLst/>
          </a:prstGeom>
        </p:spPr>
      </p:pic>
      <p:pic>
        <p:nvPicPr>
          <p:cNvPr id="143" name="图片 142" descr="截屏2023-11-09 21.04.36">
            <a:extLst>
              <a:ext uri="{FF2B5EF4-FFF2-40B4-BE49-F238E27FC236}">
                <a16:creationId xmlns:a16="http://schemas.microsoft.com/office/drawing/2014/main" id="{60342F11-C24A-FCF9-E76E-68BD74B60770}"/>
              </a:ext>
            </a:extLst>
          </p:cNvPr>
          <p:cNvPicPr>
            <a:picLocks noChangeAspect="1"/>
          </p:cNvPicPr>
          <p:nvPr>
            <p:custDataLst>
              <p:tags r:id="rId3"/>
            </p:custDataLst>
          </p:nvPr>
        </p:nvPicPr>
        <p:blipFill>
          <a:blip r:embed="rId19"/>
          <a:stretch>
            <a:fillRect/>
          </a:stretch>
        </p:blipFill>
        <p:spPr>
          <a:xfrm>
            <a:off x="683260" y="4091940"/>
            <a:ext cx="384810" cy="368300"/>
          </a:xfrm>
          <a:prstGeom prst="rect">
            <a:avLst/>
          </a:prstGeom>
        </p:spPr>
      </p:pic>
      <p:sp>
        <p:nvSpPr>
          <p:cNvPr id="144" name="文本框 143">
            <a:extLst>
              <a:ext uri="{FF2B5EF4-FFF2-40B4-BE49-F238E27FC236}">
                <a16:creationId xmlns:a16="http://schemas.microsoft.com/office/drawing/2014/main" id="{12569281-BB05-0B40-1A07-F6381FA4A5E5}"/>
              </a:ext>
            </a:extLst>
          </p:cNvPr>
          <p:cNvSpPr txBox="1"/>
          <p:nvPr/>
        </p:nvSpPr>
        <p:spPr>
          <a:xfrm>
            <a:off x="242570" y="1630680"/>
            <a:ext cx="3818890" cy="1031051"/>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合成与逆合成是</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有机化学重要研究方向</a:t>
            </a:r>
          </a:p>
        </p:txBody>
      </p:sp>
      <p:sp>
        <p:nvSpPr>
          <p:cNvPr id="145" name="文本框 144">
            <a:extLst>
              <a:ext uri="{FF2B5EF4-FFF2-40B4-BE49-F238E27FC236}">
                <a16:creationId xmlns:a16="http://schemas.microsoft.com/office/drawing/2014/main" id="{ECDA2268-0EA6-39C6-9BDB-F452C09388EE}"/>
              </a:ext>
            </a:extLst>
          </p:cNvPr>
          <p:cNvSpPr txBox="1"/>
          <p:nvPr/>
        </p:nvSpPr>
        <p:spPr>
          <a:xfrm>
            <a:off x="2372995" y="4631690"/>
            <a:ext cx="1553210" cy="36830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800" b="0" i="0" u="none" strike="noStrike" kern="1200" cap="none" spc="0" normalizeH="0" baseline="0" noProof="0">
                <a:ln>
                  <a:noFill/>
                </a:ln>
                <a:solidFill>
                  <a:srgbClr val="7161C6"/>
                </a:solidFill>
                <a:effectLst/>
                <a:uLnTx/>
                <a:uFillTx/>
                <a:latin typeface="微软雅黑" charset="0"/>
                <a:ea typeface="微软雅黑" charset="0"/>
                <a:cs typeface="+mn-cs"/>
              </a:rPr>
              <a:t>目标化合物</a:t>
            </a:r>
          </a:p>
        </p:txBody>
      </p:sp>
      <p:sp>
        <p:nvSpPr>
          <p:cNvPr id="146" name="文本框 145">
            <a:extLst>
              <a:ext uri="{FF2B5EF4-FFF2-40B4-BE49-F238E27FC236}">
                <a16:creationId xmlns:a16="http://schemas.microsoft.com/office/drawing/2014/main" id="{74E08EE5-A91D-5F44-D071-297CD455D66F}"/>
              </a:ext>
            </a:extLst>
          </p:cNvPr>
          <p:cNvSpPr txBox="1"/>
          <p:nvPr/>
        </p:nvSpPr>
        <p:spPr>
          <a:xfrm>
            <a:off x="389255" y="4544060"/>
            <a:ext cx="943610" cy="36830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800" b="0" i="0" u="none" strike="noStrike" kern="1200" cap="none" spc="0" normalizeH="0" baseline="0" noProof="0" dirty="0">
                <a:ln>
                  <a:noFill/>
                </a:ln>
                <a:solidFill>
                  <a:srgbClr val="FF0000"/>
                </a:solidFill>
                <a:effectLst/>
                <a:uLnTx/>
                <a:uFillTx/>
                <a:latin typeface="微软雅黑" charset="0"/>
                <a:ea typeface="微软雅黑" charset="0"/>
                <a:cs typeface="+mn-cs"/>
              </a:rPr>
              <a:t>原料</a:t>
            </a:r>
          </a:p>
        </p:txBody>
      </p:sp>
      <p:pic>
        <p:nvPicPr>
          <p:cNvPr id="147" name="图片 146" descr="截屏2023-11-09 21.15.32">
            <a:extLst>
              <a:ext uri="{FF2B5EF4-FFF2-40B4-BE49-F238E27FC236}">
                <a16:creationId xmlns:a16="http://schemas.microsoft.com/office/drawing/2014/main" id="{E27AD8C7-5B53-5EF7-E518-A38B0A38838E}"/>
              </a:ext>
            </a:extLst>
          </p:cNvPr>
          <p:cNvPicPr>
            <a:picLocks noChangeAspect="1"/>
          </p:cNvPicPr>
          <p:nvPr>
            <p:custDataLst>
              <p:tags r:id="rId4"/>
            </p:custDataLst>
          </p:nvPr>
        </p:nvPicPr>
        <p:blipFill>
          <a:blip r:embed="rId20"/>
          <a:stretch>
            <a:fillRect/>
          </a:stretch>
        </p:blipFill>
        <p:spPr>
          <a:xfrm>
            <a:off x="1466850" y="3538855"/>
            <a:ext cx="873125" cy="921385"/>
          </a:xfrm>
          <a:prstGeom prst="rect">
            <a:avLst/>
          </a:prstGeom>
        </p:spPr>
      </p:pic>
      <p:cxnSp>
        <p:nvCxnSpPr>
          <p:cNvPr id="148" name="直接箭头连接符 147">
            <a:extLst>
              <a:ext uri="{FF2B5EF4-FFF2-40B4-BE49-F238E27FC236}">
                <a16:creationId xmlns:a16="http://schemas.microsoft.com/office/drawing/2014/main" id="{F502748B-C4B4-B67D-EE55-E974595F0610}"/>
              </a:ext>
            </a:extLst>
          </p:cNvPr>
          <p:cNvCxnSpPr>
            <a:stCxn id="143" idx="3"/>
            <a:endCxn id="147" idx="1"/>
          </p:cNvCxnSpPr>
          <p:nvPr/>
        </p:nvCxnSpPr>
        <p:spPr>
          <a:xfrm flipV="1">
            <a:off x="1068070" y="3999865"/>
            <a:ext cx="398780" cy="276225"/>
          </a:xfrm>
          <a:prstGeom prst="straightConnector1">
            <a:avLst/>
          </a:prstGeom>
          <a:ln w="19050" cap="flat" cmpd="sng">
            <a:solidFill>
              <a:schemeClr val="accent2"/>
            </a:solidFill>
            <a:prstDash val="solid"/>
            <a:miter lim="800000"/>
            <a:headEnd type="none"/>
            <a:tailEnd type="arrow" w="med" len="med"/>
          </a:ln>
        </p:spPr>
        <p:style>
          <a:lnRef idx="2">
            <a:schemeClr val="accent1"/>
          </a:lnRef>
          <a:fillRef idx="0">
            <a:srgbClr val="FFFFFF"/>
          </a:fillRef>
          <a:effectRef idx="0">
            <a:srgbClr val="FFFFFF"/>
          </a:effectRef>
          <a:fontRef idx="minor">
            <a:schemeClr val="tx1"/>
          </a:fontRef>
        </p:style>
      </p:cxnSp>
      <p:cxnSp>
        <p:nvCxnSpPr>
          <p:cNvPr id="149" name="直接箭头连接符 148">
            <a:extLst>
              <a:ext uri="{FF2B5EF4-FFF2-40B4-BE49-F238E27FC236}">
                <a16:creationId xmlns:a16="http://schemas.microsoft.com/office/drawing/2014/main" id="{3D66E70B-F428-F091-6D18-7C3EC269DB95}"/>
              </a:ext>
            </a:extLst>
          </p:cNvPr>
          <p:cNvCxnSpPr>
            <a:stCxn id="143" idx="3"/>
            <a:endCxn id="142" idx="1"/>
          </p:cNvCxnSpPr>
          <p:nvPr/>
        </p:nvCxnSpPr>
        <p:spPr>
          <a:xfrm>
            <a:off x="1068070" y="4276090"/>
            <a:ext cx="419735" cy="544830"/>
          </a:xfrm>
          <a:prstGeom prst="straightConnector1">
            <a:avLst/>
          </a:prstGeom>
          <a:ln w="19050">
            <a:tailEnd type="arrow"/>
          </a:ln>
        </p:spPr>
        <p:style>
          <a:lnRef idx="2">
            <a:schemeClr val="accent1"/>
          </a:lnRef>
          <a:fillRef idx="0">
            <a:srgbClr val="FFFFFF"/>
          </a:fillRef>
          <a:effectRef idx="0">
            <a:srgbClr val="FFFFFF"/>
          </a:effectRef>
          <a:fontRef idx="minor">
            <a:schemeClr val="tx1"/>
          </a:fontRef>
        </p:style>
      </p:cxnSp>
      <p:cxnSp>
        <p:nvCxnSpPr>
          <p:cNvPr id="150" name="直接箭头连接符 149">
            <a:extLst>
              <a:ext uri="{FF2B5EF4-FFF2-40B4-BE49-F238E27FC236}">
                <a16:creationId xmlns:a16="http://schemas.microsoft.com/office/drawing/2014/main" id="{F1C532FE-8DBB-461E-B0A1-FBE965888951}"/>
              </a:ext>
            </a:extLst>
          </p:cNvPr>
          <p:cNvCxnSpPr>
            <a:stCxn id="142" idx="3"/>
            <a:endCxn id="141" idx="1"/>
          </p:cNvCxnSpPr>
          <p:nvPr/>
        </p:nvCxnSpPr>
        <p:spPr>
          <a:xfrm flipV="1">
            <a:off x="2339975" y="4246880"/>
            <a:ext cx="282575" cy="574040"/>
          </a:xfrm>
          <a:prstGeom prst="straightConnector1">
            <a:avLst/>
          </a:prstGeom>
          <a:ln w="19050">
            <a:tailEnd type="arrow"/>
          </a:ln>
        </p:spPr>
        <p:style>
          <a:lnRef idx="2">
            <a:schemeClr val="accent1"/>
          </a:lnRef>
          <a:fillRef idx="0">
            <a:srgbClr val="FFFFFF"/>
          </a:fillRef>
          <a:effectRef idx="0">
            <a:srgbClr val="FFFFFF"/>
          </a:effectRef>
          <a:fontRef idx="minor">
            <a:schemeClr val="tx1"/>
          </a:fontRef>
        </p:style>
      </p:cxnSp>
      <p:cxnSp>
        <p:nvCxnSpPr>
          <p:cNvPr id="151" name="直接箭头连接符 150">
            <a:extLst>
              <a:ext uri="{FF2B5EF4-FFF2-40B4-BE49-F238E27FC236}">
                <a16:creationId xmlns:a16="http://schemas.microsoft.com/office/drawing/2014/main" id="{86D468A0-076F-42C6-558D-5AB07637957B}"/>
              </a:ext>
            </a:extLst>
          </p:cNvPr>
          <p:cNvCxnSpPr>
            <a:stCxn id="147" idx="3"/>
            <a:endCxn id="141" idx="1"/>
          </p:cNvCxnSpPr>
          <p:nvPr/>
        </p:nvCxnSpPr>
        <p:spPr>
          <a:xfrm>
            <a:off x="2339975" y="3999865"/>
            <a:ext cx="282575" cy="247015"/>
          </a:xfrm>
          <a:prstGeom prst="straightConnector1">
            <a:avLst/>
          </a:prstGeom>
          <a:ln w="19050" cap="flat" cmpd="sng">
            <a:solidFill>
              <a:schemeClr val="accent2"/>
            </a:solidFill>
            <a:prstDash val="solid"/>
            <a:miter lim="800000"/>
            <a:headEnd type="none"/>
            <a:tailEnd type="arrow" w="med" len="med"/>
          </a:ln>
        </p:spPr>
        <p:style>
          <a:lnRef idx="2">
            <a:schemeClr val="accent1"/>
          </a:lnRef>
          <a:fillRef idx="0">
            <a:srgbClr val="FFFFFF"/>
          </a:fillRef>
          <a:effectRef idx="0">
            <a:srgbClr val="FFFFFF"/>
          </a:effectRef>
          <a:fontRef idx="minor">
            <a:schemeClr val="tx1"/>
          </a:fontRef>
        </p:style>
      </p:cxnSp>
      <p:sp>
        <p:nvSpPr>
          <p:cNvPr id="152" name="文本框 151">
            <a:extLst>
              <a:ext uri="{FF2B5EF4-FFF2-40B4-BE49-F238E27FC236}">
                <a16:creationId xmlns:a16="http://schemas.microsoft.com/office/drawing/2014/main" id="{C04D4E6D-AE52-4B7A-09BC-9E8F710F7DB3}"/>
              </a:ext>
            </a:extLst>
          </p:cNvPr>
          <p:cNvSpPr txBox="1"/>
          <p:nvPr/>
        </p:nvSpPr>
        <p:spPr>
          <a:xfrm>
            <a:off x="1636422" y="3302000"/>
            <a:ext cx="851535" cy="30670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dirty="0">
                <a:ln>
                  <a:noFill/>
                </a:ln>
                <a:solidFill>
                  <a:srgbClr val="ED7D31"/>
                </a:solidFill>
                <a:effectLst/>
                <a:uLnTx/>
                <a:uFillTx/>
                <a:latin typeface="微软雅黑" charset="0"/>
                <a:ea typeface="微软雅黑" charset="0"/>
                <a:cs typeface="+mn-cs"/>
              </a:rPr>
              <a:t>路径</a:t>
            </a:r>
            <a:r>
              <a:rPr kumimoji="0" lang="en-US" altLang="zh-CN" sz="1400" b="0" i="0" u="none" strike="noStrike" kern="1200" cap="none" spc="0" normalizeH="0" baseline="0" noProof="0" dirty="0">
                <a:ln>
                  <a:noFill/>
                </a:ln>
                <a:solidFill>
                  <a:srgbClr val="ED7D31"/>
                </a:solidFill>
                <a:effectLst/>
                <a:uLnTx/>
                <a:uFillTx/>
                <a:latin typeface="微软雅黑" charset="0"/>
                <a:ea typeface="微软雅黑" charset="0"/>
                <a:cs typeface="+mn-cs"/>
              </a:rPr>
              <a:t>1</a:t>
            </a:r>
          </a:p>
        </p:txBody>
      </p:sp>
      <p:sp>
        <p:nvSpPr>
          <p:cNvPr id="153" name="文本框 152">
            <a:extLst>
              <a:ext uri="{FF2B5EF4-FFF2-40B4-BE49-F238E27FC236}">
                <a16:creationId xmlns:a16="http://schemas.microsoft.com/office/drawing/2014/main" id="{15DC6F8A-F158-B274-E7E3-D4FB10A90E3F}"/>
              </a:ext>
            </a:extLst>
          </p:cNvPr>
          <p:cNvSpPr txBox="1"/>
          <p:nvPr/>
        </p:nvSpPr>
        <p:spPr>
          <a:xfrm>
            <a:off x="1636422" y="5180330"/>
            <a:ext cx="872490" cy="30670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dirty="0">
                <a:ln>
                  <a:noFill/>
                </a:ln>
                <a:solidFill>
                  <a:srgbClr val="0070C0"/>
                </a:solidFill>
                <a:effectLst/>
                <a:uLnTx/>
                <a:uFillTx/>
                <a:latin typeface="微软雅黑" charset="0"/>
                <a:ea typeface="微软雅黑" charset="0"/>
                <a:cs typeface="+mn-cs"/>
              </a:rPr>
              <a:t>路径</a:t>
            </a:r>
            <a:r>
              <a:rPr kumimoji="0" lang="en-US" altLang="zh-CN" sz="1400" b="0" i="0" u="none" strike="noStrike" kern="1200" cap="none" spc="0" normalizeH="0" baseline="0" noProof="0" dirty="0">
                <a:ln>
                  <a:noFill/>
                </a:ln>
                <a:solidFill>
                  <a:srgbClr val="0070C0"/>
                </a:solidFill>
                <a:effectLst/>
                <a:uLnTx/>
                <a:uFillTx/>
                <a:latin typeface="微软雅黑" charset="0"/>
                <a:ea typeface="微软雅黑" charset="0"/>
                <a:cs typeface="+mn-cs"/>
              </a:rPr>
              <a:t>2</a:t>
            </a:r>
          </a:p>
        </p:txBody>
      </p:sp>
      <p:sp>
        <p:nvSpPr>
          <p:cNvPr id="154" name="上弧形箭头 17">
            <a:extLst>
              <a:ext uri="{FF2B5EF4-FFF2-40B4-BE49-F238E27FC236}">
                <a16:creationId xmlns:a16="http://schemas.microsoft.com/office/drawing/2014/main" id="{E299E8B3-C38E-B398-EC9C-26CAE6D4CCDC}"/>
              </a:ext>
            </a:extLst>
          </p:cNvPr>
          <p:cNvSpPr/>
          <p:nvPr/>
        </p:nvSpPr>
        <p:spPr>
          <a:xfrm>
            <a:off x="843915" y="3253105"/>
            <a:ext cx="2512695" cy="506095"/>
          </a:xfrm>
          <a:prstGeom prst="curvedDownArrow">
            <a:avLst>
              <a:gd name="adj1" fmla="val 25000"/>
              <a:gd name="adj2" fmla="val 60976"/>
              <a:gd name="adj3" fmla="val 35885"/>
            </a:avLst>
          </a:prstGeom>
          <a:gradFill>
            <a:gsLst>
              <a:gs pos="0">
                <a:srgbClr val="B9261A"/>
              </a:gs>
              <a:gs pos="100000">
                <a:srgbClr val="7161C6"/>
              </a:gs>
            </a:gsLst>
            <a:lin ang="0" scaled="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等线"/>
              <a:ea typeface="等线" panose="02010600030101010101" pitchFamily="2" charset="-122"/>
              <a:cs typeface="+mn-cs"/>
            </a:endParaRPr>
          </a:p>
        </p:txBody>
      </p:sp>
      <p:sp>
        <p:nvSpPr>
          <p:cNvPr id="155" name="上弧形箭头 18">
            <a:extLst>
              <a:ext uri="{FF2B5EF4-FFF2-40B4-BE49-F238E27FC236}">
                <a16:creationId xmlns:a16="http://schemas.microsoft.com/office/drawing/2014/main" id="{0919BA35-D925-87B5-D471-30EB8FDFE001}"/>
              </a:ext>
            </a:extLst>
          </p:cNvPr>
          <p:cNvSpPr/>
          <p:nvPr/>
        </p:nvSpPr>
        <p:spPr>
          <a:xfrm rot="10800000">
            <a:off x="717550" y="4988560"/>
            <a:ext cx="2560955" cy="555625"/>
          </a:xfrm>
          <a:prstGeom prst="curvedDownArrow">
            <a:avLst>
              <a:gd name="adj1" fmla="val 25000"/>
              <a:gd name="adj2" fmla="val 63618"/>
              <a:gd name="adj3" fmla="val 33142"/>
            </a:avLst>
          </a:prstGeom>
          <a:gradFill>
            <a:gsLst>
              <a:gs pos="0">
                <a:srgbClr val="7161C6"/>
              </a:gs>
              <a:gs pos="100000">
                <a:srgbClr val="C00000"/>
              </a:gs>
            </a:gsLst>
            <a:lin ang="0" scaled="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等线"/>
              <a:ea typeface="等线" panose="02010600030101010101" pitchFamily="2" charset="-122"/>
              <a:cs typeface="+mn-cs"/>
            </a:endParaRPr>
          </a:p>
        </p:txBody>
      </p:sp>
      <p:sp>
        <p:nvSpPr>
          <p:cNvPr id="156" name="文本框 155">
            <a:extLst>
              <a:ext uri="{FF2B5EF4-FFF2-40B4-BE49-F238E27FC236}">
                <a16:creationId xmlns:a16="http://schemas.microsoft.com/office/drawing/2014/main" id="{6931202D-AA8C-6BF6-1F7C-93DB39D9CF01}"/>
              </a:ext>
            </a:extLst>
          </p:cNvPr>
          <p:cNvSpPr txBox="1"/>
          <p:nvPr/>
        </p:nvSpPr>
        <p:spPr>
          <a:xfrm>
            <a:off x="1254760" y="2792730"/>
            <a:ext cx="1824355" cy="368300"/>
          </a:xfrm>
          <a:prstGeom prst="rect">
            <a:avLst/>
          </a:prstGeom>
          <a:noFill/>
          <a:ln w="19050">
            <a:solidFill>
              <a:schemeClr val="accent1"/>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800" b="1" i="0" u="none" strike="noStrike" kern="1200" cap="none" spc="0" normalizeH="0" baseline="0" noProof="0">
                <a:ln>
                  <a:noFill/>
                </a:ln>
                <a:solidFill>
                  <a:prstClr val="black"/>
                </a:solidFill>
                <a:effectLst/>
                <a:uLnTx/>
                <a:uFillTx/>
                <a:latin typeface="微软雅黑" charset="0"/>
                <a:ea typeface="微软雅黑" charset="0"/>
                <a:cs typeface="+mn-cs"/>
              </a:rPr>
              <a:t>合成：构建分子</a:t>
            </a:r>
          </a:p>
        </p:txBody>
      </p:sp>
      <p:sp>
        <p:nvSpPr>
          <p:cNvPr id="157" name="文本框 156">
            <a:extLst>
              <a:ext uri="{FF2B5EF4-FFF2-40B4-BE49-F238E27FC236}">
                <a16:creationId xmlns:a16="http://schemas.microsoft.com/office/drawing/2014/main" id="{4B441CCE-B379-B3C6-EE00-0C993B32906C}"/>
              </a:ext>
            </a:extLst>
          </p:cNvPr>
          <p:cNvSpPr txBox="1"/>
          <p:nvPr/>
        </p:nvSpPr>
        <p:spPr>
          <a:xfrm>
            <a:off x="1097280" y="5613400"/>
            <a:ext cx="2139315" cy="368300"/>
          </a:xfrm>
          <a:prstGeom prst="rect">
            <a:avLst/>
          </a:prstGeom>
          <a:noFill/>
          <a:ln w="19050">
            <a:solidFill>
              <a:schemeClr val="accent1"/>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800" b="1" i="0" u="none" strike="noStrike" kern="1200" cap="none" spc="0" normalizeH="0" baseline="0" noProof="0" dirty="0">
                <a:ln>
                  <a:noFill/>
                </a:ln>
                <a:solidFill>
                  <a:prstClr val="black"/>
                </a:solidFill>
                <a:effectLst/>
                <a:uLnTx/>
                <a:uFillTx/>
                <a:latin typeface="微软雅黑" charset="0"/>
                <a:ea typeface="微软雅黑" charset="0"/>
                <a:cs typeface="+mn-cs"/>
              </a:rPr>
              <a:t>逆合成：逆向分析</a:t>
            </a:r>
          </a:p>
        </p:txBody>
      </p:sp>
      <p:sp>
        <p:nvSpPr>
          <p:cNvPr id="158" name="圆角矩形 24">
            <a:extLst>
              <a:ext uri="{FF2B5EF4-FFF2-40B4-BE49-F238E27FC236}">
                <a16:creationId xmlns:a16="http://schemas.microsoft.com/office/drawing/2014/main" id="{8242DD0C-8894-C95F-0945-865982865661}"/>
              </a:ext>
            </a:extLst>
          </p:cNvPr>
          <p:cNvSpPr/>
          <p:nvPr/>
        </p:nvSpPr>
        <p:spPr>
          <a:xfrm>
            <a:off x="4083050" y="3773170"/>
            <a:ext cx="7793990" cy="2957830"/>
          </a:xfrm>
          <a:prstGeom prst="roundRect">
            <a:avLst>
              <a:gd name="adj" fmla="val 7578"/>
            </a:avLst>
          </a:prstGeom>
          <a:solidFill>
            <a:srgbClr val="B9261A"/>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59" name="圆角矩形 25">
            <a:extLst>
              <a:ext uri="{FF2B5EF4-FFF2-40B4-BE49-F238E27FC236}">
                <a16:creationId xmlns:a16="http://schemas.microsoft.com/office/drawing/2014/main" id="{1C83921F-9144-51C0-20C8-0F6E5746A171}"/>
              </a:ext>
            </a:extLst>
          </p:cNvPr>
          <p:cNvSpPr/>
          <p:nvPr/>
        </p:nvSpPr>
        <p:spPr>
          <a:xfrm>
            <a:off x="4095750" y="1118235"/>
            <a:ext cx="7780655" cy="2509520"/>
          </a:xfrm>
          <a:prstGeom prst="roundRect">
            <a:avLst>
              <a:gd name="adj" fmla="val 7236"/>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60" name="圆角矩形 26">
            <a:extLst>
              <a:ext uri="{FF2B5EF4-FFF2-40B4-BE49-F238E27FC236}">
                <a16:creationId xmlns:a16="http://schemas.microsoft.com/office/drawing/2014/main" id="{E5ACBA9E-7124-7ABB-72A6-4D8557BE3B09}"/>
              </a:ext>
            </a:extLst>
          </p:cNvPr>
          <p:cNvSpPr/>
          <p:nvPr/>
        </p:nvSpPr>
        <p:spPr>
          <a:xfrm>
            <a:off x="4744085" y="1156970"/>
            <a:ext cx="7099935" cy="2437130"/>
          </a:xfrm>
          <a:prstGeom prst="roundRect">
            <a:avLst>
              <a:gd name="adj" fmla="val 7529"/>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61" name="圆角矩形 27">
            <a:extLst>
              <a:ext uri="{FF2B5EF4-FFF2-40B4-BE49-F238E27FC236}">
                <a16:creationId xmlns:a16="http://schemas.microsoft.com/office/drawing/2014/main" id="{63AE3789-2E7A-4F5F-A2E4-A591E869DBA7}"/>
              </a:ext>
            </a:extLst>
          </p:cNvPr>
          <p:cNvSpPr/>
          <p:nvPr/>
        </p:nvSpPr>
        <p:spPr>
          <a:xfrm>
            <a:off x="4731385" y="3800475"/>
            <a:ext cx="7112635" cy="2886710"/>
          </a:xfrm>
          <a:prstGeom prst="roundRect">
            <a:avLst>
              <a:gd name="adj" fmla="val 6379"/>
            </a:avLst>
          </a:prstGeom>
          <a:solidFill>
            <a:srgbClr val="F6FDF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62" name="文本框 161">
            <a:extLst>
              <a:ext uri="{FF2B5EF4-FFF2-40B4-BE49-F238E27FC236}">
                <a16:creationId xmlns:a16="http://schemas.microsoft.com/office/drawing/2014/main" id="{7C473CB4-EEEE-F7C2-6CE3-8305BB97997E}"/>
              </a:ext>
            </a:extLst>
          </p:cNvPr>
          <p:cNvSpPr txBox="1"/>
          <p:nvPr/>
        </p:nvSpPr>
        <p:spPr>
          <a:xfrm>
            <a:off x="4170680" y="1360805"/>
            <a:ext cx="4064000" cy="204533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应</a:t>
            </a: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用</a:t>
            </a: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领</a:t>
            </a: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域</a:t>
            </a:r>
          </a:p>
        </p:txBody>
      </p:sp>
      <p:sp>
        <p:nvSpPr>
          <p:cNvPr id="163" name="文本框 162">
            <a:extLst>
              <a:ext uri="{FF2B5EF4-FFF2-40B4-BE49-F238E27FC236}">
                <a16:creationId xmlns:a16="http://schemas.microsoft.com/office/drawing/2014/main" id="{11C0A60A-C560-9F26-8BED-1F560523255B}"/>
              </a:ext>
            </a:extLst>
          </p:cNvPr>
          <p:cNvSpPr txBox="1"/>
          <p:nvPr/>
        </p:nvSpPr>
        <p:spPr>
          <a:xfrm>
            <a:off x="4150360" y="4237990"/>
            <a:ext cx="4064000" cy="2046714"/>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面</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临</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问</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题</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p:txBody>
      </p:sp>
      <p:pic>
        <p:nvPicPr>
          <p:cNvPr id="164" name="图片 163">
            <a:extLst>
              <a:ext uri="{FF2B5EF4-FFF2-40B4-BE49-F238E27FC236}">
                <a16:creationId xmlns:a16="http://schemas.microsoft.com/office/drawing/2014/main" id="{A3E925AB-9CA8-2FC2-3E37-58442C223A67}"/>
              </a:ext>
            </a:extLst>
          </p:cNvPr>
          <p:cNvPicPr>
            <a:picLocks noChangeAspect="1"/>
          </p:cNvPicPr>
          <p:nvPr>
            <p:custDataLst>
              <p:tags r:id="rId5"/>
            </p:custDataLst>
          </p:nvPr>
        </p:nvPicPr>
        <p:blipFill>
          <a:blip r:embed="rId21"/>
          <a:srcRect l="17714" r="17714"/>
          <a:stretch>
            <a:fillRect/>
          </a:stretch>
        </p:blipFill>
        <p:spPr>
          <a:xfrm>
            <a:off x="8355965" y="1646238"/>
            <a:ext cx="1553210" cy="1600835"/>
          </a:xfrm>
          <a:prstGeom prst="rect">
            <a:avLst/>
          </a:prstGeom>
          <a:effectLst>
            <a:softEdge rad="63500"/>
          </a:effectLst>
        </p:spPr>
      </p:pic>
      <p:sp>
        <p:nvSpPr>
          <p:cNvPr id="165" name="文本框 164">
            <a:extLst>
              <a:ext uri="{FF2B5EF4-FFF2-40B4-BE49-F238E27FC236}">
                <a16:creationId xmlns:a16="http://schemas.microsoft.com/office/drawing/2014/main" id="{2FDEEF66-2E64-1F0D-EFD5-232D10DA20DB}"/>
              </a:ext>
            </a:extLst>
          </p:cNvPr>
          <p:cNvSpPr txBox="1"/>
          <p:nvPr/>
        </p:nvSpPr>
        <p:spPr>
          <a:xfrm>
            <a:off x="8397240" y="1225233"/>
            <a:ext cx="1471930" cy="398780"/>
          </a:xfrm>
          <a:prstGeom prst="rect">
            <a:avLst/>
          </a:prstGeom>
          <a:noFill/>
          <a:ln w="19050">
            <a:solidFill>
              <a:schemeClr val="accent6"/>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农业现代化</a:t>
            </a:r>
          </a:p>
        </p:txBody>
      </p:sp>
      <p:pic>
        <p:nvPicPr>
          <p:cNvPr id="166" name="图片 165">
            <a:extLst>
              <a:ext uri="{FF2B5EF4-FFF2-40B4-BE49-F238E27FC236}">
                <a16:creationId xmlns:a16="http://schemas.microsoft.com/office/drawing/2014/main" id="{1AC0DE7C-A9C2-F80A-269F-23A2A031D2C5}"/>
              </a:ext>
            </a:extLst>
          </p:cNvPr>
          <p:cNvPicPr>
            <a:picLocks noChangeAspect="1"/>
          </p:cNvPicPr>
          <p:nvPr>
            <p:custDataLst>
              <p:tags r:id="rId6"/>
            </p:custDataLst>
          </p:nvPr>
        </p:nvPicPr>
        <p:blipFill>
          <a:blip r:embed="rId22"/>
          <a:srcRect l="13308" r="14829"/>
          <a:stretch>
            <a:fillRect/>
          </a:stretch>
        </p:blipFill>
        <p:spPr>
          <a:xfrm>
            <a:off x="4899025" y="1648143"/>
            <a:ext cx="1504315" cy="1597025"/>
          </a:xfrm>
          <a:prstGeom prst="rect">
            <a:avLst/>
          </a:prstGeom>
          <a:effectLst>
            <a:softEdge rad="63500"/>
          </a:effectLst>
        </p:spPr>
      </p:pic>
      <p:sp>
        <p:nvSpPr>
          <p:cNvPr id="167" name="文本框 166">
            <a:extLst>
              <a:ext uri="{FF2B5EF4-FFF2-40B4-BE49-F238E27FC236}">
                <a16:creationId xmlns:a16="http://schemas.microsoft.com/office/drawing/2014/main" id="{69E7704B-A060-2803-CD99-2DE4F1F25649}"/>
              </a:ext>
            </a:extLst>
          </p:cNvPr>
          <p:cNvSpPr txBox="1"/>
          <p:nvPr/>
        </p:nvSpPr>
        <p:spPr>
          <a:xfrm>
            <a:off x="4935855" y="1225233"/>
            <a:ext cx="1414145" cy="398780"/>
          </a:xfrm>
          <a:prstGeom prst="rect">
            <a:avLst/>
          </a:prstGeom>
          <a:noFill/>
          <a:ln w="19050">
            <a:solidFill>
              <a:schemeClr val="accent6"/>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尖端材料</a:t>
            </a:r>
          </a:p>
        </p:txBody>
      </p:sp>
      <p:sp>
        <p:nvSpPr>
          <p:cNvPr id="168" name="文本框 167">
            <a:extLst>
              <a:ext uri="{FF2B5EF4-FFF2-40B4-BE49-F238E27FC236}">
                <a16:creationId xmlns:a16="http://schemas.microsoft.com/office/drawing/2014/main" id="{1D85A94F-0E73-B428-13CE-0B882D171F67}"/>
              </a:ext>
            </a:extLst>
          </p:cNvPr>
          <p:cNvSpPr txBox="1"/>
          <p:nvPr/>
        </p:nvSpPr>
        <p:spPr>
          <a:xfrm>
            <a:off x="8142605" y="3220641"/>
            <a:ext cx="1915160" cy="39878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0" i="1" u="none" strike="noStrike" kern="1200" cap="none" spc="0" normalizeH="0" baseline="0" noProof="0">
                <a:ln>
                  <a:noFill/>
                </a:ln>
                <a:solidFill>
                  <a:prstClr val="black"/>
                </a:solidFill>
                <a:effectLst/>
                <a:uLnTx/>
                <a:uFillTx/>
                <a:latin typeface="微软雅黑" charset="0"/>
                <a:ea typeface="微软雅黑" charset="0"/>
                <a:cs typeface="+mn-cs"/>
              </a:rPr>
              <a:t>国家重大需求</a:t>
            </a:r>
          </a:p>
        </p:txBody>
      </p:sp>
      <p:sp>
        <p:nvSpPr>
          <p:cNvPr id="169" name="文本框 168">
            <a:extLst>
              <a:ext uri="{FF2B5EF4-FFF2-40B4-BE49-F238E27FC236}">
                <a16:creationId xmlns:a16="http://schemas.microsoft.com/office/drawing/2014/main" id="{5C07FC04-BD96-9BD1-8107-1CCE82604BC2}"/>
              </a:ext>
            </a:extLst>
          </p:cNvPr>
          <p:cNvSpPr txBox="1"/>
          <p:nvPr/>
        </p:nvSpPr>
        <p:spPr>
          <a:xfrm>
            <a:off x="4601210" y="3220641"/>
            <a:ext cx="2057400" cy="39878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0" i="1" u="none" strike="noStrike" kern="1200" cap="none" spc="0" normalizeH="0" baseline="0" noProof="0">
                <a:ln>
                  <a:noFill/>
                </a:ln>
                <a:solidFill>
                  <a:prstClr val="black"/>
                </a:solidFill>
                <a:effectLst/>
                <a:uLnTx/>
                <a:uFillTx/>
                <a:latin typeface="微软雅黑" charset="0"/>
                <a:ea typeface="微软雅黑" charset="0"/>
                <a:cs typeface="+mn-cs"/>
              </a:rPr>
              <a:t>世界科技前沿</a:t>
            </a:r>
          </a:p>
        </p:txBody>
      </p:sp>
      <p:pic>
        <p:nvPicPr>
          <p:cNvPr id="170" name="图片 169">
            <a:extLst>
              <a:ext uri="{FF2B5EF4-FFF2-40B4-BE49-F238E27FC236}">
                <a16:creationId xmlns:a16="http://schemas.microsoft.com/office/drawing/2014/main" id="{238CD441-3632-0006-5AC7-DAFB35764340}"/>
              </a:ext>
            </a:extLst>
          </p:cNvPr>
          <p:cNvPicPr>
            <a:picLocks noChangeAspect="1"/>
          </p:cNvPicPr>
          <p:nvPr>
            <p:custDataLst>
              <p:tags r:id="rId7"/>
            </p:custDataLst>
          </p:nvPr>
        </p:nvPicPr>
        <p:blipFill>
          <a:blip r:embed="rId23"/>
          <a:srcRect r="45644"/>
          <a:stretch>
            <a:fillRect/>
          </a:stretch>
        </p:blipFill>
        <p:spPr>
          <a:xfrm>
            <a:off x="6661150" y="1646555"/>
            <a:ext cx="1553210" cy="1600200"/>
          </a:xfrm>
          <a:prstGeom prst="rect">
            <a:avLst/>
          </a:prstGeom>
          <a:effectLst>
            <a:softEdge rad="63500"/>
          </a:effectLst>
        </p:spPr>
      </p:pic>
      <p:sp>
        <p:nvSpPr>
          <p:cNvPr id="171" name="文本框 170">
            <a:extLst>
              <a:ext uri="{FF2B5EF4-FFF2-40B4-BE49-F238E27FC236}">
                <a16:creationId xmlns:a16="http://schemas.microsoft.com/office/drawing/2014/main" id="{537715BA-972A-2AC1-EAE1-9460408AAB76}"/>
              </a:ext>
            </a:extLst>
          </p:cNvPr>
          <p:cNvSpPr txBox="1"/>
          <p:nvPr/>
        </p:nvSpPr>
        <p:spPr>
          <a:xfrm>
            <a:off x="6696075" y="1225233"/>
            <a:ext cx="1478915" cy="398780"/>
          </a:xfrm>
          <a:prstGeom prst="rect">
            <a:avLst/>
          </a:prstGeom>
          <a:noFill/>
          <a:ln w="19050">
            <a:solidFill>
              <a:schemeClr val="accent6"/>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新能源</a:t>
            </a:r>
          </a:p>
        </p:txBody>
      </p:sp>
      <p:sp>
        <p:nvSpPr>
          <p:cNvPr id="172" name="文本框 171">
            <a:extLst>
              <a:ext uri="{FF2B5EF4-FFF2-40B4-BE49-F238E27FC236}">
                <a16:creationId xmlns:a16="http://schemas.microsoft.com/office/drawing/2014/main" id="{9FDDEA5F-22B9-2A61-9C2C-246C4EB0EBF4}"/>
              </a:ext>
            </a:extLst>
          </p:cNvPr>
          <p:cNvSpPr txBox="1"/>
          <p:nvPr/>
        </p:nvSpPr>
        <p:spPr>
          <a:xfrm>
            <a:off x="6583045" y="3220641"/>
            <a:ext cx="1645920" cy="39878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0" i="1" u="none" strike="noStrike" kern="1200" cap="none" spc="0" normalizeH="0" baseline="0" noProof="0">
                <a:ln>
                  <a:noFill/>
                </a:ln>
                <a:solidFill>
                  <a:prstClr val="black"/>
                </a:solidFill>
                <a:effectLst/>
                <a:uLnTx/>
                <a:uFillTx/>
                <a:latin typeface="微软雅黑" charset="0"/>
                <a:ea typeface="微软雅黑" charset="0"/>
                <a:cs typeface="+mn-cs"/>
              </a:rPr>
              <a:t>经济主战场</a:t>
            </a:r>
          </a:p>
        </p:txBody>
      </p:sp>
      <p:pic>
        <p:nvPicPr>
          <p:cNvPr id="173" name="图片 172">
            <a:extLst>
              <a:ext uri="{FF2B5EF4-FFF2-40B4-BE49-F238E27FC236}">
                <a16:creationId xmlns:a16="http://schemas.microsoft.com/office/drawing/2014/main" id="{1CA1B803-B102-54C4-51F1-8EEE9B1B80DF}"/>
              </a:ext>
            </a:extLst>
          </p:cNvPr>
          <p:cNvPicPr>
            <a:picLocks noChangeAspect="1"/>
          </p:cNvPicPr>
          <p:nvPr>
            <p:custDataLst>
              <p:tags r:id="rId8"/>
            </p:custDataLst>
          </p:nvPr>
        </p:nvPicPr>
        <p:blipFill>
          <a:blip r:embed="rId24"/>
          <a:srcRect l="16933" r="28711"/>
          <a:stretch>
            <a:fillRect/>
          </a:stretch>
        </p:blipFill>
        <p:spPr>
          <a:xfrm>
            <a:off x="10111105" y="1646555"/>
            <a:ext cx="1553210" cy="1600200"/>
          </a:xfrm>
          <a:prstGeom prst="rect">
            <a:avLst/>
          </a:prstGeom>
          <a:effectLst>
            <a:softEdge rad="63500"/>
          </a:effectLst>
        </p:spPr>
      </p:pic>
      <p:sp>
        <p:nvSpPr>
          <p:cNvPr id="174" name="文本框 173">
            <a:extLst>
              <a:ext uri="{FF2B5EF4-FFF2-40B4-BE49-F238E27FC236}">
                <a16:creationId xmlns:a16="http://schemas.microsoft.com/office/drawing/2014/main" id="{31CF62FD-89EE-6A0E-9E96-FE2966F23E67}"/>
              </a:ext>
            </a:extLst>
          </p:cNvPr>
          <p:cNvSpPr txBox="1"/>
          <p:nvPr/>
        </p:nvSpPr>
        <p:spPr>
          <a:xfrm>
            <a:off x="10171430" y="1225233"/>
            <a:ext cx="1414145" cy="398780"/>
          </a:xfrm>
          <a:prstGeom prst="rect">
            <a:avLst/>
          </a:prstGeom>
          <a:noFill/>
          <a:ln w="19050">
            <a:solidFill>
              <a:schemeClr val="accent6"/>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生物医疗</a:t>
            </a:r>
          </a:p>
        </p:txBody>
      </p:sp>
      <p:sp>
        <p:nvSpPr>
          <p:cNvPr id="175" name="文本框 174">
            <a:extLst>
              <a:ext uri="{FF2B5EF4-FFF2-40B4-BE49-F238E27FC236}">
                <a16:creationId xmlns:a16="http://schemas.microsoft.com/office/drawing/2014/main" id="{C5672CCC-1FD6-260F-6157-E4DA70E77452}"/>
              </a:ext>
            </a:extLst>
          </p:cNvPr>
          <p:cNvSpPr txBox="1"/>
          <p:nvPr/>
        </p:nvSpPr>
        <p:spPr>
          <a:xfrm>
            <a:off x="9923145" y="3220641"/>
            <a:ext cx="1882140" cy="39878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0" i="1" u="none" strike="noStrike" kern="1200" cap="none" spc="0" normalizeH="0" baseline="0" noProof="0">
                <a:ln>
                  <a:noFill/>
                </a:ln>
                <a:solidFill>
                  <a:prstClr val="black"/>
                </a:solidFill>
                <a:effectLst/>
                <a:uLnTx/>
                <a:uFillTx/>
                <a:latin typeface="微软雅黑" charset="0"/>
                <a:ea typeface="微软雅黑" charset="0"/>
                <a:cs typeface="+mn-cs"/>
              </a:rPr>
              <a:t>人民身体健康</a:t>
            </a:r>
          </a:p>
        </p:txBody>
      </p:sp>
      <p:sp>
        <p:nvSpPr>
          <p:cNvPr id="176" name="文本框 175">
            <a:extLst>
              <a:ext uri="{FF2B5EF4-FFF2-40B4-BE49-F238E27FC236}">
                <a16:creationId xmlns:a16="http://schemas.microsoft.com/office/drawing/2014/main" id="{1AD18149-DED5-7660-B299-90D8670045DE}"/>
              </a:ext>
            </a:extLst>
          </p:cNvPr>
          <p:cNvSpPr txBox="1"/>
          <p:nvPr/>
        </p:nvSpPr>
        <p:spPr>
          <a:xfrm>
            <a:off x="7402830" y="5834380"/>
            <a:ext cx="1758315" cy="783590"/>
          </a:xfrm>
          <a:prstGeom prst="rect">
            <a:avLst/>
          </a:prstGeom>
          <a:solidFill>
            <a:schemeClr val="bg1"/>
          </a:solidFill>
          <a:ln w="19050">
            <a:solidFill>
              <a:srgbClr val="C00000"/>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dirty="0">
                <a:ln>
                  <a:noFill/>
                </a:ln>
                <a:solidFill>
                  <a:prstClr val="black"/>
                </a:solidFill>
                <a:effectLst/>
                <a:uLnTx/>
                <a:uFillTx/>
                <a:latin typeface="微软雅黑" charset="0"/>
                <a:ea typeface="微软雅黑" charset="0"/>
                <a:cs typeface="+mn-cs"/>
              </a:rPr>
              <a:t>化学信息复杂</a:t>
            </a:r>
          </a:p>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dirty="0">
                <a:ln>
                  <a:noFill/>
                </a:ln>
                <a:solidFill>
                  <a:prstClr val="black"/>
                </a:solidFill>
                <a:effectLst/>
                <a:uLnTx/>
                <a:uFillTx/>
                <a:latin typeface="微软雅黑" charset="0"/>
                <a:ea typeface="微软雅黑" charset="0"/>
                <a:cs typeface="+mn-cs"/>
              </a:rPr>
              <a:t>表示模态交织</a:t>
            </a:r>
          </a:p>
        </p:txBody>
      </p:sp>
      <p:sp>
        <p:nvSpPr>
          <p:cNvPr id="177" name="文本框 176">
            <a:extLst>
              <a:ext uri="{FF2B5EF4-FFF2-40B4-BE49-F238E27FC236}">
                <a16:creationId xmlns:a16="http://schemas.microsoft.com/office/drawing/2014/main" id="{9E70B4BB-531A-DDE6-4F96-66A50736435B}"/>
              </a:ext>
            </a:extLst>
          </p:cNvPr>
          <p:cNvSpPr txBox="1"/>
          <p:nvPr/>
        </p:nvSpPr>
        <p:spPr>
          <a:xfrm>
            <a:off x="9750342" y="5832475"/>
            <a:ext cx="1757680" cy="783590"/>
          </a:xfrm>
          <a:prstGeom prst="rect">
            <a:avLst/>
          </a:prstGeom>
          <a:solidFill>
            <a:schemeClr val="bg1"/>
          </a:solidFill>
          <a:ln w="19050">
            <a:solidFill>
              <a:srgbClr val="C00000"/>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模型知识不足</a:t>
            </a:r>
          </a:p>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专家干预困难</a:t>
            </a:r>
          </a:p>
        </p:txBody>
      </p:sp>
      <p:sp>
        <p:nvSpPr>
          <p:cNvPr id="178" name="圆角矩形 63">
            <a:extLst>
              <a:ext uri="{FF2B5EF4-FFF2-40B4-BE49-F238E27FC236}">
                <a16:creationId xmlns:a16="http://schemas.microsoft.com/office/drawing/2014/main" id="{F97471D4-026D-6EB5-1AE7-96444CE1DFA2}"/>
              </a:ext>
            </a:extLst>
          </p:cNvPr>
          <p:cNvSpPr/>
          <p:nvPr/>
        </p:nvSpPr>
        <p:spPr>
          <a:xfrm>
            <a:off x="7404100" y="4951095"/>
            <a:ext cx="1758315" cy="845185"/>
          </a:xfrm>
          <a:prstGeom prst="roundRect">
            <a:avLst>
              <a:gd name="adj" fmla="val 10225"/>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79" name="圆角矩形 64">
            <a:extLst>
              <a:ext uri="{FF2B5EF4-FFF2-40B4-BE49-F238E27FC236}">
                <a16:creationId xmlns:a16="http://schemas.microsoft.com/office/drawing/2014/main" id="{BBC16D37-A6D7-9C55-FD6E-1C3748F75ACE}"/>
              </a:ext>
            </a:extLst>
          </p:cNvPr>
          <p:cNvSpPr/>
          <p:nvPr/>
        </p:nvSpPr>
        <p:spPr>
          <a:xfrm>
            <a:off x="7404100" y="3861435"/>
            <a:ext cx="1757680" cy="1191895"/>
          </a:xfrm>
          <a:prstGeom prst="roundRect">
            <a:avLst>
              <a:gd name="adj" fmla="val 10225"/>
            </a:avLst>
          </a:prstGeom>
          <a:solidFill>
            <a:srgbClr val="F2F2F2"/>
          </a:solidFill>
          <a:ln w="38100">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80" name="圆角矩形 65">
            <a:extLst>
              <a:ext uri="{FF2B5EF4-FFF2-40B4-BE49-F238E27FC236}">
                <a16:creationId xmlns:a16="http://schemas.microsoft.com/office/drawing/2014/main" id="{8E2D9375-4D15-5F04-F1A7-23B256B99251}"/>
              </a:ext>
            </a:extLst>
          </p:cNvPr>
          <p:cNvSpPr/>
          <p:nvPr/>
        </p:nvSpPr>
        <p:spPr>
          <a:xfrm>
            <a:off x="4817110" y="3917315"/>
            <a:ext cx="2444115" cy="1795780"/>
          </a:xfrm>
          <a:prstGeom prst="roundRect">
            <a:avLst>
              <a:gd name="adj" fmla="val 10225"/>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pic>
        <p:nvPicPr>
          <p:cNvPr id="181" name="图片 180" descr="截屏2023-11-10 14.51.22">
            <a:extLst>
              <a:ext uri="{FF2B5EF4-FFF2-40B4-BE49-F238E27FC236}">
                <a16:creationId xmlns:a16="http://schemas.microsoft.com/office/drawing/2014/main" id="{3DBAD133-CD37-EBE8-43C8-24D67C7B69FA}"/>
              </a:ext>
            </a:extLst>
          </p:cNvPr>
          <p:cNvPicPr>
            <a:picLocks noChangeAspect="1"/>
          </p:cNvPicPr>
          <p:nvPr>
            <p:custDataLst>
              <p:tags r:id="rId9"/>
            </p:custDataLst>
          </p:nvPr>
        </p:nvPicPr>
        <p:blipFill>
          <a:blip r:embed="rId25"/>
          <a:srcRect r="63295"/>
          <a:stretch>
            <a:fillRect/>
          </a:stretch>
        </p:blipFill>
        <p:spPr>
          <a:xfrm>
            <a:off x="7589520" y="4418330"/>
            <a:ext cx="677545" cy="392430"/>
          </a:xfrm>
          <a:prstGeom prst="rect">
            <a:avLst/>
          </a:prstGeom>
        </p:spPr>
      </p:pic>
      <p:pic>
        <p:nvPicPr>
          <p:cNvPr id="182" name="图片 181" descr="截屏2023-11-10 14.51.22">
            <a:extLst>
              <a:ext uri="{FF2B5EF4-FFF2-40B4-BE49-F238E27FC236}">
                <a16:creationId xmlns:a16="http://schemas.microsoft.com/office/drawing/2014/main" id="{804C8F03-6333-959A-E3D8-6B800B4C0FB9}"/>
              </a:ext>
            </a:extLst>
          </p:cNvPr>
          <p:cNvPicPr>
            <a:picLocks noChangeAspect="1"/>
          </p:cNvPicPr>
          <p:nvPr>
            <p:custDataLst>
              <p:tags r:id="rId10"/>
            </p:custDataLst>
          </p:nvPr>
        </p:nvPicPr>
        <p:blipFill>
          <a:blip r:embed="rId25"/>
          <a:srcRect l="68662"/>
          <a:stretch>
            <a:fillRect/>
          </a:stretch>
        </p:blipFill>
        <p:spPr>
          <a:xfrm>
            <a:off x="8030845" y="3877310"/>
            <a:ext cx="578485" cy="392430"/>
          </a:xfrm>
          <a:prstGeom prst="rect">
            <a:avLst/>
          </a:prstGeom>
        </p:spPr>
      </p:pic>
      <p:pic>
        <p:nvPicPr>
          <p:cNvPr id="183" name="图片 182" descr="截屏2023-11-10 14.51.22">
            <a:extLst>
              <a:ext uri="{FF2B5EF4-FFF2-40B4-BE49-F238E27FC236}">
                <a16:creationId xmlns:a16="http://schemas.microsoft.com/office/drawing/2014/main" id="{135CDC44-9C13-5553-B25B-800E31E1A017}"/>
              </a:ext>
            </a:extLst>
          </p:cNvPr>
          <p:cNvPicPr>
            <a:picLocks noChangeAspect="1"/>
          </p:cNvPicPr>
          <p:nvPr>
            <p:custDataLst>
              <p:tags r:id="rId11"/>
            </p:custDataLst>
          </p:nvPr>
        </p:nvPicPr>
        <p:blipFill>
          <a:blip r:embed="rId25"/>
          <a:srcRect l="36704" r="31579"/>
          <a:stretch>
            <a:fillRect/>
          </a:stretch>
        </p:blipFill>
        <p:spPr>
          <a:xfrm>
            <a:off x="8397240" y="4418330"/>
            <a:ext cx="585470" cy="392430"/>
          </a:xfrm>
          <a:prstGeom prst="rect">
            <a:avLst/>
          </a:prstGeom>
        </p:spPr>
      </p:pic>
      <p:sp>
        <p:nvSpPr>
          <p:cNvPr id="184" name="文本框 183">
            <a:extLst>
              <a:ext uri="{FF2B5EF4-FFF2-40B4-BE49-F238E27FC236}">
                <a16:creationId xmlns:a16="http://schemas.microsoft.com/office/drawing/2014/main" id="{FD4E59A2-94FD-951B-9D9F-51D475CC8110}"/>
              </a:ext>
            </a:extLst>
          </p:cNvPr>
          <p:cNvSpPr txBox="1"/>
          <p:nvPr/>
        </p:nvSpPr>
        <p:spPr>
          <a:xfrm>
            <a:off x="7838440" y="4236085"/>
            <a:ext cx="1018540" cy="306705"/>
          </a:xfrm>
          <a:prstGeom prst="rect">
            <a:avLst/>
          </a:prstGeom>
          <a:noFill/>
          <a:effectLst>
            <a:outerShdw blurRad="50800" dist="38100" dir="2700000" algn="tl" rotWithShape="0">
              <a:schemeClr val="bg1">
                <a:alpha val="40000"/>
              </a:schemeClr>
            </a:outerShdw>
          </a:effectLst>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高维表示</a:t>
            </a:r>
          </a:p>
        </p:txBody>
      </p:sp>
      <p:sp>
        <p:nvSpPr>
          <p:cNvPr id="185" name="文本框 184">
            <a:extLst>
              <a:ext uri="{FF2B5EF4-FFF2-40B4-BE49-F238E27FC236}">
                <a16:creationId xmlns:a16="http://schemas.microsoft.com/office/drawing/2014/main" id="{E6582724-114E-2830-E57B-0EFF6E2E0149}"/>
              </a:ext>
            </a:extLst>
          </p:cNvPr>
          <p:cNvSpPr txBox="1"/>
          <p:nvPr/>
        </p:nvSpPr>
        <p:spPr>
          <a:xfrm>
            <a:off x="7461250" y="4724400"/>
            <a:ext cx="1018540" cy="306705"/>
          </a:xfrm>
          <a:prstGeom prst="rect">
            <a:avLst/>
          </a:prstGeom>
          <a:noFill/>
          <a:effectLst>
            <a:outerShdw blurRad="50800" dist="38100" dir="2700000" algn="tl" rotWithShape="0">
              <a:schemeClr val="bg1">
                <a:alpha val="40000"/>
              </a:schemeClr>
            </a:outerShdw>
          </a:effectLst>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一维表示</a:t>
            </a:r>
          </a:p>
        </p:txBody>
      </p:sp>
      <p:sp>
        <p:nvSpPr>
          <p:cNvPr id="186" name="文本框 185">
            <a:extLst>
              <a:ext uri="{FF2B5EF4-FFF2-40B4-BE49-F238E27FC236}">
                <a16:creationId xmlns:a16="http://schemas.microsoft.com/office/drawing/2014/main" id="{C0BADEA3-4C75-C79E-B236-FAF802183908}"/>
              </a:ext>
            </a:extLst>
          </p:cNvPr>
          <p:cNvSpPr txBox="1"/>
          <p:nvPr/>
        </p:nvSpPr>
        <p:spPr>
          <a:xfrm>
            <a:off x="8257540" y="4727575"/>
            <a:ext cx="1018540" cy="306705"/>
          </a:xfrm>
          <a:prstGeom prst="rect">
            <a:avLst/>
          </a:prstGeom>
          <a:noFill/>
          <a:effectLst>
            <a:outerShdw blurRad="50800" dist="38100" dir="2700000" algn="tl" rotWithShape="0">
              <a:schemeClr val="bg1">
                <a:alpha val="40000"/>
              </a:schemeClr>
            </a:outerShdw>
          </a:effectLst>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二维表示</a:t>
            </a:r>
          </a:p>
        </p:txBody>
      </p:sp>
      <p:sp>
        <p:nvSpPr>
          <p:cNvPr id="187" name="文本框 186">
            <a:extLst>
              <a:ext uri="{FF2B5EF4-FFF2-40B4-BE49-F238E27FC236}">
                <a16:creationId xmlns:a16="http://schemas.microsoft.com/office/drawing/2014/main" id="{6BB29947-1984-4F26-740E-A5281BB62155}"/>
              </a:ext>
            </a:extLst>
          </p:cNvPr>
          <p:cNvSpPr txBox="1"/>
          <p:nvPr/>
        </p:nvSpPr>
        <p:spPr>
          <a:xfrm>
            <a:off x="7369810" y="5558155"/>
            <a:ext cx="101854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文本描述</a:t>
            </a:r>
          </a:p>
        </p:txBody>
      </p:sp>
      <p:sp>
        <p:nvSpPr>
          <p:cNvPr id="188" name="文本框 187">
            <a:extLst>
              <a:ext uri="{FF2B5EF4-FFF2-40B4-BE49-F238E27FC236}">
                <a16:creationId xmlns:a16="http://schemas.microsoft.com/office/drawing/2014/main" id="{7F52BB8B-FAEC-C6D4-2749-470804174A94}"/>
              </a:ext>
            </a:extLst>
          </p:cNvPr>
          <p:cNvSpPr txBox="1"/>
          <p:nvPr/>
        </p:nvSpPr>
        <p:spPr>
          <a:xfrm>
            <a:off x="8228330" y="5558155"/>
            <a:ext cx="101854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文献插图</a:t>
            </a:r>
          </a:p>
        </p:txBody>
      </p:sp>
      <p:pic>
        <p:nvPicPr>
          <p:cNvPr id="189" name="图片 188" descr="截屏2023-11-10 14.50.25">
            <a:extLst>
              <a:ext uri="{FF2B5EF4-FFF2-40B4-BE49-F238E27FC236}">
                <a16:creationId xmlns:a16="http://schemas.microsoft.com/office/drawing/2014/main" id="{82B9D270-2EAF-5DE3-E7D2-339B3D419BCB}"/>
              </a:ext>
            </a:extLst>
          </p:cNvPr>
          <p:cNvPicPr>
            <a:picLocks noChangeAspect="1"/>
          </p:cNvPicPr>
          <p:nvPr>
            <p:custDataLst>
              <p:tags r:id="rId12"/>
            </p:custDataLst>
          </p:nvPr>
        </p:nvPicPr>
        <p:blipFill>
          <a:blip r:embed="rId26"/>
          <a:stretch>
            <a:fillRect/>
          </a:stretch>
        </p:blipFill>
        <p:spPr>
          <a:xfrm>
            <a:off x="7444105" y="5019675"/>
            <a:ext cx="1661160" cy="600710"/>
          </a:xfrm>
          <a:prstGeom prst="rect">
            <a:avLst/>
          </a:prstGeom>
        </p:spPr>
      </p:pic>
      <p:sp>
        <p:nvSpPr>
          <p:cNvPr id="190" name="圆角矩形 67">
            <a:extLst>
              <a:ext uri="{FF2B5EF4-FFF2-40B4-BE49-F238E27FC236}">
                <a16:creationId xmlns:a16="http://schemas.microsoft.com/office/drawing/2014/main" id="{142F6FA1-6E11-FCE7-8F2A-5158E4D227D8}"/>
              </a:ext>
            </a:extLst>
          </p:cNvPr>
          <p:cNvSpPr/>
          <p:nvPr/>
        </p:nvSpPr>
        <p:spPr>
          <a:xfrm>
            <a:off x="9546590" y="3934460"/>
            <a:ext cx="2139315" cy="1836420"/>
          </a:xfrm>
          <a:prstGeom prst="roundRect">
            <a:avLst>
              <a:gd name="adj" fmla="val 10225"/>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91" name="文本框 190">
            <a:extLst>
              <a:ext uri="{FF2B5EF4-FFF2-40B4-BE49-F238E27FC236}">
                <a16:creationId xmlns:a16="http://schemas.microsoft.com/office/drawing/2014/main" id="{8D2F231C-D198-9D80-AB72-0D288E6E5106}"/>
              </a:ext>
            </a:extLst>
          </p:cNvPr>
          <p:cNvSpPr txBox="1"/>
          <p:nvPr/>
        </p:nvSpPr>
        <p:spPr>
          <a:xfrm>
            <a:off x="5127542" y="5834380"/>
            <a:ext cx="1758315" cy="783590"/>
          </a:xfrm>
          <a:prstGeom prst="rect">
            <a:avLst/>
          </a:prstGeom>
          <a:solidFill>
            <a:schemeClr val="bg1"/>
          </a:solidFill>
          <a:ln w="19050">
            <a:solidFill>
              <a:srgbClr val="C00000"/>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dirty="0">
                <a:ln>
                  <a:noFill/>
                </a:ln>
                <a:solidFill>
                  <a:prstClr val="black"/>
                </a:solidFill>
                <a:effectLst/>
                <a:uLnTx/>
                <a:uFillTx/>
                <a:latin typeface="微软雅黑" charset="0"/>
                <a:ea typeface="微软雅黑" charset="0"/>
                <a:cs typeface="+mn-cs"/>
              </a:rPr>
              <a:t>化学空间巨大</a:t>
            </a:r>
          </a:p>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dirty="0">
                <a:ln>
                  <a:noFill/>
                </a:ln>
                <a:solidFill>
                  <a:prstClr val="black"/>
                </a:solidFill>
                <a:effectLst/>
                <a:uLnTx/>
                <a:uFillTx/>
                <a:latin typeface="微软雅黑" charset="0"/>
                <a:ea typeface="微软雅黑" charset="0"/>
                <a:cs typeface="+mn-cs"/>
              </a:rPr>
              <a:t>反应路径多样</a:t>
            </a:r>
          </a:p>
        </p:txBody>
      </p:sp>
      <p:pic>
        <p:nvPicPr>
          <p:cNvPr id="192" name="图片 191" descr="截屏2023-11-10 14.41.38">
            <a:extLst>
              <a:ext uri="{FF2B5EF4-FFF2-40B4-BE49-F238E27FC236}">
                <a16:creationId xmlns:a16="http://schemas.microsoft.com/office/drawing/2014/main" id="{58F7D278-2E4C-7435-A685-2743D183454F}"/>
              </a:ext>
            </a:extLst>
          </p:cNvPr>
          <p:cNvPicPr>
            <a:picLocks noChangeAspect="1"/>
          </p:cNvPicPr>
          <p:nvPr>
            <p:custDataLst>
              <p:tags r:id="rId13"/>
            </p:custDataLst>
          </p:nvPr>
        </p:nvPicPr>
        <p:blipFill>
          <a:blip r:embed="rId27"/>
          <a:stretch>
            <a:fillRect/>
          </a:stretch>
        </p:blipFill>
        <p:spPr>
          <a:xfrm>
            <a:off x="5037455" y="4290695"/>
            <a:ext cx="2057400" cy="1132840"/>
          </a:xfrm>
          <a:prstGeom prst="rect">
            <a:avLst/>
          </a:prstGeom>
        </p:spPr>
      </p:pic>
      <p:sp>
        <p:nvSpPr>
          <p:cNvPr id="193" name="文本框 192">
            <a:extLst>
              <a:ext uri="{FF2B5EF4-FFF2-40B4-BE49-F238E27FC236}">
                <a16:creationId xmlns:a16="http://schemas.microsoft.com/office/drawing/2014/main" id="{7567BE2C-9CE3-1EFF-3AAF-A2D28E774620}"/>
              </a:ext>
            </a:extLst>
          </p:cNvPr>
          <p:cNvSpPr txBox="1"/>
          <p:nvPr/>
        </p:nvSpPr>
        <p:spPr>
          <a:xfrm>
            <a:off x="5175250" y="3989070"/>
            <a:ext cx="1553210" cy="33718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600" b="0" i="0" u="none" strike="noStrike" kern="1200" cap="none" spc="0" normalizeH="0" baseline="0" noProof="0" dirty="0">
                <a:ln>
                  <a:noFill/>
                </a:ln>
                <a:solidFill>
                  <a:srgbClr val="7161C6"/>
                </a:solidFill>
                <a:effectLst/>
                <a:uLnTx/>
                <a:uFillTx/>
                <a:latin typeface="微软雅黑" charset="0"/>
                <a:ea typeface="微软雅黑" charset="0"/>
                <a:cs typeface="+mn-cs"/>
              </a:rPr>
              <a:t>目标化合物</a:t>
            </a:r>
          </a:p>
        </p:txBody>
      </p:sp>
      <p:sp>
        <p:nvSpPr>
          <p:cNvPr id="194" name="文本框 193">
            <a:extLst>
              <a:ext uri="{FF2B5EF4-FFF2-40B4-BE49-F238E27FC236}">
                <a16:creationId xmlns:a16="http://schemas.microsoft.com/office/drawing/2014/main" id="{2299BE3A-253D-26B4-FE3D-7EF013076688}"/>
              </a:ext>
            </a:extLst>
          </p:cNvPr>
          <p:cNvSpPr txBox="1"/>
          <p:nvPr/>
        </p:nvSpPr>
        <p:spPr>
          <a:xfrm>
            <a:off x="4621530" y="5160645"/>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1</a:t>
            </a:r>
          </a:p>
        </p:txBody>
      </p:sp>
      <p:sp>
        <p:nvSpPr>
          <p:cNvPr id="195" name="文本框 194">
            <a:extLst>
              <a:ext uri="{FF2B5EF4-FFF2-40B4-BE49-F238E27FC236}">
                <a16:creationId xmlns:a16="http://schemas.microsoft.com/office/drawing/2014/main" id="{321AF903-AEAF-9A57-F069-B10D761758F3}"/>
              </a:ext>
            </a:extLst>
          </p:cNvPr>
          <p:cNvSpPr txBox="1"/>
          <p:nvPr/>
        </p:nvSpPr>
        <p:spPr>
          <a:xfrm>
            <a:off x="5058410" y="5315585"/>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2</a:t>
            </a:r>
          </a:p>
        </p:txBody>
      </p:sp>
      <p:sp>
        <p:nvSpPr>
          <p:cNvPr id="196" name="文本框 195">
            <a:extLst>
              <a:ext uri="{FF2B5EF4-FFF2-40B4-BE49-F238E27FC236}">
                <a16:creationId xmlns:a16="http://schemas.microsoft.com/office/drawing/2014/main" id="{B7EF8E1F-6767-0A6F-D8CB-43A5A15FFF3B}"/>
              </a:ext>
            </a:extLst>
          </p:cNvPr>
          <p:cNvSpPr txBox="1"/>
          <p:nvPr/>
        </p:nvSpPr>
        <p:spPr>
          <a:xfrm>
            <a:off x="5598795" y="5398770"/>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3</a:t>
            </a:r>
          </a:p>
        </p:txBody>
      </p:sp>
      <p:sp>
        <p:nvSpPr>
          <p:cNvPr id="197" name="文本框 196">
            <a:extLst>
              <a:ext uri="{FF2B5EF4-FFF2-40B4-BE49-F238E27FC236}">
                <a16:creationId xmlns:a16="http://schemas.microsoft.com/office/drawing/2014/main" id="{94235C35-7CCC-EDF1-9C3F-525510B24537}"/>
              </a:ext>
            </a:extLst>
          </p:cNvPr>
          <p:cNvSpPr txBox="1"/>
          <p:nvPr/>
        </p:nvSpPr>
        <p:spPr>
          <a:xfrm>
            <a:off x="6206490" y="5308600"/>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4</a:t>
            </a:r>
          </a:p>
        </p:txBody>
      </p:sp>
      <p:sp>
        <p:nvSpPr>
          <p:cNvPr id="198" name="文本框 197">
            <a:extLst>
              <a:ext uri="{FF2B5EF4-FFF2-40B4-BE49-F238E27FC236}">
                <a16:creationId xmlns:a16="http://schemas.microsoft.com/office/drawing/2014/main" id="{55E9C926-75E2-D31F-547D-018D20CDE7A1}"/>
              </a:ext>
            </a:extLst>
          </p:cNvPr>
          <p:cNvSpPr txBox="1"/>
          <p:nvPr/>
        </p:nvSpPr>
        <p:spPr>
          <a:xfrm rot="19440000">
            <a:off x="4789805" y="4427855"/>
            <a:ext cx="1018540" cy="30670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路径多样</a:t>
            </a:r>
          </a:p>
        </p:txBody>
      </p:sp>
      <p:sp>
        <p:nvSpPr>
          <p:cNvPr id="199" name="文本框 198">
            <a:extLst>
              <a:ext uri="{FF2B5EF4-FFF2-40B4-BE49-F238E27FC236}">
                <a16:creationId xmlns:a16="http://schemas.microsoft.com/office/drawing/2014/main" id="{7E29AA6F-4188-7D98-16C3-DD907CE9EA00}"/>
              </a:ext>
            </a:extLst>
          </p:cNvPr>
          <p:cNvSpPr txBox="1"/>
          <p:nvPr/>
        </p:nvSpPr>
        <p:spPr>
          <a:xfrm rot="1740000">
            <a:off x="6333490" y="4354195"/>
            <a:ext cx="1018540" cy="30670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产物复杂</a:t>
            </a:r>
          </a:p>
        </p:txBody>
      </p:sp>
      <p:sp>
        <p:nvSpPr>
          <p:cNvPr id="200" name="文本框 199">
            <a:extLst>
              <a:ext uri="{FF2B5EF4-FFF2-40B4-BE49-F238E27FC236}">
                <a16:creationId xmlns:a16="http://schemas.microsoft.com/office/drawing/2014/main" id="{DA6CE892-D727-1053-FA63-BD21BB5E5C28}"/>
              </a:ext>
            </a:extLst>
          </p:cNvPr>
          <p:cNvSpPr txBox="1"/>
          <p:nvPr/>
        </p:nvSpPr>
        <p:spPr>
          <a:xfrm>
            <a:off x="6518910" y="4792345"/>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5</a:t>
            </a:r>
          </a:p>
        </p:txBody>
      </p:sp>
      <p:pic>
        <p:nvPicPr>
          <p:cNvPr id="201" name="图片 200">
            <a:extLst>
              <a:ext uri="{FF2B5EF4-FFF2-40B4-BE49-F238E27FC236}">
                <a16:creationId xmlns:a16="http://schemas.microsoft.com/office/drawing/2014/main" id="{4DAD1144-EB09-CFB8-EF03-BDB91C61A932}"/>
              </a:ext>
            </a:extLst>
          </p:cNvPr>
          <p:cNvPicPr>
            <a:picLocks noChangeAspect="1"/>
          </p:cNvPicPr>
          <p:nvPr>
            <p:custDataLst>
              <p:tags r:id="rId14"/>
            </p:custDataLst>
          </p:nvPr>
        </p:nvPicPr>
        <p:blipFill>
          <a:blip r:embed="rId28"/>
          <a:srcRect l="7609" r="9966"/>
          <a:stretch>
            <a:fillRect/>
          </a:stretch>
        </p:blipFill>
        <p:spPr>
          <a:xfrm>
            <a:off x="9609455" y="4030345"/>
            <a:ext cx="2005330" cy="1664970"/>
          </a:xfrm>
          <a:prstGeom prst="rect">
            <a:avLst/>
          </a:prstGeom>
        </p:spPr>
      </p:pic>
      <p:sp>
        <p:nvSpPr>
          <p:cNvPr id="202" name="文本框 201">
            <a:extLst>
              <a:ext uri="{FF2B5EF4-FFF2-40B4-BE49-F238E27FC236}">
                <a16:creationId xmlns:a16="http://schemas.microsoft.com/office/drawing/2014/main" id="{E0034C6A-A630-4C77-877A-58D165D1558E}"/>
              </a:ext>
            </a:extLst>
          </p:cNvPr>
          <p:cNvSpPr txBox="1"/>
          <p:nvPr/>
        </p:nvSpPr>
        <p:spPr>
          <a:xfrm>
            <a:off x="9792335" y="5314950"/>
            <a:ext cx="943610" cy="276860"/>
          </a:xfrm>
          <a:prstGeom prst="rect">
            <a:avLst/>
          </a:prstGeom>
        </p:spPr>
        <p:style>
          <a:lnRef idx="2">
            <a:schemeClr val="lt1"/>
          </a:lnRef>
          <a:fillRef idx="1">
            <a:schemeClr val="accent1"/>
          </a:fillRef>
          <a:effectRef idx="1">
            <a:schemeClr val="accent1"/>
          </a:effectRef>
          <a:fontRef idx="minor">
            <a:schemeClr val="lt1"/>
          </a:fontRef>
        </p:style>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prstClr val="white"/>
                </a:solidFill>
                <a:effectLst/>
                <a:uLnTx/>
                <a:uFillTx/>
                <a:latin typeface="微软雅黑" charset="0"/>
                <a:ea typeface="微软雅黑" charset="0"/>
                <a:cs typeface="+mn-cs"/>
              </a:rPr>
              <a:t>化学知识</a:t>
            </a:r>
          </a:p>
        </p:txBody>
      </p:sp>
      <p:sp>
        <p:nvSpPr>
          <p:cNvPr id="203" name="文本框 202">
            <a:extLst>
              <a:ext uri="{FF2B5EF4-FFF2-40B4-BE49-F238E27FC236}">
                <a16:creationId xmlns:a16="http://schemas.microsoft.com/office/drawing/2014/main" id="{AED15CE7-B8EA-CFC3-EF31-214A1D4CBDC9}"/>
              </a:ext>
            </a:extLst>
          </p:cNvPr>
          <p:cNvSpPr txBox="1"/>
          <p:nvPr/>
        </p:nvSpPr>
        <p:spPr>
          <a:xfrm>
            <a:off x="10914380" y="4352925"/>
            <a:ext cx="562610" cy="276860"/>
          </a:xfrm>
          <a:prstGeom prst="rect">
            <a:avLst/>
          </a:prstGeom>
        </p:spPr>
        <p:style>
          <a:lnRef idx="2">
            <a:schemeClr val="lt1"/>
          </a:lnRef>
          <a:fillRef idx="1">
            <a:schemeClr val="accent1"/>
          </a:fillRef>
          <a:effectRef idx="1">
            <a:schemeClr val="accent1"/>
          </a:effectRef>
          <a:fontRef idx="minor">
            <a:schemeClr val="lt1"/>
          </a:fontRef>
        </p:style>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prstClr val="white"/>
                </a:solidFill>
                <a:effectLst/>
                <a:uLnTx/>
                <a:uFillTx/>
                <a:latin typeface="微软雅黑" charset="0"/>
                <a:ea typeface="微软雅黑" charset="0"/>
                <a:cs typeface="+mn-cs"/>
              </a:rPr>
              <a:t>专家</a:t>
            </a:r>
          </a:p>
        </p:txBody>
      </p:sp>
      <p:grpSp>
        <p:nvGrpSpPr>
          <p:cNvPr id="204" name="组合 203">
            <a:extLst>
              <a:ext uri="{FF2B5EF4-FFF2-40B4-BE49-F238E27FC236}">
                <a16:creationId xmlns:a16="http://schemas.microsoft.com/office/drawing/2014/main" id="{F231C089-1FCD-33D9-988C-1776F6F57E5F}"/>
              </a:ext>
            </a:extLst>
          </p:cNvPr>
          <p:cNvGrpSpPr/>
          <p:nvPr/>
        </p:nvGrpSpPr>
        <p:grpSpPr>
          <a:xfrm>
            <a:off x="10357830" y="4382837"/>
            <a:ext cx="586105" cy="521935"/>
            <a:chOff x="16470" y="6371"/>
            <a:chExt cx="548" cy="488"/>
          </a:xfrm>
        </p:grpSpPr>
        <p:sp>
          <p:nvSpPr>
            <p:cNvPr id="205" name="椭圆 204">
              <a:extLst>
                <a:ext uri="{FF2B5EF4-FFF2-40B4-BE49-F238E27FC236}">
                  <a16:creationId xmlns:a16="http://schemas.microsoft.com/office/drawing/2014/main" id="{7BE432CF-E56B-C8FA-A43A-7E631A6B864F}"/>
                </a:ext>
              </a:extLst>
            </p:cNvPr>
            <p:cNvSpPr/>
            <p:nvPr/>
          </p:nvSpPr>
          <p:spPr>
            <a:xfrm>
              <a:off x="16500" y="6375"/>
              <a:ext cx="438" cy="438"/>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206" name="文本框 205">
              <a:extLst>
                <a:ext uri="{FF2B5EF4-FFF2-40B4-BE49-F238E27FC236}">
                  <a16:creationId xmlns:a16="http://schemas.microsoft.com/office/drawing/2014/main" id="{4B77476A-D1F7-071C-FFF8-70BCBBB0FEEC}"/>
                </a:ext>
              </a:extLst>
            </p:cNvPr>
            <p:cNvSpPr txBox="1"/>
            <p:nvPr/>
          </p:nvSpPr>
          <p:spPr>
            <a:xfrm>
              <a:off x="16470" y="6371"/>
              <a:ext cx="548" cy="488"/>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srgbClr val="C00000"/>
                  </a:solidFill>
                  <a:effectLst/>
                  <a:uLnTx/>
                  <a:uFillTx/>
                  <a:latin typeface="微软雅黑" charset="0"/>
                  <a:ea typeface="微软雅黑" charset="0"/>
                  <a:cs typeface="+mn-cs"/>
                </a:rPr>
                <a:t>？</a:t>
              </a:r>
            </a:p>
          </p:txBody>
        </p:sp>
      </p:grpSp>
      <p:cxnSp>
        <p:nvCxnSpPr>
          <p:cNvPr id="207" name="曲线连接符 81">
            <a:extLst>
              <a:ext uri="{FF2B5EF4-FFF2-40B4-BE49-F238E27FC236}">
                <a16:creationId xmlns:a16="http://schemas.microsoft.com/office/drawing/2014/main" id="{459C0BE9-A65A-6959-882B-79708E1D8CEA}"/>
              </a:ext>
            </a:extLst>
          </p:cNvPr>
          <p:cNvCxnSpPr>
            <a:stCxn id="203" idx="0"/>
            <a:endCxn id="211" idx="0"/>
          </p:cNvCxnSpPr>
          <p:nvPr/>
        </p:nvCxnSpPr>
        <p:spPr>
          <a:xfrm rot="16200000" flipV="1">
            <a:off x="10360025" y="3517265"/>
            <a:ext cx="309245" cy="1361440"/>
          </a:xfrm>
          <a:prstGeom prst="curvedConnector3">
            <a:avLst>
              <a:gd name="adj1" fmla="val 130492"/>
            </a:avLst>
          </a:prstGeom>
          <a:ln w="38100">
            <a:solidFill>
              <a:srgbClr val="C00000"/>
            </a:solidFill>
            <a:tailEnd type="triangle"/>
          </a:ln>
        </p:spPr>
        <p:style>
          <a:lnRef idx="2">
            <a:schemeClr val="accent1"/>
          </a:lnRef>
          <a:fillRef idx="0">
            <a:srgbClr val="FFFFFF"/>
          </a:fillRef>
          <a:effectRef idx="0">
            <a:srgbClr val="FFFFFF"/>
          </a:effectRef>
          <a:fontRef idx="minor">
            <a:schemeClr val="tx1"/>
          </a:fontRef>
        </p:style>
      </p:cxnSp>
      <p:cxnSp>
        <p:nvCxnSpPr>
          <p:cNvPr id="208" name="曲线连接符 82">
            <a:extLst>
              <a:ext uri="{FF2B5EF4-FFF2-40B4-BE49-F238E27FC236}">
                <a16:creationId xmlns:a16="http://schemas.microsoft.com/office/drawing/2014/main" id="{CDEB9165-15B9-4BBC-8CE1-D5F5C493F33D}"/>
              </a:ext>
            </a:extLst>
          </p:cNvPr>
          <p:cNvCxnSpPr>
            <a:stCxn id="202" idx="1"/>
          </p:cNvCxnSpPr>
          <p:nvPr/>
        </p:nvCxnSpPr>
        <p:spPr>
          <a:xfrm rot="10800000">
            <a:off x="9692640" y="4361815"/>
            <a:ext cx="99695" cy="1091565"/>
          </a:xfrm>
          <a:prstGeom prst="curvedConnector3">
            <a:avLst>
              <a:gd name="adj1" fmla="val 338854"/>
            </a:avLst>
          </a:prstGeom>
          <a:ln w="38100">
            <a:solidFill>
              <a:srgbClr val="C00000"/>
            </a:solidFill>
            <a:tailEnd type="triangle"/>
          </a:ln>
        </p:spPr>
        <p:style>
          <a:lnRef idx="2">
            <a:schemeClr val="accent1"/>
          </a:lnRef>
          <a:fillRef idx="0">
            <a:srgbClr val="FFFFFF"/>
          </a:fillRef>
          <a:effectRef idx="0">
            <a:srgbClr val="FFFFFF"/>
          </a:effectRef>
          <a:fontRef idx="minor">
            <a:schemeClr val="tx1"/>
          </a:fontRef>
        </p:style>
      </p:cxnSp>
      <p:sp>
        <p:nvSpPr>
          <p:cNvPr id="209" name="文本框 208">
            <a:extLst>
              <a:ext uri="{FF2B5EF4-FFF2-40B4-BE49-F238E27FC236}">
                <a16:creationId xmlns:a16="http://schemas.microsoft.com/office/drawing/2014/main" id="{34984CD7-8C7F-02B7-4934-CBABD7CE912E}"/>
              </a:ext>
            </a:extLst>
          </p:cNvPr>
          <p:cNvSpPr txBox="1"/>
          <p:nvPr/>
        </p:nvSpPr>
        <p:spPr>
          <a:xfrm rot="600000">
            <a:off x="10235565" y="3879850"/>
            <a:ext cx="784860" cy="276860"/>
          </a:xfrm>
          <a:prstGeom prst="roundRect">
            <a:avLst/>
          </a:prstGeom>
          <a:solidFill>
            <a:schemeClr val="bg1"/>
          </a:solidFill>
          <a:ln w="15875">
            <a:solidFill>
              <a:schemeClr val="tx1"/>
            </a:solidFill>
          </a:ln>
        </p:spPr>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指导难</a:t>
            </a:r>
          </a:p>
        </p:txBody>
      </p:sp>
      <p:sp>
        <p:nvSpPr>
          <p:cNvPr id="210" name="文本框 209">
            <a:extLst>
              <a:ext uri="{FF2B5EF4-FFF2-40B4-BE49-F238E27FC236}">
                <a16:creationId xmlns:a16="http://schemas.microsoft.com/office/drawing/2014/main" id="{C9D4D1CF-1E28-7EF8-9C8F-7586B9E9382C}"/>
              </a:ext>
            </a:extLst>
          </p:cNvPr>
          <p:cNvSpPr txBox="1"/>
          <p:nvPr/>
        </p:nvSpPr>
        <p:spPr>
          <a:xfrm>
            <a:off x="9357360" y="4583430"/>
            <a:ext cx="287655" cy="718185"/>
          </a:xfrm>
          <a:prstGeom prst="roundRect">
            <a:avLst/>
          </a:prstGeom>
          <a:solidFill>
            <a:schemeClr val="bg1"/>
          </a:solidFill>
          <a:ln w="15875">
            <a:solidFill>
              <a:schemeClr val="tx1"/>
            </a:solidFill>
          </a:ln>
        </p:spPr>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注入难</a:t>
            </a:r>
          </a:p>
        </p:txBody>
      </p:sp>
      <p:sp>
        <p:nvSpPr>
          <p:cNvPr id="211" name="文本框 210">
            <a:extLst>
              <a:ext uri="{FF2B5EF4-FFF2-40B4-BE49-F238E27FC236}">
                <a16:creationId xmlns:a16="http://schemas.microsoft.com/office/drawing/2014/main" id="{5251442B-D71A-BFDB-AB74-77D9B7A917E4}"/>
              </a:ext>
            </a:extLst>
          </p:cNvPr>
          <p:cNvSpPr txBox="1"/>
          <p:nvPr/>
        </p:nvSpPr>
        <p:spPr>
          <a:xfrm>
            <a:off x="9692640" y="4043680"/>
            <a:ext cx="282575" cy="915035"/>
          </a:xfrm>
          <a:prstGeom prst="rect">
            <a:avLst/>
          </a:prstGeom>
        </p:spPr>
        <p:style>
          <a:lnRef idx="2">
            <a:schemeClr val="lt1"/>
          </a:lnRef>
          <a:fillRef idx="1">
            <a:schemeClr val="accent1"/>
          </a:fillRef>
          <a:effectRef idx="1">
            <a:schemeClr val="accent1"/>
          </a:effectRef>
          <a:fontRef idx="minor">
            <a:schemeClr val="lt1"/>
          </a:fontRef>
        </p:style>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prstClr val="white"/>
                </a:solidFill>
                <a:effectLst/>
                <a:uLnTx/>
                <a:uFillTx/>
                <a:latin typeface="微软雅黑" charset="0"/>
                <a:ea typeface="微软雅黑" charset="0"/>
                <a:cs typeface="+mn-cs"/>
              </a:rPr>
              <a:t>基础模</a:t>
            </a:r>
          </a:p>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prstClr val="white"/>
                </a:solidFill>
                <a:effectLst/>
                <a:uLnTx/>
                <a:uFillTx/>
                <a:latin typeface="微软雅黑" charset="0"/>
                <a:ea typeface="微软雅黑" charset="0"/>
                <a:cs typeface="+mn-cs"/>
              </a:rPr>
              <a:t>型</a:t>
            </a:r>
          </a:p>
        </p:txBody>
      </p:sp>
      <p:pic>
        <p:nvPicPr>
          <p:cNvPr id="3" name="Graphic 5">
            <a:extLst>
              <a:ext uri="{FF2B5EF4-FFF2-40B4-BE49-F238E27FC236}">
                <a16:creationId xmlns:a16="http://schemas.microsoft.com/office/drawing/2014/main" id="{1A0B90C5-6F6C-0540-9204-4BFD7C7F5B9F}"/>
              </a:ext>
            </a:extLst>
          </p:cNvPr>
          <p:cNvPicPr>
            <a:picLocks noChangeAspect="1"/>
          </p:cNvPicPr>
          <p:nvPr/>
        </p:nvPicPr>
        <p:blipFill rotWithShape="1">
          <a:blip r:embed="rId29">
            <a:extLst>
              <a:ext uri="{28A0092B-C50C-407E-A947-70E740481C1C}">
                <a14:useLocalDpi xmlns:a14="http://schemas.microsoft.com/office/drawing/2010/main" val="0"/>
              </a:ext>
              <a:ext uri="{96DAC541-7B7A-43D3-8B79-37D633B846F1}">
                <asvg:svgBlip xmlns:asvg="http://schemas.microsoft.com/office/drawing/2016/SVG/main" r:embed="rId30"/>
              </a:ext>
            </a:extLst>
          </a:blip>
          <a:srcRect l="6226" t="13310" r="8094" b="10241"/>
          <a:stretch/>
        </p:blipFill>
        <p:spPr>
          <a:xfrm>
            <a:off x="6039167" y="179979"/>
            <a:ext cx="1835308" cy="594813"/>
          </a:xfrm>
          <a:prstGeom prst="rect">
            <a:avLst/>
          </a:prstGeom>
        </p:spPr>
      </p:pic>
      <p:pic>
        <p:nvPicPr>
          <p:cNvPr id="4" name="图片 10" descr="武汉大学logo-02">
            <a:extLst>
              <a:ext uri="{FF2B5EF4-FFF2-40B4-BE49-F238E27FC236}">
                <a16:creationId xmlns:a16="http://schemas.microsoft.com/office/drawing/2014/main" id="{47BBF632-C303-282C-164C-975BCA89F25C}"/>
              </a:ext>
            </a:extLst>
          </p:cNvPr>
          <p:cNvPicPr>
            <a:picLocks noChangeAspect="1"/>
          </p:cNvPicPr>
          <p:nvPr/>
        </p:nvPicPr>
        <p:blipFill>
          <a:blip r:embed="rId31"/>
          <a:stretch>
            <a:fillRect/>
          </a:stretch>
        </p:blipFill>
        <p:spPr>
          <a:xfrm>
            <a:off x="8030845" y="95351"/>
            <a:ext cx="2045273" cy="763686"/>
          </a:xfrm>
          <a:prstGeom prst="rect">
            <a:avLst/>
          </a:prstGeom>
        </p:spPr>
      </p:pic>
      <p:pic>
        <p:nvPicPr>
          <p:cNvPr id="5" name="Picture 2">
            <a:extLst>
              <a:ext uri="{FF2B5EF4-FFF2-40B4-BE49-F238E27FC236}">
                <a16:creationId xmlns:a16="http://schemas.microsoft.com/office/drawing/2014/main" id="{561FB518-3C84-FB40-E326-9E0470E33E5D}"/>
              </a:ext>
            </a:extLst>
          </p:cNvPr>
          <p:cNvPicPr>
            <a:picLocks noChangeAspect="1" noChangeArrowheads="1"/>
          </p:cNvPicPr>
          <p:nvPr/>
        </p:nvPicPr>
        <p:blipFill>
          <a:blip r:embed="rId32"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p:cNvSpPr txBox="1"/>
          <p:nvPr/>
        </p:nvSpPr>
        <p:spPr>
          <a:xfrm>
            <a:off x="432955" y="129715"/>
            <a:ext cx="1334730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重大项目课题：</a:t>
            </a:r>
            <a:endPar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数据知识双驱的合成逆合成全流程求解优化架构</a:t>
            </a:r>
          </a:p>
        </p:txBody>
      </p:sp>
      <p:sp>
        <p:nvSpPr>
          <p:cNvPr id="21" name="Slide Number Placeholder 20">
            <a:extLst>
              <a:ext uri="{FF2B5EF4-FFF2-40B4-BE49-F238E27FC236}">
                <a16:creationId xmlns:a16="http://schemas.microsoft.com/office/drawing/2014/main" id="{6EE9455F-9A15-04AD-1D64-E92BAA2FDE3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E8CDBE03-7082-2DE0-EC45-82FB1E313151}"/>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11" name="矩形: 圆角 114"/>
          <p:cNvSpPr/>
          <p:nvPr>
            <p:custDataLst>
              <p:tags r:id="rId1"/>
            </p:custDataLst>
          </p:nvPr>
        </p:nvSpPr>
        <p:spPr>
          <a:xfrm>
            <a:off x="9358347" y="1874137"/>
            <a:ext cx="2501265" cy="4332605"/>
          </a:xfrm>
          <a:prstGeom prst="roundRect">
            <a:avLst>
              <a:gd name="adj" fmla="val 4906"/>
            </a:avLst>
          </a:prstGeom>
          <a:noFill/>
          <a:ln w="9525" cap="flat" cmpd="sng" algn="ctr">
            <a:solidFill>
              <a:sysClr val="windowText" lastClr="0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800" b="1"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2" name="矩形: 圆角 115"/>
          <p:cNvSpPr/>
          <p:nvPr/>
        </p:nvSpPr>
        <p:spPr>
          <a:xfrm>
            <a:off x="3814929" y="1874137"/>
            <a:ext cx="5338445" cy="4332605"/>
          </a:xfrm>
          <a:prstGeom prst="roundRect">
            <a:avLst>
              <a:gd name="adj" fmla="val 2492"/>
            </a:avLst>
          </a:prstGeom>
          <a:solidFill>
            <a:sysClr val="window" lastClr="FFFFFF"/>
          </a:solidFill>
          <a:ln w="19050" cap="flat" cmpd="sng" algn="ctr">
            <a:solidFill>
              <a:srgbClr val="4472C4"/>
            </a:solidFill>
            <a:prstDash val="solid"/>
            <a:miter lim="800000"/>
          </a:ln>
          <a:effectLst>
            <a:outerShdw blurRad="63500" sx="101000" sy="101000" algn="ctr" rotWithShape="0">
              <a:srgbClr val="4472C4">
                <a:alpha val="4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4" name="矩形: 圆角 154"/>
          <p:cNvSpPr/>
          <p:nvPr>
            <p:custDataLst>
              <p:tags r:id="rId2"/>
            </p:custDataLst>
          </p:nvPr>
        </p:nvSpPr>
        <p:spPr>
          <a:xfrm>
            <a:off x="3879567" y="4776511"/>
            <a:ext cx="5194935" cy="1321435"/>
          </a:xfrm>
          <a:prstGeom prst="roundRect">
            <a:avLst>
              <a:gd name="adj" fmla="val 10640"/>
            </a:avLst>
          </a:prstGeom>
          <a:solidFill>
            <a:schemeClr val="accent1">
              <a:lumMod val="20000"/>
              <a:lumOff val="80000"/>
              <a:alpha val="60000"/>
            </a:schemeClr>
          </a:solidFill>
          <a:ln w="12700" cap="flat" cmpd="sng" algn="ctr">
            <a:solidFill>
              <a:schemeClr val="accent1"/>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15" name="矩形: 圆角 119"/>
          <p:cNvSpPr/>
          <p:nvPr/>
        </p:nvSpPr>
        <p:spPr>
          <a:xfrm>
            <a:off x="245462" y="1872867"/>
            <a:ext cx="3333115" cy="4332605"/>
          </a:xfrm>
          <a:prstGeom prst="roundRect">
            <a:avLst>
              <a:gd name="adj" fmla="val 2765"/>
            </a:avLst>
          </a:prstGeom>
          <a:solidFill>
            <a:schemeClr val="accent4">
              <a:alpha val="9352"/>
            </a:schemeClr>
          </a:solidFill>
          <a:ln w="9525" cap="flat" cmpd="sng" algn="ctr">
            <a:solidFill>
              <a:schemeClr val="accent2"/>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1"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rPr>
              <a:t>协作态（层</a:t>
            </a:r>
            <a:r>
              <a:rPr kumimoji="0" lang="en-US" altLang="zh-CN" sz="1800" b="1"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rPr>
              <a:t>)</a:t>
            </a:r>
            <a:endParaRPr kumimoji="0" lang="en-US" altLang="zh-CN" sz="1800" b="1"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6" name="矩形: 圆角 154"/>
          <p:cNvSpPr/>
          <p:nvPr>
            <p:custDataLst>
              <p:tags r:id="rId3"/>
            </p:custDataLst>
          </p:nvPr>
        </p:nvSpPr>
        <p:spPr>
          <a:xfrm>
            <a:off x="3879567" y="3388612"/>
            <a:ext cx="5205730" cy="1321435"/>
          </a:xfrm>
          <a:prstGeom prst="roundRect">
            <a:avLst>
              <a:gd name="adj" fmla="val 10640"/>
            </a:avLst>
          </a:prstGeom>
          <a:solidFill>
            <a:schemeClr val="accent1">
              <a:lumMod val="20000"/>
              <a:lumOff val="80000"/>
              <a:alpha val="60000"/>
            </a:schemeClr>
          </a:solidFill>
          <a:ln w="12700" cap="flat" cmpd="sng" algn="ctr">
            <a:solidFill>
              <a:schemeClr val="accent1"/>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17" name="矩形 120"/>
          <p:cNvSpPr/>
          <p:nvPr/>
        </p:nvSpPr>
        <p:spPr>
          <a:xfrm>
            <a:off x="244136" y="1431202"/>
            <a:ext cx="3333116" cy="46166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400" b="1" i="0" u="none" strike="noStrike" kern="120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Calibri" panose="020F0502020204030204" charset="0"/>
              </a:rPr>
              <a:t>现状</a:t>
            </a:r>
            <a:endParaRPr kumimoji="0" lang="zh-CN" altLang="en-US" sz="2400" b="0"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9" name="矩形 121"/>
          <p:cNvSpPr/>
          <p:nvPr/>
        </p:nvSpPr>
        <p:spPr>
          <a:xfrm>
            <a:off x="9355171" y="1431847"/>
            <a:ext cx="2501265" cy="46037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400" b="1" i="0" u="none" strike="noStrike" kern="120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Calibri" panose="020F0502020204030204" charset="0"/>
              </a:rPr>
              <a:t>研究目标</a:t>
            </a:r>
            <a:endParaRPr kumimoji="0" lang="zh-CN" altLang="en-US" sz="2400" b="0"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0" name="矩形: 圆角 134"/>
          <p:cNvSpPr/>
          <p:nvPr/>
        </p:nvSpPr>
        <p:spPr>
          <a:xfrm>
            <a:off x="287372" y="2112549"/>
            <a:ext cx="3252470" cy="1145887"/>
          </a:xfrm>
          <a:prstGeom prst="roundRect">
            <a:avLst>
              <a:gd name="adj" fmla="val 12724"/>
            </a:avLst>
          </a:prstGeom>
          <a:solidFill>
            <a:schemeClr val="bg1"/>
          </a:solidFill>
          <a:ln w="12700" cap="flat" cmpd="sng" algn="ctr">
            <a:solidFill>
              <a:schemeClr val="accent2"/>
            </a:solidFill>
            <a:prstDash val="solid"/>
            <a:miter lim="800000"/>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6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24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22" name="矩形: 圆角 135"/>
          <p:cNvSpPr/>
          <p:nvPr/>
        </p:nvSpPr>
        <p:spPr>
          <a:xfrm>
            <a:off x="287372" y="3468586"/>
            <a:ext cx="3252470" cy="1150687"/>
          </a:xfrm>
          <a:prstGeom prst="roundRect">
            <a:avLst>
              <a:gd name="adj" fmla="val 12368"/>
            </a:avLst>
          </a:prstGeom>
          <a:solidFill>
            <a:schemeClr val="bg1"/>
          </a:solidFill>
          <a:ln w="12700" cap="flat" cmpd="sng" algn="ctr">
            <a:solidFill>
              <a:schemeClr val="accent2"/>
            </a:solidFill>
            <a:prstDash val="solid"/>
            <a:miter lim="800000"/>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20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6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23" name="矩形: 圆角 136"/>
          <p:cNvSpPr/>
          <p:nvPr/>
        </p:nvSpPr>
        <p:spPr>
          <a:xfrm>
            <a:off x="287372" y="4854191"/>
            <a:ext cx="3251835" cy="1145223"/>
          </a:xfrm>
          <a:prstGeom prst="roundRect">
            <a:avLst>
              <a:gd name="adj" fmla="val 10464"/>
            </a:avLst>
          </a:prstGeom>
          <a:solidFill>
            <a:schemeClr val="bg1"/>
          </a:solidFill>
          <a:ln w="12700" cap="flat" cmpd="sng" algn="ctr">
            <a:solidFill>
              <a:schemeClr val="accent2"/>
            </a:solidFill>
            <a:prstDash val="solid"/>
            <a:miter lim="800000"/>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24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6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20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24" name="矩形: 圆角 154"/>
          <p:cNvSpPr/>
          <p:nvPr/>
        </p:nvSpPr>
        <p:spPr>
          <a:xfrm>
            <a:off x="3879567" y="2010662"/>
            <a:ext cx="5194300" cy="1321435"/>
          </a:xfrm>
          <a:prstGeom prst="roundRect">
            <a:avLst>
              <a:gd name="adj" fmla="val 10640"/>
            </a:avLst>
          </a:prstGeom>
          <a:solidFill>
            <a:schemeClr val="accent1">
              <a:lumMod val="20000"/>
              <a:lumOff val="80000"/>
              <a:alpha val="60000"/>
            </a:schemeClr>
          </a:solidFill>
          <a:ln w="12700" cap="flat" cmpd="sng" algn="ctr">
            <a:solidFill>
              <a:schemeClr val="accent1"/>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25" name="矩形 155"/>
          <p:cNvSpPr/>
          <p:nvPr/>
        </p:nvSpPr>
        <p:spPr>
          <a:xfrm>
            <a:off x="3814929" y="1431202"/>
            <a:ext cx="5338445" cy="46166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rPr>
              <a:t>主要研究内容</a:t>
            </a:r>
          </a:p>
        </p:txBody>
      </p:sp>
      <p:sp>
        <p:nvSpPr>
          <p:cNvPr id="31" name="箭头: 右 116"/>
          <p:cNvSpPr/>
          <p:nvPr/>
        </p:nvSpPr>
        <p:spPr>
          <a:xfrm>
            <a:off x="3595405" y="2450720"/>
            <a:ext cx="20510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4" name="箭头: 右 116"/>
          <p:cNvSpPr/>
          <p:nvPr>
            <p:custDataLst>
              <p:tags r:id="rId4"/>
            </p:custDataLst>
          </p:nvPr>
        </p:nvSpPr>
        <p:spPr>
          <a:xfrm>
            <a:off x="3595405" y="3797554"/>
            <a:ext cx="20510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5" name="箭头: 右 116"/>
          <p:cNvSpPr/>
          <p:nvPr>
            <p:custDataLst>
              <p:tags r:id="rId5"/>
            </p:custDataLst>
          </p:nvPr>
        </p:nvSpPr>
        <p:spPr>
          <a:xfrm>
            <a:off x="3595405" y="5184819"/>
            <a:ext cx="20510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6" name="箭头: 右 116"/>
          <p:cNvSpPr/>
          <p:nvPr>
            <p:custDataLst>
              <p:tags r:id="rId6"/>
            </p:custDataLst>
          </p:nvPr>
        </p:nvSpPr>
        <p:spPr>
          <a:xfrm>
            <a:off x="9207535" y="2425319"/>
            <a:ext cx="14795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7" name="箭头: 右 116"/>
          <p:cNvSpPr/>
          <p:nvPr>
            <p:custDataLst>
              <p:tags r:id="rId7"/>
            </p:custDataLst>
          </p:nvPr>
        </p:nvSpPr>
        <p:spPr>
          <a:xfrm>
            <a:off x="9207535" y="3839889"/>
            <a:ext cx="14795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8" name="箭头: 右 116"/>
          <p:cNvSpPr/>
          <p:nvPr>
            <p:custDataLst>
              <p:tags r:id="rId8"/>
            </p:custDataLst>
          </p:nvPr>
        </p:nvSpPr>
        <p:spPr>
          <a:xfrm>
            <a:off x="9207535" y="5198575"/>
            <a:ext cx="14795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6" name="文本框 2">
            <a:extLst>
              <a:ext uri="{FF2B5EF4-FFF2-40B4-BE49-F238E27FC236}">
                <a16:creationId xmlns:a16="http://schemas.microsoft.com/office/drawing/2014/main" id="{9F629E03-F22D-23DF-8096-B2E2E66A1AD5}"/>
              </a:ext>
            </a:extLst>
          </p:cNvPr>
          <p:cNvSpPr txBox="1"/>
          <p:nvPr>
            <p:custDataLst>
              <p:tags r:id="rId9"/>
            </p:custDataLst>
          </p:nvPr>
        </p:nvSpPr>
        <p:spPr>
          <a:xfrm>
            <a:off x="773643" y="2137662"/>
            <a:ext cx="2298041" cy="360045"/>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1" i="0" u="none" strike="noStrike" kern="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基础模型</a:t>
            </a:r>
            <a:r>
              <a:rPr kumimoji="0" lang="en-US" altLang="zh-CN" sz="1800" b="1" i="0" u="none" strike="noStrike" kern="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 </a:t>
            </a:r>
            <a:r>
              <a:rPr kumimoji="0" lang="zh-CN" altLang="en-US" sz="1800" b="1"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知识</a:t>
            </a:r>
            <a:r>
              <a:rPr kumimoji="0" lang="zh-CN" altLang="en-US" sz="1800" b="1"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少</a:t>
            </a:r>
          </a:p>
        </p:txBody>
      </p:sp>
      <p:sp>
        <p:nvSpPr>
          <p:cNvPr id="32" name="文本框 31">
            <a:extLst>
              <a:ext uri="{FF2B5EF4-FFF2-40B4-BE49-F238E27FC236}">
                <a16:creationId xmlns:a16="http://schemas.microsoft.com/office/drawing/2014/main" id="{4282F6A7-7C0D-31AE-77A2-0F00600196A9}"/>
              </a:ext>
            </a:extLst>
          </p:cNvPr>
          <p:cNvSpPr txBox="1"/>
          <p:nvPr>
            <p:custDataLst>
              <p:tags r:id="rId10"/>
            </p:custDataLst>
          </p:nvPr>
        </p:nvSpPr>
        <p:spPr>
          <a:xfrm>
            <a:off x="834318" y="2698367"/>
            <a:ext cx="702179" cy="245110"/>
          </a:xfrm>
          <a:prstGeom prst="rect">
            <a:avLst/>
          </a:prstGeom>
          <a:noFill/>
          <a:ln>
            <a:solidFill>
              <a:schemeClr val="tx1">
                <a:lumMod val="95000"/>
                <a:lumOff val="5000"/>
              </a:schemeClr>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mn-cs"/>
              </a:rPr>
              <a:t>构效关系</a:t>
            </a:r>
          </a:p>
        </p:txBody>
      </p:sp>
      <p:pic>
        <p:nvPicPr>
          <p:cNvPr id="33" name="图片 18" descr="3b343634393530393bbfc6d1a7">
            <a:extLst>
              <a:ext uri="{FF2B5EF4-FFF2-40B4-BE49-F238E27FC236}">
                <a16:creationId xmlns:a16="http://schemas.microsoft.com/office/drawing/2014/main" id="{6E996A4A-CC74-D97D-E9C1-4496C660BF74}"/>
              </a:ext>
            </a:extLst>
          </p:cNvPr>
          <p:cNvPicPr>
            <a:picLocks noChangeAspect="1"/>
          </p:cNvPicPr>
          <p:nvPr>
            <p:custDataLst>
              <p:tags r:id="rId11"/>
            </p:custDataLst>
          </p:nvPr>
        </p:nvPicPr>
        <p:blipFill>
          <a:blip r:embed="rId42">
            <a:extLst>
              <a:ext uri="{96DAC541-7B7A-43D3-8B79-37D633B846F1}">
                <asvg:svgBlip xmlns:asvg="http://schemas.microsoft.com/office/drawing/2016/SVG/main" r:embed="rId43"/>
              </a:ext>
            </a:extLst>
          </a:blip>
          <a:stretch>
            <a:fillRect/>
          </a:stretch>
        </p:blipFill>
        <p:spPr>
          <a:xfrm>
            <a:off x="1585163" y="2486912"/>
            <a:ext cx="685115" cy="688340"/>
          </a:xfrm>
          <a:prstGeom prst="rect">
            <a:avLst/>
          </a:prstGeom>
        </p:spPr>
      </p:pic>
      <p:sp>
        <p:nvSpPr>
          <p:cNvPr id="37" name="文本框 36">
            <a:extLst>
              <a:ext uri="{FF2B5EF4-FFF2-40B4-BE49-F238E27FC236}">
                <a16:creationId xmlns:a16="http://schemas.microsoft.com/office/drawing/2014/main" id="{008432F4-1056-4731-D2A6-3BF7D948DE19}"/>
              </a:ext>
            </a:extLst>
          </p:cNvPr>
          <p:cNvSpPr txBox="1"/>
          <p:nvPr>
            <p:custDataLst>
              <p:tags r:id="rId12"/>
            </p:custDataLst>
          </p:nvPr>
        </p:nvSpPr>
        <p:spPr>
          <a:xfrm>
            <a:off x="2357497" y="2709797"/>
            <a:ext cx="699651" cy="245110"/>
          </a:xfrm>
          <a:prstGeom prst="rect">
            <a:avLst/>
          </a:prstGeom>
          <a:noFill/>
          <a:ln>
            <a:solidFill>
              <a:schemeClr val="tx1">
                <a:lumMod val="95000"/>
                <a:lumOff val="5000"/>
              </a:schemeClr>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mn-cs"/>
              </a:rPr>
              <a:t>反应机制</a:t>
            </a:r>
          </a:p>
        </p:txBody>
      </p:sp>
      <p:pic>
        <p:nvPicPr>
          <p:cNvPr id="38" name="图片 41" descr="神经网络">
            <a:extLst>
              <a:ext uri="{FF2B5EF4-FFF2-40B4-BE49-F238E27FC236}">
                <a16:creationId xmlns:a16="http://schemas.microsoft.com/office/drawing/2014/main" id="{0CC4A271-F7C7-308B-7E92-8F897191EBCA}"/>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1784251" y="2694557"/>
            <a:ext cx="274931" cy="276225"/>
          </a:xfrm>
          <a:prstGeom prst="rect">
            <a:avLst/>
          </a:prstGeom>
        </p:spPr>
      </p:pic>
      <p:sp>
        <p:nvSpPr>
          <p:cNvPr id="69" name="文本框 2">
            <a:extLst>
              <a:ext uri="{FF2B5EF4-FFF2-40B4-BE49-F238E27FC236}">
                <a16:creationId xmlns:a16="http://schemas.microsoft.com/office/drawing/2014/main" id="{2C579800-F5EF-25E3-EFAA-D23CBA3CFE03}"/>
              </a:ext>
            </a:extLst>
          </p:cNvPr>
          <p:cNvSpPr txBox="1"/>
          <p:nvPr>
            <p:custDataLst>
              <p:tags r:id="rId13"/>
            </p:custDataLst>
          </p:nvPr>
        </p:nvSpPr>
        <p:spPr>
          <a:xfrm>
            <a:off x="636154" y="4932296"/>
            <a:ext cx="2606558" cy="360045"/>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1"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构</a:t>
            </a:r>
            <a:r>
              <a:rPr kumimoji="0" lang="zh-CN" altLang="en-US" sz="1800" b="1" i="0" u="none" strike="noStrike" kern="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效关系</a:t>
            </a:r>
            <a:r>
              <a:rPr kumimoji="0" lang="en-US" altLang="zh-CN" sz="1800" b="1" i="0" u="none" strike="noStrike" kern="0" cap="none" spc="0" normalizeH="0" baseline="0" noProof="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 </a:t>
            </a:r>
            <a:r>
              <a:rPr kumimoji="0" lang="zh-CN" altLang="en-US" sz="1800" b="1"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泛化</a:t>
            </a:r>
            <a:r>
              <a:rPr kumimoji="0" lang="zh-CN" altLang="en-US" sz="1800" b="1"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差</a:t>
            </a:r>
          </a:p>
        </p:txBody>
      </p:sp>
      <p:sp>
        <p:nvSpPr>
          <p:cNvPr id="71" name="文本框 2">
            <a:extLst>
              <a:ext uri="{FF2B5EF4-FFF2-40B4-BE49-F238E27FC236}">
                <a16:creationId xmlns:a16="http://schemas.microsoft.com/office/drawing/2014/main" id="{DB5F8A70-2D39-2202-1C1B-0872B96CD004}"/>
              </a:ext>
            </a:extLst>
          </p:cNvPr>
          <p:cNvSpPr txBox="1"/>
          <p:nvPr>
            <p:custDataLst>
              <p:tags r:id="rId14"/>
            </p:custDataLst>
          </p:nvPr>
        </p:nvSpPr>
        <p:spPr>
          <a:xfrm>
            <a:off x="618630" y="3521962"/>
            <a:ext cx="2621915" cy="360045"/>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1" i="0" u="none" strike="noStrike" kern="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专家实验</a:t>
            </a:r>
            <a:r>
              <a:rPr kumimoji="0" lang="en-US" altLang="zh-CN" sz="1800" b="1" i="0" u="none" strike="noStrike" kern="0" cap="none" spc="0" normalizeH="0" baseline="0" noProof="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 </a:t>
            </a:r>
            <a:r>
              <a:rPr kumimoji="0" lang="zh-CN" altLang="en-US" sz="1800" b="1"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反馈</a:t>
            </a:r>
            <a:r>
              <a:rPr kumimoji="0" lang="zh-CN" altLang="en-US" sz="1800" b="1"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难</a:t>
            </a:r>
          </a:p>
        </p:txBody>
      </p:sp>
      <p:pic>
        <p:nvPicPr>
          <p:cNvPr id="73" name="图片 48" descr="化学实验">
            <a:extLst>
              <a:ext uri="{FF2B5EF4-FFF2-40B4-BE49-F238E27FC236}">
                <a16:creationId xmlns:a16="http://schemas.microsoft.com/office/drawing/2014/main" id="{14BCCAFF-A322-1C15-4AB6-23BB4BED2D72}"/>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2627135" y="3943602"/>
            <a:ext cx="546735" cy="546735"/>
          </a:xfrm>
          <a:prstGeom prst="rect">
            <a:avLst/>
          </a:prstGeom>
        </p:spPr>
      </p:pic>
      <p:pic>
        <p:nvPicPr>
          <p:cNvPr id="74" name="图片 49" descr="uniE63B">
            <a:extLst>
              <a:ext uri="{FF2B5EF4-FFF2-40B4-BE49-F238E27FC236}">
                <a16:creationId xmlns:a16="http://schemas.microsoft.com/office/drawing/2014/main" id="{5706F654-46CC-EE9F-5D50-67817ABF07B4}"/>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758965" y="4082667"/>
            <a:ext cx="330835" cy="330835"/>
          </a:xfrm>
          <a:prstGeom prst="rect">
            <a:avLst/>
          </a:prstGeom>
        </p:spPr>
      </p:pic>
      <p:pic>
        <p:nvPicPr>
          <p:cNvPr id="75" name="图片 50" descr="neural-network">
            <a:extLst>
              <a:ext uri="{FF2B5EF4-FFF2-40B4-BE49-F238E27FC236}">
                <a16:creationId xmlns:a16="http://schemas.microsoft.com/office/drawing/2014/main" id="{E3D4230B-BE8F-845D-67B7-C2CA0603AAD5}"/>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588910" y="3972177"/>
            <a:ext cx="589915" cy="589915"/>
          </a:xfrm>
          <a:prstGeom prst="rect">
            <a:avLst/>
          </a:prstGeom>
        </p:spPr>
      </p:pic>
      <p:sp>
        <p:nvSpPr>
          <p:cNvPr id="76" name="右箭头 75">
            <a:extLst>
              <a:ext uri="{FF2B5EF4-FFF2-40B4-BE49-F238E27FC236}">
                <a16:creationId xmlns:a16="http://schemas.microsoft.com/office/drawing/2014/main" id="{1A091130-0DCE-7FE1-FB90-63B83CE99175}"/>
              </a:ext>
            </a:extLst>
          </p:cNvPr>
          <p:cNvSpPr/>
          <p:nvPr/>
        </p:nvSpPr>
        <p:spPr>
          <a:xfrm rot="10800000">
            <a:off x="2141995" y="4187442"/>
            <a:ext cx="426085" cy="144145"/>
          </a:xfrm>
          <a:prstGeom prst="rightArrow">
            <a:avLst>
              <a:gd name="adj1" fmla="val 26872"/>
              <a:gd name="adj2" fmla="val 50000"/>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77" name="乘号 51">
            <a:extLst>
              <a:ext uri="{FF2B5EF4-FFF2-40B4-BE49-F238E27FC236}">
                <a16:creationId xmlns:a16="http://schemas.microsoft.com/office/drawing/2014/main" id="{7CD76A5F-F25F-EBFD-CDB1-E2BA33B5E4EB}"/>
              </a:ext>
            </a:extLst>
          </p:cNvPr>
          <p:cNvSpPr/>
          <p:nvPr/>
        </p:nvSpPr>
        <p:spPr>
          <a:xfrm rot="10800000">
            <a:off x="2270265" y="4142357"/>
            <a:ext cx="245110" cy="245110"/>
          </a:xfrm>
          <a:prstGeom prst="mathMultiply">
            <a:avLst>
              <a:gd name="adj1" fmla="val 10880"/>
            </a:avLst>
          </a:prstGeom>
          <a:solidFill>
            <a:schemeClr val="tx1"/>
          </a:solidFill>
          <a:ln>
            <a:solidFill>
              <a:schemeClr val="tx1">
                <a:lumMod val="95000"/>
                <a:lumOff val="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78" name="右箭头 77">
            <a:extLst>
              <a:ext uri="{FF2B5EF4-FFF2-40B4-BE49-F238E27FC236}">
                <a16:creationId xmlns:a16="http://schemas.microsoft.com/office/drawing/2014/main" id="{72F36701-546E-762C-B242-885DCB75EE49}"/>
              </a:ext>
            </a:extLst>
          </p:cNvPr>
          <p:cNvSpPr/>
          <p:nvPr>
            <p:custDataLst>
              <p:tags r:id="rId15"/>
            </p:custDataLst>
          </p:nvPr>
        </p:nvSpPr>
        <p:spPr>
          <a:xfrm>
            <a:off x="1166000" y="4187442"/>
            <a:ext cx="426085" cy="144145"/>
          </a:xfrm>
          <a:prstGeom prst="rightArrow">
            <a:avLst>
              <a:gd name="adj1" fmla="val 26872"/>
              <a:gd name="adj2" fmla="val 50000"/>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79" name="乘号 55">
            <a:extLst>
              <a:ext uri="{FF2B5EF4-FFF2-40B4-BE49-F238E27FC236}">
                <a16:creationId xmlns:a16="http://schemas.microsoft.com/office/drawing/2014/main" id="{68DA130E-9EE0-5673-FBEC-E13472A877C7}"/>
              </a:ext>
            </a:extLst>
          </p:cNvPr>
          <p:cNvSpPr/>
          <p:nvPr>
            <p:custDataLst>
              <p:tags r:id="rId16"/>
            </p:custDataLst>
          </p:nvPr>
        </p:nvSpPr>
        <p:spPr>
          <a:xfrm>
            <a:off x="1233310" y="4142357"/>
            <a:ext cx="245110" cy="245110"/>
          </a:xfrm>
          <a:prstGeom prst="mathMultiply">
            <a:avLst>
              <a:gd name="adj1" fmla="val 10880"/>
            </a:avLst>
          </a:prstGeom>
          <a:solidFill>
            <a:schemeClr val="tx1"/>
          </a:solidFill>
          <a:ln>
            <a:solidFill>
              <a:schemeClr val="tx1">
                <a:lumMod val="95000"/>
                <a:lumOff val="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pic>
        <p:nvPicPr>
          <p:cNvPr id="80" name="图片 79">
            <a:extLst>
              <a:ext uri="{FF2B5EF4-FFF2-40B4-BE49-F238E27FC236}">
                <a16:creationId xmlns:a16="http://schemas.microsoft.com/office/drawing/2014/main" id="{47D3211B-EEE9-FEBC-99CF-AD27AB536D33}"/>
              </a:ext>
            </a:extLst>
          </p:cNvPr>
          <p:cNvPicPr>
            <a:picLocks noChangeAspect="1"/>
          </p:cNvPicPr>
          <p:nvPr>
            <p:custDataLst>
              <p:tags r:id="rId17"/>
            </p:custDataLst>
          </p:nvPr>
        </p:nvPicPr>
        <p:blipFill>
          <a:blip r:embed="rId52"/>
          <a:stretch>
            <a:fillRect/>
          </a:stretch>
        </p:blipFill>
        <p:spPr>
          <a:xfrm>
            <a:off x="1038365" y="5315202"/>
            <a:ext cx="852805" cy="677545"/>
          </a:xfrm>
          <a:prstGeom prst="rect">
            <a:avLst/>
          </a:prstGeom>
        </p:spPr>
      </p:pic>
      <p:pic>
        <p:nvPicPr>
          <p:cNvPr id="81" name="图片 80">
            <a:extLst>
              <a:ext uri="{FF2B5EF4-FFF2-40B4-BE49-F238E27FC236}">
                <a16:creationId xmlns:a16="http://schemas.microsoft.com/office/drawing/2014/main" id="{CF8C6E62-65C9-B0FF-054C-D6F538BADB48}"/>
              </a:ext>
            </a:extLst>
          </p:cNvPr>
          <p:cNvPicPr>
            <a:picLocks noChangeAspect="1"/>
          </p:cNvPicPr>
          <p:nvPr>
            <p:custDataLst>
              <p:tags r:id="rId18"/>
            </p:custDataLst>
          </p:nvPr>
        </p:nvPicPr>
        <p:blipFill>
          <a:blip r:embed="rId53"/>
          <a:stretch>
            <a:fillRect/>
          </a:stretch>
        </p:blipFill>
        <p:spPr>
          <a:xfrm>
            <a:off x="1886725" y="5315837"/>
            <a:ext cx="935990" cy="676910"/>
          </a:xfrm>
          <a:prstGeom prst="rect">
            <a:avLst/>
          </a:prstGeom>
        </p:spPr>
      </p:pic>
      <p:sp>
        <p:nvSpPr>
          <p:cNvPr id="93" name="矩形: 圆角 168">
            <a:extLst>
              <a:ext uri="{FF2B5EF4-FFF2-40B4-BE49-F238E27FC236}">
                <a16:creationId xmlns:a16="http://schemas.microsoft.com/office/drawing/2014/main" id="{064DEFCF-36B9-928E-A65A-BE82200F4169}"/>
              </a:ext>
            </a:extLst>
          </p:cNvPr>
          <p:cNvSpPr/>
          <p:nvPr>
            <p:custDataLst>
              <p:tags r:id="rId19"/>
            </p:custDataLst>
          </p:nvPr>
        </p:nvSpPr>
        <p:spPr>
          <a:xfrm>
            <a:off x="5690207" y="2169412"/>
            <a:ext cx="3235706" cy="1037590"/>
          </a:xfrm>
          <a:prstGeom prst="roundRect">
            <a:avLst/>
          </a:prstGeom>
          <a:solidFill>
            <a:schemeClr val="bg1"/>
          </a:solidFill>
          <a:ln w="19050" cap="flat" cmpd="sng" algn="ctr">
            <a:solidFill>
              <a:schemeClr val="accent1"/>
            </a:solidFill>
            <a:prstDash val="solid"/>
            <a:miter lim="800000"/>
          </a:ln>
          <a:effectLst>
            <a:outerShdw blurRad="63500" sx="102000" sy="102000" algn="ctr" rotWithShape="0">
              <a:srgbClr val="5B9BD5">
                <a:lumMod val="75000"/>
                <a:alpha val="40000"/>
              </a:srgb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0" lang="zh-CN" altLang="en-US"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任务 </a:t>
            </a:r>
            <a:r>
              <a:rPr kumimoji="0" lang="en-US" altLang="zh-CN"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1</a:t>
            </a:r>
            <a:endParaRPr kumimoji="0" lang="en-US" altLang="zh-CN" sz="2000" b="0"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rPr>
              <a:t>（逆）合成知识注入与求解模型构建</a:t>
            </a:r>
          </a:p>
        </p:txBody>
      </p:sp>
      <p:sp>
        <p:nvSpPr>
          <p:cNvPr id="94" name="矩形: 圆角 156">
            <a:extLst>
              <a:ext uri="{FF2B5EF4-FFF2-40B4-BE49-F238E27FC236}">
                <a16:creationId xmlns:a16="http://schemas.microsoft.com/office/drawing/2014/main" id="{8E9CD6FF-59CC-1C0D-B421-56BE2A7D4B43}"/>
              </a:ext>
            </a:extLst>
          </p:cNvPr>
          <p:cNvSpPr/>
          <p:nvPr>
            <p:custDataLst>
              <p:tags r:id="rId20"/>
            </p:custDataLst>
          </p:nvPr>
        </p:nvSpPr>
        <p:spPr>
          <a:xfrm>
            <a:off x="4032887" y="2101255"/>
            <a:ext cx="1501200" cy="1139825"/>
          </a:xfrm>
          <a:prstGeom prst="roundRect">
            <a:avLst>
              <a:gd name="adj" fmla="val 10708"/>
            </a:avLst>
          </a:prstGeom>
          <a:solidFill>
            <a:sysClr val="window" lastClr="FFFFFF"/>
          </a:solidFill>
          <a:ln w="12700" cap="flat" cmpd="sng" algn="ctr">
            <a:solidFill>
              <a:sysClr val="window" lastClr="FFFFFF">
                <a:lumMod val="50000"/>
              </a:sysClr>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altLang="zh-CN" sz="16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pic>
        <p:nvPicPr>
          <p:cNvPr id="95" name="图片 94">
            <a:extLst>
              <a:ext uri="{FF2B5EF4-FFF2-40B4-BE49-F238E27FC236}">
                <a16:creationId xmlns:a16="http://schemas.microsoft.com/office/drawing/2014/main" id="{640C4DFD-4917-AFBF-EE2F-81EF68E151A0}"/>
              </a:ext>
            </a:extLst>
          </p:cNvPr>
          <p:cNvPicPr>
            <a:picLocks noChangeAspect="1"/>
          </p:cNvPicPr>
          <p:nvPr>
            <p:custDataLst>
              <p:tags r:id="rId21"/>
            </p:custDataLst>
          </p:nvPr>
        </p:nvPicPr>
        <p:blipFill>
          <a:blip r:embed="rId54"/>
          <a:srcRect r="2145" b="14251"/>
          <a:stretch>
            <a:fillRect/>
          </a:stretch>
        </p:blipFill>
        <p:spPr>
          <a:xfrm>
            <a:off x="4156602" y="2238838"/>
            <a:ext cx="1245870" cy="869950"/>
          </a:xfrm>
          <a:prstGeom prst="rect">
            <a:avLst/>
          </a:prstGeom>
        </p:spPr>
      </p:pic>
      <p:sp>
        <p:nvSpPr>
          <p:cNvPr id="96" name="矩形: 圆角 156">
            <a:extLst>
              <a:ext uri="{FF2B5EF4-FFF2-40B4-BE49-F238E27FC236}">
                <a16:creationId xmlns:a16="http://schemas.microsoft.com/office/drawing/2014/main" id="{7E4E25DB-FA17-3996-9197-1C6618A6DFF8}"/>
              </a:ext>
            </a:extLst>
          </p:cNvPr>
          <p:cNvSpPr/>
          <p:nvPr>
            <p:custDataLst>
              <p:tags r:id="rId22"/>
            </p:custDataLst>
          </p:nvPr>
        </p:nvSpPr>
        <p:spPr>
          <a:xfrm>
            <a:off x="4032887" y="3476876"/>
            <a:ext cx="1501200" cy="1139825"/>
          </a:xfrm>
          <a:prstGeom prst="roundRect">
            <a:avLst>
              <a:gd name="adj" fmla="val 10708"/>
            </a:avLst>
          </a:prstGeom>
          <a:solidFill>
            <a:sysClr val="window" lastClr="FFFFFF"/>
          </a:solidFill>
          <a:ln w="12700" cap="flat" cmpd="sng" algn="ctr">
            <a:solidFill>
              <a:sysClr val="window" lastClr="FFFFFF">
                <a:lumMod val="50000"/>
              </a:sysClr>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altLang="zh-CN" sz="16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97" name="矩形: 圆角 168">
            <a:extLst>
              <a:ext uri="{FF2B5EF4-FFF2-40B4-BE49-F238E27FC236}">
                <a16:creationId xmlns:a16="http://schemas.microsoft.com/office/drawing/2014/main" id="{1EAE2242-D575-46C8-A4A9-12E3C1D1FEEB}"/>
              </a:ext>
            </a:extLst>
          </p:cNvPr>
          <p:cNvSpPr/>
          <p:nvPr>
            <p:custDataLst>
              <p:tags r:id="rId23"/>
            </p:custDataLst>
          </p:nvPr>
        </p:nvSpPr>
        <p:spPr>
          <a:xfrm>
            <a:off x="5690207" y="3527094"/>
            <a:ext cx="3235705" cy="1037590"/>
          </a:xfrm>
          <a:prstGeom prst="roundRect">
            <a:avLst/>
          </a:prstGeom>
          <a:solidFill>
            <a:schemeClr val="bg1"/>
          </a:solidFill>
          <a:ln w="19050" cap="flat" cmpd="sng" algn="ctr">
            <a:solidFill>
              <a:schemeClr val="accent1"/>
            </a:solidFill>
            <a:prstDash val="solid"/>
            <a:miter lim="800000"/>
          </a:ln>
          <a:effectLst>
            <a:outerShdw blurRad="63500" sx="102000" sy="102000" algn="ctr" rotWithShape="0">
              <a:srgbClr val="5B9BD5">
                <a:lumMod val="75000"/>
                <a:alpha val="40000"/>
              </a:srgb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0" lang="zh-CN" altLang="en-US"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任务 </a:t>
            </a:r>
            <a:r>
              <a:rPr kumimoji="0" lang="en-US" altLang="zh-CN"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2</a:t>
            </a:r>
            <a:endParaRPr kumimoji="0" lang="en-US" altLang="zh-CN" sz="2400" b="0"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rPr>
              <a:t>人在回路的全流程（逆）合成优化框架</a:t>
            </a:r>
          </a:p>
        </p:txBody>
      </p:sp>
      <p:sp>
        <p:nvSpPr>
          <p:cNvPr id="98" name="矩形: 圆角 168">
            <a:extLst>
              <a:ext uri="{FF2B5EF4-FFF2-40B4-BE49-F238E27FC236}">
                <a16:creationId xmlns:a16="http://schemas.microsoft.com/office/drawing/2014/main" id="{53F03B63-AC3E-77FC-11E1-67E945604182}"/>
              </a:ext>
            </a:extLst>
          </p:cNvPr>
          <p:cNvSpPr/>
          <p:nvPr>
            <p:custDataLst>
              <p:tags r:id="rId24"/>
            </p:custDataLst>
          </p:nvPr>
        </p:nvSpPr>
        <p:spPr>
          <a:xfrm>
            <a:off x="5690206" y="4919270"/>
            <a:ext cx="3235706" cy="1037590"/>
          </a:xfrm>
          <a:prstGeom prst="roundRect">
            <a:avLst/>
          </a:prstGeom>
          <a:solidFill>
            <a:schemeClr val="bg1"/>
          </a:solidFill>
          <a:ln w="19050" cap="flat" cmpd="sng" algn="ctr">
            <a:solidFill>
              <a:schemeClr val="accent1"/>
            </a:solidFill>
            <a:prstDash val="solid"/>
            <a:miter lim="800000"/>
          </a:ln>
          <a:effectLst>
            <a:outerShdw blurRad="63500" sx="102000" sy="102000" algn="ctr" rotWithShape="0">
              <a:srgbClr val="5B9BD5">
                <a:lumMod val="75000"/>
                <a:alpha val="40000"/>
              </a:srgb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0" lang="zh-CN" altLang="en-US"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任务 </a:t>
            </a:r>
            <a:r>
              <a:rPr kumimoji="0" lang="en-US" altLang="zh-CN"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3</a:t>
            </a:r>
            <a:endParaRPr kumimoji="0" lang="en-US" altLang="zh-CN" sz="2400" b="0"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rPr>
              <a:t>结合反应机制的构效关系求解新模型</a:t>
            </a:r>
          </a:p>
        </p:txBody>
      </p:sp>
      <p:sp>
        <p:nvSpPr>
          <p:cNvPr id="99" name="矩形: 圆角 156">
            <a:extLst>
              <a:ext uri="{FF2B5EF4-FFF2-40B4-BE49-F238E27FC236}">
                <a16:creationId xmlns:a16="http://schemas.microsoft.com/office/drawing/2014/main" id="{73FE094D-71A4-1D58-4CBB-B0334761A460}"/>
              </a:ext>
            </a:extLst>
          </p:cNvPr>
          <p:cNvSpPr/>
          <p:nvPr>
            <p:custDataLst>
              <p:tags r:id="rId25"/>
            </p:custDataLst>
          </p:nvPr>
        </p:nvSpPr>
        <p:spPr>
          <a:xfrm>
            <a:off x="4032887" y="4856945"/>
            <a:ext cx="1501200" cy="1139825"/>
          </a:xfrm>
          <a:prstGeom prst="roundRect">
            <a:avLst>
              <a:gd name="adj" fmla="val 10708"/>
            </a:avLst>
          </a:prstGeom>
          <a:solidFill>
            <a:sysClr val="window" lastClr="FFFFFF"/>
          </a:solidFill>
          <a:ln w="12700" cap="flat" cmpd="sng" algn="ctr">
            <a:solidFill>
              <a:sysClr val="window" lastClr="FFFFFF">
                <a:lumMod val="50000"/>
              </a:sysClr>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altLang="zh-CN" sz="16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grpSp>
        <p:nvGrpSpPr>
          <p:cNvPr id="100" name="组合 99">
            <a:extLst>
              <a:ext uri="{FF2B5EF4-FFF2-40B4-BE49-F238E27FC236}">
                <a16:creationId xmlns:a16="http://schemas.microsoft.com/office/drawing/2014/main" id="{39DD15ED-A526-A113-86B3-C2F926022A7F}"/>
              </a:ext>
            </a:extLst>
          </p:cNvPr>
          <p:cNvGrpSpPr/>
          <p:nvPr/>
        </p:nvGrpSpPr>
        <p:grpSpPr>
          <a:xfrm>
            <a:off x="4287883" y="3578107"/>
            <a:ext cx="983383" cy="933184"/>
            <a:chOff x="4461" y="3048"/>
            <a:chExt cx="1786" cy="1694"/>
          </a:xfrm>
        </p:grpSpPr>
        <p:pic>
          <p:nvPicPr>
            <p:cNvPr id="101" name="图片 100" descr="Z7`5RNWBG~0%]0E2F5I73KT">
              <a:extLst>
                <a:ext uri="{FF2B5EF4-FFF2-40B4-BE49-F238E27FC236}">
                  <a16:creationId xmlns:a16="http://schemas.microsoft.com/office/drawing/2014/main" id="{3548CADA-D3F4-F471-F7C8-CDEBC5773729}"/>
                </a:ext>
              </a:extLst>
            </p:cNvPr>
            <p:cNvPicPr>
              <a:picLocks noChangeAspect="1"/>
            </p:cNvPicPr>
            <p:nvPr>
              <p:custDataLst>
                <p:tags r:id="rId37"/>
              </p:custDataLst>
            </p:nvPr>
          </p:nvPicPr>
          <p:blipFill>
            <a:blip r:embed="rId55"/>
            <a:srcRect l="19537" r="20070" b="13"/>
            <a:stretch>
              <a:fillRect/>
            </a:stretch>
          </p:blipFill>
          <p:spPr>
            <a:xfrm>
              <a:off x="4461" y="3110"/>
              <a:ext cx="1784" cy="1632"/>
            </a:xfrm>
            <a:prstGeom prst="rect">
              <a:avLst/>
            </a:prstGeom>
          </p:spPr>
        </p:pic>
        <p:sp>
          <p:nvSpPr>
            <p:cNvPr id="102" name="文本框 101">
              <a:extLst>
                <a:ext uri="{FF2B5EF4-FFF2-40B4-BE49-F238E27FC236}">
                  <a16:creationId xmlns:a16="http://schemas.microsoft.com/office/drawing/2014/main" id="{70910D14-77D6-D68D-42A8-E360B0FDF5EA}"/>
                </a:ext>
              </a:extLst>
            </p:cNvPr>
            <p:cNvSpPr txBox="1"/>
            <p:nvPr>
              <p:custDataLst>
                <p:tags r:id="rId38"/>
              </p:custDataLst>
            </p:nvPr>
          </p:nvSpPr>
          <p:spPr>
            <a:xfrm>
              <a:off x="4462" y="3048"/>
              <a:ext cx="1785" cy="214"/>
            </a:xfrm>
            <a:prstGeom prst="rect">
              <a:avLst/>
            </a:prstGeom>
          </p:spPr>
          <p:txBody>
            <a:bodyPr wrap="square">
              <a:noAutofit/>
              <a:extLst>
                <a:ext uri="{4A0BC546-FE56-4ADE-93B0-CB8AF2F6F144}">
                  <wpsdc:textFrameExt xmlns:wpsdc="http://www.wps.cn/officeDocument/2022/drawingmlCustomData" xmlns="" type="text"/>
                </a:ext>
              </a:extLs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900" b="0" i="0" u="none" strike="noStrike" kern="120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mn-cs"/>
                </a:rPr>
                <a:t>现实反馈</a:t>
              </a:r>
            </a:p>
          </p:txBody>
        </p:sp>
        <p:sp>
          <p:nvSpPr>
            <p:cNvPr id="103" name="文本框 102">
              <a:extLst>
                <a:ext uri="{FF2B5EF4-FFF2-40B4-BE49-F238E27FC236}">
                  <a16:creationId xmlns:a16="http://schemas.microsoft.com/office/drawing/2014/main" id="{DB69314B-D685-8C24-3D96-3FE7E67370CB}"/>
                </a:ext>
              </a:extLst>
            </p:cNvPr>
            <p:cNvSpPr txBox="1"/>
            <p:nvPr>
              <p:custDataLst>
                <p:tags r:id="rId39"/>
              </p:custDataLst>
            </p:nvPr>
          </p:nvSpPr>
          <p:spPr>
            <a:xfrm>
              <a:off x="4461" y="4443"/>
              <a:ext cx="1784" cy="299"/>
            </a:xfrm>
            <a:prstGeom prst="rect">
              <a:avLst/>
            </a:prstGeom>
          </p:spPr>
          <p:txBody>
            <a:bodyPr wrap="square">
              <a:noAutofit/>
              <a:extLst>
                <a:ext uri="{4A0BC546-FE56-4ADE-93B0-CB8AF2F6F144}">
                  <wpsdc:textFrameExt xmlns:wpsdc="http://www.wps.cn/officeDocument/2022/drawingmlCustomData" xmlns="" type="text"/>
                </a:ext>
              </a:extLs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900" b="0" i="0" u="none" strike="noStrike" kern="120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mn-cs"/>
                </a:rPr>
                <a:t>流程指导</a:t>
              </a:r>
            </a:p>
          </p:txBody>
        </p:sp>
      </p:grpSp>
      <p:pic>
        <p:nvPicPr>
          <p:cNvPr id="104" name="图片 103">
            <a:extLst>
              <a:ext uri="{FF2B5EF4-FFF2-40B4-BE49-F238E27FC236}">
                <a16:creationId xmlns:a16="http://schemas.microsoft.com/office/drawing/2014/main" id="{E6D3ADD5-66CE-14EA-504B-239E4EB455B0}"/>
              </a:ext>
            </a:extLst>
          </p:cNvPr>
          <p:cNvPicPr>
            <a:picLocks noChangeAspect="1"/>
          </p:cNvPicPr>
          <p:nvPr>
            <p:custDataLst>
              <p:tags r:id="rId26"/>
            </p:custDataLst>
          </p:nvPr>
        </p:nvPicPr>
        <p:blipFill>
          <a:blip r:embed="rId56"/>
          <a:stretch>
            <a:fillRect/>
          </a:stretch>
        </p:blipFill>
        <p:spPr>
          <a:xfrm>
            <a:off x="4174805" y="5009343"/>
            <a:ext cx="1236345" cy="847090"/>
          </a:xfrm>
          <a:prstGeom prst="rect">
            <a:avLst/>
          </a:prstGeom>
        </p:spPr>
      </p:pic>
      <p:grpSp>
        <p:nvGrpSpPr>
          <p:cNvPr id="118" name="组合 117">
            <a:extLst>
              <a:ext uri="{FF2B5EF4-FFF2-40B4-BE49-F238E27FC236}">
                <a16:creationId xmlns:a16="http://schemas.microsoft.com/office/drawing/2014/main" id="{E9DF1772-1A59-EA39-2139-B0CB80D5DC17}"/>
              </a:ext>
            </a:extLst>
          </p:cNvPr>
          <p:cNvGrpSpPr/>
          <p:nvPr/>
        </p:nvGrpSpPr>
        <p:grpSpPr>
          <a:xfrm>
            <a:off x="9544080" y="4956426"/>
            <a:ext cx="1670685" cy="871855"/>
            <a:chOff x="13248" y="3468"/>
            <a:chExt cx="2631" cy="1373"/>
          </a:xfrm>
        </p:grpSpPr>
        <p:sp>
          <p:nvSpPr>
            <p:cNvPr id="119" name="矩形: 圆角 122">
              <a:extLst>
                <a:ext uri="{FF2B5EF4-FFF2-40B4-BE49-F238E27FC236}">
                  <a16:creationId xmlns:a16="http://schemas.microsoft.com/office/drawing/2014/main" id="{71280268-9635-4F6F-3319-FA9624335249}"/>
                </a:ext>
              </a:extLst>
            </p:cNvPr>
            <p:cNvSpPr/>
            <p:nvPr>
              <p:custDataLst>
                <p:tags r:id="rId35"/>
              </p:custDataLst>
            </p:nvPr>
          </p:nvSpPr>
          <p:spPr>
            <a:xfrm>
              <a:off x="13248" y="3497"/>
              <a:ext cx="2628" cy="1344"/>
            </a:xfrm>
            <a:prstGeom prst="roundRect">
              <a:avLst/>
            </a:prstGeom>
            <a:solidFill>
              <a:sysClr val="window" lastClr="FFFFFF"/>
            </a:solidFill>
            <a:ln w="12700" cap="flat" cmpd="sng" algn="ctr">
              <a:solidFill>
                <a:srgbClr val="5B9BD5"/>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zh-CN" altLang="en-US" sz="1800" b="1"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120" name="任意多边形: 形状 123">
              <a:extLst>
                <a:ext uri="{FF2B5EF4-FFF2-40B4-BE49-F238E27FC236}">
                  <a16:creationId xmlns:a16="http://schemas.microsoft.com/office/drawing/2014/main" id="{47E4B7D0-C2FD-3491-AF30-DF28D2156AAD}"/>
                </a:ext>
              </a:extLst>
            </p:cNvPr>
            <p:cNvSpPr/>
            <p:nvPr>
              <p:custDataLst>
                <p:tags r:id="rId36"/>
              </p:custDataLst>
            </p:nvPr>
          </p:nvSpPr>
          <p:spPr>
            <a:xfrm>
              <a:off x="13248" y="3468"/>
              <a:ext cx="2631" cy="648"/>
            </a:xfrm>
            <a:custGeom>
              <a:avLst/>
              <a:gdLst>
                <a:gd name="connsiteX0" fmla="*/ 202418 w 1483152"/>
                <a:gd name="connsiteY0" fmla="*/ 0 h 426446"/>
                <a:gd name="connsiteX1" fmla="*/ 1280734 w 1483152"/>
                <a:gd name="connsiteY1" fmla="*/ 0 h 426446"/>
                <a:gd name="connsiteX2" fmla="*/ 1483152 w 1483152"/>
                <a:gd name="connsiteY2" fmla="*/ 202418 h 426446"/>
                <a:gd name="connsiteX3" fmla="*/ 1483152 w 1483152"/>
                <a:gd name="connsiteY3" fmla="*/ 426446 h 426446"/>
                <a:gd name="connsiteX4" fmla="*/ 0 w 1483152"/>
                <a:gd name="connsiteY4" fmla="*/ 426446 h 426446"/>
                <a:gd name="connsiteX5" fmla="*/ 0 w 1483152"/>
                <a:gd name="connsiteY5" fmla="*/ 202418 h 426446"/>
                <a:gd name="connsiteX6" fmla="*/ 202418 w 1483152"/>
                <a:gd name="connsiteY6" fmla="*/ 0 h 426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83152" h="426446">
                  <a:moveTo>
                    <a:pt x="202418" y="0"/>
                  </a:moveTo>
                  <a:lnTo>
                    <a:pt x="1280734" y="0"/>
                  </a:lnTo>
                  <a:cubicBezTo>
                    <a:pt x="1392526" y="0"/>
                    <a:pt x="1483152" y="90626"/>
                    <a:pt x="1483152" y="202418"/>
                  </a:cubicBezTo>
                  <a:lnTo>
                    <a:pt x="1483152" y="426446"/>
                  </a:lnTo>
                  <a:lnTo>
                    <a:pt x="0" y="426446"/>
                  </a:lnTo>
                  <a:lnTo>
                    <a:pt x="0" y="202418"/>
                  </a:lnTo>
                  <a:cubicBezTo>
                    <a:pt x="0" y="90626"/>
                    <a:pt x="90626" y="0"/>
                    <a:pt x="202418" y="0"/>
                  </a:cubicBezTo>
                  <a:close/>
                </a:path>
              </a:pathLst>
            </a:custGeom>
            <a:solidFill>
              <a:srgbClr val="4472C4"/>
            </a:solidFill>
            <a:ln w="12700" cap="flat" cmpd="sng" algn="ctr">
              <a:solidFill>
                <a:srgbClr val="4472C4"/>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rPr>
                <a:t>湿实验验证</a:t>
              </a:r>
            </a:p>
          </p:txBody>
        </p:sp>
      </p:grpSp>
      <p:sp>
        <p:nvSpPr>
          <p:cNvPr id="121" name="文本框 30">
            <a:extLst>
              <a:ext uri="{FF2B5EF4-FFF2-40B4-BE49-F238E27FC236}">
                <a16:creationId xmlns:a16="http://schemas.microsoft.com/office/drawing/2014/main" id="{B3A93DD6-3B87-F0F0-3BE5-4E635C6485FE}"/>
              </a:ext>
            </a:extLst>
          </p:cNvPr>
          <p:cNvSpPr txBox="1"/>
          <p:nvPr>
            <p:custDataLst>
              <p:tags r:id="rId27"/>
            </p:custDataLst>
          </p:nvPr>
        </p:nvSpPr>
        <p:spPr>
          <a:xfrm>
            <a:off x="9570115" y="5402831"/>
            <a:ext cx="1603375"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至少六类反应</a:t>
            </a:r>
          </a:p>
        </p:txBody>
      </p:sp>
      <p:grpSp>
        <p:nvGrpSpPr>
          <p:cNvPr id="122" name="组合 121">
            <a:extLst>
              <a:ext uri="{FF2B5EF4-FFF2-40B4-BE49-F238E27FC236}">
                <a16:creationId xmlns:a16="http://schemas.microsoft.com/office/drawing/2014/main" id="{7106DEEF-2FEC-A6E6-984A-F951EBF33190}"/>
              </a:ext>
            </a:extLst>
          </p:cNvPr>
          <p:cNvGrpSpPr/>
          <p:nvPr/>
        </p:nvGrpSpPr>
        <p:grpSpPr>
          <a:xfrm>
            <a:off x="9544080" y="3635417"/>
            <a:ext cx="1670685" cy="871855"/>
            <a:chOff x="13248" y="3468"/>
            <a:chExt cx="2631" cy="1373"/>
          </a:xfrm>
        </p:grpSpPr>
        <p:sp>
          <p:nvSpPr>
            <p:cNvPr id="123" name="矩形: 圆角 122">
              <a:extLst>
                <a:ext uri="{FF2B5EF4-FFF2-40B4-BE49-F238E27FC236}">
                  <a16:creationId xmlns:a16="http://schemas.microsoft.com/office/drawing/2014/main" id="{913083A9-4087-A737-0D61-096268706465}"/>
                </a:ext>
              </a:extLst>
            </p:cNvPr>
            <p:cNvSpPr/>
            <p:nvPr>
              <p:custDataLst>
                <p:tags r:id="rId33"/>
              </p:custDataLst>
            </p:nvPr>
          </p:nvSpPr>
          <p:spPr>
            <a:xfrm>
              <a:off x="13248" y="3497"/>
              <a:ext cx="2628" cy="1344"/>
            </a:xfrm>
            <a:prstGeom prst="roundRect">
              <a:avLst/>
            </a:prstGeom>
            <a:solidFill>
              <a:sysClr val="window" lastClr="FFFFFF"/>
            </a:solidFill>
            <a:ln w="12700" cap="flat" cmpd="sng" algn="ctr">
              <a:solidFill>
                <a:srgbClr val="5B9BD5"/>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zh-CN" altLang="en-US" sz="1800" b="1"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124" name="任意多边形: 形状 123">
              <a:extLst>
                <a:ext uri="{FF2B5EF4-FFF2-40B4-BE49-F238E27FC236}">
                  <a16:creationId xmlns:a16="http://schemas.microsoft.com/office/drawing/2014/main" id="{6A217406-6AFD-C739-6554-AF221527F6BA}"/>
                </a:ext>
              </a:extLst>
            </p:cNvPr>
            <p:cNvSpPr/>
            <p:nvPr>
              <p:custDataLst>
                <p:tags r:id="rId34"/>
              </p:custDataLst>
            </p:nvPr>
          </p:nvSpPr>
          <p:spPr>
            <a:xfrm>
              <a:off x="13248" y="3468"/>
              <a:ext cx="2631" cy="648"/>
            </a:xfrm>
            <a:custGeom>
              <a:avLst/>
              <a:gdLst>
                <a:gd name="connsiteX0" fmla="*/ 202418 w 1483152"/>
                <a:gd name="connsiteY0" fmla="*/ 0 h 426446"/>
                <a:gd name="connsiteX1" fmla="*/ 1280734 w 1483152"/>
                <a:gd name="connsiteY1" fmla="*/ 0 h 426446"/>
                <a:gd name="connsiteX2" fmla="*/ 1483152 w 1483152"/>
                <a:gd name="connsiteY2" fmla="*/ 202418 h 426446"/>
                <a:gd name="connsiteX3" fmla="*/ 1483152 w 1483152"/>
                <a:gd name="connsiteY3" fmla="*/ 426446 h 426446"/>
                <a:gd name="connsiteX4" fmla="*/ 0 w 1483152"/>
                <a:gd name="connsiteY4" fmla="*/ 426446 h 426446"/>
                <a:gd name="connsiteX5" fmla="*/ 0 w 1483152"/>
                <a:gd name="connsiteY5" fmla="*/ 202418 h 426446"/>
                <a:gd name="connsiteX6" fmla="*/ 202418 w 1483152"/>
                <a:gd name="connsiteY6" fmla="*/ 0 h 426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83152" h="426446">
                  <a:moveTo>
                    <a:pt x="202418" y="0"/>
                  </a:moveTo>
                  <a:lnTo>
                    <a:pt x="1280734" y="0"/>
                  </a:lnTo>
                  <a:cubicBezTo>
                    <a:pt x="1392526" y="0"/>
                    <a:pt x="1483152" y="90626"/>
                    <a:pt x="1483152" y="202418"/>
                  </a:cubicBezTo>
                  <a:lnTo>
                    <a:pt x="1483152" y="426446"/>
                  </a:lnTo>
                  <a:lnTo>
                    <a:pt x="0" y="426446"/>
                  </a:lnTo>
                  <a:lnTo>
                    <a:pt x="0" y="202418"/>
                  </a:lnTo>
                  <a:cubicBezTo>
                    <a:pt x="0" y="90626"/>
                    <a:pt x="90626" y="0"/>
                    <a:pt x="202418" y="0"/>
                  </a:cubicBezTo>
                  <a:close/>
                </a:path>
              </a:pathLst>
            </a:custGeom>
            <a:solidFill>
              <a:srgbClr val="4472C4"/>
            </a:solidFill>
            <a:ln w="12700" cap="flat" cmpd="sng" algn="ctr">
              <a:solidFill>
                <a:srgbClr val="4472C4"/>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rPr>
                <a:t>基础模型正确率</a:t>
              </a:r>
            </a:p>
          </p:txBody>
        </p:sp>
      </p:grpSp>
      <p:sp>
        <p:nvSpPr>
          <p:cNvPr id="125" name="文本框 30">
            <a:extLst>
              <a:ext uri="{FF2B5EF4-FFF2-40B4-BE49-F238E27FC236}">
                <a16:creationId xmlns:a16="http://schemas.microsoft.com/office/drawing/2014/main" id="{B27EAB78-7EC9-5FED-6343-151D11CBBCA3}"/>
              </a:ext>
            </a:extLst>
          </p:cNvPr>
          <p:cNvSpPr txBox="1"/>
          <p:nvPr>
            <p:custDataLst>
              <p:tags r:id="rId28"/>
            </p:custDataLst>
          </p:nvPr>
        </p:nvSpPr>
        <p:spPr>
          <a:xfrm>
            <a:off x="9570115" y="4081822"/>
            <a:ext cx="1603375" cy="36830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提升</a:t>
            </a:r>
            <a:r>
              <a:rPr kumimoji="0" lang="en-US" altLang="zh-CN"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5%</a:t>
            </a:r>
          </a:p>
        </p:txBody>
      </p:sp>
      <p:grpSp>
        <p:nvGrpSpPr>
          <p:cNvPr id="126" name="组合 125">
            <a:extLst>
              <a:ext uri="{FF2B5EF4-FFF2-40B4-BE49-F238E27FC236}">
                <a16:creationId xmlns:a16="http://schemas.microsoft.com/office/drawing/2014/main" id="{722325D1-A66A-237F-6FAD-0A0203991730}"/>
              </a:ext>
            </a:extLst>
          </p:cNvPr>
          <p:cNvGrpSpPr/>
          <p:nvPr/>
        </p:nvGrpSpPr>
        <p:grpSpPr>
          <a:xfrm>
            <a:off x="9544080" y="2227833"/>
            <a:ext cx="1670685" cy="871855"/>
            <a:chOff x="13248" y="3468"/>
            <a:chExt cx="2631" cy="1373"/>
          </a:xfrm>
        </p:grpSpPr>
        <p:sp>
          <p:nvSpPr>
            <p:cNvPr id="127" name="矩形: 圆角 122">
              <a:extLst>
                <a:ext uri="{FF2B5EF4-FFF2-40B4-BE49-F238E27FC236}">
                  <a16:creationId xmlns:a16="http://schemas.microsoft.com/office/drawing/2014/main" id="{8A53F1EF-251A-5909-E30D-491A4BC84C60}"/>
                </a:ext>
              </a:extLst>
            </p:cNvPr>
            <p:cNvSpPr/>
            <p:nvPr>
              <p:custDataLst>
                <p:tags r:id="rId31"/>
              </p:custDataLst>
            </p:nvPr>
          </p:nvSpPr>
          <p:spPr>
            <a:xfrm>
              <a:off x="13248" y="3497"/>
              <a:ext cx="2628" cy="1344"/>
            </a:xfrm>
            <a:prstGeom prst="roundRect">
              <a:avLst/>
            </a:prstGeom>
            <a:solidFill>
              <a:sysClr val="window" lastClr="FFFFFF"/>
            </a:solidFill>
            <a:ln w="12700" cap="flat" cmpd="sng" algn="ctr">
              <a:solidFill>
                <a:srgbClr val="5B9BD5"/>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zh-CN" altLang="en-US" sz="1800" b="1"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128" name="任意多边形: 形状 123">
              <a:extLst>
                <a:ext uri="{FF2B5EF4-FFF2-40B4-BE49-F238E27FC236}">
                  <a16:creationId xmlns:a16="http://schemas.microsoft.com/office/drawing/2014/main" id="{A7BB727C-2F4E-67C5-EF6A-56D10932A4DD}"/>
                </a:ext>
              </a:extLst>
            </p:cNvPr>
            <p:cNvSpPr/>
            <p:nvPr>
              <p:custDataLst>
                <p:tags r:id="rId32"/>
              </p:custDataLst>
            </p:nvPr>
          </p:nvSpPr>
          <p:spPr>
            <a:xfrm>
              <a:off x="13248" y="3468"/>
              <a:ext cx="2631" cy="648"/>
            </a:xfrm>
            <a:custGeom>
              <a:avLst/>
              <a:gdLst>
                <a:gd name="connsiteX0" fmla="*/ 202418 w 1483152"/>
                <a:gd name="connsiteY0" fmla="*/ 0 h 426446"/>
                <a:gd name="connsiteX1" fmla="*/ 1280734 w 1483152"/>
                <a:gd name="connsiteY1" fmla="*/ 0 h 426446"/>
                <a:gd name="connsiteX2" fmla="*/ 1483152 w 1483152"/>
                <a:gd name="connsiteY2" fmla="*/ 202418 h 426446"/>
                <a:gd name="connsiteX3" fmla="*/ 1483152 w 1483152"/>
                <a:gd name="connsiteY3" fmla="*/ 426446 h 426446"/>
                <a:gd name="connsiteX4" fmla="*/ 0 w 1483152"/>
                <a:gd name="connsiteY4" fmla="*/ 426446 h 426446"/>
                <a:gd name="connsiteX5" fmla="*/ 0 w 1483152"/>
                <a:gd name="connsiteY5" fmla="*/ 202418 h 426446"/>
                <a:gd name="connsiteX6" fmla="*/ 202418 w 1483152"/>
                <a:gd name="connsiteY6" fmla="*/ 0 h 426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83152" h="426446">
                  <a:moveTo>
                    <a:pt x="202418" y="0"/>
                  </a:moveTo>
                  <a:lnTo>
                    <a:pt x="1280734" y="0"/>
                  </a:lnTo>
                  <a:cubicBezTo>
                    <a:pt x="1392526" y="0"/>
                    <a:pt x="1483152" y="90626"/>
                    <a:pt x="1483152" y="202418"/>
                  </a:cubicBezTo>
                  <a:lnTo>
                    <a:pt x="1483152" y="426446"/>
                  </a:lnTo>
                  <a:lnTo>
                    <a:pt x="0" y="426446"/>
                  </a:lnTo>
                  <a:lnTo>
                    <a:pt x="0" y="202418"/>
                  </a:lnTo>
                  <a:cubicBezTo>
                    <a:pt x="0" y="90626"/>
                    <a:pt x="90626" y="0"/>
                    <a:pt x="202418" y="0"/>
                  </a:cubicBezTo>
                  <a:close/>
                </a:path>
              </a:pathLst>
            </a:custGeom>
            <a:solidFill>
              <a:srgbClr val="4472C4"/>
            </a:solidFill>
            <a:ln w="12700" cap="flat" cmpd="sng" algn="ctr">
              <a:solidFill>
                <a:srgbClr val="4472C4"/>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rPr>
                <a:t>模型编辑稳定性</a:t>
              </a:r>
            </a:p>
          </p:txBody>
        </p:sp>
      </p:grpSp>
      <p:sp>
        <p:nvSpPr>
          <p:cNvPr id="129" name="文本框 30">
            <a:extLst>
              <a:ext uri="{FF2B5EF4-FFF2-40B4-BE49-F238E27FC236}">
                <a16:creationId xmlns:a16="http://schemas.microsoft.com/office/drawing/2014/main" id="{5E37624C-6A85-3770-F344-8853525F1AC0}"/>
              </a:ext>
            </a:extLst>
          </p:cNvPr>
          <p:cNvSpPr txBox="1"/>
          <p:nvPr>
            <p:custDataLst>
              <p:tags r:id="rId29"/>
            </p:custDataLst>
          </p:nvPr>
        </p:nvSpPr>
        <p:spPr>
          <a:xfrm>
            <a:off x="9570115" y="2682705"/>
            <a:ext cx="1603375" cy="36830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提升</a:t>
            </a:r>
            <a:r>
              <a:rPr kumimoji="0" lang="en-US" altLang="zh-CN"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20%</a:t>
            </a:r>
          </a:p>
        </p:txBody>
      </p:sp>
      <p:sp>
        <p:nvSpPr>
          <p:cNvPr id="130" name="矩形: 圆角 112">
            <a:extLst>
              <a:ext uri="{FF2B5EF4-FFF2-40B4-BE49-F238E27FC236}">
                <a16:creationId xmlns:a16="http://schemas.microsoft.com/office/drawing/2014/main" id="{6DE60145-E5FE-07F7-7DA7-6DB4F72732D9}"/>
              </a:ext>
            </a:extLst>
          </p:cNvPr>
          <p:cNvSpPr/>
          <p:nvPr>
            <p:custDataLst>
              <p:tags r:id="rId30"/>
            </p:custDataLst>
          </p:nvPr>
        </p:nvSpPr>
        <p:spPr>
          <a:xfrm>
            <a:off x="11348989" y="1976592"/>
            <a:ext cx="379095" cy="4089083"/>
          </a:xfrm>
          <a:prstGeom prst="roundRect">
            <a:avLst>
              <a:gd name="adj" fmla="val 17847"/>
            </a:avLst>
          </a:prstGeom>
          <a:ln/>
        </p:spPr>
        <p:style>
          <a:lnRef idx="2">
            <a:schemeClr val="accent1">
              <a:shade val="15000"/>
            </a:schemeClr>
          </a:lnRef>
          <a:fillRef idx="1">
            <a:schemeClr val="accent1"/>
          </a:fillRef>
          <a:effectRef idx="0">
            <a:schemeClr val="accent1"/>
          </a:effectRef>
          <a:fontRef idx="minor">
            <a:schemeClr val="lt1"/>
          </a:fontRef>
        </p:style>
        <p:txBody>
          <a:bodyPr vert="mongolianVert" lIns="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0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Arial" panose="020B0604020202020204" pitchFamily="34" charset="0"/>
              </a:rPr>
              <a:t>数据知识双驱的（逆）合成新架构</a:t>
            </a:r>
            <a:endParaRPr kumimoji="0" lang="en-US" altLang="zh-CN" sz="20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3" name="Slide Number Placeholder 20">
            <a:extLst>
              <a:ext uri="{FF2B5EF4-FFF2-40B4-BE49-F238E27FC236}">
                <a16:creationId xmlns:a16="http://schemas.microsoft.com/office/drawing/2014/main" id="{131F2000-4746-211F-7503-B76378C19220}"/>
              </a:ext>
            </a:extLst>
          </p:cNvPr>
          <p:cNvSpPr txBox="1">
            <a:spLocks/>
          </p:cNvSpPr>
          <p:nvPr/>
        </p:nvSpPr>
        <p:spPr>
          <a:xfrm>
            <a:off x="9448800" y="3175"/>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2D61274B-6331-E748-A81F-D054B7003DB9}" type="slidenum">
              <a:rPr kumimoji="1" lang="zh-CN" altLang="en-US" smtClean="0">
                <a:solidFill>
                  <a:prstClr val="black">
                    <a:tint val="75000"/>
                  </a:prstClr>
                </a:solidFill>
              </a:rPr>
              <a:pPr>
                <a:defRPr/>
              </a:pPr>
              <a:t>8</a:t>
            </a:fld>
            <a:endParaRPr kumimoji="1" lang="zh-CN" altLang="en-US">
              <a:solidFill>
                <a:prstClr val="black">
                  <a:tint val="75000"/>
                </a:prstClr>
              </a:solidFill>
            </a:endParaRPr>
          </a:p>
        </p:txBody>
      </p:sp>
      <p:pic>
        <p:nvPicPr>
          <p:cNvPr id="4" name="Graphic 5">
            <a:extLst>
              <a:ext uri="{FF2B5EF4-FFF2-40B4-BE49-F238E27FC236}">
                <a16:creationId xmlns:a16="http://schemas.microsoft.com/office/drawing/2014/main" id="{FD2D397A-E23C-FF65-EB7C-F001233F8C99}"/>
              </a:ext>
            </a:extLst>
          </p:cNvPr>
          <p:cNvPicPr>
            <a:picLocks noChangeAspect="1"/>
          </p:cNvPicPr>
          <p:nvPr/>
        </p:nvPicPr>
        <p:blipFill rotWithShape="1">
          <a:blip r:embed="rId57">
            <a:extLst>
              <a:ext uri="{28A0092B-C50C-407E-A947-70E740481C1C}">
                <a14:useLocalDpi xmlns:a14="http://schemas.microsoft.com/office/drawing/2010/main" val="0"/>
              </a:ext>
              <a:ext uri="{96DAC541-7B7A-43D3-8B79-37D633B846F1}">
                <asvg:svgBlip xmlns:asvg="http://schemas.microsoft.com/office/drawing/2016/SVG/main" r:embed="rId58"/>
              </a:ext>
            </a:extLst>
          </a:blip>
          <a:srcRect l="6226" t="13310" r="8094" b="10241"/>
          <a:stretch/>
        </p:blipFill>
        <p:spPr>
          <a:xfrm>
            <a:off x="6039167" y="179979"/>
            <a:ext cx="1835308" cy="594813"/>
          </a:xfrm>
          <a:prstGeom prst="rect">
            <a:avLst/>
          </a:prstGeom>
        </p:spPr>
      </p:pic>
      <p:pic>
        <p:nvPicPr>
          <p:cNvPr id="5" name="图片 10" descr="武汉大学logo-02">
            <a:extLst>
              <a:ext uri="{FF2B5EF4-FFF2-40B4-BE49-F238E27FC236}">
                <a16:creationId xmlns:a16="http://schemas.microsoft.com/office/drawing/2014/main" id="{E937E8CB-56EC-BE99-A8B6-56753E7D9010}"/>
              </a:ext>
            </a:extLst>
          </p:cNvPr>
          <p:cNvPicPr>
            <a:picLocks noChangeAspect="1"/>
          </p:cNvPicPr>
          <p:nvPr/>
        </p:nvPicPr>
        <p:blipFill>
          <a:blip r:embed="rId59"/>
          <a:stretch>
            <a:fillRect/>
          </a:stretch>
        </p:blipFill>
        <p:spPr>
          <a:xfrm>
            <a:off x="8030845" y="95351"/>
            <a:ext cx="2045273" cy="763686"/>
          </a:xfrm>
          <a:prstGeom prst="rect">
            <a:avLst/>
          </a:prstGeom>
        </p:spPr>
      </p:pic>
      <p:pic>
        <p:nvPicPr>
          <p:cNvPr id="6" name="Picture 2">
            <a:extLst>
              <a:ext uri="{FF2B5EF4-FFF2-40B4-BE49-F238E27FC236}">
                <a16:creationId xmlns:a16="http://schemas.microsoft.com/office/drawing/2014/main" id="{A9601455-0882-FE71-AE34-9E8B740E3EC7}"/>
              </a:ext>
            </a:extLst>
          </p:cNvPr>
          <p:cNvPicPr>
            <a:picLocks noChangeAspect="1" noChangeArrowheads="1"/>
          </p:cNvPicPr>
          <p:nvPr/>
        </p:nvPicPr>
        <p:blipFill>
          <a:blip r:embed="rId60"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3506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9A693-CBB1-F919-5D8C-C4E622D4FFAF}"/>
            </a:ext>
          </a:extLst>
        </p:cNvPr>
        <p:cNvGrpSpPr/>
        <p:nvPr/>
      </p:nvGrpSpPr>
      <p:grpSpPr>
        <a:xfrm>
          <a:off x="0" y="0"/>
          <a:ext cx="0" cy="0"/>
          <a:chOff x="0" y="0"/>
          <a:chExt cx="0" cy="0"/>
        </a:xfrm>
      </p:grpSpPr>
      <p:sp>
        <p:nvSpPr>
          <p:cNvPr id="13" name="文本框 12">
            <a:extLst>
              <a:ext uri="{FF2B5EF4-FFF2-40B4-BE49-F238E27FC236}">
                <a16:creationId xmlns:a16="http://schemas.microsoft.com/office/drawing/2014/main" id="{59BC0DD8-92A1-7F8C-EFA8-C7C0652FD8EB}"/>
              </a:ext>
            </a:extLst>
          </p:cNvPr>
          <p:cNvSpPr txBox="1"/>
          <p:nvPr/>
        </p:nvSpPr>
        <p:spPr>
          <a:xfrm>
            <a:off x="129541" y="129715"/>
            <a:ext cx="5909626"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课题：</a:t>
            </a:r>
            <a:r>
              <a:rPr lang="en-US" altLang="zh-CN" b="1"/>
              <a:t>Boosting Retrosynthesis via Molecular Property-Aware Learning</a:t>
            </a:r>
            <a:endParaRPr kumimoji="0" lang="zh-CN" altLang="en-US" sz="2000" b="1" i="0" u="none" strike="noStrike" kern="120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1" name="Slide Number Placeholder 20">
            <a:extLst>
              <a:ext uri="{FF2B5EF4-FFF2-40B4-BE49-F238E27FC236}">
                <a16:creationId xmlns:a16="http://schemas.microsoft.com/office/drawing/2014/main" id="{D323C9C7-4140-0725-0739-F0B74225496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CC18FA2A-220D-A0A8-11D5-69B645C03326}"/>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7" name="文本框 5">
            <a:extLst>
              <a:ext uri="{FF2B5EF4-FFF2-40B4-BE49-F238E27FC236}">
                <a16:creationId xmlns:a16="http://schemas.microsoft.com/office/drawing/2014/main" id="{A8D47BB4-64BD-8B9A-9154-92568DCF23D8}"/>
              </a:ext>
            </a:extLst>
          </p:cNvPr>
          <p:cNvSpPr txBox="1">
            <a:spLocks noChangeArrowheads="1"/>
          </p:cNvSpPr>
          <p:nvPr/>
        </p:nvSpPr>
        <p:spPr bwMode="auto">
          <a:xfrm>
            <a:off x="55872" y="953751"/>
            <a:ext cx="12180822" cy="924099"/>
          </a:xfrm>
          <a:prstGeom prst="rect">
            <a:avLst/>
          </a:prstGeom>
          <a:noFill/>
          <a:ln w="9525">
            <a:noFill/>
            <a:miter lim="800000"/>
          </a:ln>
        </p:spPr>
        <p:txBody>
          <a:bodyPr wrap="square" anchor="t" anchorCtr="0">
            <a:spAutoFit/>
          </a:bodyPr>
          <a:lstStyle/>
          <a:p>
            <a:pPr marL="342900" indent="-342900" fontAlgn="ctr">
              <a:lnSpc>
                <a:spcPct val="90000"/>
              </a:lnSpc>
              <a:spcBef>
                <a:spcPts val="600"/>
              </a:spcBef>
              <a:buSzPct val="120000"/>
              <a:buFont typeface="Wingdings" panose="05000000000000000000" pitchFamily="2" charset="2"/>
              <a:buChar char="p"/>
              <a:defRPr/>
            </a:pPr>
            <a:r>
              <a:rPr lang="zh-CN" altLang="en-US" b="1" dirty="0">
                <a:latin typeface="微软雅黑" panose="020B0503020204020204" pitchFamily="34" charset="-122"/>
                <a:ea typeface="微软雅黑" panose="020B0503020204020204" pitchFamily="34" charset="-122"/>
                <a:cs typeface="Arial" panose="020B0604020202020204" pitchFamily="34" charset="0"/>
              </a:rPr>
              <a:t>基于</a:t>
            </a:r>
            <a:r>
              <a:rPr lang="zh-CN" altLang="en-US" b="1"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知识驱动</a:t>
            </a:r>
            <a:r>
              <a:rPr lang="zh-CN" altLang="en-US" b="1" dirty="0">
                <a:latin typeface="微软雅黑" panose="020B0503020204020204" pitchFamily="34" charset="-122"/>
                <a:ea typeface="微软雅黑" panose="020B0503020204020204" pitchFamily="34" charset="-122"/>
                <a:cs typeface="Arial" panose="020B0604020202020204" pitchFamily="34" charset="0"/>
              </a:rPr>
              <a:t>将分子性质知识注入进逆合成中，从反应规则的学习到反应物的输出的逆合成全流程都基于分子知识作为先验，与现有数种数据驱动方法</a:t>
            </a:r>
            <a:r>
              <a:rPr lang="zh-CN" altLang="en-US" b="1"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无缝集成</a:t>
            </a:r>
            <a:r>
              <a:rPr lang="zh-CN" altLang="en-US" b="1" dirty="0">
                <a:latin typeface="微软雅黑" panose="020B0503020204020204" pitchFamily="34" charset="-122"/>
                <a:ea typeface="微软雅黑" panose="020B0503020204020204" pitchFamily="34" charset="-122"/>
                <a:cs typeface="Arial" panose="020B0604020202020204" pitchFamily="34" charset="0"/>
              </a:rPr>
              <a:t>，无需对现有数种数据驱动方法进行任何改动或微调下明显改善性能</a:t>
            </a:r>
          </a:p>
          <a:p>
            <a:pPr marL="342900" indent="-342900" fontAlgn="ctr">
              <a:lnSpc>
                <a:spcPct val="90000"/>
              </a:lnSpc>
              <a:spcBef>
                <a:spcPts val="600"/>
              </a:spcBef>
              <a:buSzPct val="120000"/>
              <a:buFont typeface="Wingdings" panose="05000000000000000000" pitchFamily="2" charset="2"/>
              <a:buChar char="p"/>
              <a:defRPr/>
            </a:pPr>
            <a:endParaRPr lang="en-US" altLang="zh-CN" b="1" dirty="0">
              <a:latin typeface="微软雅黑" panose="020B0503020204020204" pitchFamily="34" charset="-122"/>
              <a:ea typeface="微软雅黑" panose="020B0503020204020204" pitchFamily="34" charset="-122"/>
              <a:cs typeface="Arial" panose="020B0604020202020204" pitchFamily="34" charset="0"/>
            </a:endParaRPr>
          </a:p>
        </p:txBody>
      </p:sp>
      <p:sp>
        <p:nvSpPr>
          <p:cNvPr id="8" name="文本框 7">
            <a:extLst>
              <a:ext uri="{FF2B5EF4-FFF2-40B4-BE49-F238E27FC236}">
                <a16:creationId xmlns:a16="http://schemas.microsoft.com/office/drawing/2014/main" id="{812FC4A6-0162-04F1-056E-BC940DDD51C6}"/>
              </a:ext>
            </a:extLst>
          </p:cNvPr>
          <p:cNvSpPr txBox="1"/>
          <p:nvPr/>
        </p:nvSpPr>
        <p:spPr>
          <a:xfrm>
            <a:off x="8886658" y="1533231"/>
            <a:ext cx="3163102" cy="5078313"/>
          </a:xfrm>
          <a:prstGeom prst="rect">
            <a:avLst/>
          </a:prstGeom>
          <a:noFill/>
        </p:spPr>
        <p:txBody>
          <a:bodyPr wrap="square">
            <a:spAutoFit/>
          </a:bodyPr>
          <a:lstStyle/>
          <a:p>
            <a:pPr marL="285750" indent="-285750">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cs typeface="Arial" panose="020B0604020202020204" pitchFamily="34" charset="0"/>
              </a:rPr>
              <a:t>现有问题：传统数据驱动的模型往往是“</a:t>
            </a:r>
            <a:r>
              <a:rPr lang="zh-CN" altLang="en-US"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黑箱</a:t>
            </a:r>
            <a:r>
              <a:rPr lang="zh-CN" altLang="en-US" dirty="0">
                <a:latin typeface="微软雅黑" panose="020B0503020204020204" pitchFamily="34" charset="-122"/>
                <a:ea typeface="微软雅黑" panose="020B0503020204020204" pitchFamily="34" charset="-122"/>
                <a:cs typeface="Arial" panose="020B0604020202020204" pitchFamily="34" charset="0"/>
              </a:rPr>
              <a:t>”；逆合成主流无模板方法虽然灵活，但求解空间过大，且无法提供可解释的推理过程。</a:t>
            </a: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buFont typeface="Wingdings" panose="05000000000000000000" pitchFamily="2" charset="2"/>
              <a:buChar char="l"/>
            </a:pP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cs typeface="Arial" panose="020B0604020202020204" pitchFamily="34" charset="0"/>
              </a:rPr>
              <a:t>框架：采用</a:t>
            </a:r>
            <a:r>
              <a:rPr lang="en-US" altLang="zh-CN" dirty="0">
                <a:latin typeface="微软雅黑" panose="020B0503020204020204" pitchFamily="34" charset="-122"/>
                <a:ea typeface="微软雅黑" panose="020B0503020204020204" pitchFamily="34" charset="-122"/>
                <a:cs typeface="Arial" panose="020B0604020202020204" pitchFamily="34" charset="0"/>
              </a:rPr>
              <a:t>Mol-Former</a:t>
            </a:r>
            <a:r>
              <a:rPr lang="zh-CN" altLang="en-US" dirty="0">
                <a:latin typeface="微软雅黑" panose="020B0503020204020204" pitchFamily="34" charset="-122"/>
                <a:ea typeface="微软雅黑" panose="020B0503020204020204" pitchFamily="34" charset="-122"/>
                <a:cs typeface="Arial" panose="020B0604020202020204" pitchFamily="34" charset="0"/>
              </a:rPr>
              <a:t>学习分子化学性质知识，并以</a:t>
            </a:r>
            <a:r>
              <a:rPr lang="en-US" altLang="zh-CN" dirty="0">
                <a:latin typeface="微软雅黑" panose="020B0503020204020204" pitchFamily="34" charset="-122"/>
                <a:ea typeface="微软雅黑" panose="020B0503020204020204" pitchFamily="34" charset="-122"/>
                <a:cs typeface="Arial" panose="020B0604020202020204" pitchFamily="34" charset="0"/>
              </a:rPr>
              <a:t>Transformer</a:t>
            </a:r>
            <a:r>
              <a:rPr lang="zh-CN" altLang="en-US" dirty="0">
                <a:latin typeface="微软雅黑" panose="020B0503020204020204" pitchFamily="34" charset="-122"/>
                <a:ea typeface="微软雅黑" panose="020B0503020204020204" pitchFamily="34" charset="-122"/>
                <a:cs typeface="Arial" panose="020B0604020202020204" pitchFamily="34" charset="0"/>
              </a:rPr>
              <a:t>作为逆合成的基座模型，形成一个编码器</a:t>
            </a:r>
            <a:r>
              <a:rPr lang="en-US" altLang="zh-CN" dirty="0">
                <a:latin typeface="微软雅黑" panose="020B0503020204020204" pitchFamily="34" charset="-122"/>
                <a:ea typeface="微软雅黑" panose="020B0503020204020204" pitchFamily="34" charset="-122"/>
                <a:cs typeface="Arial" panose="020B0604020202020204" pitchFamily="34" charset="0"/>
              </a:rPr>
              <a:t>-</a:t>
            </a:r>
            <a:r>
              <a:rPr lang="zh-CN" altLang="en-US" dirty="0">
                <a:latin typeface="微软雅黑" panose="020B0503020204020204" pitchFamily="34" charset="-122"/>
                <a:ea typeface="微软雅黑" panose="020B0503020204020204" pitchFamily="34" charset="-122"/>
                <a:cs typeface="Arial" panose="020B0604020202020204" pitchFamily="34" charset="0"/>
              </a:rPr>
              <a:t>解码器架构。</a:t>
            </a: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buFont typeface="Wingdings" panose="05000000000000000000" pitchFamily="2" charset="2"/>
              <a:buChar char="l"/>
            </a:pP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cs typeface="Arial" panose="020B0604020202020204" pitchFamily="34" charset="0"/>
              </a:rPr>
              <a:t>评估</a:t>
            </a:r>
            <a:r>
              <a:rPr lang="zh-CN" altLang="en-US">
                <a:latin typeface="微软雅黑" panose="020B0503020204020204" pitchFamily="34" charset="-122"/>
                <a:ea typeface="微软雅黑" panose="020B0503020204020204" pitchFamily="34" charset="-122"/>
                <a:cs typeface="Arial" panose="020B0604020202020204" pitchFamily="34" charset="0"/>
              </a:rPr>
              <a:t>：</a:t>
            </a:r>
            <a:r>
              <a:rPr lang="en-US" altLang="zh-CN">
                <a:latin typeface="微软雅黑" panose="020B0503020204020204" pitchFamily="34" charset="-122"/>
                <a:ea typeface="微软雅黑" panose="020B0503020204020204" pitchFamily="34" charset="-122"/>
                <a:cs typeface="Arial" panose="020B0604020202020204" pitchFamily="34" charset="0"/>
              </a:rPr>
              <a:t>RetroMPA</a:t>
            </a:r>
            <a:r>
              <a:rPr lang="zh-CN" altLang="en-US">
                <a:latin typeface="微软雅黑" panose="020B0503020204020204" pitchFamily="34" charset="-122"/>
                <a:ea typeface="微软雅黑" panose="020B0503020204020204" pitchFamily="34" charset="-122"/>
                <a:cs typeface="Arial" panose="020B0604020202020204" pitchFamily="34" charset="0"/>
              </a:rPr>
              <a:t>在</a:t>
            </a:r>
            <a:r>
              <a:rPr lang="zh-CN" altLang="en-US"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不修改</a:t>
            </a:r>
            <a:r>
              <a:rPr lang="zh-CN" altLang="en-US" dirty="0">
                <a:latin typeface="微软雅黑" panose="020B0503020204020204" pitchFamily="34" charset="-122"/>
                <a:ea typeface="微软雅黑" panose="020B0503020204020204" pitchFamily="34" charset="-122"/>
                <a:cs typeface="Arial" panose="020B0604020202020204" pitchFamily="34" charset="0"/>
              </a:rPr>
              <a:t>任何原始模型的情况下，为所有被测模型带来了</a:t>
            </a:r>
            <a:r>
              <a:rPr lang="zh-CN" altLang="en-US"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平均</a:t>
            </a:r>
            <a:r>
              <a:rPr lang="en-US" altLang="zh-CN"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2.39%</a:t>
            </a:r>
            <a:r>
              <a:rPr lang="zh-CN" altLang="en-US" dirty="0">
                <a:latin typeface="微软雅黑" panose="020B0503020204020204" pitchFamily="34" charset="-122"/>
                <a:ea typeface="微软雅黑" panose="020B0503020204020204" pitchFamily="34" charset="-122"/>
                <a:cs typeface="Arial" panose="020B0604020202020204" pitchFamily="34" charset="0"/>
              </a:rPr>
              <a:t>的</a:t>
            </a:r>
            <a:r>
              <a:rPr lang="en-US" altLang="zh-CN" dirty="0">
                <a:latin typeface="微软雅黑" panose="020B0503020204020204" pitchFamily="34" charset="-122"/>
                <a:ea typeface="微软雅黑" panose="020B0503020204020204" pitchFamily="34" charset="-122"/>
                <a:cs typeface="Arial" panose="020B0604020202020204" pitchFamily="34" charset="0"/>
              </a:rPr>
              <a:t>Top-1</a:t>
            </a:r>
            <a:r>
              <a:rPr lang="zh-CN" altLang="en-US" dirty="0">
                <a:latin typeface="微软雅黑" panose="020B0503020204020204" pitchFamily="34" charset="-122"/>
                <a:ea typeface="微软雅黑" panose="020B0503020204020204" pitchFamily="34" charset="-122"/>
                <a:cs typeface="Arial" panose="020B0604020202020204" pitchFamily="34" charset="0"/>
              </a:rPr>
              <a:t>准确率提升。</a:t>
            </a:r>
          </a:p>
        </p:txBody>
      </p:sp>
      <p:pic>
        <p:nvPicPr>
          <p:cNvPr id="3" name="图片 2">
            <a:extLst>
              <a:ext uri="{FF2B5EF4-FFF2-40B4-BE49-F238E27FC236}">
                <a16:creationId xmlns:a16="http://schemas.microsoft.com/office/drawing/2014/main" id="{CACF9842-63A8-CC0D-982C-B523D7042850}"/>
              </a:ext>
            </a:extLst>
          </p:cNvPr>
          <p:cNvPicPr>
            <a:picLocks noChangeAspect="1"/>
          </p:cNvPicPr>
          <p:nvPr/>
        </p:nvPicPr>
        <p:blipFill>
          <a:blip r:embed="rId3"/>
          <a:stretch>
            <a:fillRect/>
          </a:stretch>
        </p:blipFill>
        <p:spPr>
          <a:xfrm>
            <a:off x="703694" y="1657804"/>
            <a:ext cx="7996030" cy="4829166"/>
          </a:xfrm>
          <a:prstGeom prst="rect">
            <a:avLst/>
          </a:prstGeom>
        </p:spPr>
      </p:pic>
      <p:sp>
        <p:nvSpPr>
          <p:cNvPr id="4" name="Slide Number Placeholder 20">
            <a:extLst>
              <a:ext uri="{FF2B5EF4-FFF2-40B4-BE49-F238E27FC236}">
                <a16:creationId xmlns:a16="http://schemas.microsoft.com/office/drawing/2014/main" id="{DA8E41F2-86AC-3CBA-7B84-3CEE90EC935E}"/>
              </a:ext>
            </a:extLst>
          </p:cNvPr>
          <p:cNvSpPr txBox="1">
            <a:spLocks/>
          </p:cNvSpPr>
          <p:nvPr/>
        </p:nvSpPr>
        <p:spPr>
          <a:xfrm>
            <a:off x="9448800" y="3175"/>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2D61274B-6331-E748-A81F-D054B7003DB9}" type="slidenum">
              <a:rPr kumimoji="1" lang="zh-CN" altLang="en-US" smtClean="0">
                <a:solidFill>
                  <a:prstClr val="black">
                    <a:tint val="75000"/>
                  </a:prstClr>
                </a:solidFill>
              </a:rPr>
              <a:pPr>
                <a:defRPr/>
              </a:pPr>
              <a:t>9</a:t>
            </a:fld>
            <a:endParaRPr kumimoji="1" lang="zh-CN" altLang="en-US">
              <a:solidFill>
                <a:prstClr val="black">
                  <a:tint val="75000"/>
                </a:prstClr>
              </a:solidFill>
            </a:endParaRPr>
          </a:p>
        </p:txBody>
      </p:sp>
      <p:pic>
        <p:nvPicPr>
          <p:cNvPr id="5" name="Graphic 5">
            <a:extLst>
              <a:ext uri="{FF2B5EF4-FFF2-40B4-BE49-F238E27FC236}">
                <a16:creationId xmlns:a16="http://schemas.microsoft.com/office/drawing/2014/main" id="{F48CD3CD-56B2-CD71-07AA-AB6419C24C97}"/>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l="6226" t="13310" r="8094" b="10241"/>
          <a:stretch/>
        </p:blipFill>
        <p:spPr>
          <a:xfrm>
            <a:off x="6039167" y="179979"/>
            <a:ext cx="1835308" cy="594813"/>
          </a:xfrm>
          <a:prstGeom prst="rect">
            <a:avLst/>
          </a:prstGeom>
        </p:spPr>
      </p:pic>
      <p:pic>
        <p:nvPicPr>
          <p:cNvPr id="6" name="图片 10" descr="武汉大学logo-02">
            <a:extLst>
              <a:ext uri="{FF2B5EF4-FFF2-40B4-BE49-F238E27FC236}">
                <a16:creationId xmlns:a16="http://schemas.microsoft.com/office/drawing/2014/main" id="{D9B67E12-8C8D-F17A-AFCD-D08EE1AF10C2}"/>
              </a:ext>
            </a:extLst>
          </p:cNvPr>
          <p:cNvPicPr>
            <a:picLocks noChangeAspect="1"/>
          </p:cNvPicPr>
          <p:nvPr/>
        </p:nvPicPr>
        <p:blipFill>
          <a:blip r:embed="rId6"/>
          <a:stretch>
            <a:fillRect/>
          </a:stretch>
        </p:blipFill>
        <p:spPr>
          <a:xfrm>
            <a:off x="8030845" y="95351"/>
            <a:ext cx="2045273" cy="763686"/>
          </a:xfrm>
          <a:prstGeom prst="rect">
            <a:avLst/>
          </a:prstGeom>
        </p:spPr>
      </p:pic>
      <p:pic>
        <p:nvPicPr>
          <p:cNvPr id="9" name="Picture 2">
            <a:extLst>
              <a:ext uri="{FF2B5EF4-FFF2-40B4-BE49-F238E27FC236}">
                <a16:creationId xmlns:a16="http://schemas.microsoft.com/office/drawing/2014/main" id="{F040768A-43C6-ABF2-6D6A-73F8FCAB890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7042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2B72D-5278-9630-1B15-536645EEE090}"/>
            </a:ext>
          </a:extLst>
        </p:cNvPr>
        <p:cNvGrpSpPr/>
        <p:nvPr/>
      </p:nvGrpSpPr>
      <p:grpSpPr>
        <a:xfrm>
          <a:off x="0" y="0"/>
          <a:ext cx="0" cy="0"/>
          <a:chOff x="0" y="0"/>
          <a:chExt cx="0" cy="0"/>
        </a:xfrm>
      </p:grpSpPr>
      <p:sp>
        <p:nvSpPr>
          <p:cNvPr id="13" name="文本框 12">
            <a:extLst>
              <a:ext uri="{FF2B5EF4-FFF2-40B4-BE49-F238E27FC236}">
                <a16:creationId xmlns:a16="http://schemas.microsoft.com/office/drawing/2014/main" id="{F7AE1A02-C6B0-2C61-DAF7-3767B0515E53}"/>
              </a:ext>
            </a:extLst>
          </p:cNvPr>
          <p:cNvSpPr txBox="1"/>
          <p:nvPr/>
        </p:nvSpPr>
        <p:spPr>
          <a:xfrm>
            <a:off x="96183" y="91642"/>
            <a:ext cx="5671903"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课题：</a:t>
            </a:r>
            <a:r>
              <a:rPr lang="zh-CN" altLang="en-US" b="1"/>
              <a:t>科技部 </a:t>
            </a:r>
            <a:r>
              <a:rPr lang="en-US" altLang="zh-CN" b="1"/>
              <a:t>2030 </a:t>
            </a:r>
            <a:r>
              <a:rPr lang="zh-CN" altLang="en-US" b="1"/>
              <a:t>人工智能重大项目 </a:t>
            </a:r>
            <a:r>
              <a:rPr lang="en-US" altLang="zh-CN" b="1"/>
              <a:t>2023ZD0120802 | </a:t>
            </a:r>
            <a:r>
              <a:rPr lang="zh-CN" altLang="en-US" b="1"/>
              <a:t>浙大联合科研实习</a:t>
            </a:r>
            <a:endPar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1" name="Slide Number Placeholder 20">
            <a:extLst>
              <a:ext uri="{FF2B5EF4-FFF2-40B4-BE49-F238E27FC236}">
                <a16:creationId xmlns:a16="http://schemas.microsoft.com/office/drawing/2014/main" id="{18A5217E-CA5F-6757-8AA7-9D38C5298AB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91B222E7-D057-9160-32FC-03CF111B3C1B}"/>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3" name="矩形 2">
            <a:extLst>
              <a:ext uri="{FF2B5EF4-FFF2-40B4-BE49-F238E27FC236}">
                <a16:creationId xmlns:a16="http://schemas.microsoft.com/office/drawing/2014/main" id="{B67D5798-2F9A-8F55-C16D-F702E2BBF69F}"/>
              </a:ext>
            </a:extLst>
          </p:cNvPr>
          <p:cNvSpPr/>
          <p:nvPr>
            <p:custDataLst>
              <p:tags r:id="rId1"/>
            </p:custDataLst>
          </p:nvPr>
        </p:nvSpPr>
        <p:spPr>
          <a:xfrm>
            <a:off x="7151914" y="1078585"/>
            <a:ext cx="4764847" cy="2039095"/>
          </a:xfrm>
          <a:prstGeom prst="rect">
            <a:avLst/>
          </a:prstGeom>
          <a:noFill/>
          <a:ln>
            <a:solidFill>
              <a:schemeClr val="tx1">
                <a:lumMod val="95000"/>
                <a:lumOff val="5000"/>
              </a:schemeClr>
            </a:solidFill>
            <a:prstDash val="dashDot"/>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p>
        </p:txBody>
      </p:sp>
      <p:sp>
        <p:nvSpPr>
          <p:cNvPr id="4" name="矩形 3">
            <a:extLst>
              <a:ext uri="{FF2B5EF4-FFF2-40B4-BE49-F238E27FC236}">
                <a16:creationId xmlns:a16="http://schemas.microsoft.com/office/drawing/2014/main" id="{654A083F-3FB8-A07D-907B-2D2D742ABC06}"/>
              </a:ext>
            </a:extLst>
          </p:cNvPr>
          <p:cNvSpPr/>
          <p:nvPr>
            <p:custDataLst>
              <p:tags r:id="rId2"/>
            </p:custDataLst>
          </p:nvPr>
        </p:nvSpPr>
        <p:spPr>
          <a:xfrm>
            <a:off x="269591" y="1078584"/>
            <a:ext cx="6631591" cy="2039096"/>
          </a:xfrm>
          <a:prstGeom prst="rect">
            <a:avLst/>
          </a:prstGeom>
          <a:noFill/>
          <a:ln w="12700">
            <a:solidFill>
              <a:schemeClr val="tx1"/>
            </a:solidFill>
            <a:prstDash val="dashDot"/>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zh-CN" altLang="en-US" b="1">
              <a:solidFill>
                <a:schemeClr val="tx1"/>
              </a:solidFill>
              <a:latin typeface="Microsoft YaHei" panose="020B0503020204020204" pitchFamily="34" charset="-122"/>
              <a:ea typeface="Microsoft YaHei" panose="020B0503020204020204" pitchFamily="34" charset="-122"/>
            </a:endParaRPr>
          </a:p>
        </p:txBody>
      </p:sp>
      <p:sp>
        <p:nvSpPr>
          <p:cNvPr id="5" name="矩形 4">
            <a:extLst>
              <a:ext uri="{FF2B5EF4-FFF2-40B4-BE49-F238E27FC236}">
                <a16:creationId xmlns:a16="http://schemas.microsoft.com/office/drawing/2014/main" id="{F2B7C175-3895-4EA2-A215-A4180BC2143A}"/>
              </a:ext>
            </a:extLst>
          </p:cNvPr>
          <p:cNvSpPr/>
          <p:nvPr>
            <p:custDataLst>
              <p:tags r:id="rId3"/>
            </p:custDataLst>
          </p:nvPr>
        </p:nvSpPr>
        <p:spPr>
          <a:xfrm>
            <a:off x="256891" y="3242513"/>
            <a:ext cx="11659870" cy="3351327"/>
          </a:xfrm>
          <a:prstGeom prst="rect">
            <a:avLst/>
          </a:prstGeom>
          <a:noFill/>
          <a:ln w="12700">
            <a:solidFill>
              <a:schemeClr val="tx1">
                <a:lumMod val="95000"/>
                <a:lumOff val="5000"/>
              </a:schemeClr>
            </a:solidFill>
            <a:prstDash val="lgDashDot"/>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p>
        </p:txBody>
      </p:sp>
      <p:sp>
        <p:nvSpPr>
          <p:cNvPr id="6" name="文本框 5">
            <a:extLst>
              <a:ext uri="{FF2B5EF4-FFF2-40B4-BE49-F238E27FC236}">
                <a16:creationId xmlns:a16="http://schemas.microsoft.com/office/drawing/2014/main" id="{D9094DC8-4501-9EE5-4517-55D65021D053}"/>
              </a:ext>
            </a:extLst>
          </p:cNvPr>
          <p:cNvSpPr txBox="1"/>
          <p:nvPr>
            <p:custDataLst>
              <p:tags r:id="rId4"/>
            </p:custDataLst>
          </p:nvPr>
        </p:nvSpPr>
        <p:spPr>
          <a:xfrm>
            <a:off x="122461" y="1174512"/>
            <a:ext cx="294259" cy="1263140"/>
          </a:xfrm>
          <a:prstGeom prst="roundRect">
            <a:avLst/>
          </a:prstGeom>
          <a:solidFill>
            <a:schemeClr val="accent1">
              <a:lumMod val="50000"/>
            </a:schemeClr>
          </a:solidFill>
          <a:ln>
            <a:noFill/>
          </a:ln>
        </p:spPr>
        <p:txBody>
          <a:bodyPr vert="eaVert" wrap="square" rtlCol="0" anchor="ctr" anchorCtr="0">
            <a:noAutofit/>
          </a:bodyPr>
          <a:lstStyle/>
          <a:p>
            <a:pPr algn="ctr"/>
            <a:r>
              <a:rPr lang="zh-CN" altLang="en-US" sz="1600" b="1">
                <a:solidFill>
                  <a:schemeClr val="bg1"/>
                </a:solidFill>
                <a:latin typeface="微软雅黑" panose="020B0503020204020204" charset="-122"/>
                <a:ea typeface="微软雅黑" panose="020B0503020204020204" charset="-122"/>
              </a:rPr>
              <a:t>任务介绍</a:t>
            </a:r>
          </a:p>
        </p:txBody>
      </p:sp>
      <p:sp>
        <p:nvSpPr>
          <p:cNvPr id="7" name="文本框 6">
            <a:extLst>
              <a:ext uri="{FF2B5EF4-FFF2-40B4-BE49-F238E27FC236}">
                <a16:creationId xmlns:a16="http://schemas.microsoft.com/office/drawing/2014/main" id="{4627553B-2585-E457-D363-8ECE0F0C9C8F}"/>
              </a:ext>
            </a:extLst>
          </p:cNvPr>
          <p:cNvSpPr txBox="1"/>
          <p:nvPr>
            <p:custDataLst>
              <p:tags r:id="rId5"/>
            </p:custDataLst>
          </p:nvPr>
        </p:nvSpPr>
        <p:spPr>
          <a:xfrm>
            <a:off x="6965641" y="1160070"/>
            <a:ext cx="357505" cy="1220470"/>
          </a:xfrm>
          <a:prstGeom prst="roundRect">
            <a:avLst/>
          </a:prstGeom>
          <a:solidFill>
            <a:schemeClr val="accent1">
              <a:lumMod val="50000"/>
            </a:schemeClr>
          </a:solidFill>
          <a:ln>
            <a:noFill/>
          </a:ln>
        </p:spPr>
        <p:txBody>
          <a:bodyPr vert="eaVert" wrap="square" rtlCol="0" anchor="ctr" anchorCtr="0">
            <a:noAutofit/>
          </a:bodyPr>
          <a:lstStyle/>
          <a:p>
            <a:pPr algn="ctr"/>
            <a:r>
              <a:rPr lang="zh-CN" altLang="en-US" sz="1600" b="1">
                <a:solidFill>
                  <a:schemeClr val="bg1"/>
                </a:solidFill>
                <a:latin typeface="微软雅黑" panose="020B0503020204020204" charset="-122"/>
                <a:ea typeface="微软雅黑" panose="020B0503020204020204" charset="-122"/>
              </a:rPr>
              <a:t>数据集构建</a:t>
            </a:r>
          </a:p>
        </p:txBody>
      </p:sp>
      <p:sp>
        <p:nvSpPr>
          <p:cNvPr id="8" name="文本框 7">
            <a:extLst>
              <a:ext uri="{FF2B5EF4-FFF2-40B4-BE49-F238E27FC236}">
                <a16:creationId xmlns:a16="http://schemas.microsoft.com/office/drawing/2014/main" id="{16AF6964-6BC2-E36C-A286-47BCAA8A8D43}"/>
              </a:ext>
            </a:extLst>
          </p:cNvPr>
          <p:cNvSpPr txBox="1"/>
          <p:nvPr>
            <p:custDataLst>
              <p:tags r:id="rId6"/>
            </p:custDataLst>
          </p:nvPr>
        </p:nvSpPr>
        <p:spPr>
          <a:xfrm>
            <a:off x="96183" y="3429000"/>
            <a:ext cx="312502" cy="1367790"/>
          </a:xfrm>
          <a:prstGeom prst="roundRect">
            <a:avLst/>
          </a:prstGeom>
          <a:solidFill>
            <a:schemeClr val="accent1">
              <a:lumMod val="50000"/>
            </a:schemeClr>
          </a:solidFill>
          <a:ln>
            <a:noFill/>
          </a:ln>
        </p:spPr>
        <p:txBody>
          <a:bodyPr vert="eaVert" wrap="square" rtlCol="0" anchor="ctr" anchorCtr="0">
            <a:noAutofit/>
          </a:bodyPr>
          <a:lstStyle/>
          <a:p>
            <a:pPr algn="ctr"/>
            <a:r>
              <a:rPr lang="zh-CN" altLang="en-US" sz="1600" b="1">
                <a:solidFill>
                  <a:schemeClr val="bg1"/>
                </a:solidFill>
                <a:latin typeface="微软雅黑" panose="020B0503020204020204" charset="-122"/>
                <a:ea typeface="微软雅黑" panose="020B0503020204020204" charset="-122"/>
              </a:rPr>
              <a:t>实验</a:t>
            </a:r>
            <a:endParaRPr lang="zh-CN" altLang="en-US" b="1">
              <a:latin typeface="Microsoft YaHei" panose="020B0503020204020204" pitchFamily="34" charset="-122"/>
              <a:ea typeface="Microsoft YaHei" panose="020B0503020204020204" pitchFamily="34" charset="-122"/>
            </a:endParaRPr>
          </a:p>
        </p:txBody>
      </p:sp>
      <p:sp>
        <p:nvSpPr>
          <p:cNvPr id="10" name="文本框 9">
            <a:extLst>
              <a:ext uri="{FF2B5EF4-FFF2-40B4-BE49-F238E27FC236}">
                <a16:creationId xmlns:a16="http://schemas.microsoft.com/office/drawing/2014/main" id="{9A80C00D-060D-ADDE-BE9A-328A0D406226}"/>
              </a:ext>
            </a:extLst>
          </p:cNvPr>
          <p:cNvSpPr txBox="1"/>
          <p:nvPr/>
        </p:nvSpPr>
        <p:spPr>
          <a:xfrm>
            <a:off x="445657" y="1170851"/>
            <a:ext cx="1686663" cy="2031325"/>
          </a:xfrm>
          <a:prstGeom prst="rect">
            <a:avLst/>
          </a:prstGeom>
          <a:noFill/>
        </p:spPr>
        <p:txBody>
          <a:bodyPr wrap="square" rtlCol="0">
            <a:spAutoFit/>
          </a:bodyPr>
          <a:lstStyle/>
          <a:p>
            <a:r>
              <a:rPr lang="zh-CN" altLang="en-US" b="1" dirty="0">
                <a:solidFill>
                  <a:srgbClr val="FF0000"/>
                </a:solidFill>
                <a:latin typeface="Microsoft YaHei" panose="020B0503020204020204" pitchFamily="34" charset="-122"/>
                <a:ea typeface="Microsoft YaHei" panose="020B0503020204020204" pitchFamily="34" charset="-122"/>
              </a:rPr>
              <a:t>化学大模型知识编辑：</a:t>
            </a:r>
            <a:r>
              <a:rPr lang="zh-CN" altLang="en-US" dirty="0">
                <a:solidFill>
                  <a:schemeClr val="tx1"/>
                </a:solidFill>
                <a:latin typeface="Microsoft YaHei" panose="020B0503020204020204" pitchFamily="34" charset="-122"/>
                <a:ea typeface="Microsoft YaHei" panose="020B0503020204020204" pitchFamily="34" charset="-122"/>
              </a:rPr>
              <a:t>对知识库中化学相关的数据知识进行</a:t>
            </a:r>
            <a:r>
              <a:rPr lang="zh-CN" altLang="en-US" b="1" dirty="0">
                <a:solidFill>
                  <a:schemeClr val="tx1"/>
                </a:solidFill>
                <a:latin typeface="Microsoft YaHei" panose="020B0503020204020204" pitchFamily="34" charset="-122"/>
                <a:ea typeface="Microsoft YaHei" panose="020B0503020204020204" pitchFamily="34" charset="-122"/>
              </a:rPr>
              <a:t>插入、修改</a:t>
            </a:r>
            <a:r>
              <a:rPr lang="zh-CN" altLang="en-US" dirty="0">
                <a:solidFill>
                  <a:schemeClr val="tx1"/>
                </a:solidFill>
                <a:latin typeface="Microsoft YaHei" panose="020B0503020204020204" pitchFamily="34" charset="-122"/>
                <a:ea typeface="Microsoft YaHei" panose="020B0503020204020204" pitchFamily="34" charset="-122"/>
              </a:rPr>
              <a:t>或</a:t>
            </a:r>
            <a:r>
              <a:rPr lang="zh-CN" altLang="en-US" b="1" dirty="0">
                <a:solidFill>
                  <a:schemeClr val="tx1"/>
                </a:solidFill>
                <a:latin typeface="Microsoft YaHei" panose="020B0503020204020204" pitchFamily="34" charset="-122"/>
                <a:ea typeface="Microsoft YaHei" panose="020B0503020204020204" pitchFamily="34" charset="-122"/>
              </a:rPr>
              <a:t>删除</a:t>
            </a:r>
            <a:r>
              <a:rPr lang="zh-CN" altLang="en-US" dirty="0">
                <a:solidFill>
                  <a:schemeClr val="tx1"/>
                </a:solidFill>
                <a:latin typeface="Microsoft YaHei" panose="020B0503020204020204" pitchFamily="34" charset="-122"/>
                <a:ea typeface="Microsoft YaHei" panose="020B0503020204020204" pitchFamily="34" charset="-122"/>
              </a:rPr>
              <a:t>的</a:t>
            </a:r>
            <a:r>
              <a:rPr lang="zh-CN" altLang="en-US">
                <a:solidFill>
                  <a:schemeClr val="tx1"/>
                </a:solidFill>
                <a:latin typeface="Microsoft YaHei" panose="020B0503020204020204" pitchFamily="34" charset="-122"/>
                <a:ea typeface="Microsoft YaHei" panose="020B0503020204020204" pitchFamily="34" charset="-122"/>
              </a:rPr>
              <a:t>操作。</a:t>
            </a:r>
            <a:endParaRPr lang="zh-CN" altLang="en-US" dirty="0"/>
          </a:p>
        </p:txBody>
      </p:sp>
      <p:graphicFrame>
        <p:nvGraphicFramePr>
          <p:cNvPr id="11" name="表格 10">
            <a:extLst>
              <a:ext uri="{FF2B5EF4-FFF2-40B4-BE49-F238E27FC236}">
                <a16:creationId xmlns:a16="http://schemas.microsoft.com/office/drawing/2014/main" id="{CC125B8F-58A6-4C2B-EF57-3B98A5EBC832}"/>
              </a:ext>
            </a:extLst>
          </p:cNvPr>
          <p:cNvGraphicFramePr>
            <a:graphicFrameLocks noGrp="1"/>
          </p:cNvGraphicFramePr>
          <p:nvPr>
            <p:extLst>
              <p:ext uri="{D42A27DB-BD31-4B8C-83A1-F6EECF244321}">
                <p14:modId xmlns:p14="http://schemas.microsoft.com/office/powerpoint/2010/main" val="2599683335"/>
              </p:ext>
            </p:extLst>
          </p:nvPr>
        </p:nvGraphicFramePr>
        <p:xfrm>
          <a:off x="7374899" y="1189351"/>
          <a:ext cx="4464697" cy="1788759"/>
        </p:xfrm>
        <a:graphic>
          <a:graphicData uri="http://schemas.openxmlformats.org/drawingml/2006/table">
            <a:tbl>
              <a:tblPr firstRow="1" bandRow="1">
                <a:tableStyleId>{5C22544A-7EE6-4342-B048-85BDC9FD1C3A}</a:tableStyleId>
              </a:tblPr>
              <a:tblGrid>
                <a:gridCol w="1654795">
                  <a:extLst>
                    <a:ext uri="{9D8B030D-6E8A-4147-A177-3AD203B41FA5}">
                      <a16:colId xmlns:a16="http://schemas.microsoft.com/office/drawing/2014/main" val="3338492981"/>
                    </a:ext>
                  </a:extLst>
                </a:gridCol>
                <a:gridCol w="2809902">
                  <a:extLst>
                    <a:ext uri="{9D8B030D-6E8A-4147-A177-3AD203B41FA5}">
                      <a16:colId xmlns:a16="http://schemas.microsoft.com/office/drawing/2014/main" val="1298766221"/>
                    </a:ext>
                  </a:extLst>
                </a:gridCol>
              </a:tblGrid>
              <a:tr h="367823">
                <a:tc>
                  <a:txBody>
                    <a:bodyPr/>
                    <a:lstStyle/>
                    <a:p>
                      <a:pPr algn="ctr"/>
                      <a:r>
                        <a:rPr lang="zh-CN" altLang="en-US"/>
                        <a:t>数据内容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a:t>标注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6576788"/>
                  </a:ext>
                </a:extLst>
              </a:tr>
              <a:tr h="384616">
                <a:tc>
                  <a:txBody>
                    <a:bodyPr/>
                    <a:lstStyle/>
                    <a:p>
                      <a:pPr algn="ctr"/>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subject</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化学主题</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9881922"/>
                  </a:ext>
                </a:extLst>
              </a:tr>
              <a:tr h="518160">
                <a:tc>
                  <a:txBody>
                    <a:bodyPr/>
                    <a:lstStyle/>
                    <a:p>
                      <a:pPr algn="ctr"/>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prompt</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询问大模型化学逆合成产物分子的预测问题</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36783753"/>
                  </a:ext>
                </a:extLst>
              </a:tr>
              <a:tr h="508000">
                <a:tc>
                  <a:txBody>
                    <a:bodyPr/>
                    <a:lstStyle/>
                    <a:p>
                      <a:pPr algn="ctr"/>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target_new</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正确的预测分子，也就是期待知识编辑后能给出的答案</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80291891"/>
                  </a:ext>
                </a:extLst>
              </a:tr>
            </a:tbl>
          </a:graphicData>
        </a:graphic>
      </p:graphicFrame>
      <p:graphicFrame>
        <p:nvGraphicFramePr>
          <p:cNvPr id="14" name="表格 13">
            <a:extLst>
              <a:ext uri="{FF2B5EF4-FFF2-40B4-BE49-F238E27FC236}">
                <a16:creationId xmlns:a16="http://schemas.microsoft.com/office/drawing/2014/main" id="{085E26BE-15C6-0603-FFA9-F32E7C2DE0CD}"/>
              </a:ext>
            </a:extLst>
          </p:cNvPr>
          <p:cNvGraphicFramePr>
            <a:graphicFrameLocks noGrp="1"/>
          </p:cNvGraphicFramePr>
          <p:nvPr>
            <p:extLst>
              <p:ext uri="{D42A27DB-BD31-4B8C-83A1-F6EECF244321}">
                <p14:modId xmlns:p14="http://schemas.microsoft.com/office/powerpoint/2010/main" val="4199253876"/>
              </p:ext>
            </p:extLst>
          </p:nvPr>
        </p:nvGraphicFramePr>
        <p:xfrm>
          <a:off x="8005172" y="5440163"/>
          <a:ext cx="3854440" cy="1006848"/>
        </p:xfrm>
        <a:graphic>
          <a:graphicData uri="http://schemas.openxmlformats.org/drawingml/2006/table">
            <a:tbl>
              <a:tblPr firstRow="1" bandRow="1">
                <a:tableStyleId>{5C22544A-7EE6-4342-B048-85BDC9FD1C3A}</a:tableStyleId>
              </a:tblPr>
              <a:tblGrid>
                <a:gridCol w="1074034">
                  <a:extLst>
                    <a:ext uri="{9D8B030D-6E8A-4147-A177-3AD203B41FA5}">
                      <a16:colId xmlns:a16="http://schemas.microsoft.com/office/drawing/2014/main" val="3338492981"/>
                    </a:ext>
                  </a:extLst>
                </a:gridCol>
                <a:gridCol w="1346281">
                  <a:extLst>
                    <a:ext uri="{9D8B030D-6E8A-4147-A177-3AD203B41FA5}">
                      <a16:colId xmlns:a16="http://schemas.microsoft.com/office/drawing/2014/main" val="1298766221"/>
                    </a:ext>
                  </a:extLst>
                </a:gridCol>
                <a:gridCol w="1434125">
                  <a:extLst>
                    <a:ext uri="{9D8B030D-6E8A-4147-A177-3AD203B41FA5}">
                      <a16:colId xmlns:a16="http://schemas.microsoft.com/office/drawing/2014/main" val="3966228367"/>
                    </a:ext>
                  </a:extLst>
                </a:gridCol>
              </a:tblGrid>
              <a:tr h="345859">
                <a:tc>
                  <a:txBody>
                    <a:bodyPr/>
                    <a:lstStyle/>
                    <a:p>
                      <a:pPr algn="ctr"/>
                      <a:r>
                        <a:rPr lang="zh-CN" altLang="en-US" sz="1600">
                          <a:solidFill>
                            <a:sysClr val="windowText" lastClr="000000"/>
                          </a:solidFill>
                        </a:rPr>
                        <a:t>指标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zh-CN" altLang="en-US" sz="1600">
                          <a:solidFill>
                            <a:sysClr val="windowText" lastClr="000000"/>
                          </a:solidFill>
                        </a:rPr>
                        <a:t>化学大模型（微调后）</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zh-CN" altLang="en-US" sz="1600">
                          <a:solidFill>
                            <a:sysClr val="windowText" lastClr="000000"/>
                          </a:solidFill>
                        </a:rPr>
                        <a:t>化学大模型（知识编辑后）</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extLst>
                  <a:ext uri="{0D108BD9-81ED-4DB2-BD59-A6C34878D82A}">
                    <a16:rowId xmlns:a16="http://schemas.microsoft.com/office/drawing/2014/main" val="4236576788"/>
                  </a:ext>
                </a:extLst>
              </a:tr>
              <a:tr h="427728">
                <a:tc>
                  <a:txBody>
                    <a:bodyPr/>
                    <a:lstStyle/>
                    <a:p>
                      <a:pPr algn="ctr"/>
                      <a:r>
                        <a:rPr lang="zh-CN" altLang="en-US" sz="1600" kern="0">
                          <a:latin typeface="Microsoft YaHei" panose="020B0503020204020204" pitchFamily="34" charset="-122"/>
                          <a:ea typeface="Microsoft YaHei" panose="020B0503020204020204" pitchFamily="34" charset="-122"/>
                          <a:cs typeface="Arial" panose="020B0604020202020204" pitchFamily="34" charset="0"/>
                        </a:rPr>
                        <a:t>稳定性</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kern="0">
                          <a:latin typeface="Microsoft YaHei" panose="020B0503020204020204" pitchFamily="34" charset="-122"/>
                          <a:ea typeface="Microsoft YaHei" panose="020B0503020204020204" pitchFamily="34" charset="-122"/>
                          <a:cs typeface="Arial" panose="020B0604020202020204" pitchFamily="34" charset="0"/>
                        </a:rPr>
                        <a:t>66.93%</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kern="0">
                          <a:solidFill>
                            <a:schemeClr val="dk1"/>
                          </a:solidFill>
                          <a:latin typeface="Microsoft YaHei" panose="020B0503020204020204" pitchFamily="34" charset="-122"/>
                          <a:ea typeface="Microsoft YaHei" panose="020B0503020204020204" pitchFamily="34" charset="-122"/>
                          <a:cs typeface="Arial" panose="020B0604020202020204" pitchFamily="34" charset="0"/>
                        </a:rPr>
                        <a:t>98.88%</a:t>
                      </a:r>
                      <a:endParaRPr lang="zh-CN" altLang="en-US" sz="1600" kern="0" dirty="0">
                        <a:solidFill>
                          <a:schemeClr val="dk1"/>
                        </a:solidFill>
                        <a:latin typeface="Microsoft YaHei" panose="020B0503020204020204" pitchFamily="34" charset="-122"/>
                        <a:ea typeface="Microsoft YaHei" panose="020B0503020204020204" pitchFamily="34" charset="-122"/>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9881922"/>
                  </a:ext>
                </a:extLst>
              </a:tr>
            </a:tbl>
          </a:graphicData>
        </a:graphic>
      </p:graphicFrame>
      <p:sp>
        <p:nvSpPr>
          <p:cNvPr id="15" name="文本框 14">
            <a:extLst>
              <a:ext uri="{FF2B5EF4-FFF2-40B4-BE49-F238E27FC236}">
                <a16:creationId xmlns:a16="http://schemas.microsoft.com/office/drawing/2014/main" id="{C6D0BBF3-4A26-768B-EDAC-2AAADA62F681}"/>
              </a:ext>
            </a:extLst>
          </p:cNvPr>
          <p:cNvSpPr txBox="1"/>
          <p:nvPr/>
        </p:nvSpPr>
        <p:spPr>
          <a:xfrm>
            <a:off x="252435" y="5479081"/>
            <a:ext cx="7235486" cy="923330"/>
          </a:xfrm>
          <a:prstGeom prst="rect">
            <a:avLst/>
          </a:prstGeom>
          <a:noFill/>
        </p:spPr>
        <p:txBody>
          <a:bodyPr wrap="square" rtlCol="0">
            <a:spAutoFit/>
          </a:bodyPr>
          <a:lstStyle/>
          <a:p>
            <a:pPr marL="285750" indent="-285750" latinLnBrk="1">
              <a:buFont typeface="Wingdings" panose="05000000000000000000" pitchFamily="2" charset="2"/>
              <a:buChar char="p"/>
            </a:pPr>
            <a:r>
              <a:rPr lang="zh-CN" altLang="en-US" dirty="0">
                <a:latin typeface="Microsoft YaHei" panose="020B0503020204020204" pitchFamily="34" charset="-122"/>
                <a:ea typeface="Microsoft YaHei" panose="020B0503020204020204" pitchFamily="34" charset="-122"/>
              </a:rPr>
              <a:t>步骤</a:t>
            </a:r>
            <a:r>
              <a:rPr lang="zh-CN" altLang="en-US">
                <a:latin typeface="Microsoft YaHei" panose="020B0503020204020204" pitchFamily="34" charset="-122"/>
                <a:ea typeface="Microsoft YaHei" panose="020B0503020204020204" pitchFamily="34" charset="-122"/>
              </a:rPr>
              <a:t>：使用该知识</a:t>
            </a:r>
            <a:r>
              <a:rPr lang="zh-CN" altLang="en-US" dirty="0">
                <a:latin typeface="Microsoft YaHei" panose="020B0503020204020204" pitchFamily="34" charset="-122"/>
                <a:ea typeface="Microsoft YaHei" panose="020B0503020204020204" pitchFamily="34" charset="-122"/>
              </a:rPr>
              <a:t>编辑方法编辑预训练</a:t>
            </a:r>
            <a:r>
              <a:rPr lang="zh-CN" altLang="en-US">
                <a:latin typeface="Microsoft YaHei" panose="020B0503020204020204" pitchFamily="34" charset="-122"/>
                <a:ea typeface="Microsoft YaHei" panose="020B0503020204020204" pitchFamily="34" charset="-122"/>
              </a:rPr>
              <a:t>的化学大语言大模型。</a:t>
            </a:r>
            <a:endParaRPr lang="en-US" altLang="zh-CN" dirty="0">
              <a:latin typeface="Microsoft YaHei" panose="020B0503020204020204" pitchFamily="34" charset="-122"/>
              <a:ea typeface="Microsoft YaHei" panose="020B0503020204020204" pitchFamily="34" charset="-122"/>
            </a:endParaRPr>
          </a:p>
          <a:p>
            <a:pPr marL="285750" indent="-285750">
              <a:buFont typeface="Wingdings" panose="05000000000000000000" pitchFamily="2" charset="2"/>
              <a:buChar char="p"/>
            </a:pPr>
            <a:r>
              <a:rPr lang="zh-CN" altLang="en-US" dirty="0">
                <a:solidFill>
                  <a:schemeClr val="tx1"/>
                </a:solidFill>
                <a:latin typeface="Microsoft YaHei" panose="020B0503020204020204" pitchFamily="34" charset="-122"/>
                <a:ea typeface="Microsoft YaHei" panose="020B0503020204020204" pitchFamily="34" charset="-122"/>
              </a:rPr>
              <a:t>优点：使得大模型能够在没有显式训练样本的情况下，具备较强语义理解和推理能力的编辑能力</a:t>
            </a:r>
            <a:r>
              <a:rPr lang="zh-CN" altLang="en-US" dirty="0">
                <a:latin typeface="Microsoft YaHei" panose="020B0503020204020204" pitchFamily="34" charset="-122"/>
                <a:ea typeface="Microsoft YaHei" panose="020B0503020204020204" pitchFamily="34" charset="-122"/>
              </a:rPr>
              <a:t>零样本知识编辑</a:t>
            </a:r>
            <a:r>
              <a:rPr lang="zh-CN" altLang="en-US">
                <a:latin typeface="Microsoft YaHei" panose="020B0503020204020204" pitchFamily="34" charset="-122"/>
                <a:ea typeface="Microsoft YaHei" panose="020B0503020204020204" pitchFamily="34" charset="-122"/>
              </a:rPr>
              <a:t>能力。</a:t>
            </a:r>
            <a:endParaRPr lang="zh-CN" altLang="en-US" dirty="0"/>
          </a:p>
        </p:txBody>
      </p:sp>
      <p:sp>
        <p:nvSpPr>
          <p:cNvPr id="16" name="箭头: 右 15">
            <a:extLst>
              <a:ext uri="{FF2B5EF4-FFF2-40B4-BE49-F238E27FC236}">
                <a16:creationId xmlns:a16="http://schemas.microsoft.com/office/drawing/2014/main" id="{0FCE18EB-E599-AD2D-39FF-36D259F9D292}"/>
              </a:ext>
            </a:extLst>
          </p:cNvPr>
          <p:cNvSpPr/>
          <p:nvPr>
            <p:custDataLst>
              <p:tags r:id="rId7"/>
            </p:custDataLst>
          </p:nvPr>
        </p:nvSpPr>
        <p:spPr>
          <a:xfrm>
            <a:off x="7435452" y="5437322"/>
            <a:ext cx="326244" cy="1006848"/>
          </a:xfrm>
          <a:custGeom>
            <a:avLst/>
            <a:gdLst>
              <a:gd name="connsiteX0" fmla="*/ 0 w 1330960"/>
              <a:gd name="connsiteY0" fmla="*/ 282685 h 1130740"/>
              <a:gd name="connsiteX1" fmla="*/ 765590 w 1330960"/>
              <a:gd name="connsiteY1" fmla="*/ 282685 h 1130740"/>
              <a:gd name="connsiteX2" fmla="*/ 765590 w 1330960"/>
              <a:gd name="connsiteY2" fmla="*/ 0 h 1130740"/>
              <a:gd name="connsiteX3" fmla="*/ 1330960 w 1330960"/>
              <a:gd name="connsiteY3" fmla="*/ 565370 h 1130740"/>
              <a:gd name="connsiteX4" fmla="*/ 765590 w 1330960"/>
              <a:gd name="connsiteY4" fmla="*/ 1130740 h 1130740"/>
              <a:gd name="connsiteX5" fmla="*/ 765590 w 1330960"/>
              <a:gd name="connsiteY5" fmla="*/ 848055 h 1130740"/>
              <a:gd name="connsiteX6" fmla="*/ 0 w 1330960"/>
              <a:gd name="connsiteY6" fmla="*/ 848055 h 1130740"/>
              <a:gd name="connsiteX7" fmla="*/ 0 w 1330960"/>
              <a:gd name="connsiteY7" fmla="*/ 282685 h 1130740"/>
              <a:gd name="connsiteX0-1" fmla="*/ 12700 w 1330960"/>
              <a:gd name="connsiteY0-2" fmla="*/ 0 h 1489405"/>
              <a:gd name="connsiteX1-3" fmla="*/ 765590 w 1330960"/>
              <a:gd name="connsiteY1-4" fmla="*/ 641350 h 1489405"/>
              <a:gd name="connsiteX2-5" fmla="*/ 765590 w 1330960"/>
              <a:gd name="connsiteY2-6" fmla="*/ 358665 h 1489405"/>
              <a:gd name="connsiteX3-7" fmla="*/ 1330960 w 1330960"/>
              <a:gd name="connsiteY3-8" fmla="*/ 924035 h 1489405"/>
              <a:gd name="connsiteX4-9" fmla="*/ 765590 w 1330960"/>
              <a:gd name="connsiteY4-10" fmla="*/ 1489405 h 1489405"/>
              <a:gd name="connsiteX5-11" fmla="*/ 765590 w 1330960"/>
              <a:gd name="connsiteY5-12" fmla="*/ 1206720 h 1489405"/>
              <a:gd name="connsiteX6-13" fmla="*/ 0 w 1330960"/>
              <a:gd name="connsiteY6-14" fmla="*/ 1206720 h 1489405"/>
              <a:gd name="connsiteX7-15" fmla="*/ 12700 w 1330960"/>
              <a:gd name="connsiteY7-16" fmla="*/ 0 h 1489405"/>
              <a:gd name="connsiteX0-17" fmla="*/ 12700 w 1330960"/>
              <a:gd name="connsiteY0-18" fmla="*/ 0 h 1873470"/>
              <a:gd name="connsiteX1-19" fmla="*/ 765590 w 1330960"/>
              <a:gd name="connsiteY1-20" fmla="*/ 641350 h 1873470"/>
              <a:gd name="connsiteX2-21" fmla="*/ 765590 w 1330960"/>
              <a:gd name="connsiteY2-22" fmla="*/ 358665 h 1873470"/>
              <a:gd name="connsiteX3-23" fmla="*/ 1330960 w 1330960"/>
              <a:gd name="connsiteY3-24" fmla="*/ 924035 h 1873470"/>
              <a:gd name="connsiteX4-25" fmla="*/ 765590 w 1330960"/>
              <a:gd name="connsiteY4-26" fmla="*/ 1489405 h 1873470"/>
              <a:gd name="connsiteX5-27" fmla="*/ 765590 w 1330960"/>
              <a:gd name="connsiteY5-28" fmla="*/ 1206720 h 1873470"/>
              <a:gd name="connsiteX6-29" fmla="*/ 0 w 1330960"/>
              <a:gd name="connsiteY6-30" fmla="*/ 1873470 h 1873470"/>
              <a:gd name="connsiteX7-31" fmla="*/ 12700 w 1330960"/>
              <a:gd name="connsiteY7-32" fmla="*/ 0 h 1873470"/>
              <a:gd name="connsiteX0-33" fmla="*/ 12700 w 1330960"/>
              <a:gd name="connsiteY0-34" fmla="*/ 0 h 1873470"/>
              <a:gd name="connsiteX1-35" fmla="*/ 765590 w 1330960"/>
              <a:gd name="connsiteY1-36" fmla="*/ 641350 h 1873470"/>
              <a:gd name="connsiteX2-37" fmla="*/ 765590 w 1330960"/>
              <a:gd name="connsiteY2-38" fmla="*/ 358665 h 1873470"/>
              <a:gd name="connsiteX3-39" fmla="*/ 1330960 w 1330960"/>
              <a:gd name="connsiteY3-40" fmla="*/ 924035 h 1873470"/>
              <a:gd name="connsiteX4-41" fmla="*/ 765590 w 1330960"/>
              <a:gd name="connsiteY4-42" fmla="*/ 1489405 h 1873470"/>
              <a:gd name="connsiteX5-43" fmla="*/ 765590 w 1330960"/>
              <a:gd name="connsiteY5-44" fmla="*/ 1206720 h 1873470"/>
              <a:gd name="connsiteX6-45" fmla="*/ 0 w 1330960"/>
              <a:gd name="connsiteY6-46" fmla="*/ 1873470 h 1873470"/>
              <a:gd name="connsiteX7-47" fmla="*/ 12700 w 1330960"/>
              <a:gd name="connsiteY7-48" fmla="*/ 0 h 1873470"/>
              <a:gd name="connsiteX0-49" fmla="*/ 12700 w 1330960"/>
              <a:gd name="connsiteY0-50" fmla="*/ 0 h 1873470"/>
              <a:gd name="connsiteX1-51" fmla="*/ 765590 w 1330960"/>
              <a:gd name="connsiteY1-52" fmla="*/ 641350 h 1873470"/>
              <a:gd name="connsiteX2-53" fmla="*/ 765590 w 1330960"/>
              <a:gd name="connsiteY2-54" fmla="*/ 358665 h 1873470"/>
              <a:gd name="connsiteX3-55" fmla="*/ 1330960 w 1330960"/>
              <a:gd name="connsiteY3-56" fmla="*/ 924035 h 1873470"/>
              <a:gd name="connsiteX4-57" fmla="*/ 765590 w 1330960"/>
              <a:gd name="connsiteY4-58" fmla="*/ 1489405 h 1873470"/>
              <a:gd name="connsiteX5-59" fmla="*/ 765590 w 1330960"/>
              <a:gd name="connsiteY5-60" fmla="*/ 1206720 h 1873470"/>
              <a:gd name="connsiteX6-61" fmla="*/ 0 w 1330960"/>
              <a:gd name="connsiteY6-62" fmla="*/ 1873470 h 1873470"/>
              <a:gd name="connsiteX7-63" fmla="*/ 12700 w 1330960"/>
              <a:gd name="connsiteY7-64" fmla="*/ 0 h 1873470"/>
              <a:gd name="connsiteX0-65" fmla="*/ 12700 w 1330960"/>
              <a:gd name="connsiteY0-66" fmla="*/ 0 h 1873470"/>
              <a:gd name="connsiteX1-67" fmla="*/ 765590 w 1330960"/>
              <a:gd name="connsiteY1-68" fmla="*/ 641350 h 1873470"/>
              <a:gd name="connsiteX2-69" fmla="*/ 765590 w 1330960"/>
              <a:gd name="connsiteY2-70" fmla="*/ 358665 h 1873470"/>
              <a:gd name="connsiteX3-71" fmla="*/ 1330960 w 1330960"/>
              <a:gd name="connsiteY3-72" fmla="*/ 924035 h 1873470"/>
              <a:gd name="connsiteX4-73" fmla="*/ 765590 w 1330960"/>
              <a:gd name="connsiteY4-74" fmla="*/ 1489405 h 1873470"/>
              <a:gd name="connsiteX5-75" fmla="*/ 765590 w 1330960"/>
              <a:gd name="connsiteY5-76" fmla="*/ 1206720 h 1873470"/>
              <a:gd name="connsiteX6-77" fmla="*/ 0 w 1330960"/>
              <a:gd name="connsiteY6-78" fmla="*/ 1873470 h 1873470"/>
              <a:gd name="connsiteX7-79" fmla="*/ 12700 w 1330960"/>
              <a:gd name="connsiteY7-80" fmla="*/ 0 h 1873470"/>
              <a:gd name="connsiteX0-81" fmla="*/ 12700 w 1330960"/>
              <a:gd name="connsiteY0-82" fmla="*/ 0 h 1873470"/>
              <a:gd name="connsiteX1-83" fmla="*/ 765590 w 1330960"/>
              <a:gd name="connsiteY1-84" fmla="*/ 641350 h 1873470"/>
              <a:gd name="connsiteX2-85" fmla="*/ 765590 w 1330960"/>
              <a:gd name="connsiteY2-86" fmla="*/ 358665 h 1873470"/>
              <a:gd name="connsiteX3-87" fmla="*/ 1330960 w 1330960"/>
              <a:gd name="connsiteY3-88" fmla="*/ 924035 h 1873470"/>
              <a:gd name="connsiteX4-89" fmla="*/ 765590 w 1330960"/>
              <a:gd name="connsiteY4-90" fmla="*/ 1489405 h 1873470"/>
              <a:gd name="connsiteX5-91" fmla="*/ 765590 w 1330960"/>
              <a:gd name="connsiteY5-92" fmla="*/ 1206720 h 1873470"/>
              <a:gd name="connsiteX6-93" fmla="*/ 0 w 1330960"/>
              <a:gd name="connsiteY6-94" fmla="*/ 1873470 h 1873470"/>
              <a:gd name="connsiteX7-95" fmla="*/ 12700 w 1330960"/>
              <a:gd name="connsiteY7-96" fmla="*/ 0 h 1873470"/>
              <a:gd name="connsiteX0-97" fmla="*/ 12700 w 1330960"/>
              <a:gd name="connsiteY0-98" fmla="*/ 0 h 1873470"/>
              <a:gd name="connsiteX1-99" fmla="*/ 765590 w 1330960"/>
              <a:gd name="connsiteY1-100" fmla="*/ 641350 h 1873470"/>
              <a:gd name="connsiteX2-101" fmla="*/ 765590 w 1330960"/>
              <a:gd name="connsiteY2-102" fmla="*/ 358665 h 1873470"/>
              <a:gd name="connsiteX3-103" fmla="*/ 1330960 w 1330960"/>
              <a:gd name="connsiteY3-104" fmla="*/ 924035 h 1873470"/>
              <a:gd name="connsiteX4-105" fmla="*/ 765590 w 1330960"/>
              <a:gd name="connsiteY4-106" fmla="*/ 1489405 h 1873470"/>
              <a:gd name="connsiteX5-107" fmla="*/ 765590 w 1330960"/>
              <a:gd name="connsiteY5-108" fmla="*/ 1206720 h 1873470"/>
              <a:gd name="connsiteX6-109" fmla="*/ 0 w 1330960"/>
              <a:gd name="connsiteY6-110" fmla="*/ 1873470 h 1873470"/>
              <a:gd name="connsiteX7-111" fmla="*/ 12700 w 1330960"/>
              <a:gd name="connsiteY7-112" fmla="*/ 0 h 187347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330960" h="1873470">
                <a:moveTo>
                  <a:pt x="12700" y="0"/>
                </a:moveTo>
                <a:cubicBezTo>
                  <a:pt x="384313" y="626533"/>
                  <a:pt x="508277" y="624417"/>
                  <a:pt x="765590" y="641350"/>
                </a:cubicBezTo>
                <a:lnTo>
                  <a:pt x="765590" y="358665"/>
                </a:lnTo>
                <a:lnTo>
                  <a:pt x="1330960" y="924035"/>
                </a:lnTo>
                <a:lnTo>
                  <a:pt x="765590" y="1489405"/>
                </a:lnTo>
                <a:lnTo>
                  <a:pt x="765590" y="1206720"/>
                </a:lnTo>
                <a:cubicBezTo>
                  <a:pt x="580243" y="1206720"/>
                  <a:pt x="363147" y="1251170"/>
                  <a:pt x="0" y="1873470"/>
                </a:cubicBezTo>
                <a:cubicBezTo>
                  <a:pt x="4233" y="1248980"/>
                  <a:pt x="8467" y="624490"/>
                  <a:pt x="12700" y="0"/>
                </a:cubicBezTo>
                <a:close/>
              </a:path>
            </a:pathLst>
          </a:custGeom>
          <a:gradFill flip="none" rotWithShape="1">
            <a:gsLst>
              <a:gs pos="0">
                <a:srgbClr val="4472C4">
                  <a:lumMod val="60000"/>
                  <a:lumOff val="40000"/>
                </a:srgbClr>
              </a:gs>
              <a:gs pos="50000">
                <a:srgbClr val="4472C4">
                  <a:lumMod val="40000"/>
                  <a:lumOff val="60000"/>
                </a:srgbClr>
              </a:gs>
              <a:gs pos="100000">
                <a:srgbClr val="4472C4">
                  <a:tint val="23500"/>
                  <a:satMod val="160000"/>
                  <a:alpha val="50000"/>
                </a:srgbClr>
              </a:gs>
            </a:gsLst>
            <a:lin ang="10800000" scaled="1"/>
            <a:tileRect/>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pic>
        <p:nvPicPr>
          <p:cNvPr id="17" name="图片 16">
            <a:extLst>
              <a:ext uri="{FF2B5EF4-FFF2-40B4-BE49-F238E27FC236}">
                <a16:creationId xmlns:a16="http://schemas.microsoft.com/office/drawing/2014/main" id="{7635CAAE-2412-4A8B-5FAE-BA2994B22627}"/>
              </a:ext>
            </a:extLst>
          </p:cNvPr>
          <p:cNvPicPr>
            <a:picLocks noChangeAspect="1"/>
          </p:cNvPicPr>
          <p:nvPr/>
        </p:nvPicPr>
        <p:blipFill>
          <a:blip r:embed="rId10"/>
          <a:srcRect l="2629" t="6514" r="3591" b="1232"/>
          <a:stretch>
            <a:fillRect/>
          </a:stretch>
        </p:blipFill>
        <p:spPr>
          <a:xfrm>
            <a:off x="2015413" y="1156471"/>
            <a:ext cx="4827429" cy="1883321"/>
          </a:xfrm>
          <a:prstGeom prst="rect">
            <a:avLst/>
          </a:prstGeom>
        </p:spPr>
      </p:pic>
      <p:pic>
        <p:nvPicPr>
          <p:cNvPr id="22" name="图片 21">
            <a:extLst>
              <a:ext uri="{FF2B5EF4-FFF2-40B4-BE49-F238E27FC236}">
                <a16:creationId xmlns:a16="http://schemas.microsoft.com/office/drawing/2014/main" id="{DA8424C2-168C-4ED8-EB82-5937143E8ED8}"/>
              </a:ext>
            </a:extLst>
          </p:cNvPr>
          <p:cNvPicPr>
            <a:picLocks noChangeAspect="1"/>
          </p:cNvPicPr>
          <p:nvPr/>
        </p:nvPicPr>
        <p:blipFill>
          <a:blip r:embed="rId11"/>
          <a:stretch>
            <a:fillRect/>
          </a:stretch>
        </p:blipFill>
        <p:spPr>
          <a:xfrm>
            <a:off x="443429" y="3369726"/>
            <a:ext cx="7692137" cy="1803193"/>
          </a:xfrm>
          <a:prstGeom prst="rect">
            <a:avLst/>
          </a:prstGeom>
        </p:spPr>
      </p:pic>
      <p:pic>
        <p:nvPicPr>
          <p:cNvPr id="23" name="图片 22">
            <a:extLst>
              <a:ext uri="{FF2B5EF4-FFF2-40B4-BE49-F238E27FC236}">
                <a16:creationId xmlns:a16="http://schemas.microsoft.com/office/drawing/2014/main" id="{D6BBC436-70AD-1B6B-477C-34F2BC783464}"/>
              </a:ext>
            </a:extLst>
          </p:cNvPr>
          <p:cNvPicPr>
            <a:picLocks noChangeAspect="1"/>
          </p:cNvPicPr>
          <p:nvPr/>
        </p:nvPicPr>
        <p:blipFill>
          <a:blip r:embed="rId12"/>
          <a:stretch>
            <a:fillRect/>
          </a:stretch>
        </p:blipFill>
        <p:spPr>
          <a:xfrm>
            <a:off x="8054084" y="3384924"/>
            <a:ext cx="3805528" cy="1803193"/>
          </a:xfrm>
          <a:prstGeom prst="rect">
            <a:avLst/>
          </a:prstGeom>
        </p:spPr>
      </p:pic>
      <p:sp>
        <p:nvSpPr>
          <p:cNvPr id="9" name="Slide Number Placeholder 20">
            <a:extLst>
              <a:ext uri="{FF2B5EF4-FFF2-40B4-BE49-F238E27FC236}">
                <a16:creationId xmlns:a16="http://schemas.microsoft.com/office/drawing/2014/main" id="{A15BE855-B01A-D456-8A3E-4B1610CD6AC9}"/>
              </a:ext>
            </a:extLst>
          </p:cNvPr>
          <p:cNvSpPr txBox="1">
            <a:spLocks/>
          </p:cNvSpPr>
          <p:nvPr/>
        </p:nvSpPr>
        <p:spPr>
          <a:xfrm>
            <a:off x="9448800" y="3175"/>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2D61274B-6331-E748-A81F-D054B7003DB9}" type="slidenum">
              <a:rPr kumimoji="1" lang="zh-CN" altLang="en-US" smtClean="0">
                <a:solidFill>
                  <a:prstClr val="black">
                    <a:tint val="75000"/>
                  </a:prstClr>
                </a:solidFill>
              </a:rPr>
              <a:pPr>
                <a:defRPr/>
              </a:pPr>
              <a:t>10</a:t>
            </a:fld>
            <a:endParaRPr kumimoji="1" lang="zh-CN" altLang="en-US">
              <a:solidFill>
                <a:prstClr val="black">
                  <a:tint val="75000"/>
                </a:prstClr>
              </a:solidFill>
            </a:endParaRPr>
          </a:p>
        </p:txBody>
      </p:sp>
      <p:pic>
        <p:nvPicPr>
          <p:cNvPr id="12" name="Graphic 5">
            <a:extLst>
              <a:ext uri="{FF2B5EF4-FFF2-40B4-BE49-F238E27FC236}">
                <a16:creationId xmlns:a16="http://schemas.microsoft.com/office/drawing/2014/main" id="{383EA031-52A4-B982-6B47-6BE7633BE0FE}"/>
              </a:ext>
            </a:extLst>
          </p:cNvPr>
          <p:cNvPicPr>
            <a:picLocks noChangeAspect="1"/>
          </p:cNvPicPr>
          <p:nvPr/>
        </p:nvPicPr>
        <p:blipFill rotWithShape="1">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rcRect l="6226" t="13310" r="8094" b="10241"/>
          <a:stretch/>
        </p:blipFill>
        <p:spPr>
          <a:xfrm>
            <a:off x="6039167" y="179979"/>
            <a:ext cx="1835308" cy="594813"/>
          </a:xfrm>
          <a:prstGeom prst="rect">
            <a:avLst/>
          </a:prstGeom>
        </p:spPr>
      </p:pic>
      <p:pic>
        <p:nvPicPr>
          <p:cNvPr id="18" name="图片 10" descr="武汉大学logo-02">
            <a:extLst>
              <a:ext uri="{FF2B5EF4-FFF2-40B4-BE49-F238E27FC236}">
                <a16:creationId xmlns:a16="http://schemas.microsoft.com/office/drawing/2014/main" id="{0A4864C3-A04C-2915-2779-DD71AF3A52B8}"/>
              </a:ext>
            </a:extLst>
          </p:cNvPr>
          <p:cNvPicPr>
            <a:picLocks noChangeAspect="1"/>
          </p:cNvPicPr>
          <p:nvPr/>
        </p:nvPicPr>
        <p:blipFill>
          <a:blip r:embed="rId15"/>
          <a:stretch>
            <a:fillRect/>
          </a:stretch>
        </p:blipFill>
        <p:spPr>
          <a:xfrm>
            <a:off x="8030845" y="95351"/>
            <a:ext cx="2045273" cy="763686"/>
          </a:xfrm>
          <a:prstGeom prst="rect">
            <a:avLst/>
          </a:prstGeom>
        </p:spPr>
      </p:pic>
      <p:pic>
        <p:nvPicPr>
          <p:cNvPr id="19" name="Picture 2">
            <a:extLst>
              <a:ext uri="{FF2B5EF4-FFF2-40B4-BE49-F238E27FC236}">
                <a16:creationId xmlns:a16="http://schemas.microsoft.com/office/drawing/2014/main" id="{813A29B4-0B87-DB46-4CDB-D171750C8B23}"/>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4878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CF7A9-71BA-9141-2C58-49AA03E2EE7C}"/>
            </a:ext>
          </a:extLst>
        </p:cNvPr>
        <p:cNvGrpSpPr/>
        <p:nvPr/>
      </p:nvGrpSpPr>
      <p:grpSpPr>
        <a:xfrm>
          <a:off x="0" y="0"/>
          <a:ext cx="0" cy="0"/>
          <a:chOff x="0" y="0"/>
          <a:chExt cx="0" cy="0"/>
        </a:xfrm>
      </p:grpSpPr>
      <p:sp>
        <p:nvSpPr>
          <p:cNvPr id="13" name="文本框 12">
            <a:extLst>
              <a:ext uri="{FF2B5EF4-FFF2-40B4-BE49-F238E27FC236}">
                <a16:creationId xmlns:a16="http://schemas.microsoft.com/office/drawing/2014/main" id="{EFB7047A-FDFA-FE00-3EF5-C91DA7CF349E}"/>
              </a:ext>
            </a:extLst>
          </p:cNvPr>
          <p:cNvSpPr txBox="1"/>
          <p:nvPr/>
        </p:nvSpPr>
        <p:spPr>
          <a:xfrm>
            <a:off x="55872" y="90987"/>
            <a:ext cx="5552448"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课题：</a:t>
            </a:r>
            <a:r>
              <a:rPr lang="en-US" altLang="zh-CN" b="1"/>
              <a:t>PHOXRefiner: Reference-Aware PHOX Ligand Optimization</a:t>
            </a:r>
            <a:endPar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1" name="Slide Number Placeholder 20">
            <a:extLst>
              <a:ext uri="{FF2B5EF4-FFF2-40B4-BE49-F238E27FC236}">
                <a16:creationId xmlns:a16="http://schemas.microsoft.com/office/drawing/2014/main" id="{FC3F4EFA-D418-1CA5-0BBB-98BB852EFBD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24E24492-3CB9-80B3-EC71-CA89BBD8072F}"/>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7" name="文本框 5">
            <a:extLst>
              <a:ext uri="{FF2B5EF4-FFF2-40B4-BE49-F238E27FC236}">
                <a16:creationId xmlns:a16="http://schemas.microsoft.com/office/drawing/2014/main" id="{6FA3563B-B73F-3367-FD74-CBD1F4F53E1D}"/>
              </a:ext>
            </a:extLst>
          </p:cNvPr>
          <p:cNvSpPr txBox="1">
            <a:spLocks noChangeArrowheads="1"/>
          </p:cNvSpPr>
          <p:nvPr/>
        </p:nvSpPr>
        <p:spPr bwMode="auto">
          <a:xfrm>
            <a:off x="55872" y="953751"/>
            <a:ext cx="11803740" cy="597856"/>
          </a:xfrm>
          <a:prstGeom prst="rect">
            <a:avLst/>
          </a:prstGeom>
          <a:noFill/>
          <a:ln w="9525">
            <a:noFill/>
            <a:miter lim="800000"/>
          </a:ln>
        </p:spPr>
        <p:txBody>
          <a:bodyPr wrap="square" anchor="t" anchorCtr="0">
            <a:spAutoFit/>
          </a:bodyPr>
          <a:lstStyle/>
          <a:p>
            <a:pPr marL="342900" indent="-342900" fontAlgn="ctr">
              <a:lnSpc>
                <a:spcPct val="90000"/>
              </a:lnSpc>
              <a:spcBef>
                <a:spcPts val="600"/>
              </a:spcBef>
              <a:buSzPct val="120000"/>
              <a:buFont typeface="Wingdings" panose="05000000000000000000" pitchFamily="2" charset="2"/>
              <a:buChar char="p"/>
              <a:defRPr/>
            </a:pPr>
            <a:r>
              <a:rPr lang="zh-CN" altLang="en-US" b="1">
                <a:latin typeface="微软雅黑" panose="020B0503020204020204" pitchFamily="34" charset="-122"/>
                <a:ea typeface="微软雅黑" panose="020B0503020204020204" pitchFamily="34" charset="-122"/>
                <a:cs typeface="Arial" panose="020B0604020202020204" pitchFamily="34" charset="0"/>
              </a:rPr>
              <a:t>提出 </a:t>
            </a:r>
            <a:r>
              <a:rPr lang="en-US" altLang="zh-CN" b="1">
                <a:latin typeface="微软雅黑" panose="020B0503020204020204" pitchFamily="34" charset="-122"/>
                <a:ea typeface="微软雅黑" panose="020B0503020204020204" pitchFamily="34" charset="-122"/>
                <a:cs typeface="Arial" panose="020B0604020202020204" pitchFamily="34" charset="0"/>
              </a:rPr>
              <a:t>PHOXRefiner </a:t>
            </a:r>
            <a:r>
              <a:rPr lang="zh-CN" altLang="en-US" b="1">
                <a:latin typeface="微软雅黑" panose="020B0503020204020204" pitchFamily="34" charset="-122"/>
                <a:ea typeface="微软雅黑" panose="020B0503020204020204" pitchFamily="34" charset="-122"/>
                <a:cs typeface="Arial" panose="020B0604020202020204" pitchFamily="34" charset="0"/>
              </a:rPr>
              <a:t>闭环优化框架，通过参考配体引导的</a:t>
            </a:r>
            <a:r>
              <a:rPr lang="zh-CN" altLang="en-US" b="1">
                <a:solidFill>
                  <a:srgbClr val="FF0000"/>
                </a:solidFill>
                <a:latin typeface="微软雅黑" panose="020B0503020204020204" pitchFamily="34" charset="-122"/>
                <a:ea typeface="微软雅黑" panose="020B0503020204020204" pitchFamily="34" charset="-122"/>
                <a:cs typeface="Arial" panose="020B0604020202020204" pitchFamily="34" charset="0"/>
              </a:rPr>
              <a:t>片段生成</a:t>
            </a:r>
            <a:r>
              <a:rPr lang="zh-CN" altLang="en-US" b="1">
                <a:latin typeface="微软雅黑" panose="020B0503020204020204" pitchFamily="34" charset="-122"/>
                <a:ea typeface="微软雅黑" panose="020B0503020204020204" pitchFamily="34" charset="-122"/>
                <a:cs typeface="Arial" panose="020B0604020202020204" pitchFamily="34" charset="0"/>
              </a:rPr>
              <a:t>、反应条件感知评分和 </a:t>
            </a:r>
            <a:r>
              <a:rPr lang="en-US" altLang="zh-CN" b="1">
                <a:solidFill>
                  <a:srgbClr val="FF0000"/>
                </a:solidFill>
                <a:latin typeface="微软雅黑" panose="020B0503020204020204" pitchFamily="34" charset="-122"/>
                <a:ea typeface="微软雅黑" panose="020B0503020204020204" pitchFamily="34" charset="-122"/>
                <a:cs typeface="Arial" panose="020B0604020202020204" pitchFamily="34" charset="0"/>
              </a:rPr>
              <a:t>Experience Reflow</a:t>
            </a:r>
            <a:r>
              <a:rPr lang="zh-CN" altLang="en-US" b="1">
                <a:latin typeface="微软雅黑" panose="020B0503020204020204" pitchFamily="34" charset="-122"/>
                <a:ea typeface="微软雅黑" panose="020B0503020204020204" pitchFamily="34" charset="-122"/>
                <a:cs typeface="Arial" panose="020B0604020202020204" pitchFamily="34" charset="0"/>
              </a:rPr>
              <a:t>，在保持 </a:t>
            </a:r>
            <a:r>
              <a:rPr lang="en-US" altLang="zh-CN" b="1">
                <a:latin typeface="微软雅黑" panose="020B0503020204020204" pitchFamily="34" charset="-122"/>
                <a:ea typeface="微软雅黑" panose="020B0503020204020204" pitchFamily="34" charset="-122"/>
                <a:cs typeface="Arial" panose="020B0604020202020204" pitchFamily="34" charset="0"/>
              </a:rPr>
              <a:t>PHOX </a:t>
            </a:r>
            <a:r>
              <a:rPr lang="zh-CN" altLang="en-US" b="1">
                <a:latin typeface="微软雅黑" panose="020B0503020204020204" pitchFamily="34" charset="-122"/>
                <a:ea typeface="微软雅黑" panose="020B0503020204020204" pitchFamily="34" charset="-122"/>
                <a:cs typeface="Arial" panose="020B0604020202020204" pitchFamily="34" charset="0"/>
              </a:rPr>
              <a:t>骨架稳定性的同时，实现面向反应条件的配体优化</a:t>
            </a:r>
            <a:endParaRPr lang="en-US" altLang="zh-CN" b="1" dirty="0">
              <a:latin typeface="微软雅黑" panose="020B0503020204020204" pitchFamily="34" charset="-122"/>
              <a:ea typeface="微软雅黑" panose="020B0503020204020204" pitchFamily="34" charset="-122"/>
              <a:cs typeface="Arial" panose="020B0604020202020204" pitchFamily="34" charset="0"/>
            </a:endParaRPr>
          </a:p>
        </p:txBody>
      </p:sp>
      <p:sp>
        <p:nvSpPr>
          <p:cNvPr id="8" name="文本框 7">
            <a:extLst>
              <a:ext uri="{FF2B5EF4-FFF2-40B4-BE49-F238E27FC236}">
                <a16:creationId xmlns:a16="http://schemas.microsoft.com/office/drawing/2014/main" id="{680CE63B-124E-8B00-7464-0BF2EFE1C3CC}"/>
              </a:ext>
            </a:extLst>
          </p:cNvPr>
          <p:cNvSpPr txBox="1"/>
          <p:nvPr/>
        </p:nvSpPr>
        <p:spPr>
          <a:xfrm>
            <a:off x="8741228" y="1456813"/>
            <a:ext cx="3308531" cy="5632311"/>
          </a:xfrm>
          <a:prstGeom prst="rect">
            <a:avLst/>
          </a:prstGeom>
          <a:noFill/>
        </p:spPr>
        <p:txBody>
          <a:bodyPr wrap="square">
            <a:spAutoFit/>
          </a:bodyPr>
          <a:lstStyle/>
          <a:p>
            <a:pPr marL="285750" indent="-285750" algn="just">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cs typeface="Arial" panose="020B0604020202020204" pitchFamily="34" charset="0"/>
              </a:rPr>
              <a:t>现有</a:t>
            </a:r>
            <a:r>
              <a:rPr lang="zh-CN" altLang="en-US">
                <a:latin typeface="微软雅黑" panose="020B0503020204020204" pitchFamily="34" charset="-122"/>
                <a:ea typeface="微软雅黑" panose="020B0503020204020204" pitchFamily="34" charset="-122"/>
                <a:cs typeface="Arial" panose="020B0604020202020204" pitchFamily="34" charset="0"/>
              </a:rPr>
              <a:t>问题：传统分子生成方法通常采用全分子生成，容易破坏 </a:t>
            </a:r>
            <a:r>
              <a:rPr lang="en-US" altLang="zh-CN">
                <a:latin typeface="微软雅黑" panose="020B0503020204020204" pitchFamily="34" charset="-122"/>
                <a:ea typeface="微软雅黑" panose="020B0503020204020204" pitchFamily="34" charset="-122"/>
                <a:cs typeface="Arial" panose="020B0604020202020204" pitchFamily="34" charset="0"/>
              </a:rPr>
              <a:t>PHOX </a:t>
            </a:r>
            <a:r>
              <a:rPr lang="zh-CN" altLang="en-US">
                <a:latin typeface="微软雅黑" panose="020B0503020204020204" pitchFamily="34" charset="-122"/>
                <a:ea typeface="微软雅黑" panose="020B0503020204020204" pitchFamily="34" charset="-122"/>
                <a:cs typeface="Arial" panose="020B0604020202020204" pitchFamily="34" charset="0"/>
              </a:rPr>
              <a:t>骨架；同时受限于手性催化实验数据稀缺，直接预测 </a:t>
            </a:r>
            <a:r>
              <a:rPr lang="en-US" altLang="zh-CN">
                <a:latin typeface="微软雅黑" panose="020B0503020204020204" pitchFamily="34" charset="-122"/>
                <a:ea typeface="微软雅黑" panose="020B0503020204020204" pitchFamily="34" charset="-122"/>
                <a:cs typeface="Arial" panose="020B0604020202020204" pitchFamily="34" charset="0"/>
              </a:rPr>
              <a:t>ee </a:t>
            </a:r>
            <a:r>
              <a:rPr lang="zh-CN" altLang="en-US">
                <a:latin typeface="微软雅黑" panose="020B0503020204020204" pitchFamily="34" charset="-122"/>
                <a:ea typeface="微软雅黑" panose="020B0503020204020204" pitchFamily="34" charset="-122"/>
                <a:cs typeface="Arial" panose="020B0604020202020204" pitchFamily="34" charset="0"/>
              </a:rPr>
              <a:t>泛化能力有限，难以针对特定反应条件进行定向配体优化。</a:t>
            </a:r>
            <a:endParaRPr lang="en-US" altLang="zh-CN">
              <a:latin typeface="微软雅黑" panose="020B0503020204020204" pitchFamily="34" charset="-122"/>
              <a:ea typeface="微软雅黑" panose="020B0503020204020204" pitchFamily="34" charset="-122"/>
              <a:cs typeface="Arial" panose="020B0604020202020204" pitchFamily="34" charset="0"/>
            </a:endParaRPr>
          </a:p>
          <a:p>
            <a:pPr marL="285750" indent="-285750" algn="just">
              <a:buFont typeface="Wingdings" panose="05000000000000000000" pitchFamily="2" charset="2"/>
              <a:buChar char="l"/>
            </a:pP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lgn="just">
              <a:buFont typeface="Wingdings" panose="05000000000000000000" pitchFamily="2" charset="2"/>
              <a:buChar char="l"/>
            </a:pPr>
            <a:r>
              <a:rPr lang="zh-CN" altLang="en-US">
                <a:latin typeface="微软雅黑" panose="020B0503020204020204" pitchFamily="34" charset="-122"/>
                <a:ea typeface="微软雅黑" panose="020B0503020204020204" pitchFamily="34" charset="-122"/>
                <a:cs typeface="Arial" panose="020B0604020202020204" pitchFamily="34" charset="0"/>
              </a:rPr>
              <a:t>框架：提出 </a:t>
            </a:r>
            <a:r>
              <a:rPr lang="en-US" altLang="zh-CN">
                <a:latin typeface="微软雅黑" panose="020B0503020204020204" pitchFamily="34" charset="-122"/>
                <a:ea typeface="微软雅黑" panose="020B0503020204020204" pitchFamily="34" charset="-122"/>
                <a:cs typeface="Arial" panose="020B0604020202020204" pitchFamily="34" charset="0"/>
              </a:rPr>
              <a:t>PHOXRefiner </a:t>
            </a:r>
            <a:r>
              <a:rPr lang="zh-CN" altLang="en-US">
                <a:latin typeface="微软雅黑" panose="020B0503020204020204" pitchFamily="34" charset="-122"/>
                <a:ea typeface="微软雅黑" panose="020B0503020204020204" pitchFamily="34" charset="-122"/>
                <a:cs typeface="Arial" panose="020B0604020202020204" pitchFamily="34" charset="0"/>
              </a:rPr>
              <a:t>闭环优化框架，由 </a:t>
            </a:r>
            <a:r>
              <a:rPr lang="en-US" altLang="zh-CN">
                <a:latin typeface="微软雅黑" panose="020B0503020204020204" pitchFamily="34" charset="-122"/>
                <a:ea typeface="微软雅黑" panose="020B0503020204020204" pitchFamily="34" charset="-122"/>
                <a:cs typeface="Arial" panose="020B0604020202020204" pitchFamily="34" charset="0"/>
              </a:rPr>
              <a:t>PHOX </a:t>
            </a:r>
            <a:r>
              <a:rPr lang="zh-CN" altLang="en-US">
                <a:latin typeface="微软雅黑" panose="020B0503020204020204" pitchFamily="34" charset="-122"/>
                <a:ea typeface="微软雅黑" panose="020B0503020204020204" pitchFamily="34" charset="-122"/>
                <a:cs typeface="Arial" panose="020B0604020202020204" pitchFamily="34" charset="0"/>
              </a:rPr>
              <a:t>约束片段生成、反应条件双编码器评分和 </a:t>
            </a:r>
            <a:r>
              <a:rPr lang="en-US" altLang="zh-CN">
                <a:latin typeface="微软雅黑" panose="020B0503020204020204" pitchFamily="34" charset="-122"/>
                <a:ea typeface="微软雅黑" panose="020B0503020204020204" pitchFamily="34" charset="-122"/>
                <a:cs typeface="Arial" panose="020B0604020202020204" pitchFamily="34" charset="0"/>
              </a:rPr>
              <a:t>Experience Reflow </a:t>
            </a:r>
            <a:r>
              <a:rPr lang="zh-CN" altLang="en-US">
                <a:latin typeface="微软雅黑" panose="020B0503020204020204" pitchFamily="34" charset="-122"/>
                <a:ea typeface="微软雅黑" panose="020B0503020204020204" pitchFamily="34" charset="-122"/>
                <a:cs typeface="Arial" panose="020B0604020202020204" pitchFamily="34" charset="0"/>
              </a:rPr>
              <a:t>三个模块组成。</a:t>
            </a:r>
            <a:endParaRPr lang="en-US" altLang="zh-CN">
              <a:latin typeface="微软雅黑" panose="020B0503020204020204" pitchFamily="34" charset="-122"/>
              <a:ea typeface="微软雅黑" panose="020B0503020204020204" pitchFamily="34" charset="-122"/>
              <a:cs typeface="Arial" panose="020B0604020202020204" pitchFamily="34" charset="0"/>
            </a:endParaRPr>
          </a:p>
          <a:p>
            <a:pPr marL="285750" indent="-285750" algn="just">
              <a:buFont typeface="Wingdings" panose="05000000000000000000" pitchFamily="2" charset="2"/>
              <a:buChar char="l"/>
            </a:pPr>
            <a:endParaRPr lang="en-US" altLang="zh-CN">
              <a:latin typeface="微软雅黑" panose="020B0503020204020204" pitchFamily="34" charset="-122"/>
              <a:ea typeface="微软雅黑" panose="020B0503020204020204" pitchFamily="34" charset="-122"/>
              <a:cs typeface="Arial" panose="020B0604020202020204" pitchFamily="34" charset="0"/>
            </a:endParaRPr>
          </a:p>
          <a:p>
            <a:pPr marL="285750" indent="-285750" algn="just">
              <a:buFont typeface="Wingdings" panose="05000000000000000000" pitchFamily="2" charset="2"/>
              <a:buChar char="l"/>
            </a:pPr>
            <a:r>
              <a:rPr lang="zh-CN" altLang="en-US">
                <a:latin typeface="微软雅黑" panose="020B0503020204020204" pitchFamily="34" charset="-122"/>
                <a:ea typeface="微软雅黑" panose="020B0503020204020204" pitchFamily="34" charset="-122"/>
                <a:cs typeface="Arial" panose="020B0604020202020204" pitchFamily="34" charset="0"/>
              </a:rPr>
              <a:t>效果：</a:t>
            </a:r>
            <a:r>
              <a:rPr lang="en-US" altLang="zh-CN">
                <a:latin typeface="微软雅黑" panose="020B0503020204020204" pitchFamily="34" charset="-122"/>
                <a:ea typeface="微软雅黑" panose="020B0503020204020204" pitchFamily="34" charset="-122"/>
                <a:cs typeface="Arial" panose="020B0604020202020204" pitchFamily="34" charset="0"/>
              </a:rPr>
              <a:t>Top-1 </a:t>
            </a:r>
            <a:r>
              <a:rPr lang="zh-CN" altLang="en-US">
                <a:latin typeface="微软雅黑" panose="020B0503020204020204" pitchFamily="34" charset="-122"/>
                <a:ea typeface="微软雅黑" panose="020B0503020204020204" pitchFamily="34" charset="-122"/>
                <a:cs typeface="Arial" panose="020B0604020202020204" pitchFamily="34" charset="0"/>
              </a:rPr>
              <a:t>推荐质量由 </a:t>
            </a:r>
            <a:r>
              <a:rPr lang="en-US" altLang="zh-CN">
                <a:solidFill>
                  <a:srgbClr val="FF0000"/>
                </a:solidFill>
                <a:latin typeface="微软雅黑" panose="020B0503020204020204" pitchFamily="34" charset="-122"/>
                <a:ea typeface="微软雅黑" panose="020B0503020204020204" pitchFamily="34" charset="-122"/>
                <a:cs typeface="Arial" panose="020B0604020202020204" pitchFamily="34" charset="0"/>
              </a:rPr>
              <a:t>0.827</a:t>
            </a:r>
            <a:r>
              <a:rPr lang="zh-CN" altLang="en-US">
                <a:solidFill>
                  <a:srgbClr val="FF0000"/>
                </a:solidFill>
                <a:latin typeface="微软雅黑" panose="020B0503020204020204" pitchFamily="34" charset="-122"/>
                <a:ea typeface="微软雅黑" panose="020B0503020204020204" pitchFamily="34" charset="-122"/>
                <a:cs typeface="Arial" panose="020B0604020202020204" pitchFamily="34" charset="0"/>
              </a:rPr>
              <a:t> 提升至 </a:t>
            </a:r>
            <a:r>
              <a:rPr lang="en-US" altLang="zh-CN">
                <a:solidFill>
                  <a:srgbClr val="FF0000"/>
                </a:solidFill>
                <a:latin typeface="微软雅黑" panose="020B0503020204020204" pitchFamily="34" charset="-122"/>
                <a:ea typeface="微软雅黑" panose="020B0503020204020204" pitchFamily="34" charset="-122"/>
                <a:cs typeface="Arial" panose="020B0604020202020204" pitchFamily="34" charset="0"/>
              </a:rPr>
              <a:t>0.968</a:t>
            </a:r>
            <a:r>
              <a:rPr lang="zh-CN" altLang="en-US">
                <a:latin typeface="微软雅黑" panose="020B0503020204020204" pitchFamily="34" charset="-122"/>
                <a:ea typeface="微软雅黑" panose="020B0503020204020204" pitchFamily="34" charset="-122"/>
                <a:cs typeface="Arial" panose="020B0604020202020204" pitchFamily="34" charset="0"/>
              </a:rPr>
              <a:t>，</a:t>
            </a:r>
            <a:r>
              <a:rPr lang="en-US" altLang="zh-CN">
                <a:latin typeface="微软雅黑" panose="020B0503020204020204" pitchFamily="34" charset="-122"/>
                <a:ea typeface="微软雅黑" panose="020B0503020204020204" pitchFamily="34" charset="-122"/>
                <a:cs typeface="Arial" panose="020B0604020202020204" pitchFamily="34" charset="0"/>
              </a:rPr>
              <a:t>Top-10 </a:t>
            </a:r>
            <a:r>
              <a:rPr lang="zh-CN" altLang="en-US">
                <a:latin typeface="微软雅黑" panose="020B0503020204020204" pitchFamily="34" charset="-122"/>
                <a:ea typeface="微软雅黑" panose="020B0503020204020204" pitchFamily="34" charset="-122"/>
                <a:cs typeface="Arial" panose="020B0604020202020204" pitchFamily="34" charset="0"/>
              </a:rPr>
              <a:t>由 </a:t>
            </a:r>
            <a:r>
              <a:rPr lang="en-US" altLang="zh-CN">
                <a:latin typeface="微软雅黑" panose="020B0503020204020204" pitchFamily="34" charset="-122"/>
                <a:ea typeface="微软雅黑" panose="020B0503020204020204" pitchFamily="34" charset="-122"/>
                <a:cs typeface="Arial" panose="020B0604020202020204" pitchFamily="34" charset="0"/>
              </a:rPr>
              <a:t>0.468</a:t>
            </a:r>
            <a:r>
              <a:rPr lang="zh-CN" altLang="en-US">
                <a:latin typeface="微软雅黑" panose="020B0503020204020204" pitchFamily="34" charset="-122"/>
                <a:ea typeface="微软雅黑" panose="020B0503020204020204" pitchFamily="34" charset="-122"/>
                <a:cs typeface="Arial" panose="020B0604020202020204" pitchFamily="34" charset="0"/>
              </a:rPr>
              <a:t> 提升至 </a:t>
            </a:r>
            <a:r>
              <a:rPr lang="en-US" altLang="zh-CN">
                <a:latin typeface="微软雅黑" panose="020B0503020204020204" pitchFamily="34" charset="-122"/>
                <a:ea typeface="微软雅黑" panose="020B0503020204020204" pitchFamily="34" charset="-122"/>
                <a:cs typeface="Arial" panose="020B0604020202020204" pitchFamily="34" charset="0"/>
              </a:rPr>
              <a:t>0.944</a:t>
            </a:r>
            <a:r>
              <a:rPr lang="zh-CN" altLang="en-US">
                <a:latin typeface="微软雅黑" panose="020B0503020204020204" pitchFamily="34" charset="-122"/>
                <a:ea typeface="微软雅黑" panose="020B0503020204020204" pitchFamily="34" charset="-122"/>
                <a:cs typeface="Arial" panose="020B0604020202020204" pitchFamily="34" charset="0"/>
              </a:rPr>
              <a:t>，同时保持 </a:t>
            </a:r>
            <a:r>
              <a:rPr lang="en-US" altLang="zh-CN">
                <a:latin typeface="微软雅黑" panose="020B0503020204020204" pitchFamily="34" charset="-122"/>
                <a:ea typeface="微软雅黑" panose="020B0503020204020204" pitchFamily="34" charset="-122"/>
                <a:cs typeface="Arial" panose="020B0604020202020204" pitchFamily="34" charset="0"/>
              </a:rPr>
              <a:t>PHOX </a:t>
            </a:r>
            <a:r>
              <a:rPr lang="zh-CN" altLang="en-US">
                <a:latin typeface="微软雅黑" panose="020B0503020204020204" pitchFamily="34" charset="-122"/>
                <a:ea typeface="微软雅黑" panose="020B0503020204020204" pitchFamily="34" charset="-122"/>
                <a:cs typeface="Arial" panose="020B0604020202020204" pitchFamily="34" charset="0"/>
              </a:rPr>
              <a:t>骨架稳定性和候选多样性。</a:t>
            </a:r>
          </a:p>
          <a:p>
            <a:pPr marL="285750" indent="-285750" algn="just">
              <a:buFont typeface="Wingdings" panose="05000000000000000000" pitchFamily="2" charset="2"/>
              <a:buChar char="l"/>
            </a:pPr>
            <a:endParaRPr lang="zh-CN" altLang="en-US" dirty="0">
              <a:latin typeface="微软雅黑" panose="020B0503020204020204" pitchFamily="34" charset="-122"/>
              <a:ea typeface="微软雅黑" panose="020B0503020204020204" pitchFamily="34" charset="-122"/>
              <a:cs typeface="Arial" panose="020B0604020202020204" pitchFamily="34" charset="0"/>
            </a:endParaRPr>
          </a:p>
        </p:txBody>
      </p:sp>
      <p:pic>
        <p:nvPicPr>
          <p:cNvPr id="10" name="图片 9">
            <a:extLst>
              <a:ext uri="{FF2B5EF4-FFF2-40B4-BE49-F238E27FC236}">
                <a16:creationId xmlns:a16="http://schemas.microsoft.com/office/drawing/2014/main" id="{CAE2A4DF-8502-53A5-CFC0-43CD8312F6A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872" y="1818043"/>
            <a:ext cx="8744418" cy="4610416"/>
          </a:xfrm>
          <a:prstGeom prst="rect">
            <a:avLst/>
          </a:prstGeom>
        </p:spPr>
      </p:pic>
      <p:sp>
        <p:nvSpPr>
          <p:cNvPr id="3" name="Slide Number Placeholder 20">
            <a:extLst>
              <a:ext uri="{FF2B5EF4-FFF2-40B4-BE49-F238E27FC236}">
                <a16:creationId xmlns:a16="http://schemas.microsoft.com/office/drawing/2014/main" id="{B4CA6987-D80D-4DE1-BEC4-B1BBC2480C9B}"/>
              </a:ext>
            </a:extLst>
          </p:cNvPr>
          <p:cNvSpPr txBox="1">
            <a:spLocks/>
          </p:cNvSpPr>
          <p:nvPr/>
        </p:nvSpPr>
        <p:spPr>
          <a:xfrm>
            <a:off x="9448800" y="3175"/>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2D61274B-6331-E748-A81F-D054B7003DB9}" type="slidenum">
              <a:rPr kumimoji="1" lang="zh-CN" altLang="en-US" smtClean="0">
                <a:solidFill>
                  <a:prstClr val="black">
                    <a:tint val="75000"/>
                  </a:prstClr>
                </a:solidFill>
              </a:rPr>
              <a:pPr>
                <a:defRPr/>
              </a:pPr>
              <a:t>11</a:t>
            </a:fld>
            <a:endParaRPr kumimoji="1" lang="zh-CN" altLang="en-US">
              <a:solidFill>
                <a:prstClr val="black">
                  <a:tint val="75000"/>
                </a:prstClr>
              </a:solidFill>
            </a:endParaRPr>
          </a:p>
        </p:txBody>
      </p:sp>
      <p:pic>
        <p:nvPicPr>
          <p:cNvPr id="4" name="Graphic 5">
            <a:extLst>
              <a:ext uri="{FF2B5EF4-FFF2-40B4-BE49-F238E27FC236}">
                <a16:creationId xmlns:a16="http://schemas.microsoft.com/office/drawing/2014/main" id="{FFF33D82-0260-D61A-8E0D-AB94D983E605}"/>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l="6226" t="13310" r="8094" b="10241"/>
          <a:stretch/>
        </p:blipFill>
        <p:spPr>
          <a:xfrm>
            <a:off x="6039167" y="179979"/>
            <a:ext cx="1835308" cy="594813"/>
          </a:xfrm>
          <a:prstGeom prst="rect">
            <a:avLst/>
          </a:prstGeom>
        </p:spPr>
      </p:pic>
      <p:pic>
        <p:nvPicPr>
          <p:cNvPr id="5" name="图片 10" descr="武汉大学logo-02">
            <a:extLst>
              <a:ext uri="{FF2B5EF4-FFF2-40B4-BE49-F238E27FC236}">
                <a16:creationId xmlns:a16="http://schemas.microsoft.com/office/drawing/2014/main" id="{6DE4D302-ED74-3523-FAC1-B50F97B18767}"/>
              </a:ext>
            </a:extLst>
          </p:cNvPr>
          <p:cNvPicPr>
            <a:picLocks noChangeAspect="1"/>
          </p:cNvPicPr>
          <p:nvPr/>
        </p:nvPicPr>
        <p:blipFill>
          <a:blip r:embed="rId6"/>
          <a:stretch>
            <a:fillRect/>
          </a:stretch>
        </p:blipFill>
        <p:spPr>
          <a:xfrm>
            <a:off x="8030845" y="95351"/>
            <a:ext cx="2045273" cy="763686"/>
          </a:xfrm>
          <a:prstGeom prst="rect">
            <a:avLst/>
          </a:prstGeom>
        </p:spPr>
      </p:pic>
      <p:pic>
        <p:nvPicPr>
          <p:cNvPr id="6" name="Picture 2">
            <a:extLst>
              <a:ext uri="{FF2B5EF4-FFF2-40B4-BE49-F238E27FC236}">
                <a16:creationId xmlns:a16="http://schemas.microsoft.com/office/drawing/2014/main" id="{9C318B90-3858-B125-1D85-498A8BD9DCF3}"/>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68883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idx="4294967295"/>
          </p:nvPr>
        </p:nvSpPr>
        <p:spPr>
          <a:xfrm>
            <a:off x="32431" y="125031"/>
            <a:ext cx="5116512" cy="455613"/>
          </a:xfrm>
        </p:spPr>
        <p:txBody>
          <a:bodyPr>
            <a:normAutofit/>
          </a:bodyPr>
          <a:lstStyle/>
          <a:p>
            <a:pPr>
              <a:lnSpc>
                <a:spcPct val="120000"/>
              </a:lnSpc>
            </a:pPr>
            <a:r>
              <a:rPr lang="zh-CN" altLang="en-US" sz="2000">
                <a:solidFill>
                  <a:srgbClr val="E7E6E6">
                    <a:lumMod val="25000"/>
                  </a:srgbClr>
                </a:solidFill>
                <a:latin typeface="微软雅黑" panose="020B0503020204020204" pitchFamily="34" charset="-122"/>
                <a:ea typeface="微软雅黑" panose="020B0503020204020204" pitchFamily="34" charset="-122"/>
                <a:cs typeface="+mn-cs"/>
                <a:sym typeface="+mn-lt"/>
              </a:rPr>
              <a:t>项目经历 </a:t>
            </a:r>
            <a:r>
              <a:rPr lang="en-US" altLang="zh-CN" sz="2000">
                <a:solidFill>
                  <a:srgbClr val="E7E6E6">
                    <a:lumMod val="25000"/>
                  </a:srgbClr>
                </a:solidFill>
                <a:latin typeface="微软雅黑" panose="020B0503020204020204" pitchFamily="34" charset="-122"/>
                <a:ea typeface="微软雅黑" panose="020B0503020204020204" pitchFamily="34" charset="-122"/>
                <a:cs typeface="+mn-cs"/>
                <a:sym typeface="+mn-lt"/>
              </a:rPr>
              <a:t>| </a:t>
            </a:r>
            <a:r>
              <a:rPr lang="zh-CN" altLang="en-US" sz="2000" dirty="0">
                <a:solidFill>
                  <a:srgbClr val="E7E6E6">
                    <a:lumMod val="25000"/>
                  </a:srgbClr>
                </a:solidFill>
                <a:latin typeface="微软雅黑" panose="020B0503020204020204" pitchFamily="34" charset="-122"/>
                <a:ea typeface="微软雅黑" panose="020B0503020204020204" pitchFamily="34" charset="-122"/>
                <a:cs typeface="+mn-cs"/>
                <a:sym typeface="+mn-lt"/>
              </a:rPr>
              <a:t>大学生服务外包创新创业大赛</a:t>
            </a:r>
          </a:p>
        </p:txBody>
      </p:sp>
      <p:sp>
        <p:nvSpPr>
          <p:cNvPr id="47" name="文本框 46">
            <a:extLst>
              <a:ext uri="{FF2B5EF4-FFF2-40B4-BE49-F238E27FC236}">
                <a16:creationId xmlns:a16="http://schemas.microsoft.com/office/drawing/2014/main" id="{5D7B5DA6-B054-9BA5-0EB9-11E0E055AE83}"/>
              </a:ext>
            </a:extLst>
          </p:cNvPr>
          <p:cNvSpPr txBox="1"/>
          <p:nvPr/>
        </p:nvSpPr>
        <p:spPr>
          <a:xfrm>
            <a:off x="552118" y="927503"/>
            <a:ext cx="583814" cy="923330"/>
          </a:xfrm>
          <a:prstGeom prst="rect">
            <a:avLst/>
          </a:prstGeom>
          <a:noFill/>
        </p:spPr>
        <p:txBody>
          <a:bodyPr wrap="none" rtlCol="0">
            <a:spAutoFit/>
          </a:bodyPr>
          <a:lstStyle/>
          <a:p>
            <a:r>
              <a:rPr lang="en-US" altLang="zh-CN" sz="5400" b="1" dirty="0">
                <a:solidFill>
                  <a:schemeClr val="bg1"/>
                </a:solidFill>
                <a:ea typeface="方正粗黑宋简体" panose="02000000000000000000" pitchFamily="2" charset="-122"/>
              </a:rPr>
              <a:t>1</a:t>
            </a:r>
            <a:endParaRPr lang="zh-CN" altLang="en-US" sz="5400" b="1" dirty="0">
              <a:solidFill>
                <a:schemeClr val="bg1"/>
              </a:solidFill>
              <a:ea typeface="方正粗黑宋简体" panose="02000000000000000000" pitchFamily="2" charset="-122"/>
            </a:endParaRPr>
          </a:p>
        </p:txBody>
      </p:sp>
      <p:grpSp>
        <p:nvGrpSpPr>
          <p:cNvPr id="9" name="组合 8">
            <a:extLst>
              <a:ext uri="{FF2B5EF4-FFF2-40B4-BE49-F238E27FC236}">
                <a16:creationId xmlns:a16="http://schemas.microsoft.com/office/drawing/2014/main" id="{EE4C57E3-F145-E8FF-5B4D-ADF3A1191795}"/>
              </a:ext>
            </a:extLst>
          </p:cNvPr>
          <p:cNvGrpSpPr/>
          <p:nvPr/>
        </p:nvGrpSpPr>
        <p:grpSpPr>
          <a:xfrm>
            <a:off x="0" y="3519725"/>
            <a:ext cx="12192001" cy="3874142"/>
            <a:chOff x="0" y="3250874"/>
            <a:chExt cx="12192001" cy="3874142"/>
          </a:xfrm>
        </p:grpSpPr>
        <p:sp>
          <p:nvSpPr>
            <p:cNvPr id="83" name="矩形 82">
              <a:extLst>
                <a:ext uri="{FF2B5EF4-FFF2-40B4-BE49-F238E27FC236}">
                  <a16:creationId xmlns:a16="http://schemas.microsoft.com/office/drawing/2014/main" id="{4305D0EF-9E7B-1C81-78C8-26BBCA7B576D}"/>
                </a:ext>
              </a:extLst>
            </p:cNvPr>
            <p:cNvSpPr/>
            <p:nvPr/>
          </p:nvSpPr>
          <p:spPr>
            <a:xfrm>
              <a:off x="8233539" y="3250874"/>
              <a:ext cx="3958462" cy="717876"/>
            </a:xfrm>
            <a:prstGeom prst="rect">
              <a:avLst/>
            </a:prstGeom>
            <a:solidFill>
              <a:schemeClr val="tx2">
                <a:lumMod val="60000"/>
                <a:lumOff val="40000"/>
              </a:schemeClr>
            </a:solidFill>
            <a:ln w="6350" cap="flat" cmpd="sng" algn="ctr">
              <a:solidFill>
                <a:srgbClr val="44546A"/>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a:endParaRPr lang="en-US" altLang="zh-CN" dirty="0">
                <a:cs typeface="+mn-ea"/>
                <a:sym typeface="+mn-lt"/>
              </a:endParaRPr>
            </a:p>
          </p:txBody>
        </p:sp>
        <p:sp>
          <p:nvSpPr>
            <p:cNvPr id="84" name="矩形 83">
              <a:extLst>
                <a:ext uri="{FF2B5EF4-FFF2-40B4-BE49-F238E27FC236}">
                  <a16:creationId xmlns:a16="http://schemas.microsoft.com/office/drawing/2014/main" id="{51561081-0BC7-7CB1-EB13-C2AA6577FBDA}"/>
                </a:ext>
              </a:extLst>
            </p:cNvPr>
            <p:cNvSpPr/>
            <p:nvPr/>
          </p:nvSpPr>
          <p:spPr>
            <a:xfrm>
              <a:off x="4174931" y="3250874"/>
              <a:ext cx="4062132" cy="717875"/>
            </a:xfrm>
            <a:prstGeom prst="rect">
              <a:avLst/>
            </a:prstGeom>
            <a:solidFill>
              <a:schemeClr val="tx2">
                <a:lumMod val="60000"/>
                <a:lumOff val="40000"/>
              </a:schemeClr>
            </a:solidFill>
            <a:ln w="6350" cap="flat" cmpd="sng" algn="ctr">
              <a:solidFill>
                <a:srgbClr val="44546A"/>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a:endParaRPr lang="en-US" altLang="zh-CN" dirty="0">
                <a:cs typeface="+mn-ea"/>
                <a:sym typeface="+mn-lt"/>
              </a:endParaRPr>
            </a:p>
          </p:txBody>
        </p:sp>
        <p:sp>
          <p:nvSpPr>
            <p:cNvPr id="85" name="矩形 84">
              <a:extLst>
                <a:ext uri="{FF2B5EF4-FFF2-40B4-BE49-F238E27FC236}">
                  <a16:creationId xmlns:a16="http://schemas.microsoft.com/office/drawing/2014/main" id="{DDC04DE2-8586-767C-5634-04FFA5E039E5}"/>
                </a:ext>
              </a:extLst>
            </p:cNvPr>
            <p:cNvSpPr/>
            <p:nvPr/>
          </p:nvSpPr>
          <p:spPr>
            <a:xfrm>
              <a:off x="0" y="3250874"/>
              <a:ext cx="4166036" cy="717874"/>
            </a:xfrm>
            <a:prstGeom prst="rect">
              <a:avLst/>
            </a:prstGeom>
            <a:solidFill>
              <a:schemeClr val="tx2">
                <a:lumMod val="60000"/>
                <a:lumOff val="40000"/>
              </a:schemeClr>
            </a:solidFill>
            <a:ln w="6350" cap="flat" cmpd="sng" algn="ctr">
              <a:solidFill>
                <a:srgbClr val="44546A"/>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a:endParaRPr lang="en-US" altLang="zh-CN" dirty="0">
                <a:cs typeface="+mn-ea"/>
                <a:sym typeface="+mn-lt"/>
              </a:endParaRPr>
            </a:p>
          </p:txBody>
        </p:sp>
        <p:grpSp>
          <p:nvGrpSpPr>
            <p:cNvPr id="87" name="组合 86">
              <a:extLst>
                <a:ext uri="{FF2B5EF4-FFF2-40B4-BE49-F238E27FC236}">
                  <a16:creationId xmlns:a16="http://schemas.microsoft.com/office/drawing/2014/main" id="{4A0D0557-CB64-AE98-858A-2384239FED6C}"/>
                </a:ext>
              </a:extLst>
            </p:cNvPr>
            <p:cNvGrpSpPr/>
            <p:nvPr/>
          </p:nvGrpSpPr>
          <p:grpSpPr>
            <a:xfrm>
              <a:off x="3981370" y="3429001"/>
              <a:ext cx="356253" cy="356253"/>
              <a:chOff x="3363503" y="5663221"/>
              <a:chExt cx="356253" cy="356253"/>
            </a:xfrm>
          </p:grpSpPr>
          <p:sp>
            <p:nvSpPr>
              <p:cNvPr id="88" name="椭圆 87">
                <a:extLst>
                  <a:ext uri="{FF2B5EF4-FFF2-40B4-BE49-F238E27FC236}">
                    <a16:creationId xmlns:a16="http://schemas.microsoft.com/office/drawing/2014/main" id="{5A774E0B-7988-1FF9-60C3-5B0AEE8C5F02}"/>
                  </a:ext>
                </a:extLst>
              </p:cNvPr>
              <p:cNvSpPr/>
              <p:nvPr/>
            </p:nvSpPr>
            <p:spPr>
              <a:xfrm>
                <a:off x="3363503" y="5663221"/>
                <a:ext cx="356253" cy="356253"/>
              </a:xfrm>
              <a:prstGeom prst="ellipse">
                <a:avLst/>
              </a:prstGeom>
              <a:solidFill>
                <a:schemeClr val="tx2">
                  <a:lumMod val="60000"/>
                  <a:lumOff val="40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p>
                <a:pPr algn="ctr"/>
                <a:endParaRPr lang="zh-CN" altLang="en-US">
                  <a:cs typeface="+mn-ea"/>
                  <a:sym typeface="+mn-lt"/>
                </a:endParaRPr>
              </a:p>
            </p:txBody>
          </p:sp>
          <p:sp>
            <p:nvSpPr>
              <p:cNvPr id="89" name="箭头: 右 88">
                <a:extLst>
                  <a:ext uri="{FF2B5EF4-FFF2-40B4-BE49-F238E27FC236}">
                    <a16:creationId xmlns:a16="http://schemas.microsoft.com/office/drawing/2014/main" id="{6C42D90F-7AD2-01C8-EB3D-6513CA917651}"/>
                  </a:ext>
                </a:extLst>
              </p:cNvPr>
              <p:cNvSpPr/>
              <p:nvPr/>
            </p:nvSpPr>
            <p:spPr>
              <a:xfrm>
                <a:off x="3449423" y="5718073"/>
                <a:ext cx="184412" cy="246548"/>
              </a:xfrm>
              <a:prstGeom prst="rightArrow">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Autofit/>
              </a:bodyPr>
              <a:lstStyle/>
              <a:p>
                <a:pPr algn="ctr"/>
                <a:endParaRPr dirty="0">
                  <a:cs typeface="+mn-ea"/>
                  <a:sym typeface="+mn-lt"/>
                </a:endParaRPr>
              </a:p>
            </p:txBody>
          </p:sp>
        </p:grpSp>
        <p:grpSp>
          <p:nvGrpSpPr>
            <p:cNvPr id="91" name="组合 90">
              <a:extLst>
                <a:ext uri="{FF2B5EF4-FFF2-40B4-BE49-F238E27FC236}">
                  <a16:creationId xmlns:a16="http://schemas.microsoft.com/office/drawing/2014/main" id="{46872A0B-E0D1-1583-E239-CD851FB1CFF6}"/>
                </a:ext>
              </a:extLst>
            </p:cNvPr>
            <p:cNvGrpSpPr/>
            <p:nvPr/>
          </p:nvGrpSpPr>
          <p:grpSpPr>
            <a:xfrm>
              <a:off x="8086281" y="3429001"/>
              <a:ext cx="356253" cy="356253"/>
              <a:chOff x="3412378" y="5663221"/>
              <a:chExt cx="356253" cy="356253"/>
            </a:xfrm>
          </p:grpSpPr>
          <p:sp>
            <p:nvSpPr>
              <p:cNvPr id="92" name="椭圆 91">
                <a:extLst>
                  <a:ext uri="{FF2B5EF4-FFF2-40B4-BE49-F238E27FC236}">
                    <a16:creationId xmlns:a16="http://schemas.microsoft.com/office/drawing/2014/main" id="{8A5F9003-BA81-CEE8-35F5-1F15B8FB53F1}"/>
                  </a:ext>
                </a:extLst>
              </p:cNvPr>
              <p:cNvSpPr/>
              <p:nvPr/>
            </p:nvSpPr>
            <p:spPr>
              <a:xfrm>
                <a:off x="3412378" y="5663221"/>
                <a:ext cx="356253" cy="356253"/>
              </a:xfrm>
              <a:prstGeom prst="ellipse">
                <a:avLst/>
              </a:prstGeom>
              <a:solidFill>
                <a:schemeClr val="tx2"/>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p>
                <a:pPr algn="ctr"/>
                <a:endParaRPr lang="zh-CN" altLang="en-US">
                  <a:cs typeface="+mn-ea"/>
                  <a:sym typeface="+mn-lt"/>
                </a:endParaRPr>
              </a:p>
            </p:txBody>
          </p:sp>
          <p:sp>
            <p:nvSpPr>
              <p:cNvPr id="93" name="箭头: 右 92">
                <a:extLst>
                  <a:ext uri="{FF2B5EF4-FFF2-40B4-BE49-F238E27FC236}">
                    <a16:creationId xmlns:a16="http://schemas.microsoft.com/office/drawing/2014/main" id="{AA5F2B4E-7D37-07FE-447D-C20661B9A80A}"/>
                  </a:ext>
                </a:extLst>
              </p:cNvPr>
              <p:cNvSpPr/>
              <p:nvPr/>
            </p:nvSpPr>
            <p:spPr>
              <a:xfrm>
                <a:off x="3498298" y="5718073"/>
                <a:ext cx="184412" cy="246548"/>
              </a:xfrm>
              <a:prstGeom prst="rightArrow">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Autofit/>
              </a:bodyPr>
              <a:lstStyle/>
              <a:p>
                <a:pPr algn="ctr"/>
                <a:endParaRPr dirty="0">
                  <a:cs typeface="+mn-ea"/>
                  <a:sym typeface="+mn-lt"/>
                </a:endParaRPr>
              </a:p>
            </p:txBody>
          </p:sp>
        </p:grpSp>
        <p:sp>
          <p:nvSpPr>
            <p:cNvPr id="94" name="文本框 93">
              <a:extLst>
                <a:ext uri="{FF2B5EF4-FFF2-40B4-BE49-F238E27FC236}">
                  <a16:creationId xmlns:a16="http://schemas.microsoft.com/office/drawing/2014/main" id="{B57DB84F-80BF-4B49-9614-F073732934B2}"/>
                </a:ext>
              </a:extLst>
            </p:cNvPr>
            <p:cNvSpPr txBox="1"/>
            <p:nvPr/>
          </p:nvSpPr>
          <p:spPr bwMode="auto">
            <a:xfrm>
              <a:off x="654937" y="3373101"/>
              <a:ext cx="2809200" cy="547092"/>
            </a:xfrm>
            <a:prstGeom prst="rect">
              <a:avLst/>
            </a:prstGeom>
            <a:noFill/>
            <a:ln>
              <a:solidFill>
                <a:srgbClr val="8497B0"/>
              </a:solidFill>
            </a:ln>
          </p:spPr>
          <p:txBody>
            <a:bodyPr wrap="square" lIns="91440" tIns="45720" rIns="91440" bIns="45720" anchor="ctr"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lnSpc>
                  <a:spcPct val="100000"/>
                </a:lnSpc>
                <a:spcBef>
                  <a:spcPct val="0"/>
                </a:spcBef>
                <a:buFontTx/>
                <a:buNone/>
              </a:pPr>
              <a:r>
                <a:rPr lang="en-US" altLang="zh-CN" sz="2400" b="1" dirty="0">
                  <a:solidFill>
                    <a:schemeClr val="bg1"/>
                  </a:solidFill>
                  <a:ea typeface="方正粗黑宋简体" panose="02000000000000000000" charset="-122"/>
                  <a:cs typeface="+mn-ea"/>
                  <a:sym typeface="+mn-lt"/>
                </a:rPr>
                <a:t>1.</a:t>
              </a:r>
              <a:r>
                <a:rPr lang="zh-CN" altLang="en-US" sz="2400" b="1" dirty="0">
                  <a:solidFill>
                    <a:schemeClr val="bg1"/>
                  </a:solidFill>
                  <a:ea typeface="方正粗黑宋简体" panose="02000000000000000000" charset="-122"/>
                  <a:cs typeface="+mn-ea"/>
                  <a:sym typeface="+mn-lt"/>
                </a:rPr>
                <a:t> 模型结构轻量化</a:t>
              </a:r>
              <a:endParaRPr lang="en-US" altLang="zh-CN" sz="2400" b="1" dirty="0">
                <a:solidFill>
                  <a:schemeClr val="bg1"/>
                </a:solidFill>
                <a:ea typeface="方正粗黑宋简体" panose="02000000000000000000" charset="-122"/>
                <a:cs typeface="+mn-ea"/>
                <a:sym typeface="+mn-lt"/>
              </a:endParaRPr>
            </a:p>
          </p:txBody>
        </p:sp>
        <p:sp>
          <p:nvSpPr>
            <p:cNvPr id="95" name="文本框 94">
              <a:extLst>
                <a:ext uri="{FF2B5EF4-FFF2-40B4-BE49-F238E27FC236}">
                  <a16:creationId xmlns:a16="http://schemas.microsoft.com/office/drawing/2014/main" id="{89A44A7D-9B6A-66A1-A900-414363440283}"/>
                </a:ext>
              </a:extLst>
            </p:cNvPr>
            <p:cNvSpPr txBox="1"/>
            <p:nvPr/>
          </p:nvSpPr>
          <p:spPr bwMode="auto">
            <a:xfrm>
              <a:off x="4776215" y="3373101"/>
              <a:ext cx="2809200" cy="464316"/>
            </a:xfrm>
            <a:prstGeom prst="rect">
              <a:avLst/>
            </a:prstGeom>
            <a:noFill/>
            <a:ln>
              <a:noFill/>
            </a:ln>
          </p:spPr>
          <p:txBody>
            <a:bodyPr wrap="square" lIns="91440" tIns="45720" rIns="91440" bIns="45720" anchor="ctr"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lnSpc>
                  <a:spcPct val="100000"/>
                </a:lnSpc>
                <a:spcBef>
                  <a:spcPct val="0"/>
                </a:spcBef>
                <a:buFontTx/>
                <a:buNone/>
              </a:pPr>
              <a:r>
                <a:rPr lang="en-US" altLang="zh-CN" sz="2400" b="1" dirty="0">
                  <a:solidFill>
                    <a:schemeClr val="bg1"/>
                  </a:solidFill>
                  <a:ea typeface="方正粗黑宋简体" panose="02000000000000000000" charset="-122"/>
                  <a:cs typeface="+mn-ea"/>
                  <a:sym typeface="+mn-lt"/>
                </a:rPr>
                <a:t>2. </a:t>
              </a:r>
              <a:r>
                <a:rPr lang="zh-CN" altLang="en-US" sz="2400" b="1" dirty="0">
                  <a:solidFill>
                    <a:schemeClr val="bg1"/>
                  </a:solidFill>
                  <a:ea typeface="方正粗黑宋简体" panose="02000000000000000000" charset="-122"/>
                  <a:cs typeface="+mn-ea"/>
                  <a:sym typeface="+mn-lt"/>
                </a:rPr>
                <a:t>模型训练优化</a:t>
              </a:r>
              <a:endParaRPr lang="en-US" altLang="zh-CN" sz="2400" b="1" dirty="0">
                <a:solidFill>
                  <a:schemeClr val="bg1"/>
                </a:solidFill>
                <a:ea typeface="方正粗黑宋简体" panose="02000000000000000000" charset="-122"/>
                <a:cs typeface="+mn-ea"/>
                <a:sym typeface="+mn-lt"/>
              </a:endParaRPr>
            </a:p>
          </p:txBody>
        </p:sp>
        <p:sp>
          <p:nvSpPr>
            <p:cNvPr id="96" name="文本框 95">
              <a:extLst>
                <a:ext uri="{FF2B5EF4-FFF2-40B4-BE49-F238E27FC236}">
                  <a16:creationId xmlns:a16="http://schemas.microsoft.com/office/drawing/2014/main" id="{C08EFC0A-A718-66AF-FE7E-030A4047CF73}"/>
                </a:ext>
              </a:extLst>
            </p:cNvPr>
            <p:cNvSpPr txBox="1"/>
            <p:nvPr/>
          </p:nvSpPr>
          <p:spPr bwMode="auto">
            <a:xfrm>
              <a:off x="8873656" y="3373101"/>
              <a:ext cx="2809200" cy="464316"/>
            </a:xfrm>
            <a:prstGeom prst="rect">
              <a:avLst/>
            </a:prstGeom>
            <a:noFill/>
            <a:ln>
              <a:noFill/>
            </a:ln>
          </p:spPr>
          <p:txBody>
            <a:bodyPr wrap="square" lIns="91440" tIns="45720" rIns="91440" bIns="45720" anchor="ctr"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lnSpc>
                  <a:spcPct val="100000"/>
                </a:lnSpc>
                <a:spcBef>
                  <a:spcPct val="0"/>
                </a:spcBef>
                <a:buFontTx/>
                <a:buNone/>
              </a:pPr>
              <a:r>
                <a:rPr lang="en-US" altLang="zh-CN" sz="2400" b="1" dirty="0">
                  <a:solidFill>
                    <a:schemeClr val="bg1"/>
                  </a:solidFill>
                  <a:ea typeface="方正粗黑宋简体" panose="02000000000000000000" charset="-122"/>
                  <a:cs typeface="+mn-ea"/>
                  <a:sym typeface="+mn-lt"/>
                </a:rPr>
                <a:t>3. C++</a:t>
              </a:r>
              <a:r>
                <a:rPr lang="zh-CN" altLang="en-US" sz="2400" b="1" dirty="0">
                  <a:solidFill>
                    <a:schemeClr val="bg1"/>
                  </a:solidFill>
                  <a:ea typeface="方正粗黑宋简体" panose="02000000000000000000" charset="-122"/>
                  <a:cs typeface="+mn-ea"/>
                  <a:sym typeface="+mn-lt"/>
                </a:rPr>
                <a:t>工程化部署</a:t>
              </a:r>
              <a:endParaRPr lang="en-US" altLang="zh-CN" sz="2400" b="1" dirty="0">
                <a:solidFill>
                  <a:schemeClr val="bg1"/>
                </a:solidFill>
                <a:ea typeface="方正粗黑宋简体" panose="02000000000000000000" charset="-122"/>
                <a:cs typeface="+mn-ea"/>
                <a:sym typeface="+mn-lt"/>
              </a:endParaRPr>
            </a:p>
          </p:txBody>
        </p:sp>
        <p:sp>
          <p:nvSpPr>
            <p:cNvPr id="97" name="矩形 96">
              <a:extLst>
                <a:ext uri="{FF2B5EF4-FFF2-40B4-BE49-F238E27FC236}">
                  <a16:creationId xmlns:a16="http://schemas.microsoft.com/office/drawing/2014/main" id="{5847B111-71A0-A7AA-BA37-08A6BADE2E52}"/>
                </a:ext>
              </a:extLst>
            </p:cNvPr>
            <p:cNvSpPr/>
            <p:nvPr/>
          </p:nvSpPr>
          <p:spPr bwMode="auto">
            <a:xfrm>
              <a:off x="112466" y="4058080"/>
              <a:ext cx="3967461" cy="3066936"/>
            </a:xfrm>
            <a:prstGeom prst="rect">
              <a:avLst/>
            </a:prstGeom>
            <a:noFill/>
            <a:ln>
              <a:noFill/>
            </a:ln>
          </p:spPr>
          <p:txBody>
            <a:bodyPr wrap="square" lIns="91440" tIns="45720" rIns="91440" bIns="4572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marL="285750" indent="-285750">
                <a:lnSpc>
                  <a:spcPct val="15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采用基于</a:t>
              </a:r>
              <a:r>
                <a:rPr lang="en-US" altLang="zh-CN" dirty="0">
                  <a:solidFill>
                    <a:schemeClr val="tx2">
                      <a:lumMod val="50000"/>
                    </a:schemeClr>
                  </a:solidFill>
                  <a:latin typeface="Arial" panose="020B0604020202020204" pitchFamily="34" charset="0"/>
                  <a:ea typeface="方正粗黑宋简体" panose="02000000000000000000" charset="-122"/>
                  <a:cs typeface="Arial" panose="020B0604020202020204" pitchFamily="34" charset="0"/>
                  <a:sym typeface="+mn-lt"/>
                </a:rPr>
                <a:t>Flow-Style-VITON</a:t>
              </a:r>
              <a:r>
                <a:rPr lang="zh-CN" altLang="en-US" dirty="0">
                  <a:solidFill>
                    <a:schemeClr val="tx2">
                      <a:lumMod val="50000"/>
                    </a:schemeClr>
                  </a:solidFill>
                  <a:ea typeface="方正粗黑宋简体" panose="02000000000000000000" charset="-122"/>
                  <a:cs typeface="+mn-ea"/>
                  <a:sym typeface="+mn-lt"/>
                </a:rPr>
                <a:t>改进的知识蒸馏网络结构</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15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采用</a:t>
              </a:r>
              <a:r>
                <a:rPr lang="en-US" altLang="zh-CN" dirty="0">
                  <a:solidFill>
                    <a:schemeClr val="tx2">
                      <a:lumMod val="50000"/>
                    </a:schemeClr>
                  </a:solidFill>
                  <a:latin typeface="Arial" panose="020B0604020202020204" pitchFamily="34" charset="0"/>
                  <a:ea typeface="方正粗黑宋简体" panose="02000000000000000000" charset="-122"/>
                  <a:cs typeface="Arial" panose="020B0604020202020204" pitchFamily="34" charset="0"/>
                  <a:sym typeface="+mn-lt"/>
                </a:rPr>
                <a:t>MobileNetV3-large</a:t>
              </a:r>
              <a:r>
                <a:rPr lang="zh-CN" altLang="en-US" dirty="0">
                  <a:solidFill>
                    <a:schemeClr val="tx2">
                      <a:lumMod val="50000"/>
                    </a:schemeClr>
                  </a:solidFill>
                  <a:ea typeface="方正粗黑宋简体" panose="02000000000000000000" charset="-122"/>
                  <a:cs typeface="+mn-ea"/>
                  <a:sym typeface="+mn-lt"/>
                </a:rPr>
                <a:t>轻量级特征提取模块</a:t>
              </a:r>
            </a:p>
            <a:p>
              <a:pPr marL="285750" indent="-285750">
                <a:lnSpc>
                  <a:spcPct val="15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引入</a:t>
              </a:r>
              <a:r>
                <a:rPr lang="en-US" altLang="zh-CN" dirty="0">
                  <a:solidFill>
                    <a:schemeClr val="tx2">
                      <a:lumMod val="50000"/>
                    </a:schemeClr>
                  </a:solidFill>
                  <a:latin typeface="Arial" panose="020B0604020202020204" pitchFamily="34" charset="0"/>
                  <a:ea typeface="方正粗黑宋简体" panose="02000000000000000000" charset="-122"/>
                  <a:cs typeface="Arial" panose="020B0604020202020204" pitchFamily="34" charset="0"/>
                  <a:sym typeface="+mn-lt"/>
                </a:rPr>
                <a:t>Ghost Module</a:t>
              </a:r>
              <a:r>
                <a:rPr lang="zh-CN" altLang="en-US" dirty="0">
                  <a:solidFill>
                    <a:schemeClr val="tx2">
                      <a:lumMod val="50000"/>
                    </a:schemeClr>
                  </a:solidFill>
                  <a:ea typeface="方正粗黑宋简体" panose="02000000000000000000" charset="-122"/>
                  <a:cs typeface="+mn-ea"/>
                  <a:sym typeface="+mn-lt"/>
                </a:rPr>
                <a:t>替换普通卷积层</a:t>
              </a:r>
              <a:endParaRPr lang="en-US" altLang="zh-CN" dirty="0">
                <a:solidFill>
                  <a:schemeClr val="tx2">
                    <a:lumMod val="50000"/>
                  </a:schemeClr>
                </a:solidFill>
                <a:ea typeface="方正粗黑宋简体" panose="02000000000000000000" charset="-122"/>
                <a:cs typeface="+mn-ea"/>
                <a:sym typeface="+mn-lt"/>
              </a:endParaRPr>
            </a:p>
          </p:txBody>
        </p:sp>
        <p:sp>
          <p:nvSpPr>
            <p:cNvPr id="98" name="矩形 97">
              <a:extLst>
                <a:ext uri="{FF2B5EF4-FFF2-40B4-BE49-F238E27FC236}">
                  <a16:creationId xmlns:a16="http://schemas.microsoft.com/office/drawing/2014/main" id="{16DDF084-0CF1-10AB-65D7-B26FC7D72197}"/>
                </a:ext>
              </a:extLst>
            </p:cNvPr>
            <p:cNvSpPr/>
            <p:nvPr/>
          </p:nvSpPr>
          <p:spPr bwMode="auto">
            <a:xfrm>
              <a:off x="4750144" y="4005112"/>
              <a:ext cx="3275817" cy="1872130"/>
            </a:xfrm>
            <a:prstGeom prst="rect">
              <a:avLst/>
            </a:prstGeom>
            <a:noFill/>
            <a:ln>
              <a:noFill/>
            </a:ln>
          </p:spPr>
          <p:txBody>
            <a:bodyPr wrap="square" lIns="91440" tIns="45720" rIns="91440" bIns="4572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扩充和优化数据集</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设计更优化的损失函数</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调整各损失函数的权重占比</a:t>
              </a:r>
              <a:endParaRPr lang="en-US" altLang="zh-CN" dirty="0">
                <a:solidFill>
                  <a:schemeClr val="tx2">
                    <a:lumMod val="50000"/>
                  </a:schemeClr>
                </a:solidFill>
                <a:ea typeface="方正粗黑宋简体" panose="02000000000000000000" charset="-122"/>
                <a:cs typeface="+mn-ea"/>
                <a:sym typeface="+mn-lt"/>
              </a:endParaRPr>
            </a:p>
          </p:txBody>
        </p:sp>
        <p:sp>
          <p:nvSpPr>
            <p:cNvPr id="99" name="矩形 98">
              <a:extLst>
                <a:ext uri="{FF2B5EF4-FFF2-40B4-BE49-F238E27FC236}">
                  <a16:creationId xmlns:a16="http://schemas.microsoft.com/office/drawing/2014/main" id="{C2959DD6-13D2-51C2-CF9B-E3E919DB95F7}"/>
                </a:ext>
              </a:extLst>
            </p:cNvPr>
            <p:cNvSpPr/>
            <p:nvPr/>
          </p:nvSpPr>
          <p:spPr bwMode="auto">
            <a:xfrm>
              <a:off x="8356613" y="3888488"/>
              <a:ext cx="3791798" cy="3018024"/>
            </a:xfrm>
            <a:prstGeom prst="rect">
              <a:avLst/>
            </a:prstGeom>
            <a:noFill/>
            <a:ln>
              <a:noFill/>
            </a:ln>
          </p:spPr>
          <p:txBody>
            <a:bodyPr wrap="square" lIns="91440" tIns="45720" rIns="91440" bIns="4572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边缘增强预处理</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自定义</a:t>
              </a:r>
              <a:r>
                <a:rPr lang="en-US" altLang="zh-CN" dirty="0">
                  <a:solidFill>
                    <a:schemeClr val="tx2">
                      <a:lumMod val="50000"/>
                    </a:schemeClr>
                  </a:solidFill>
                  <a:ea typeface="方正粗黑宋简体" panose="02000000000000000000" charset="-122"/>
                  <a:cs typeface="+mn-ea"/>
                  <a:sym typeface="+mn-lt"/>
                </a:rPr>
                <a:t>C++</a:t>
              </a:r>
              <a:r>
                <a:rPr lang="zh-CN" altLang="en-US" dirty="0">
                  <a:solidFill>
                    <a:schemeClr val="tx2">
                      <a:lumMod val="50000"/>
                    </a:schemeClr>
                  </a:solidFill>
                  <a:ea typeface="方正粗黑宋简体" panose="02000000000000000000" charset="-122"/>
                  <a:cs typeface="+mn-ea"/>
                  <a:sym typeface="+mn-lt"/>
                </a:rPr>
                <a:t>双线性采样函数</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设计简约的</a:t>
              </a:r>
              <a:r>
                <a:rPr lang="en-US" altLang="zh-CN" dirty="0">
                  <a:solidFill>
                    <a:schemeClr val="tx2">
                      <a:lumMod val="50000"/>
                    </a:schemeClr>
                  </a:solidFill>
                  <a:ea typeface="方正粗黑宋简体" panose="02000000000000000000" charset="-122"/>
                  <a:cs typeface="+mn-ea"/>
                  <a:sym typeface="+mn-lt"/>
                </a:rPr>
                <a:t>UI</a:t>
              </a:r>
              <a:r>
                <a:rPr lang="zh-CN" altLang="en-US" dirty="0">
                  <a:solidFill>
                    <a:schemeClr val="tx2">
                      <a:lumMod val="50000"/>
                    </a:schemeClr>
                  </a:solidFill>
                  <a:ea typeface="方正粗黑宋简体" panose="02000000000000000000" charset="-122"/>
                  <a:cs typeface="+mn-ea"/>
                  <a:sym typeface="+mn-lt"/>
                </a:rPr>
                <a:t>交互界面</a:t>
              </a: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集成为无外部依赖的</a:t>
              </a:r>
              <a:r>
                <a:rPr lang="en-US" altLang="zh-CN" b="1" dirty="0">
                  <a:solidFill>
                    <a:schemeClr val="tx2">
                      <a:lumMod val="50000"/>
                    </a:schemeClr>
                  </a:solidFill>
                  <a:ea typeface="方正粗黑宋简体" panose="02000000000000000000" charset="-122"/>
                  <a:cs typeface="+mn-ea"/>
                  <a:sym typeface="+mn-lt"/>
                </a:rPr>
                <a:t>C++</a:t>
              </a:r>
              <a:r>
                <a:rPr lang="zh-CN" altLang="en-US" dirty="0">
                  <a:solidFill>
                    <a:schemeClr val="tx2">
                      <a:lumMod val="50000"/>
                    </a:schemeClr>
                  </a:solidFill>
                  <a:ea typeface="方正粗黑宋简体" panose="02000000000000000000" charset="-122"/>
                  <a:cs typeface="+mn-ea"/>
                  <a:sym typeface="+mn-lt"/>
                </a:rPr>
                <a:t>例程</a:t>
              </a:r>
            </a:p>
          </p:txBody>
        </p:sp>
      </p:grpSp>
      <p:grpSp>
        <p:nvGrpSpPr>
          <p:cNvPr id="15" name="组合 14">
            <a:extLst>
              <a:ext uri="{FF2B5EF4-FFF2-40B4-BE49-F238E27FC236}">
                <a16:creationId xmlns:a16="http://schemas.microsoft.com/office/drawing/2014/main" id="{2856338B-1E7F-DF6B-6644-A0F161E44722}"/>
              </a:ext>
            </a:extLst>
          </p:cNvPr>
          <p:cNvGrpSpPr/>
          <p:nvPr/>
        </p:nvGrpSpPr>
        <p:grpSpPr>
          <a:xfrm>
            <a:off x="4415946" y="1300537"/>
            <a:ext cx="2274557" cy="2128463"/>
            <a:chOff x="7836676" y="2238462"/>
            <a:chExt cx="3920852" cy="1225606"/>
          </a:xfrm>
        </p:grpSpPr>
        <p:sp>
          <p:nvSpPr>
            <p:cNvPr id="16" name="矩形 15">
              <a:extLst>
                <a:ext uri="{FF2B5EF4-FFF2-40B4-BE49-F238E27FC236}">
                  <a16:creationId xmlns:a16="http://schemas.microsoft.com/office/drawing/2014/main" id="{8575C843-6551-B009-1C6D-4DC46FDC6E63}"/>
                </a:ext>
              </a:extLst>
            </p:cNvPr>
            <p:cNvSpPr/>
            <p:nvPr/>
          </p:nvSpPr>
          <p:spPr>
            <a:xfrm>
              <a:off x="7836676" y="2238462"/>
              <a:ext cx="3920852" cy="1161478"/>
            </a:xfrm>
            <a:prstGeom prst="rect">
              <a:avLst/>
            </a:prstGeom>
            <a:noFill/>
            <a:ln w="19050">
              <a:solidFill>
                <a:schemeClr val="tx2">
                  <a:lumMod val="40000"/>
                  <a:lumOff val="6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9" tIns="45709" rIns="91419" bIns="45709"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2060"/>
                </a:solidFill>
                <a:effectLst/>
                <a:uLnTx/>
                <a:uFillTx/>
                <a:latin typeface="等线" panose="02010600030101010101" charset="-122"/>
                <a:ea typeface="等线" panose="02010600030101010101" charset="-122"/>
                <a:cs typeface="+mn-cs"/>
              </a:endParaRPr>
            </a:p>
          </p:txBody>
        </p:sp>
        <p:sp>
          <p:nvSpPr>
            <p:cNvPr id="17" name="文本框 16">
              <a:extLst>
                <a:ext uri="{FF2B5EF4-FFF2-40B4-BE49-F238E27FC236}">
                  <a16:creationId xmlns:a16="http://schemas.microsoft.com/office/drawing/2014/main" id="{C7027DC4-9ED8-EDE4-0429-0763F3D65669}"/>
                </a:ext>
              </a:extLst>
            </p:cNvPr>
            <p:cNvSpPr txBox="1"/>
            <p:nvPr/>
          </p:nvSpPr>
          <p:spPr>
            <a:xfrm>
              <a:off x="8109461" y="2753874"/>
              <a:ext cx="3481604" cy="710194"/>
            </a:xfrm>
            <a:prstGeom prst="rect">
              <a:avLst/>
            </a:prstGeom>
            <a:noFill/>
          </p:spPr>
          <p:txBody>
            <a:bodyPr wrap="square" rtlCol="0">
              <a:spAutoFit/>
            </a:bodyPr>
            <a:lstStyle/>
            <a:p>
              <a:pPr marL="0" marR="0" lvl="0" indent="0" algn="ctr" defTabSz="914400" rtl="0" eaLnBrk="1" fontAlgn="auto" latinLnBrk="0" hangingPunct="1">
                <a:lnSpc>
                  <a:spcPts val="25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实现对人物图像特征和服装图像特征</a:t>
              </a:r>
              <a:endParaRPr kumimoji="0" lang="en-US" altLang="zh-CN"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endParaRPr>
            </a:p>
            <a:p>
              <a:pPr marL="0" marR="0" lvl="0" indent="0" algn="ctr" defTabSz="914400" rtl="0" eaLnBrk="1" fontAlgn="auto" latinLnBrk="0" hangingPunct="1">
                <a:lnSpc>
                  <a:spcPts val="25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映射的提取</a:t>
              </a:r>
            </a:p>
          </p:txBody>
        </p:sp>
        <p:sp>
          <p:nvSpPr>
            <p:cNvPr id="18" name="文本框 17">
              <a:extLst>
                <a:ext uri="{FF2B5EF4-FFF2-40B4-BE49-F238E27FC236}">
                  <a16:creationId xmlns:a16="http://schemas.microsoft.com/office/drawing/2014/main" id="{6DA40839-8D35-32B6-7DAF-E405ECA84166}"/>
                </a:ext>
              </a:extLst>
            </p:cNvPr>
            <p:cNvSpPr txBox="1"/>
            <p:nvPr/>
          </p:nvSpPr>
          <p:spPr>
            <a:xfrm>
              <a:off x="7910558" y="2332387"/>
              <a:ext cx="3846970" cy="36924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800" b="1" i="0" u="none" strike="noStrike" kern="1200" cap="none" spc="0" normalizeH="0" baseline="0" noProof="0" dirty="0">
                  <a:ln>
                    <a:noFill/>
                  </a:ln>
                  <a:solidFill>
                    <a:srgbClr val="002060"/>
                  </a:solidFill>
                  <a:effectLst/>
                  <a:uLnTx/>
                  <a:uFillTx/>
                  <a:latin typeface="Arial" panose="020B0604020202020204" pitchFamily="34" charset="0"/>
                  <a:ea typeface="方正粗黑宋简体" panose="02000000000000000000" charset="-122"/>
                  <a:cs typeface="Arial" panose="020B0604020202020204" pitchFamily="34" charset="0"/>
                </a:rPr>
                <a:t>MobileNetV3-Large</a:t>
              </a:r>
              <a:r>
                <a:rPr kumimoji="0" lang="zh-CN" altLang="en-US" sz="1800" b="1"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特征提取模块</a:t>
              </a:r>
            </a:p>
          </p:txBody>
        </p:sp>
      </p:grpSp>
      <p:grpSp>
        <p:nvGrpSpPr>
          <p:cNvPr id="19" name="组合 18">
            <a:extLst>
              <a:ext uri="{FF2B5EF4-FFF2-40B4-BE49-F238E27FC236}">
                <a16:creationId xmlns:a16="http://schemas.microsoft.com/office/drawing/2014/main" id="{FA6F8D46-6D86-0D9E-43F9-9094159AEFA5}"/>
              </a:ext>
            </a:extLst>
          </p:cNvPr>
          <p:cNvGrpSpPr/>
          <p:nvPr/>
        </p:nvGrpSpPr>
        <p:grpSpPr>
          <a:xfrm>
            <a:off x="10481056" y="1300537"/>
            <a:ext cx="1632862" cy="2012096"/>
            <a:chOff x="7844043" y="5156287"/>
            <a:chExt cx="3920853" cy="1162800"/>
          </a:xfrm>
        </p:grpSpPr>
        <p:sp>
          <p:nvSpPr>
            <p:cNvPr id="20" name="矩形 19">
              <a:extLst>
                <a:ext uri="{FF2B5EF4-FFF2-40B4-BE49-F238E27FC236}">
                  <a16:creationId xmlns:a16="http://schemas.microsoft.com/office/drawing/2014/main" id="{C81A2DA6-BF59-437D-E632-DBCCED623F89}"/>
                </a:ext>
              </a:extLst>
            </p:cNvPr>
            <p:cNvSpPr/>
            <p:nvPr/>
          </p:nvSpPr>
          <p:spPr>
            <a:xfrm>
              <a:off x="7844043" y="5156287"/>
              <a:ext cx="3920852" cy="1162800"/>
            </a:xfrm>
            <a:prstGeom prst="rect">
              <a:avLst/>
            </a:prstGeom>
            <a:noFill/>
            <a:ln w="19050">
              <a:solidFill>
                <a:schemeClr val="tx2">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9" tIns="45709" rIns="91419" bIns="45709"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2060"/>
                </a:solidFill>
                <a:effectLst/>
                <a:uLnTx/>
                <a:uFillTx/>
                <a:latin typeface="等线" panose="02010600030101010101" charset="-122"/>
                <a:ea typeface="等线" panose="02010600030101010101" charset="-122"/>
                <a:cs typeface="+mn-cs"/>
              </a:endParaRPr>
            </a:p>
          </p:txBody>
        </p:sp>
        <p:sp>
          <p:nvSpPr>
            <p:cNvPr id="21" name="文本框 20">
              <a:extLst>
                <a:ext uri="{FF2B5EF4-FFF2-40B4-BE49-F238E27FC236}">
                  <a16:creationId xmlns:a16="http://schemas.microsoft.com/office/drawing/2014/main" id="{0479D251-417A-7940-4EF0-03900B7E98D5}"/>
                </a:ext>
              </a:extLst>
            </p:cNvPr>
            <p:cNvSpPr txBox="1"/>
            <p:nvPr/>
          </p:nvSpPr>
          <p:spPr>
            <a:xfrm>
              <a:off x="8276219" y="5263359"/>
              <a:ext cx="3056500" cy="37351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试穿图像生成模块</a:t>
              </a:r>
            </a:p>
          </p:txBody>
        </p:sp>
        <p:sp>
          <p:nvSpPr>
            <p:cNvPr id="22" name="文本框 21">
              <a:extLst>
                <a:ext uri="{FF2B5EF4-FFF2-40B4-BE49-F238E27FC236}">
                  <a16:creationId xmlns:a16="http://schemas.microsoft.com/office/drawing/2014/main" id="{C0BC2E38-3CA6-35DD-88E8-3CCC7F4BCD7D}"/>
                </a:ext>
              </a:extLst>
            </p:cNvPr>
            <p:cNvSpPr txBox="1"/>
            <p:nvPr/>
          </p:nvSpPr>
          <p:spPr>
            <a:xfrm>
              <a:off x="7917927" y="5666391"/>
              <a:ext cx="3846969" cy="418094"/>
            </a:xfrm>
            <a:prstGeom prst="rect">
              <a:avLst/>
            </a:prstGeom>
            <a:noFill/>
          </p:spPr>
          <p:txBody>
            <a:bodyPr wrap="square" rtlCol="0">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实现目标试衣图像的合成</a:t>
              </a:r>
            </a:p>
          </p:txBody>
        </p:sp>
      </p:grpSp>
      <p:grpSp>
        <p:nvGrpSpPr>
          <p:cNvPr id="23" name="组合 22">
            <a:extLst>
              <a:ext uri="{FF2B5EF4-FFF2-40B4-BE49-F238E27FC236}">
                <a16:creationId xmlns:a16="http://schemas.microsoft.com/office/drawing/2014/main" id="{E7530BF1-EF33-2080-7BA5-EBBD0CB35EFC}"/>
              </a:ext>
            </a:extLst>
          </p:cNvPr>
          <p:cNvGrpSpPr/>
          <p:nvPr/>
        </p:nvGrpSpPr>
        <p:grpSpPr>
          <a:xfrm>
            <a:off x="6760684" y="1300537"/>
            <a:ext cx="3691957" cy="2012095"/>
            <a:chOff x="7836673" y="3684109"/>
            <a:chExt cx="3988883" cy="1162800"/>
          </a:xfrm>
        </p:grpSpPr>
        <p:sp>
          <p:nvSpPr>
            <p:cNvPr id="24" name="矩形 23">
              <a:extLst>
                <a:ext uri="{FF2B5EF4-FFF2-40B4-BE49-F238E27FC236}">
                  <a16:creationId xmlns:a16="http://schemas.microsoft.com/office/drawing/2014/main" id="{59AB5C03-7E45-1281-E676-ECAC9AEBA26A}"/>
                </a:ext>
              </a:extLst>
            </p:cNvPr>
            <p:cNvSpPr/>
            <p:nvPr/>
          </p:nvSpPr>
          <p:spPr>
            <a:xfrm>
              <a:off x="7836673" y="3684109"/>
              <a:ext cx="3935593" cy="1162800"/>
            </a:xfrm>
            <a:prstGeom prst="rect">
              <a:avLst/>
            </a:prstGeom>
            <a:noFill/>
            <a:ln w="19050">
              <a:solidFill>
                <a:schemeClr val="tx2">
                  <a:lumMod val="60000"/>
                  <a:lumOff val="4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9" tIns="45709" rIns="91419" bIns="45709"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2060"/>
                </a:solidFill>
                <a:effectLst/>
                <a:uLnTx/>
                <a:uFillTx/>
                <a:latin typeface="等线" panose="02010600030101010101" charset="-122"/>
                <a:ea typeface="等线" panose="02010600030101010101" charset="-122"/>
                <a:cs typeface="+mn-cs"/>
              </a:endParaRPr>
            </a:p>
          </p:txBody>
        </p:sp>
        <p:sp>
          <p:nvSpPr>
            <p:cNvPr id="25" name="文本框 24">
              <a:extLst>
                <a:ext uri="{FF2B5EF4-FFF2-40B4-BE49-F238E27FC236}">
                  <a16:creationId xmlns:a16="http://schemas.microsoft.com/office/drawing/2014/main" id="{65A8ADA9-15C2-897F-6427-669FDDAF3EA4}"/>
                </a:ext>
              </a:extLst>
            </p:cNvPr>
            <p:cNvSpPr txBox="1"/>
            <p:nvPr/>
          </p:nvSpPr>
          <p:spPr>
            <a:xfrm>
              <a:off x="7911254" y="4217189"/>
              <a:ext cx="3840668" cy="403815"/>
            </a:xfrm>
            <a:prstGeom prst="rect">
              <a:avLst/>
            </a:prstGeom>
            <a:noFill/>
          </p:spPr>
          <p:txBody>
            <a:bodyPr wrap="square" rtlCol="0">
              <a:spAutoFit/>
            </a:bodyPr>
            <a:lstStyle/>
            <a:p>
              <a:pPr marL="0" marR="0" lvl="0" indent="0" algn="ctr" defTabSz="914400" rtl="0" eaLnBrk="1" fontAlgn="auto" latinLnBrk="0" hangingPunct="1">
                <a:lnSpc>
                  <a:spcPts val="25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实现服装图到目标图的外观流预测</a:t>
              </a:r>
              <a:endParaRPr kumimoji="0" lang="en-US" altLang="zh-CN"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endParaRPr>
            </a:p>
            <a:p>
              <a:pPr marL="0" marR="0" lvl="0" indent="0" algn="ctr" defTabSz="914400" rtl="0" eaLnBrk="1" fontAlgn="auto" latinLnBrk="0" hangingPunct="1">
                <a:lnSpc>
                  <a:spcPts val="25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以及服装图像的翘曲变形</a:t>
              </a:r>
            </a:p>
          </p:txBody>
        </p:sp>
        <p:sp>
          <p:nvSpPr>
            <p:cNvPr id="26" name="文本框 25">
              <a:extLst>
                <a:ext uri="{FF2B5EF4-FFF2-40B4-BE49-F238E27FC236}">
                  <a16:creationId xmlns:a16="http://schemas.microsoft.com/office/drawing/2014/main" id="{7FE8491F-5188-3B74-F76B-40EF945F4A73}"/>
                </a:ext>
              </a:extLst>
            </p:cNvPr>
            <p:cNvSpPr txBox="1"/>
            <p:nvPr/>
          </p:nvSpPr>
          <p:spPr>
            <a:xfrm>
              <a:off x="7875221" y="3817727"/>
              <a:ext cx="3950335" cy="36830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基于风格的全局外观流翘曲模块</a:t>
              </a:r>
            </a:p>
          </p:txBody>
        </p:sp>
      </p:grpSp>
      <p:sp>
        <p:nvSpPr>
          <p:cNvPr id="28" name="文本框 27">
            <a:extLst>
              <a:ext uri="{FF2B5EF4-FFF2-40B4-BE49-F238E27FC236}">
                <a16:creationId xmlns:a16="http://schemas.microsoft.com/office/drawing/2014/main" id="{C46AEBBA-9BEB-BE65-E0B3-1E4C20BEF435}"/>
              </a:ext>
            </a:extLst>
          </p:cNvPr>
          <p:cNvSpPr txBox="1"/>
          <p:nvPr/>
        </p:nvSpPr>
        <p:spPr>
          <a:xfrm>
            <a:off x="4337623" y="641091"/>
            <a:ext cx="7884762" cy="923330"/>
          </a:xfrm>
          <a:prstGeom prst="rect">
            <a:avLst/>
          </a:prstGeom>
          <a:noFill/>
        </p:spPr>
        <p:txBody>
          <a:bodyPr wrap="square">
            <a:spAutoFit/>
          </a:bodyPr>
          <a:lstStyle/>
          <a:p>
            <a:pPr>
              <a:buSzPct val="80000"/>
              <a:defRPr/>
            </a:pPr>
            <a:r>
              <a:rPr kumimoji="0" lang="zh-CN" altLang="en-US" sz="1800" b="1" i="0" u="none" strike="noStrike" kern="1200" cap="none" spc="0" normalizeH="0" baseline="0" noProof="0" dirty="0">
                <a:ln>
                  <a:noFill/>
                </a:ln>
                <a:solidFill>
                  <a:srgbClr val="002060"/>
                </a:solidFill>
                <a:effectLst/>
                <a:uLnTx/>
                <a:uFillTx/>
                <a:latin typeface="等线" panose="02010600030101010101" charset="-122"/>
                <a:ea typeface="方正粗黑宋简体" panose="02000000000000000000" charset="-122"/>
                <a:cs typeface="+mn-ea"/>
              </a:rPr>
              <a:t>知识蒸馏</a:t>
            </a:r>
            <a:r>
              <a:rPr kumimoji="0" lang="zh-CN" altLang="en-US" sz="1800" b="1" i="0" u="none" strike="noStrike" kern="1200" cap="none" spc="0" normalizeH="0" baseline="0" noProof="0">
                <a:ln>
                  <a:noFill/>
                </a:ln>
                <a:solidFill>
                  <a:srgbClr val="002060"/>
                </a:solidFill>
                <a:effectLst/>
                <a:uLnTx/>
                <a:uFillTx/>
                <a:latin typeface="等线" panose="02010600030101010101" charset="-122"/>
                <a:ea typeface="方正粗黑宋简体" panose="02000000000000000000" charset="-122"/>
                <a:cs typeface="+mn-ea"/>
              </a:rPr>
              <a:t>网络：</a:t>
            </a:r>
            <a:r>
              <a:rPr lang="zh-CN" altLang="en-US">
                <a:solidFill>
                  <a:srgbClr val="002060"/>
                </a:solidFill>
                <a:latin typeface="微软雅黑" panose="020B0503020204020204" pitchFamily="34" charset="-122"/>
                <a:ea typeface="方正粗黑宋简体" panose="02000000000000000000" charset="-122"/>
              </a:rPr>
              <a:t>利用基于人体解析的 </a:t>
            </a:r>
            <a:r>
              <a:rPr lang="en-US" altLang="zh-CN">
                <a:solidFill>
                  <a:srgbClr val="002060"/>
                </a:solidFill>
                <a:latin typeface="微软雅黑" panose="020B0503020204020204" pitchFamily="34" charset="-122"/>
                <a:ea typeface="方正粗黑宋简体" panose="02000000000000000000" charset="-122"/>
              </a:rPr>
              <a:t>Teacher </a:t>
            </a:r>
            <a:r>
              <a:rPr lang="zh-CN" altLang="en-US">
                <a:solidFill>
                  <a:srgbClr val="002060"/>
                </a:solidFill>
                <a:latin typeface="微软雅黑" panose="020B0503020204020204" pitchFamily="34" charset="-122"/>
                <a:ea typeface="方正粗黑宋简体" panose="02000000000000000000" charset="-122"/>
              </a:rPr>
              <a:t>模型生成高质量试衣监督信息，通过生成结果和外观流约束指导无解析 </a:t>
            </a:r>
            <a:r>
              <a:rPr lang="en-US" altLang="zh-CN">
                <a:solidFill>
                  <a:srgbClr val="002060"/>
                </a:solidFill>
                <a:latin typeface="微软雅黑" panose="020B0503020204020204" pitchFamily="34" charset="-122"/>
                <a:ea typeface="方正粗黑宋简体" panose="02000000000000000000" charset="-122"/>
              </a:rPr>
              <a:t>Student </a:t>
            </a:r>
            <a:r>
              <a:rPr lang="zh-CN" altLang="en-US">
                <a:solidFill>
                  <a:srgbClr val="002060"/>
                </a:solidFill>
                <a:latin typeface="微软雅黑" panose="020B0503020204020204" pitchFamily="34" charset="-122"/>
                <a:ea typeface="方正粗黑宋简体" panose="02000000000000000000" charset="-122"/>
              </a:rPr>
              <a:t>模型学习服装对齐能力</a:t>
            </a:r>
            <a:endParaRPr lang="zh-CN" altLang="en-US" dirty="0">
              <a:solidFill>
                <a:srgbClr val="002060"/>
              </a:solidFill>
              <a:latin typeface="微软雅黑" panose="020B0503020204020204" pitchFamily="34" charset="-122"/>
              <a:ea typeface="方正粗黑宋简体" panose="02000000000000000000" charset="-122"/>
            </a:endParaRPr>
          </a:p>
          <a:p>
            <a:pPr marL="0" marR="0" lvl="0" indent="0" algn="l" defTabSz="914400" rtl="0" eaLnBrk="1" fontAlgn="auto" latinLnBrk="0" hangingPunct="1">
              <a:lnSpc>
                <a:spcPct val="100000"/>
              </a:lnSpc>
              <a:spcBef>
                <a:spcPts val="0"/>
              </a:spcBef>
              <a:spcAft>
                <a:spcPts val="0"/>
              </a:spcAft>
              <a:buClrTx/>
              <a:buSzPct val="80000"/>
              <a:buFontTx/>
              <a:buNone/>
              <a:defRPr/>
            </a:pPr>
            <a:endParaRPr kumimoji="0" lang="zh-CN" altLang="en-US" sz="1800" b="1" i="0" u="none" strike="noStrike" kern="1200" cap="none" spc="0" normalizeH="0" baseline="0" noProof="0" dirty="0">
              <a:ln>
                <a:noFill/>
              </a:ln>
              <a:solidFill>
                <a:srgbClr val="002060"/>
              </a:solidFill>
              <a:effectLst/>
              <a:uLnTx/>
              <a:uFillTx/>
              <a:latin typeface="等线" panose="02010600030101010101" charset="-122"/>
              <a:ea typeface="方正粗黑宋简体" panose="02000000000000000000" charset="-122"/>
              <a:cs typeface="+mn-ea"/>
            </a:endParaRPr>
          </a:p>
        </p:txBody>
      </p:sp>
      <p:pic>
        <p:nvPicPr>
          <p:cNvPr id="6" name="图片 5">
            <a:extLst>
              <a:ext uri="{FF2B5EF4-FFF2-40B4-BE49-F238E27FC236}">
                <a16:creationId xmlns:a16="http://schemas.microsoft.com/office/drawing/2014/main" id="{0768E4EA-B159-93AE-B5B9-3036F59B9AD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208593" y="905736"/>
            <a:ext cx="4070230" cy="2398344"/>
          </a:xfrm>
          <a:prstGeom prst="rect">
            <a:avLst/>
          </a:prstGeom>
          <a:noFill/>
          <a:ln>
            <a:noFill/>
          </a:ln>
        </p:spPr>
      </p:pic>
    </p:spTree>
    <p:extLst>
      <p:ext uri="{BB962C8B-B14F-4D97-AF65-F5344CB8AC3E}">
        <p14:creationId xmlns:p14="http://schemas.microsoft.com/office/powerpoint/2010/main" val="4022640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62B6538A-33AE-45EB-868C-14B9E34ED961}" type="slidenum">
              <a:rPr lang="zh-CN" altLang="en-US" smtClean="0"/>
              <a:t>13</a:t>
            </a:fld>
            <a:endParaRPr lang="zh-CN" altLang="en-US"/>
          </a:p>
        </p:txBody>
      </p:sp>
      <p:sp>
        <p:nvSpPr>
          <p:cNvPr id="3" name="PA_矩形 7"/>
          <p:cNvSpPr/>
          <p:nvPr>
            <p:custDataLst>
              <p:tags r:id="rId1"/>
            </p:custDataLst>
          </p:nvPr>
        </p:nvSpPr>
        <p:spPr>
          <a:xfrm>
            <a:off x="0" y="3747752"/>
            <a:ext cx="12192000" cy="3110248"/>
          </a:xfrm>
          <a:prstGeom prst="rect">
            <a:avLst/>
          </a:prstGeom>
          <a:solidFill>
            <a:schemeClr val="accent5">
              <a:lumMod val="75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Box 8"/>
          <p:cNvSpPr txBox="1"/>
          <p:nvPr/>
        </p:nvSpPr>
        <p:spPr>
          <a:xfrm>
            <a:off x="2380605" y="1924825"/>
            <a:ext cx="7357766" cy="830997"/>
          </a:xfrm>
          <a:prstGeom prst="rect">
            <a:avLst/>
          </a:prstGeom>
          <a:noFill/>
        </p:spPr>
        <p:txBody>
          <a:bodyPr wrap="square" lIns="0" tIns="0" rIns="0" bIns="0" rtlCol="0" anchor="ctr">
            <a:spAutoFit/>
          </a:bodyPr>
          <a:lstStyle/>
          <a:p>
            <a:pPr algn="ctr"/>
            <a:r>
              <a:rPr lang="zh-CN" altLang="en-US" sz="5400" b="1" dirty="0">
                <a:solidFill>
                  <a:schemeClr val="tx1">
                    <a:lumMod val="75000"/>
                    <a:lumOff val="25000"/>
                  </a:schemeClr>
                </a:solidFill>
                <a:latin typeface="Arial" panose="020B0604020202020204" pitchFamily="34" charset="0"/>
                <a:ea typeface="微软雅黑" panose="020B0503020204020204" pitchFamily="34" charset="-122"/>
                <a:sym typeface="Arial" panose="020B0604020202020204" pitchFamily="34" charset="0"/>
              </a:rPr>
              <a:t>心之所向，行之所至</a:t>
            </a:r>
          </a:p>
        </p:txBody>
      </p:sp>
      <p:sp>
        <p:nvSpPr>
          <p:cNvPr id="6" name="TextBox 8"/>
          <p:cNvSpPr txBox="1"/>
          <p:nvPr/>
        </p:nvSpPr>
        <p:spPr>
          <a:xfrm>
            <a:off x="2380605" y="3747752"/>
            <a:ext cx="7277974" cy="1820370"/>
          </a:xfrm>
          <a:prstGeom prst="rect">
            <a:avLst/>
          </a:prstGeom>
          <a:noFill/>
        </p:spPr>
        <p:txBody>
          <a:bodyPr wrap="square" lIns="0" tIns="0" rIns="0" bIns="0" rtlCol="0" anchor="ctr">
            <a:spAutoFit/>
          </a:bodyPr>
          <a:lstStyle/>
          <a:p>
            <a:pPr algn="ctr">
              <a:lnSpc>
                <a:spcPct val="200000"/>
              </a:lnSpc>
            </a:pPr>
            <a:r>
              <a:rPr lang="zh-CN" altLang="en-US" sz="3200">
                <a:solidFill>
                  <a:schemeClr val="bg1"/>
                </a:solidFill>
                <a:latin typeface="Arial" panose="020B0604020202020204" pitchFamily="34" charset="0"/>
                <a:ea typeface="微软雅黑" panose="020B0503020204020204" pitchFamily="34" charset="-122"/>
                <a:sym typeface="Arial" panose="020B0604020202020204" pitchFamily="34" charset="0"/>
              </a:rPr>
              <a:t>余志椋</a:t>
            </a:r>
            <a:endParaRPr lang="zh-CN" sz="320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lnSpc>
                <a:spcPct val="200000"/>
              </a:lnSpc>
            </a:pPr>
            <a:r>
              <a:rPr lang="zh-CN" altLang="en-US" sz="3200">
                <a:solidFill>
                  <a:schemeClr val="bg1"/>
                </a:solidFill>
                <a:latin typeface="Arial" panose="020B0604020202020204" pitchFamily="34" charset="0"/>
                <a:ea typeface="微软雅黑" panose="020B0503020204020204" pitchFamily="34" charset="-122"/>
                <a:sym typeface="Arial" panose="020B0604020202020204" pitchFamily="34" charset="0"/>
              </a:rPr>
              <a:t>敬请面试官批评指正</a:t>
            </a:r>
            <a:endParaRPr lang="en-US" altLang="zh-CN" sz="3200"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p:txBody>
      </p:sp>
      <p:pic>
        <p:nvPicPr>
          <p:cNvPr id="5" name="图片 4">
            <a:extLst>
              <a:ext uri="{FF2B5EF4-FFF2-40B4-BE49-F238E27FC236}">
                <a16:creationId xmlns:a16="http://schemas.microsoft.com/office/drawing/2014/main" id="{D2E742B9-75AC-063A-2C26-9BB045BD49F0}"/>
              </a:ext>
            </a:extLst>
          </p:cNvPr>
          <p:cNvPicPr>
            <a:picLocks noChangeAspect="1"/>
          </p:cNvPicPr>
          <p:nvPr/>
        </p:nvPicPr>
        <p:blipFill>
          <a:blip r:embed="rId4"/>
          <a:stretch>
            <a:fillRect/>
          </a:stretch>
        </p:blipFill>
        <p:spPr>
          <a:xfrm>
            <a:off x="97277" y="455500"/>
            <a:ext cx="2453629" cy="2938649"/>
          </a:xfrm>
          <a:prstGeom prst="rect">
            <a:avLst/>
          </a:prstGeom>
        </p:spPr>
      </p:pic>
    </p:spTree>
  </p:cSld>
  <p:clrMapOvr>
    <a:masterClrMapping/>
  </p:clrMapOvr>
  <p:transition spd="slow" advTm="7773">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7F45598-78FB-BF54-C046-5DABAD2B2929}"/>
              </a:ext>
            </a:extLst>
          </p:cNvPr>
          <p:cNvSpPr>
            <a:spLocks noGrp="1"/>
          </p:cNvSpPr>
          <p:nvPr>
            <p:ph type="sldNum" sz="quarter" idx="12"/>
          </p:nvPr>
        </p:nvSpPr>
        <p:spPr/>
        <p:txBody>
          <a:bodyPr/>
          <a:lstStyle/>
          <a:p>
            <a:fld id="{62B6538A-33AE-45EB-868C-14B9E34ED961}" type="slidenum">
              <a:rPr lang="zh-CN" altLang="en-US" smtClean="0"/>
              <a:t>14</a:t>
            </a:fld>
            <a:endParaRPr lang="zh-CN" altLang="en-US"/>
          </a:p>
        </p:txBody>
      </p:sp>
      <p:sp>
        <p:nvSpPr>
          <p:cNvPr id="96" name="Shape 58">
            <a:extLst>
              <a:ext uri="{FF2B5EF4-FFF2-40B4-BE49-F238E27FC236}">
                <a16:creationId xmlns:a16="http://schemas.microsoft.com/office/drawing/2014/main" id="{0E935DFC-5506-EE7F-F2B7-AF11072E706A}"/>
              </a:ext>
            </a:extLst>
          </p:cNvPr>
          <p:cNvSpPr/>
          <p:nvPr/>
        </p:nvSpPr>
        <p:spPr>
          <a:xfrm>
            <a:off x="9233218" y="1123763"/>
            <a:ext cx="2613532" cy="4912225"/>
          </a:xfrm>
          <a:prstGeom prst="roundRect">
            <a:avLst>
              <a:gd name="adj" fmla="val 4459"/>
            </a:avLst>
          </a:prstGeom>
          <a:solidFill>
            <a:srgbClr val="FFFFFF"/>
          </a:solidFill>
          <a:ln w="9525">
            <a:solidFill>
              <a:srgbClr val="DCE5F1"/>
            </a:solidFill>
            <a:prstDash val="solid"/>
          </a:ln>
        </p:spPr>
        <p:txBody>
          <a:bodyPr/>
          <a:lstStyle/>
          <a:p>
            <a:endParaRPr lang="zh-CN" altLang="en-US"/>
          </a:p>
        </p:txBody>
      </p:sp>
      <p:sp>
        <p:nvSpPr>
          <p:cNvPr id="97" name="Shape 59">
            <a:extLst>
              <a:ext uri="{FF2B5EF4-FFF2-40B4-BE49-F238E27FC236}">
                <a16:creationId xmlns:a16="http://schemas.microsoft.com/office/drawing/2014/main" id="{94CC0627-01FB-3D4A-8A1F-E76B21A13A85}"/>
              </a:ext>
            </a:extLst>
          </p:cNvPr>
          <p:cNvSpPr/>
          <p:nvPr/>
        </p:nvSpPr>
        <p:spPr>
          <a:xfrm>
            <a:off x="9296400" y="1247244"/>
            <a:ext cx="1290456" cy="383379"/>
          </a:xfrm>
          <a:prstGeom prst="roundRect">
            <a:avLst>
              <a:gd name="adj" fmla="val 48387"/>
            </a:avLst>
          </a:prstGeom>
          <a:solidFill>
            <a:srgbClr val="F2EDFF"/>
          </a:solidFill>
          <a:ln w="12700">
            <a:solidFill>
              <a:srgbClr val="F2EDFF">
                <a:alpha val="0"/>
              </a:srgbClr>
            </a:solidFill>
            <a:prstDash val="solid"/>
          </a:ln>
        </p:spPr>
        <p:txBody>
          <a:bodyPr/>
          <a:lstStyle/>
          <a:p>
            <a:endParaRPr lang="zh-CN" altLang="en-US"/>
          </a:p>
        </p:txBody>
      </p:sp>
      <p:sp>
        <p:nvSpPr>
          <p:cNvPr id="98" name="Text 60">
            <a:extLst>
              <a:ext uri="{FF2B5EF4-FFF2-40B4-BE49-F238E27FC236}">
                <a16:creationId xmlns:a16="http://schemas.microsoft.com/office/drawing/2014/main" id="{CC9E8901-85DC-6D74-C08C-2739CBB7091E}"/>
              </a:ext>
            </a:extLst>
          </p:cNvPr>
          <p:cNvSpPr/>
          <p:nvPr/>
        </p:nvSpPr>
        <p:spPr>
          <a:xfrm>
            <a:off x="9296400" y="1316164"/>
            <a:ext cx="1227274" cy="209477"/>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7453C5"/>
                </a:solidFill>
                <a:latin typeface="微软雅黑" panose="020B0503020204020204" pitchFamily="34" charset="-122"/>
                <a:ea typeface="微软雅黑" panose="020B0503020204020204" pitchFamily="34" charset="-122"/>
                <a:cs typeface="微软雅黑" panose="020B0503020204020204" pitchFamily="34" charset="-120"/>
              </a:rPr>
              <a:t>知识资产</a:t>
            </a:r>
            <a:endParaRPr lang="en-US" sz="2000" dirty="0"/>
          </a:p>
        </p:txBody>
      </p:sp>
      <p:sp>
        <p:nvSpPr>
          <p:cNvPr id="99" name="Text 61">
            <a:extLst>
              <a:ext uri="{FF2B5EF4-FFF2-40B4-BE49-F238E27FC236}">
                <a16:creationId xmlns:a16="http://schemas.microsoft.com/office/drawing/2014/main" id="{09C3CE89-DFEE-5689-53AC-F71E44C723C3}"/>
              </a:ext>
            </a:extLst>
          </p:cNvPr>
          <p:cNvSpPr/>
          <p:nvPr/>
        </p:nvSpPr>
        <p:spPr>
          <a:xfrm>
            <a:off x="9794635" y="2116836"/>
            <a:ext cx="685800" cy="77724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46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3</a:t>
            </a:r>
            <a:endParaRPr lang="en-US" sz="4600" dirty="0"/>
          </a:p>
        </p:txBody>
      </p:sp>
      <p:sp>
        <p:nvSpPr>
          <p:cNvPr id="100" name="Text 62">
            <a:extLst>
              <a:ext uri="{FF2B5EF4-FFF2-40B4-BE49-F238E27FC236}">
                <a16:creationId xmlns:a16="http://schemas.microsoft.com/office/drawing/2014/main" id="{457F01CB-EBF3-6CEF-39C1-09BF42E0A87E}"/>
              </a:ext>
            </a:extLst>
          </p:cNvPr>
          <p:cNvSpPr/>
          <p:nvPr/>
        </p:nvSpPr>
        <p:spPr>
          <a:xfrm>
            <a:off x="10241396" y="2334073"/>
            <a:ext cx="1673352" cy="301752"/>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篇技术Wiki</a:t>
            </a:r>
            <a:r>
              <a:rPr lang="zh-CN" altLang="en-US" sz="15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沉淀</a:t>
            </a:r>
            <a:endParaRPr lang="en-US" sz="1500" dirty="0"/>
          </a:p>
        </p:txBody>
      </p:sp>
      <p:sp>
        <p:nvSpPr>
          <p:cNvPr id="101" name="Text 63">
            <a:extLst>
              <a:ext uri="{FF2B5EF4-FFF2-40B4-BE49-F238E27FC236}">
                <a16:creationId xmlns:a16="http://schemas.microsoft.com/office/drawing/2014/main" id="{A81B0FE4-4117-0D27-3FDF-217B91DE493B}"/>
              </a:ext>
            </a:extLst>
          </p:cNvPr>
          <p:cNvSpPr/>
          <p:nvPr/>
        </p:nvSpPr>
        <p:spPr>
          <a:xfrm>
            <a:off x="9346692" y="3021144"/>
            <a:ext cx="2386584" cy="640080"/>
          </a:xfrm>
          <a:prstGeom prst="rect">
            <a:avLst/>
          </a:prstGeom>
          <a:noFill/>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推理框架 / 优化机制 / 问题分析</a:t>
            </a:r>
            <a:endParaRPr lang="en-US" sz="1200" dirty="0"/>
          </a:p>
        </p:txBody>
      </p:sp>
      <p:sp>
        <p:nvSpPr>
          <p:cNvPr id="102" name="Shape 64">
            <a:extLst>
              <a:ext uri="{FF2B5EF4-FFF2-40B4-BE49-F238E27FC236}">
                <a16:creationId xmlns:a16="http://schemas.microsoft.com/office/drawing/2014/main" id="{854E1F53-1FDC-3EAE-EC19-687DBE6C44B5}"/>
              </a:ext>
            </a:extLst>
          </p:cNvPr>
          <p:cNvSpPr/>
          <p:nvPr/>
        </p:nvSpPr>
        <p:spPr>
          <a:xfrm>
            <a:off x="9346692" y="4162102"/>
            <a:ext cx="2350008" cy="0"/>
          </a:xfrm>
          <a:prstGeom prst="line">
            <a:avLst/>
          </a:prstGeom>
          <a:noFill/>
          <a:ln w="11430">
            <a:solidFill>
              <a:srgbClr val="DCE5F1"/>
            </a:solidFill>
            <a:prstDash val="solid"/>
          </a:ln>
        </p:spPr>
        <p:txBody>
          <a:bodyPr/>
          <a:lstStyle/>
          <a:p>
            <a:endParaRPr lang="zh-CN" altLang="en-US"/>
          </a:p>
        </p:txBody>
      </p:sp>
      <p:sp>
        <p:nvSpPr>
          <p:cNvPr id="103" name="Text 65">
            <a:extLst>
              <a:ext uri="{FF2B5EF4-FFF2-40B4-BE49-F238E27FC236}">
                <a16:creationId xmlns:a16="http://schemas.microsoft.com/office/drawing/2014/main" id="{D29F1AF1-A658-A48B-589C-17B606D74A1B}"/>
              </a:ext>
            </a:extLst>
          </p:cNvPr>
          <p:cNvSpPr/>
          <p:nvPr/>
        </p:nvSpPr>
        <p:spPr>
          <a:xfrm>
            <a:off x="9346692" y="4372414"/>
            <a:ext cx="2194560" cy="27432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组内知识</a:t>
            </a:r>
            <a:r>
              <a:rPr lang="zh-CN" altLang="en-US" sz="14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池</a:t>
            </a:r>
            <a:endParaRPr lang="en-US" sz="1400" dirty="0"/>
          </a:p>
        </p:txBody>
      </p:sp>
      <p:sp>
        <p:nvSpPr>
          <p:cNvPr id="104" name="Text 66">
            <a:extLst>
              <a:ext uri="{FF2B5EF4-FFF2-40B4-BE49-F238E27FC236}">
                <a16:creationId xmlns:a16="http://schemas.microsoft.com/office/drawing/2014/main" id="{29AF8771-2C44-7DA1-207C-0164D4D5C3BF}"/>
              </a:ext>
            </a:extLst>
          </p:cNvPr>
          <p:cNvSpPr/>
          <p:nvPr/>
        </p:nvSpPr>
        <p:spPr>
          <a:xfrm>
            <a:off x="9296400" y="4838976"/>
            <a:ext cx="2295144" cy="859536"/>
          </a:xfrm>
          <a:prstGeom prst="rect">
            <a:avLst/>
          </a:prstGeom>
          <a:noFill/>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2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围绕推理优化原理与工具使用，沉淀可复用的分析方法与工程经验。</a:t>
            </a:r>
            <a:endParaRPr lang="en-US" sz="1120" dirty="0"/>
          </a:p>
        </p:txBody>
      </p:sp>
    </p:spTree>
    <p:extLst>
      <p:ext uri="{BB962C8B-B14F-4D97-AF65-F5344CB8AC3E}">
        <p14:creationId xmlns:p14="http://schemas.microsoft.com/office/powerpoint/2010/main" val="138915888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PRESENTATION_TITLE" val="蓝色简约单色工作汇报PPT模板"/>
  <p:tag name="COMMONDATA" val="eyJoZGlkIjoiMDFmZDUzMDlkNTM0N2ExZDc5M2VhMTliNDFmOWUwNjYifQ=="/>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a="http://schemas.openxmlformats.org/drawingml/2006/main" xmlns:r="http://schemas.openxmlformats.org/officeDocument/2006/relationships" xmlns:p="http://schemas.openxmlformats.org/presentationml/2006/main">
  <p:tag name="PA" val="v3.0.1"/>
</p:tagLst>
</file>

<file path=ppt/tags/tag8.xml><?xml version="1.0" encoding="utf-8"?>
<p:tagLst xmlns:a="http://schemas.openxmlformats.org/drawingml/2006/main" xmlns:r="http://schemas.openxmlformats.org/officeDocument/2006/relationships" xmlns:p="http://schemas.openxmlformats.org/presentationml/2006/main">
  <p:tag name="PA" val="v3.0.1"/>
</p:tagLst>
</file>

<file path=ppt/tags/tag9.xml><?xml version="1.0" encoding="utf-8"?>
<p:tagLst xmlns:a="http://schemas.openxmlformats.org/drawingml/2006/main" xmlns:r="http://schemas.openxmlformats.org/officeDocument/2006/relationships" xmlns:p="http://schemas.openxmlformats.org/presentationml/2006/main">
  <p:tag name="MH" val="20170327132119"/>
  <p:tag name="MH_LIBRARY" val="GRAPHIC"/>
  <p:tag name="MH_TYPE" val="SubTitle"/>
  <p:tag name="MH_ORDER" val="1"/>
</p:tagLst>
</file>

<file path=ppt/tags/tag10.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1.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425,&quot;width&quot;:1603}"/>
</p:tagLst>
</file>

<file path=ppt/tags/tag12.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094,&quot;width&quot;:1342}"/>
</p:tagLst>
</file>

<file path=ppt/tags/tag13.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80,&quot;width&quot;:606}"/>
</p:tagLst>
</file>

<file path=ppt/tags/tag1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451,&quot;width&quot;:1375}"/>
</p:tagLst>
</file>

<file path=ppt/tags/tag15.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521,&quot;width&quot;:2446}"/>
</p:tagLst>
</file>

<file path=ppt/tags/tag16.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515,&quot;width&quot;:2369}"/>
</p:tagLst>
</file>

<file path=ppt/tags/tag17.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520,&quot;width&quot;:2446}"/>
</p:tagLst>
</file>

<file path=ppt/tags/tag18.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520,&quot;width&quot;:2446}"/>
</p:tagLst>
</file>

<file path=ppt/tags/tag19.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618,&quot;width&quot;:1067}"/>
</p:tagLst>
</file>

<file path=ppt/tags/tag20.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618,&quot;width&quot;:911}"/>
</p:tagLst>
</file>

<file path=ppt/tags/tag21.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618,&quot;width&quot;:922}"/>
</p:tagLst>
</file>

<file path=ppt/tags/tag22.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946,&quot;width&quot;:2616}"/>
</p:tagLst>
</file>

<file path=ppt/tags/tag23.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784,&quot;width&quot;:3240}"/>
</p:tagLst>
</file>

<file path=ppt/tags/tag2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622,&quot;width&quot;:3158}"/>
</p:tagLst>
</file>

<file path=ppt/tags/tag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1.xml><?xml version="1.0" encoding="utf-8"?>
<p:tagLst xmlns:a="http://schemas.openxmlformats.org/drawingml/2006/main" xmlns:r="http://schemas.openxmlformats.org/officeDocument/2006/relationships" xmlns:p="http://schemas.openxmlformats.org/presentationml/2006/main">
  <p:tag name="PA" val="v3.0.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10230</TotalTime>
  <Words>1900</Words>
  <Application>Microsoft Office PowerPoint</Application>
  <PresentationFormat>宽屏</PresentationFormat>
  <Paragraphs>328</Paragraphs>
  <Slides>14</Slides>
  <Notes>10</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14</vt:i4>
      </vt:variant>
    </vt:vector>
  </HeadingPairs>
  <TitlesOfParts>
    <vt:vector size="29" baseType="lpstr">
      <vt:lpstr>等线</vt:lpstr>
      <vt:lpstr>等线 Light</vt:lpstr>
      <vt:lpstr>方正粗黑宋简体</vt:lpstr>
      <vt:lpstr>思源黑体</vt:lpstr>
      <vt:lpstr>Microsoft YaHei</vt:lpstr>
      <vt:lpstr>Microsoft YaHei</vt:lpstr>
      <vt:lpstr>Arial</vt:lpstr>
      <vt:lpstr>Calibri</vt:lpstr>
      <vt:lpstr>Calibri Light</vt:lpstr>
      <vt:lpstr>Calisto MT</vt:lpstr>
      <vt:lpstr>Impact</vt:lpstr>
      <vt:lpstr>Times New Roman</vt:lpstr>
      <vt:lpstr>Wingdings</vt:lpstr>
      <vt:lpstr>Office 主题</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项目经历 | 大学生服务外包创新创业大赛</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蓝色简约单色工作汇报PPT模板</dc:title>
  <dc:creator>andy</dc:creator>
  <cp:lastModifiedBy>志椋 余</cp:lastModifiedBy>
  <cp:revision>498</cp:revision>
  <dcterms:created xsi:type="dcterms:W3CDTF">2019-04-09T06:58:00Z</dcterms:created>
  <dcterms:modified xsi:type="dcterms:W3CDTF">2026-10-08T13:08:25Z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320D29C68F7A44C291F0988DD8D5CFD5_12</vt:lpwstr>
  </property>
  <property fmtid="{D5CDD505-2E9C-101B-9397-08002B2CF9AE}" pid="3" name="KSOProductBuildVer">
    <vt:lpwstr>2052-12.1.0.16929</vt:lpwstr>
  </property>
</Properties>
</file>