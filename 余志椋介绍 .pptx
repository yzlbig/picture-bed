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9.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7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4.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Lst>
  <p:notesMasterIdLst>
    <p:notesMasterId r:id="rId26"/>
  </p:notesMasterIdLst>
  <p:sldIdLst>
    <p:sldId id="348" r:id="rId3"/>
    <p:sldId id="350" r:id="rId4"/>
    <p:sldId id="366" r:id="rId5"/>
    <p:sldId id="419" r:id="rId6"/>
    <p:sldId id="257" r:id="rId7"/>
    <p:sldId id="417" r:id="rId8"/>
    <p:sldId id="418" r:id="rId9"/>
    <p:sldId id="411" r:id="rId10"/>
    <p:sldId id="416" r:id="rId11"/>
    <p:sldId id="415" r:id="rId12"/>
    <p:sldId id="412" r:id="rId13"/>
    <p:sldId id="414" r:id="rId14"/>
    <p:sldId id="420" r:id="rId15"/>
    <p:sldId id="267" r:id="rId16"/>
    <p:sldId id="405" r:id="rId17"/>
    <p:sldId id="409" r:id="rId18"/>
    <p:sldId id="408" r:id="rId19"/>
    <p:sldId id="410" r:id="rId20"/>
    <p:sldId id="421" r:id="rId21"/>
    <p:sldId id="423" r:id="rId22"/>
    <p:sldId id="380" r:id="rId23"/>
    <p:sldId id="422" r:id="rId24"/>
    <p:sldId id="377"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39" userDrawn="1">
          <p15:clr>
            <a:srgbClr val="A4A3A4"/>
          </p15:clr>
        </p15:guide>
        <p15:guide id="3" orient="horz" pos="19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一凡" initials="张"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F5496"/>
    <a:srgbClr val="FF7D2B"/>
    <a:srgbClr val="2348B8"/>
    <a:srgbClr val="FF244E"/>
    <a:srgbClr val="2A3A57"/>
    <a:srgbClr val="FF0049"/>
    <a:srgbClr val="AE0147"/>
    <a:srgbClr val="2C3C59"/>
    <a:srgbClr val="2B3B59"/>
    <a:srgbClr val="2837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46" autoAdjust="0"/>
    <p:restoredTop sz="92269" autoAdjust="0"/>
  </p:normalViewPr>
  <p:slideViewPr>
    <p:cSldViewPr snapToGrid="0" showGuides="1">
      <p:cViewPr>
        <p:scale>
          <a:sx n="66" d="100"/>
          <a:sy n="66" d="100"/>
        </p:scale>
        <p:origin x="1147" y="326"/>
      </p:cViewPr>
      <p:guideLst>
        <p:guide pos="3839"/>
        <p:guide orient="horz" pos="1940"/>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092D09-6E53-4EE3-94EA-323CDEEA173D}" type="datetimeFigureOut">
              <a:rPr lang="zh-CN" altLang="en-US" smtClean="0"/>
              <a:t>2026-10-11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23550C-0EAD-42A3-AC8C-7F87D0B3B9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923550C-0EAD-42A3-AC8C-7F87D0B3B98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923550C-0EAD-42A3-AC8C-7F87D0B3B98F}"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本科阶段系统学习数据结构、算法设计、操作系统、计算机组成原理等计算机基础课程，并在研究生阶段进一步开展人工智能、大模型和计算机视觉方向研究。</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923550C-0EAD-42A3-AC8C-7F87D0B3B98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85E78-CA68-51B2-069D-0910FA2726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69FC17-FF95-3185-E50A-067D87411A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0DB7AD8-FA0A-9601-489A-92C1B4198DF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5484878-9F50-9B6E-562D-6AD4A40D7186}"/>
              </a:ext>
            </a:extLst>
          </p:cNvPr>
          <p:cNvSpPr>
            <a:spLocks noGrp="1"/>
          </p:cNvSpPr>
          <p:nvPr>
            <p:ph type="sldNum" sz="quarter" idx="10"/>
          </p:nvPr>
        </p:nvSpPr>
        <p:spPr/>
        <p:txBody>
          <a:bodyPr/>
          <a:lstStyle/>
          <a:p>
            <a:fld id="{8923550C-0EAD-42A3-AC8C-7F87D0B3B98F}" type="slidenum">
              <a:rPr lang="zh-CN" altLang="en-US" smtClean="0"/>
              <a:t>4</a:t>
            </a:fld>
            <a:endParaRPr lang="zh-CN" altLang="en-US"/>
          </a:p>
        </p:txBody>
      </p:sp>
    </p:spTree>
    <p:extLst>
      <p:ext uri="{BB962C8B-B14F-4D97-AF65-F5344CB8AC3E}">
        <p14:creationId xmlns:p14="http://schemas.microsoft.com/office/powerpoint/2010/main" val="3102523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a:solidFill>
                  <a:schemeClr val="tx1"/>
                </a:solidFill>
                <a:latin typeface="+mn-lt"/>
                <a:ea typeface="+mn-ea"/>
                <a:cs typeface="+mn-cs"/>
              </a:rPr>
              <a:t>vision_tower</a:t>
            </a:r>
            <a:r>
              <a:rPr lang="zh-CN" altLang="en-US"/>
              <a:t>：负责提取图片特征。</a:t>
            </a:r>
          </a:p>
          <a:p>
            <a:r>
              <a:rPr lang="en-US" altLang="zh-CN" sz="1200" kern="1200">
                <a:solidFill>
                  <a:schemeClr val="tx1"/>
                </a:solidFill>
                <a:latin typeface="+mn-lt"/>
                <a:ea typeface="+mn-ea"/>
                <a:cs typeface="+mn-cs"/>
              </a:rPr>
              <a:t>embed_vision</a:t>
            </a:r>
            <a:r>
              <a:rPr lang="zh-CN" altLang="en-US"/>
              <a:t>：负责把提取的图片特征映射到语言模型能接收的维度</a:t>
            </a:r>
            <a:endParaRPr lang="en-US" altLang="zh-CN"/>
          </a:p>
          <a:p>
            <a:endParaRPr lang="en-US" altLang="zh-CN"/>
          </a:p>
          <a:p>
            <a:endParaRPr lang="zh-CN" altLang="en-US"/>
          </a:p>
        </p:txBody>
      </p:sp>
      <p:sp>
        <p:nvSpPr>
          <p:cNvPr id="4" name="灯片编号占位符 3"/>
          <p:cNvSpPr>
            <a:spLocks noGrp="1"/>
          </p:cNvSpPr>
          <p:nvPr>
            <p:ph type="sldNum" sz="quarter" idx="5"/>
          </p:nvPr>
        </p:nvSpPr>
        <p:spPr/>
        <p:txBody>
          <a:bodyPr/>
          <a:lstStyle/>
          <a:p>
            <a:fld id="{8923550C-0EAD-42A3-AC8C-7F87D0B3B98F}" type="slidenum">
              <a:rPr lang="zh-CN" altLang="en-US" smtClean="0"/>
              <a:t>6</a:t>
            </a:fld>
            <a:endParaRPr lang="zh-CN" altLang="en-US"/>
          </a:p>
        </p:txBody>
      </p:sp>
    </p:spTree>
    <p:extLst>
      <p:ext uri="{BB962C8B-B14F-4D97-AF65-F5344CB8AC3E}">
        <p14:creationId xmlns:p14="http://schemas.microsoft.com/office/powerpoint/2010/main" val="3571890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923550C-0EAD-42A3-AC8C-7F87D0B3B98F}" type="slidenum">
              <a:rPr lang="zh-CN" altLang="en-US" smtClean="0"/>
              <a:t>10</a:t>
            </a:fld>
            <a:endParaRPr lang="zh-CN" altLang="en-US"/>
          </a:p>
        </p:txBody>
      </p:sp>
    </p:spTree>
    <p:extLst>
      <p:ext uri="{BB962C8B-B14F-4D97-AF65-F5344CB8AC3E}">
        <p14:creationId xmlns:p14="http://schemas.microsoft.com/office/powerpoint/2010/main" val="1106224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923550C-0EAD-42A3-AC8C-7F87D0B3B98F}" type="slidenum">
              <a:rPr lang="zh-CN" altLang="en-US" smtClean="0"/>
              <a:t>11</a:t>
            </a:fld>
            <a:endParaRPr lang="zh-CN" altLang="en-US"/>
          </a:p>
        </p:txBody>
      </p:sp>
    </p:spTree>
    <p:extLst>
      <p:ext uri="{BB962C8B-B14F-4D97-AF65-F5344CB8AC3E}">
        <p14:creationId xmlns:p14="http://schemas.microsoft.com/office/powerpoint/2010/main" val="2935975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2C537-3B29-B5DC-DD37-044279AA26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80663E-B800-6262-F8F4-4E928DD649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C58AE0-3F88-F567-7259-21C7C214223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11578AB-D8CA-EEF5-9AA1-337307020057}"/>
              </a:ext>
            </a:extLst>
          </p:cNvPr>
          <p:cNvSpPr>
            <a:spLocks noGrp="1"/>
          </p:cNvSpPr>
          <p:nvPr>
            <p:ph type="sldNum" sz="quarter" idx="10"/>
          </p:nvPr>
        </p:nvSpPr>
        <p:spPr/>
        <p:txBody>
          <a:bodyPr/>
          <a:lstStyle/>
          <a:p>
            <a:fld id="{8923550C-0EAD-42A3-AC8C-7F87D0B3B98F}" type="slidenum">
              <a:rPr lang="zh-CN" altLang="en-US" smtClean="0"/>
              <a:t>13</a:t>
            </a:fld>
            <a:endParaRPr lang="zh-CN" altLang="en-US"/>
          </a:p>
        </p:txBody>
      </p:sp>
    </p:spTree>
    <p:extLst>
      <p:ext uri="{BB962C8B-B14F-4D97-AF65-F5344CB8AC3E}">
        <p14:creationId xmlns:p14="http://schemas.microsoft.com/office/powerpoint/2010/main" val="36910159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9850" marR="0" lvl="0" indent="0" algn="l" defTabSz="914400" rtl="0" eaLnBrk="1" fontAlgn="auto" latinLnBrk="0" hangingPunct="1">
              <a:lnSpc>
                <a:spcPct val="130000"/>
              </a:lnSpc>
              <a:spcBef>
                <a:spcPts val="0"/>
              </a:spcBef>
              <a:spcAft>
                <a:spcPts val="0"/>
              </a:spcAft>
              <a:buClrTx/>
              <a:buSzTx/>
              <a:buFontTx/>
              <a:buNone/>
              <a:tabLst/>
              <a:defRPr/>
            </a:pPr>
            <a:r>
              <a:rPr lang="zh-CN" altLang="en-US" dirty="0"/>
              <a:t>相关研究虽然取得了很多进展，但依然面临以下六点挑战：化学表达多样、专家干预困难、反应机制缺失、微调数据稀少、反应场景繁杂、产率噪声显著。针对这些挑战，我们定义了三个关键科学问题。</a:t>
            </a:r>
            <a:endParaRPr lang="en-US" altLang="zh-CN" dirty="0"/>
          </a:p>
          <a:p>
            <a:pPr marL="69850">
              <a:lnSpc>
                <a:spcPct val="130000"/>
              </a:lnSpc>
            </a:pPr>
            <a:endParaRPr lang="en-US" altLang="zh-CN" sz="1200" b="1" dirty="0">
              <a:latin typeface="Microsoft YaHei" panose="020B0503020204020204" pitchFamily="34" charset="-122"/>
              <a:ea typeface="Microsoft YaHei" panose="020B0503020204020204" pitchFamily="34" charset="-122"/>
            </a:endParaRPr>
          </a:p>
          <a:p>
            <a:pPr marL="69850">
              <a:lnSpc>
                <a:spcPct val="130000"/>
              </a:lnSpc>
            </a:pPr>
            <a:r>
              <a:rPr lang="en-US" altLang="zh-CN" sz="1200" b="1">
                <a:latin typeface="Microsoft YaHei" panose="020B0503020204020204" pitchFamily="34" charset="-122"/>
                <a:ea typeface="Microsoft YaHei" panose="020B0503020204020204" pitchFamily="34" charset="-122"/>
              </a:rPr>
              <a:t>1.</a:t>
            </a:r>
            <a:r>
              <a:rPr lang="zh-CN" altLang="en-US" sz="1200" b="1">
                <a:latin typeface="Microsoft YaHei" panose="020B0503020204020204" pitchFamily="34" charset="-122"/>
                <a:ea typeface="Microsoft YaHei" panose="020B0503020204020204" pitchFamily="34" charset="-122"/>
              </a:rPr>
              <a:t> 如何</a:t>
            </a:r>
            <a:r>
              <a:rPr lang="zh-CN" altLang="en-US" sz="1200" b="1" dirty="0">
                <a:latin typeface="Microsoft YaHei" panose="020B0503020204020204" pitchFamily="34" charset="-122"/>
                <a:ea typeface="Microsoft YaHei" panose="020B0503020204020204" pitchFamily="34" charset="-122"/>
              </a:rPr>
              <a:t>对化学数据统一建模，并训练化学</a:t>
            </a:r>
            <a:r>
              <a:rPr lang="zh-CN" altLang="en-US" sz="1200" b="1">
                <a:latin typeface="Microsoft YaHei" panose="020B0503020204020204" pitchFamily="34" charset="-122"/>
                <a:ea typeface="Microsoft YaHei" panose="020B0503020204020204" pitchFamily="34" charset="-122"/>
              </a:rPr>
              <a:t>基础模型 </a:t>
            </a:r>
            <a:endParaRPr lang="en-US" altLang="zh-CN" sz="1200" b="1" dirty="0">
              <a:latin typeface="Microsoft YaHei" panose="020B0503020204020204" pitchFamily="34" charset="-122"/>
              <a:ea typeface="Microsoft YaHei" panose="020B0503020204020204" pitchFamily="34" charset="-122"/>
            </a:endParaRPr>
          </a:p>
          <a:p>
            <a:pPr marL="69850">
              <a:lnSpc>
                <a:spcPct val="130000"/>
              </a:lnSpc>
            </a:pPr>
            <a:r>
              <a:rPr lang="en-US" altLang="zh-CN" sz="1200" b="1">
                <a:latin typeface="Microsoft YaHei" panose="020B0503020204020204" pitchFamily="34" charset="-122"/>
                <a:ea typeface="Microsoft YaHei" panose="020B0503020204020204" pitchFamily="34" charset="-122"/>
              </a:rPr>
              <a:t>2.</a:t>
            </a:r>
            <a:r>
              <a:rPr lang="zh-CN" altLang="en-US" sz="1200" b="1">
                <a:latin typeface="Microsoft YaHei" panose="020B0503020204020204" pitchFamily="34" charset="-122"/>
                <a:ea typeface="Microsoft YaHei" panose="020B0503020204020204" pitchFamily="34" charset="-122"/>
              </a:rPr>
              <a:t> 如何</a:t>
            </a:r>
            <a:r>
              <a:rPr lang="zh-CN" altLang="en-US" sz="1200" b="1" dirty="0">
                <a:latin typeface="Microsoft YaHei" panose="020B0503020204020204" pitchFamily="34" charset="-122"/>
                <a:ea typeface="Microsoft YaHei" panose="020B0503020204020204" pitchFamily="34" charset="-122"/>
              </a:rPr>
              <a:t>将化学知识嵌入人工智能模型，优化化学基础模型</a:t>
            </a:r>
            <a:endParaRPr lang="en-US" altLang="zh-CN" sz="1200" b="1" dirty="0">
              <a:latin typeface="Microsoft YaHei" panose="020B0503020204020204" pitchFamily="34" charset="-122"/>
              <a:ea typeface="Microsoft YaHei" panose="020B0503020204020204" pitchFamily="34" charset="-122"/>
            </a:endParaRPr>
          </a:p>
          <a:p>
            <a:pPr marL="69850">
              <a:lnSpc>
                <a:spcPct val="130000"/>
              </a:lnSpc>
            </a:pPr>
            <a:r>
              <a:rPr lang="en-US" altLang="zh-CN" sz="1200" b="1">
                <a:latin typeface="Microsoft YaHei" panose="020B0503020204020204" pitchFamily="34" charset="-122"/>
                <a:ea typeface="Microsoft YaHei" panose="020B0503020204020204" pitchFamily="34" charset="-122"/>
              </a:rPr>
              <a:t>3.</a:t>
            </a:r>
            <a:r>
              <a:rPr lang="zh-CN" altLang="en-US" sz="1200" b="1">
                <a:latin typeface="Microsoft YaHei" panose="020B0503020204020204" pitchFamily="34" charset="-122"/>
                <a:ea typeface="Microsoft YaHei" panose="020B0503020204020204" pitchFamily="34" charset="-122"/>
              </a:rPr>
              <a:t> 如何</a:t>
            </a:r>
            <a:r>
              <a:rPr lang="zh-CN" altLang="en-US" sz="1200" b="1" dirty="0">
                <a:latin typeface="Microsoft YaHei" panose="020B0503020204020204" pitchFamily="34" charset="-122"/>
                <a:ea typeface="Microsoft YaHei" panose="020B0503020204020204" pitchFamily="34" charset="-122"/>
              </a:rPr>
              <a:t>提升化学数据的利用效率，提升鲁棒性和通用性</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0DA2A2-8270-4ED5-BF5C-C8E0B3242FE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9850" marR="0" lvl="0" indent="0" algn="l" defTabSz="914400" rtl="0" eaLnBrk="1" fontAlgn="auto" latinLnBrk="0" hangingPunct="1">
              <a:lnSpc>
                <a:spcPct val="130000"/>
              </a:lnSpc>
              <a:spcBef>
                <a:spcPts val="0"/>
              </a:spcBef>
              <a:spcAft>
                <a:spcPts val="0"/>
              </a:spcAft>
              <a:buClrTx/>
              <a:buSzTx/>
              <a:buFontTx/>
              <a:buNone/>
              <a:tabLst/>
              <a:defRPr/>
            </a:pPr>
            <a:r>
              <a:rPr lang="zh-CN" altLang="en-US" dirty="0"/>
              <a:t>相关研究虽然取得了很多进展，但依然面临以下六点挑战：化学表达多样、专家干预困难、反应机制缺失、微调数据稀少、反应场景繁杂、产率噪声显著。针对这些挑战，我们定义了三个关键科学问题。</a:t>
            </a:r>
            <a:endParaRPr lang="en-US" altLang="zh-CN" dirty="0"/>
          </a:p>
          <a:p>
            <a:pPr marL="69850">
              <a:lnSpc>
                <a:spcPct val="130000"/>
              </a:lnSpc>
            </a:pPr>
            <a:endParaRPr lang="en-US" altLang="zh-CN" sz="1200" b="1" dirty="0">
              <a:latin typeface="Microsoft YaHei" panose="020B0503020204020204" pitchFamily="34" charset="-122"/>
              <a:ea typeface="Microsoft YaHei" panose="020B0503020204020204" pitchFamily="34" charset="-122"/>
            </a:endParaRPr>
          </a:p>
          <a:p>
            <a:pPr marL="69850">
              <a:lnSpc>
                <a:spcPct val="130000"/>
              </a:lnSpc>
            </a:pPr>
            <a:r>
              <a:rPr lang="en-US" altLang="zh-CN" sz="1200" b="1">
                <a:latin typeface="Microsoft YaHei" panose="020B0503020204020204" pitchFamily="34" charset="-122"/>
                <a:ea typeface="Microsoft YaHei" panose="020B0503020204020204" pitchFamily="34" charset="-122"/>
              </a:rPr>
              <a:t>1.</a:t>
            </a:r>
            <a:r>
              <a:rPr lang="zh-CN" altLang="en-US" sz="1200" b="1">
                <a:latin typeface="Microsoft YaHei" panose="020B0503020204020204" pitchFamily="34" charset="-122"/>
                <a:ea typeface="Microsoft YaHei" panose="020B0503020204020204" pitchFamily="34" charset="-122"/>
              </a:rPr>
              <a:t> 如何</a:t>
            </a:r>
            <a:r>
              <a:rPr lang="zh-CN" altLang="en-US" sz="1200" b="1" dirty="0">
                <a:latin typeface="Microsoft YaHei" panose="020B0503020204020204" pitchFamily="34" charset="-122"/>
                <a:ea typeface="Microsoft YaHei" panose="020B0503020204020204" pitchFamily="34" charset="-122"/>
              </a:rPr>
              <a:t>对化学数据统一建模，并训练化学</a:t>
            </a:r>
            <a:r>
              <a:rPr lang="zh-CN" altLang="en-US" sz="1200" b="1">
                <a:latin typeface="Microsoft YaHei" panose="020B0503020204020204" pitchFamily="34" charset="-122"/>
                <a:ea typeface="Microsoft YaHei" panose="020B0503020204020204" pitchFamily="34" charset="-122"/>
              </a:rPr>
              <a:t>基础模型 </a:t>
            </a:r>
            <a:endParaRPr lang="en-US" altLang="zh-CN" sz="1200" b="1" dirty="0">
              <a:latin typeface="Microsoft YaHei" panose="020B0503020204020204" pitchFamily="34" charset="-122"/>
              <a:ea typeface="Microsoft YaHei" panose="020B0503020204020204" pitchFamily="34" charset="-122"/>
            </a:endParaRPr>
          </a:p>
          <a:p>
            <a:pPr marL="69850">
              <a:lnSpc>
                <a:spcPct val="130000"/>
              </a:lnSpc>
            </a:pPr>
            <a:r>
              <a:rPr lang="en-US" altLang="zh-CN" sz="1200" b="1">
                <a:latin typeface="Microsoft YaHei" panose="020B0503020204020204" pitchFamily="34" charset="-122"/>
                <a:ea typeface="Microsoft YaHei" panose="020B0503020204020204" pitchFamily="34" charset="-122"/>
              </a:rPr>
              <a:t>2.</a:t>
            </a:r>
            <a:r>
              <a:rPr lang="zh-CN" altLang="en-US" sz="1200" b="1">
                <a:latin typeface="Microsoft YaHei" panose="020B0503020204020204" pitchFamily="34" charset="-122"/>
                <a:ea typeface="Microsoft YaHei" panose="020B0503020204020204" pitchFamily="34" charset="-122"/>
              </a:rPr>
              <a:t> 如何</a:t>
            </a:r>
            <a:r>
              <a:rPr lang="zh-CN" altLang="en-US" sz="1200" b="1" dirty="0">
                <a:latin typeface="Microsoft YaHei" panose="020B0503020204020204" pitchFamily="34" charset="-122"/>
                <a:ea typeface="Microsoft YaHei" panose="020B0503020204020204" pitchFamily="34" charset="-122"/>
              </a:rPr>
              <a:t>将化学知识嵌入人工智能模型，优化化学基础模型</a:t>
            </a:r>
            <a:endParaRPr lang="en-US" altLang="zh-CN" sz="1200" b="1" dirty="0">
              <a:latin typeface="Microsoft YaHei" panose="020B0503020204020204" pitchFamily="34" charset="-122"/>
              <a:ea typeface="Microsoft YaHei" panose="020B0503020204020204" pitchFamily="34" charset="-122"/>
            </a:endParaRPr>
          </a:p>
          <a:p>
            <a:pPr marL="69850">
              <a:lnSpc>
                <a:spcPct val="130000"/>
              </a:lnSpc>
            </a:pPr>
            <a:r>
              <a:rPr lang="en-US" altLang="zh-CN" sz="1200" b="1">
                <a:latin typeface="Microsoft YaHei" panose="020B0503020204020204" pitchFamily="34" charset="-122"/>
                <a:ea typeface="Microsoft YaHei" panose="020B0503020204020204" pitchFamily="34" charset="-122"/>
              </a:rPr>
              <a:t>3.</a:t>
            </a:r>
            <a:r>
              <a:rPr lang="zh-CN" altLang="en-US" sz="1200" b="1">
                <a:latin typeface="Microsoft YaHei" panose="020B0503020204020204" pitchFamily="34" charset="-122"/>
                <a:ea typeface="Microsoft YaHei" panose="020B0503020204020204" pitchFamily="34" charset="-122"/>
              </a:rPr>
              <a:t> 如何</a:t>
            </a:r>
            <a:r>
              <a:rPr lang="zh-CN" altLang="en-US" sz="1200" b="1" dirty="0">
                <a:latin typeface="Microsoft YaHei" panose="020B0503020204020204" pitchFamily="34" charset="-122"/>
                <a:ea typeface="Microsoft YaHei" panose="020B0503020204020204" pitchFamily="34" charset="-122"/>
              </a:rPr>
              <a:t>提升化学数据的利用效率，提升鲁棒性和通用性</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0DA2A2-8270-4ED5-BF5C-C8E0B3242FE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82416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EDE09-C7D2-C960-936B-8A7D2626E79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CB19A6-CC02-C2B1-964E-578565653DD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9539E4-53D6-C2A7-C801-F6EC5A8F7A15}"/>
              </a:ext>
            </a:extLst>
          </p:cNvPr>
          <p:cNvSpPr>
            <a:spLocks noGrp="1"/>
          </p:cNvSpPr>
          <p:nvPr>
            <p:ph type="body" idx="1"/>
          </p:nvPr>
        </p:nvSpPr>
        <p:spPr/>
        <p:txBody>
          <a:bodyPr/>
          <a:lstStyle/>
          <a:p>
            <a:pPr marL="69850" marR="0" lvl="0" indent="0" algn="l" defTabSz="914400" rtl="0" eaLnBrk="1" fontAlgn="auto" latinLnBrk="0" hangingPunct="1">
              <a:lnSpc>
                <a:spcPct val="13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E9948BF6-FA74-4BE0-7682-40D4E66B1E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0DA2A2-8270-4ED5-BF5C-C8E0B3242FE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16818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87A90-76E5-8319-DEC5-8C59E4ADCF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5CE6A8-E90F-5B9E-F7EF-1C5DA4D9288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B9FDB0-01C1-05DE-728A-3B40D8A581AA}"/>
              </a:ext>
            </a:extLst>
          </p:cNvPr>
          <p:cNvSpPr>
            <a:spLocks noGrp="1"/>
          </p:cNvSpPr>
          <p:nvPr>
            <p:ph type="body" idx="1"/>
          </p:nvPr>
        </p:nvSpPr>
        <p:spPr/>
        <p:txBody>
          <a:bodyPr/>
          <a:lstStyle/>
          <a:p>
            <a:pPr marL="69850" marR="0" lvl="0" indent="0" algn="l" defTabSz="914400" rtl="0" eaLnBrk="1" fontAlgn="auto" latinLnBrk="0" hangingPunct="1">
              <a:lnSpc>
                <a:spcPct val="130000"/>
              </a:lnSpc>
              <a:spcBef>
                <a:spcPts val="0"/>
              </a:spcBef>
              <a:spcAft>
                <a:spcPts val="0"/>
              </a:spcAft>
              <a:buClrTx/>
              <a:buSzTx/>
              <a:buFontTx/>
              <a:buNone/>
              <a:tabLst/>
              <a:defRPr/>
            </a:pPr>
            <a:r>
              <a:rPr lang="zh-CN" altLang="en-US" dirty="0"/>
              <a:t>相关研究虽然取得了很多进展，但依然面临以下六点挑战：化学表达多样、专家干预困难、反应机制缺失、微调数据稀少、反应场景繁杂、产率噪声显著。针对这些挑战，我们定义了三个关键科学问题。</a:t>
            </a:r>
            <a:endParaRPr lang="en-US" altLang="zh-CN" dirty="0"/>
          </a:p>
          <a:p>
            <a:pPr marL="69850">
              <a:lnSpc>
                <a:spcPct val="130000"/>
              </a:lnSpc>
            </a:pPr>
            <a:endParaRPr lang="en-US" altLang="zh-CN" sz="1200" b="1" dirty="0">
              <a:latin typeface="Microsoft YaHei" panose="020B0503020204020204" pitchFamily="34" charset="-122"/>
              <a:ea typeface="Microsoft YaHei" panose="020B0503020204020204" pitchFamily="34" charset="-122"/>
            </a:endParaRPr>
          </a:p>
          <a:p>
            <a:pPr marL="69850">
              <a:lnSpc>
                <a:spcPct val="130000"/>
              </a:lnSpc>
            </a:pPr>
            <a:r>
              <a:rPr lang="en-US" altLang="zh-CN" sz="1200" b="1">
                <a:latin typeface="Microsoft YaHei" panose="020B0503020204020204" pitchFamily="34" charset="-122"/>
                <a:ea typeface="Microsoft YaHei" panose="020B0503020204020204" pitchFamily="34" charset="-122"/>
              </a:rPr>
              <a:t>1.</a:t>
            </a:r>
            <a:r>
              <a:rPr lang="zh-CN" altLang="en-US" sz="1200" b="1">
                <a:latin typeface="Microsoft YaHei" panose="020B0503020204020204" pitchFamily="34" charset="-122"/>
                <a:ea typeface="Microsoft YaHei" panose="020B0503020204020204" pitchFamily="34" charset="-122"/>
              </a:rPr>
              <a:t> 如何</a:t>
            </a:r>
            <a:r>
              <a:rPr lang="zh-CN" altLang="en-US" sz="1200" b="1" dirty="0">
                <a:latin typeface="Microsoft YaHei" panose="020B0503020204020204" pitchFamily="34" charset="-122"/>
                <a:ea typeface="Microsoft YaHei" panose="020B0503020204020204" pitchFamily="34" charset="-122"/>
              </a:rPr>
              <a:t>对化学数据统一建模，并训练化学</a:t>
            </a:r>
            <a:r>
              <a:rPr lang="zh-CN" altLang="en-US" sz="1200" b="1">
                <a:latin typeface="Microsoft YaHei" panose="020B0503020204020204" pitchFamily="34" charset="-122"/>
                <a:ea typeface="Microsoft YaHei" panose="020B0503020204020204" pitchFamily="34" charset="-122"/>
              </a:rPr>
              <a:t>基础模型 </a:t>
            </a:r>
            <a:endParaRPr lang="en-US" altLang="zh-CN" sz="1200" b="1" dirty="0">
              <a:latin typeface="Microsoft YaHei" panose="020B0503020204020204" pitchFamily="34" charset="-122"/>
              <a:ea typeface="Microsoft YaHei" panose="020B0503020204020204" pitchFamily="34" charset="-122"/>
            </a:endParaRPr>
          </a:p>
          <a:p>
            <a:pPr marL="69850">
              <a:lnSpc>
                <a:spcPct val="130000"/>
              </a:lnSpc>
            </a:pPr>
            <a:r>
              <a:rPr lang="en-US" altLang="zh-CN" sz="1200" b="1">
                <a:latin typeface="Microsoft YaHei" panose="020B0503020204020204" pitchFamily="34" charset="-122"/>
                <a:ea typeface="Microsoft YaHei" panose="020B0503020204020204" pitchFamily="34" charset="-122"/>
              </a:rPr>
              <a:t>2.</a:t>
            </a:r>
            <a:r>
              <a:rPr lang="zh-CN" altLang="en-US" sz="1200" b="1">
                <a:latin typeface="Microsoft YaHei" panose="020B0503020204020204" pitchFamily="34" charset="-122"/>
                <a:ea typeface="Microsoft YaHei" panose="020B0503020204020204" pitchFamily="34" charset="-122"/>
              </a:rPr>
              <a:t> 如何</a:t>
            </a:r>
            <a:r>
              <a:rPr lang="zh-CN" altLang="en-US" sz="1200" b="1" dirty="0">
                <a:latin typeface="Microsoft YaHei" panose="020B0503020204020204" pitchFamily="34" charset="-122"/>
                <a:ea typeface="Microsoft YaHei" panose="020B0503020204020204" pitchFamily="34" charset="-122"/>
              </a:rPr>
              <a:t>将化学知识嵌入人工智能模型，优化化学基础模型</a:t>
            </a:r>
            <a:endParaRPr lang="en-US" altLang="zh-CN" sz="1200" b="1" dirty="0">
              <a:latin typeface="Microsoft YaHei" panose="020B0503020204020204" pitchFamily="34" charset="-122"/>
              <a:ea typeface="Microsoft YaHei" panose="020B0503020204020204" pitchFamily="34" charset="-122"/>
            </a:endParaRPr>
          </a:p>
          <a:p>
            <a:pPr marL="69850">
              <a:lnSpc>
                <a:spcPct val="130000"/>
              </a:lnSpc>
            </a:pPr>
            <a:r>
              <a:rPr lang="en-US" altLang="zh-CN" sz="1200" b="1">
                <a:latin typeface="Microsoft YaHei" panose="020B0503020204020204" pitchFamily="34" charset="-122"/>
                <a:ea typeface="Microsoft YaHei" panose="020B0503020204020204" pitchFamily="34" charset="-122"/>
              </a:rPr>
              <a:t>3.</a:t>
            </a:r>
            <a:r>
              <a:rPr lang="zh-CN" altLang="en-US" sz="1200" b="1">
                <a:latin typeface="Microsoft YaHei" panose="020B0503020204020204" pitchFamily="34" charset="-122"/>
                <a:ea typeface="Microsoft YaHei" panose="020B0503020204020204" pitchFamily="34" charset="-122"/>
              </a:rPr>
              <a:t> 如何</a:t>
            </a:r>
            <a:r>
              <a:rPr lang="zh-CN" altLang="en-US" sz="1200" b="1" dirty="0">
                <a:latin typeface="Microsoft YaHei" panose="020B0503020204020204" pitchFamily="34" charset="-122"/>
                <a:ea typeface="Microsoft YaHei" panose="020B0503020204020204" pitchFamily="34" charset="-122"/>
              </a:rPr>
              <a:t>提升化学数据的利用效率，提升鲁棒性和通用性</a:t>
            </a:r>
            <a:endParaRPr lang="zh-CN" altLang="en-US" dirty="0"/>
          </a:p>
        </p:txBody>
      </p:sp>
      <p:sp>
        <p:nvSpPr>
          <p:cNvPr id="4" name="灯片编号占位符 3">
            <a:extLst>
              <a:ext uri="{FF2B5EF4-FFF2-40B4-BE49-F238E27FC236}">
                <a16:creationId xmlns:a16="http://schemas.microsoft.com/office/drawing/2014/main" id="{776BBD70-FB9A-69AD-443F-CB17DBE6EFD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0DA2A2-8270-4ED5-BF5C-C8E0B3242FE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88483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F6CF-EBD0-35A0-341D-CAECA80AFD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B9B2C9-A5AE-DF72-9632-DC488951D8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3DEC5E6-82BD-117B-3A59-48D72EA04E4C}"/>
              </a:ext>
            </a:extLst>
          </p:cNvPr>
          <p:cNvSpPr>
            <a:spLocks noGrp="1"/>
          </p:cNvSpPr>
          <p:nvPr>
            <p:ph type="body" idx="1"/>
          </p:nvPr>
        </p:nvSpPr>
        <p:spPr/>
        <p:txBody>
          <a:bodyPr/>
          <a:lstStyle/>
          <a:p>
            <a:pPr marL="69850" marR="0" lvl="0" indent="0" algn="l" defTabSz="914400" rtl="0" eaLnBrk="1" fontAlgn="auto" latinLnBrk="0" hangingPunct="1">
              <a:lnSpc>
                <a:spcPct val="13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56548187-B1B9-BF37-F03F-CB523D4E89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0DA2A2-8270-4ED5-BF5C-C8E0B3242FE8}"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36180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0B6DA-58F0-9F12-1837-3448D8A6BD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EEE677-E941-941A-3032-DB4CFE6466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85262A-F4FE-396F-6DF2-68CE744B527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6900A43-AF14-A647-6EC1-B32219D7526A}"/>
              </a:ext>
            </a:extLst>
          </p:cNvPr>
          <p:cNvSpPr>
            <a:spLocks noGrp="1"/>
          </p:cNvSpPr>
          <p:nvPr>
            <p:ph type="sldNum" sz="quarter" idx="10"/>
          </p:nvPr>
        </p:nvSpPr>
        <p:spPr/>
        <p:txBody>
          <a:bodyPr/>
          <a:lstStyle/>
          <a:p>
            <a:fld id="{8923550C-0EAD-42A3-AC8C-7F87D0B3B98F}" type="slidenum">
              <a:rPr lang="zh-CN" altLang="en-US" smtClean="0"/>
              <a:t>19</a:t>
            </a:fld>
            <a:endParaRPr lang="zh-CN" altLang="en-US"/>
          </a:p>
        </p:txBody>
      </p:sp>
    </p:spTree>
    <p:extLst>
      <p:ext uri="{BB962C8B-B14F-4D97-AF65-F5344CB8AC3E}">
        <p14:creationId xmlns:p14="http://schemas.microsoft.com/office/powerpoint/2010/main" val="7492628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9E3CF89-91F4-45FB-A589-58532703FCA1}" type="slidenum">
              <a:rPr lang="zh-CN" altLang="en-US" smtClean="0"/>
              <a:t>21</a:t>
            </a:fld>
            <a:endParaRPr lang="zh-CN" altLang="en-US"/>
          </a:p>
        </p:txBody>
      </p:sp>
    </p:spTree>
    <p:extLst>
      <p:ext uri="{BB962C8B-B14F-4D97-AF65-F5344CB8AC3E}">
        <p14:creationId xmlns:p14="http://schemas.microsoft.com/office/powerpoint/2010/main" val="4158169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8923550C-0EAD-42A3-AC8C-7F87D0B3B98F}"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p:cNvSpPr/>
          <p:nvPr userDrawn="1"/>
        </p:nvSpPr>
        <p:spPr>
          <a:xfrm>
            <a:off x="0" y="0"/>
            <a:ext cx="12192000" cy="5099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A684B914-9BB2-4713-9EBF-61770F406B81}" type="datetime1">
              <a:rPr lang="zh-CN" altLang="en-US" smtClean="0"/>
              <a:t>2026-10-11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2B6538A-33AE-45EB-868C-14B9E34ED96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684B914-9BB2-4713-9EBF-61770F406B81}" type="datetime1">
              <a:rPr lang="zh-CN" altLang="en-US" smtClean="0"/>
              <a:t>2026-10-11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2B6538A-33AE-45EB-868C-14B9E34ED96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3"/>
          <p:cNvSpPr/>
          <p:nvPr userDrawn="1"/>
        </p:nvSpPr>
        <p:spPr>
          <a:xfrm>
            <a:off x="493634" y="0"/>
            <a:ext cx="714526" cy="1179982"/>
          </a:xfrm>
          <a:prstGeom prst="rect">
            <a:avLst/>
          </a:prstGeom>
          <a:solidFill>
            <a:srgbClr val="444D57"/>
          </a:soli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标题 1"/>
          <p:cNvSpPr>
            <a:spLocks noGrp="1"/>
          </p:cNvSpPr>
          <p:nvPr>
            <p:ph type="title" hasCustomPrompt="1"/>
          </p:nvPr>
        </p:nvSpPr>
        <p:spPr>
          <a:xfrm>
            <a:off x="1457698" y="551761"/>
            <a:ext cx="3629564" cy="456129"/>
          </a:xfrm>
          <a:prstGeom prst="rect">
            <a:avLst/>
          </a:prstGeom>
        </p:spPr>
        <p:txBody>
          <a:bodyPr>
            <a:noAutofit/>
          </a:bodyPr>
          <a:lstStyle>
            <a:lvl1pPr>
              <a:defRPr sz="2400" b="1">
                <a:solidFill>
                  <a:srgbClr val="211E20"/>
                </a:solidFill>
                <a:ea typeface="思源黑体" panose="020B0500000000000000" pitchFamily="34" charset="-122"/>
              </a:defRPr>
            </a:lvl1pPr>
          </a:lstStyle>
          <a:p>
            <a:r>
              <a:rPr lang="zh-CN" altLang="en-US"/>
              <a:t>单击编辑标题</a:t>
            </a:r>
          </a:p>
        </p:txBody>
      </p:sp>
      <p:sp>
        <p:nvSpPr>
          <p:cNvPr id="9" name="Freeform 5"/>
          <p:cNvSpPr>
            <a:spLocks noEditPoints="1"/>
          </p:cNvSpPr>
          <p:nvPr userDrawn="1"/>
        </p:nvSpPr>
        <p:spPr bwMode="auto">
          <a:xfrm>
            <a:off x="635500" y="530700"/>
            <a:ext cx="441095" cy="525190"/>
          </a:xfrm>
          <a:custGeom>
            <a:avLst/>
            <a:gdLst>
              <a:gd name="T0" fmla="*/ 269 w 537"/>
              <a:gd name="T1" fmla="*/ 0 h 623"/>
              <a:gd name="T2" fmla="*/ 403 w 537"/>
              <a:gd name="T3" fmla="*/ 78 h 623"/>
              <a:gd name="T4" fmla="*/ 537 w 537"/>
              <a:gd name="T5" fmla="*/ 156 h 623"/>
              <a:gd name="T6" fmla="*/ 537 w 537"/>
              <a:gd name="T7" fmla="*/ 311 h 623"/>
              <a:gd name="T8" fmla="*/ 537 w 537"/>
              <a:gd name="T9" fmla="*/ 467 h 623"/>
              <a:gd name="T10" fmla="*/ 403 w 537"/>
              <a:gd name="T11" fmla="*/ 545 h 623"/>
              <a:gd name="T12" fmla="*/ 269 w 537"/>
              <a:gd name="T13" fmla="*/ 623 h 623"/>
              <a:gd name="T14" fmla="*/ 134 w 537"/>
              <a:gd name="T15" fmla="*/ 545 h 623"/>
              <a:gd name="T16" fmla="*/ 0 w 537"/>
              <a:gd name="T17" fmla="*/ 467 h 623"/>
              <a:gd name="T18" fmla="*/ 0 w 537"/>
              <a:gd name="T19" fmla="*/ 311 h 623"/>
              <a:gd name="T20" fmla="*/ 0 w 537"/>
              <a:gd name="T21" fmla="*/ 156 h 623"/>
              <a:gd name="T22" fmla="*/ 134 w 537"/>
              <a:gd name="T23" fmla="*/ 78 h 623"/>
              <a:gd name="T24" fmla="*/ 269 w 537"/>
              <a:gd name="T25" fmla="*/ 0 h 623"/>
              <a:gd name="T26" fmla="*/ 269 w 537"/>
              <a:gd name="T27" fmla="*/ 53 h 623"/>
              <a:gd name="T28" fmla="*/ 380 w 537"/>
              <a:gd name="T29" fmla="*/ 117 h 623"/>
              <a:gd name="T30" fmla="*/ 492 w 537"/>
              <a:gd name="T31" fmla="*/ 182 h 623"/>
              <a:gd name="T32" fmla="*/ 492 w 537"/>
              <a:gd name="T33" fmla="*/ 311 h 623"/>
              <a:gd name="T34" fmla="*/ 492 w 537"/>
              <a:gd name="T35" fmla="*/ 441 h 623"/>
              <a:gd name="T36" fmla="*/ 380 w 537"/>
              <a:gd name="T37" fmla="*/ 505 h 623"/>
              <a:gd name="T38" fmla="*/ 269 w 537"/>
              <a:gd name="T39" fmla="*/ 570 h 623"/>
              <a:gd name="T40" fmla="*/ 157 w 537"/>
              <a:gd name="T41" fmla="*/ 505 h 623"/>
              <a:gd name="T42" fmla="*/ 46 w 537"/>
              <a:gd name="T43" fmla="*/ 441 h 623"/>
              <a:gd name="T44" fmla="*/ 46 w 537"/>
              <a:gd name="T45" fmla="*/ 311 h 623"/>
              <a:gd name="T46" fmla="*/ 46 w 537"/>
              <a:gd name="T47" fmla="*/ 182 h 623"/>
              <a:gd name="T48" fmla="*/ 157 w 537"/>
              <a:gd name="T49" fmla="*/ 117 h 623"/>
              <a:gd name="T50" fmla="*/ 269 w 537"/>
              <a:gd name="T51" fmla="*/ 53 h 623"/>
              <a:gd name="T52" fmla="*/ 215 w 537"/>
              <a:gd name="T53" fmla="*/ 455 h 623"/>
              <a:gd name="T54" fmla="*/ 367 w 537"/>
              <a:gd name="T55" fmla="*/ 455 h 623"/>
              <a:gd name="T56" fmla="*/ 375 w 537"/>
              <a:gd name="T57" fmla="*/ 463 h 623"/>
              <a:gd name="T58" fmla="*/ 367 w 537"/>
              <a:gd name="T59" fmla="*/ 471 h 623"/>
              <a:gd name="T60" fmla="*/ 215 w 537"/>
              <a:gd name="T61" fmla="*/ 471 h 623"/>
              <a:gd name="T62" fmla="*/ 207 w 537"/>
              <a:gd name="T63" fmla="*/ 463 h 623"/>
              <a:gd name="T64" fmla="*/ 215 w 537"/>
              <a:gd name="T65" fmla="*/ 455 h 623"/>
              <a:gd name="T66" fmla="*/ 218 w 537"/>
              <a:gd name="T67" fmla="*/ 380 h 623"/>
              <a:gd name="T68" fmla="*/ 302 w 537"/>
              <a:gd name="T69" fmla="*/ 242 h 623"/>
              <a:gd name="T70" fmla="*/ 331 w 537"/>
              <a:gd name="T71" fmla="*/ 260 h 623"/>
              <a:gd name="T72" fmla="*/ 248 w 537"/>
              <a:gd name="T73" fmla="*/ 398 h 623"/>
              <a:gd name="T74" fmla="*/ 218 w 537"/>
              <a:gd name="T75" fmla="*/ 380 h 623"/>
              <a:gd name="T76" fmla="*/ 159 w 537"/>
              <a:gd name="T77" fmla="*/ 344 h 623"/>
              <a:gd name="T78" fmla="*/ 243 w 537"/>
              <a:gd name="T79" fmla="*/ 207 h 623"/>
              <a:gd name="T80" fmla="*/ 272 w 537"/>
              <a:gd name="T81" fmla="*/ 224 h 623"/>
              <a:gd name="T82" fmla="*/ 189 w 537"/>
              <a:gd name="T83" fmla="*/ 362 h 623"/>
              <a:gd name="T84" fmla="*/ 159 w 537"/>
              <a:gd name="T85" fmla="*/ 344 h 623"/>
              <a:gd name="T86" fmla="*/ 146 w 537"/>
              <a:gd name="T87" fmla="*/ 456 h 623"/>
              <a:gd name="T88" fmla="*/ 154 w 537"/>
              <a:gd name="T89" fmla="*/ 387 h 623"/>
              <a:gd name="T90" fmla="*/ 211 w 537"/>
              <a:gd name="T91" fmla="*/ 422 h 623"/>
              <a:gd name="T92" fmla="*/ 155 w 537"/>
              <a:gd name="T93" fmla="*/ 461 h 623"/>
              <a:gd name="T94" fmla="*/ 146 w 537"/>
              <a:gd name="T95" fmla="*/ 456 h 623"/>
              <a:gd name="T96" fmla="*/ 266 w 537"/>
              <a:gd name="T97" fmla="*/ 168 h 623"/>
              <a:gd name="T98" fmla="*/ 253 w 537"/>
              <a:gd name="T99" fmla="*/ 188 h 623"/>
              <a:gd name="T100" fmla="*/ 342 w 537"/>
              <a:gd name="T101" fmla="*/ 242 h 623"/>
              <a:gd name="T102" fmla="*/ 354 w 537"/>
              <a:gd name="T103" fmla="*/ 222 h 623"/>
              <a:gd name="T104" fmla="*/ 266 w 537"/>
              <a:gd name="T105" fmla="*/ 168 h 623"/>
              <a:gd name="T106" fmla="*/ 285 w 537"/>
              <a:gd name="T107" fmla="*/ 138 h 623"/>
              <a:gd name="T108" fmla="*/ 311 w 537"/>
              <a:gd name="T109" fmla="*/ 131 h 623"/>
              <a:gd name="T110" fmla="*/ 366 w 537"/>
              <a:gd name="T111" fmla="*/ 165 h 623"/>
              <a:gd name="T112" fmla="*/ 373 w 537"/>
              <a:gd name="T113" fmla="*/ 191 h 623"/>
              <a:gd name="T114" fmla="*/ 365 w 537"/>
              <a:gd name="T115" fmla="*/ 204 h 623"/>
              <a:gd name="T116" fmla="*/ 277 w 537"/>
              <a:gd name="T117" fmla="*/ 150 h 623"/>
              <a:gd name="T118" fmla="*/ 285 w 537"/>
              <a:gd name="T119" fmla="*/ 138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7" h="623">
                <a:moveTo>
                  <a:pt x="269" y="0"/>
                </a:moveTo>
                <a:lnTo>
                  <a:pt x="403" y="78"/>
                </a:lnTo>
                <a:lnTo>
                  <a:pt x="537" y="156"/>
                </a:lnTo>
                <a:lnTo>
                  <a:pt x="537" y="311"/>
                </a:lnTo>
                <a:lnTo>
                  <a:pt x="537" y="467"/>
                </a:lnTo>
                <a:lnTo>
                  <a:pt x="403" y="545"/>
                </a:lnTo>
                <a:lnTo>
                  <a:pt x="269" y="623"/>
                </a:lnTo>
                <a:lnTo>
                  <a:pt x="134" y="545"/>
                </a:lnTo>
                <a:lnTo>
                  <a:pt x="0" y="467"/>
                </a:lnTo>
                <a:lnTo>
                  <a:pt x="0" y="311"/>
                </a:lnTo>
                <a:lnTo>
                  <a:pt x="0" y="156"/>
                </a:lnTo>
                <a:lnTo>
                  <a:pt x="134" y="78"/>
                </a:lnTo>
                <a:lnTo>
                  <a:pt x="269" y="0"/>
                </a:lnTo>
                <a:close/>
                <a:moveTo>
                  <a:pt x="269" y="53"/>
                </a:moveTo>
                <a:lnTo>
                  <a:pt x="380" y="117"/>
                </a:lnTo>
                <a:lnTo>
                  <a:pt x="492" y="182"/>
                </a:lnTo>
                <a:lnTo>
                  <a:pt x="492" y="311"/>
                </a:lnTo>
                <a:lnTo>
                  <a:pt x="492" y="441"/>
                </a:lnTo>
                <a:lnTo>
                  <a:pt x="380" y="505"/>
                </a:lnTo>
                <a:lnTo>
                  <a:pt x="269" y="570"/>
                </a:lnTo>
                <a:lnTo>
                  <a:pt x="157" y="505"/>
                </a:lnTo>
                <a:lnTo>
                  <a:pt x="46" y="441"/>
                </a:lnTo>
                <a:lnTo>
                  <a:pt x="46" y="311"/>
                </a:lnTo>
                <a:lnTo>
                  <a:pt x="46" y="182"/>
                </a:lnTo>
                <a:lnTo>
                  <a:pt x="157" y="117"/>
                </a:lnTo>
                <a:lnTo>
                  <a:pt x="269" y="53"/>
                </a:lnTo>
                <a:close/>
                <a:moveTo>
                  <a:pt x="215" y="455"/>
                </a:moveTo>
                <a:lnTo>
                  <a:pt x="367" y="455"/>
                </a:lnTo>
                <a:cubicBezTo>
                  <a:pt x="371" y="455"/>
                  <a:pt x="375" y="458"/>
                  <a:pt x="375" y="463"/>
                </a:cubicBezTo>
                <a:cubicBezTo>
                  <a:pt x="375" y="467"/>
                  <a:pt x="371" y="471"/>
                  <a:pt x="367" y="471"/>
                </a:cubicBezTo>
                <a:lnTo>
                  <a:pt x="215" y="471"/>
                </a:lnTo>
                <a:cubicBezTo>
                  <a:pt x="211" y="471"/>
                  <a:pt x="207" y="467"/>
                  <a:pt x="207" y="463"/>
                </a:cubicBezTo>
                <a:cubicBezTo>
                  <a:pt x="207" y="458"/>
                  <a:pt x="211" y="455"/>
                  <a:pt x="215" y="455"/>
                </a:cubicBezTo>
                <a:close/>
                <a:moveTo>
                  <a:pt x="218" y="380"/>
                </a:moveTo>
                <a:lnTo>
                  <a:pt x="302" y="242"/>
                </a:lnTo>
                <a:lnTo>
                  <a:pt x="331" y="260"/>
                </a:lnTo>
                <a:lnTo>
                  <a:pt x="248" y="398"/>
                </a:lnTo>
                <a:lnTo>
                  <a:pt x="218" y="380"/>
                </a:lnTo>
                <a:close/>
                <a:moveTo>
                  <a:pt x="159" y="344"/>
                </a:moveTo>
                <a:lnTo>
                  <a:pt x="243" y="207"/>
                </a:lnTo>
                <a:lnTo>
                  <a:pt x="272" y="224"/>
                </a:lnTo>
                <a:lnTo>
                  <a:pt x="189" y="362"/>
                </a:lnTo>
                <a:lnTo>
                  <a:pt x="159" y="344"/>
                </a:lnTo>
                <a:close/>
                <a:moveTo>
                  <a:pt x="146" y="456"/>
                </a:moveTo>
                <a:lnTo>
                  <a:pt x="154" y="387"/>
                </a:lnTo>
                <a:lnTo>
                  <a:pt x="211" y="422"/>
                </a:lnTo>
                <a:lnTo>
                  <a:pt x="155" y="461"/>
                </a:lnTo>
                <a:cubicBezTo>
                  <a:pt x="149" y="465"/>
                  <a:pt x="145" y="463"/>
                  <a:pt x="146" y="456"/>
                </a:cubicBezTo>
                <a:close/>
                <a:moveTo>
                  <a:pt x="266" y="168"/>
                </a:moveTo>
                <a:lnTo>
                  <a:pt x="253" y="188"/>
                </a:lnTo>
                <a:lnTo>
                  <a:pt x="342" y="242"/>
                </a:lnTo>
                <a:lnTo>
                  <a:pt x="354" y="222"/>
                </a:lnTo>
                <a:lnTo>
                  <a:pt x="266" y="168"/>
                </a:lnTo>
                <a:close/>
                <a:moveTo>
                  <a:pt x="285" y="138"/>
                </a:moveTo>
                <a:cubicBezTo>
                  <a:pt x="290" y="129"/>
                  <a:pt x="302" y="126"/>
                  <a:pt x="311" y="131"/>
                </a:cubicBezTo>
                <a:lnTo>
                  <a:pt x="366" y="165"/>
                </a:lnTo>
                <a:cubicBezTo>
                  <a:pt x="375" y="170"/>
                  <a:pt x="378" y="182"/>
                  <a:pt x="373" y="191"/>
                </a:cubicBezTo>
                <a:lnTo>
                  <a:pt x="365" y="204"/>
                </a:lnTo>
                <a:lnTo>
                  <a:pt x="277" y="150"/>
                </a:lnTo>
                <a:lnTo>
                  <a:pt x="285" y="138"/>
                </a:lnTo>
                <a:close/>
              </a:path>
            </a:pathLst>
          </a:custGeom>
          <a:solidFill>
            <a:schemeClr val="bg1"/>
          </a:solidFill>
          <a:ln>
            <a:noFill/>
          </a:ln>
        </p:spPr>
        <p:txBody>
          <a:bodyPr vert="horz" wrap="square" lIns="91392" tIns="45696" rIns="91392" bIns="45696" numCol="1" anchor="t" anchorCtr="0" compatLnSpc="1"/>
          <a:lstStyle/>
          <a:p>
            <a:endParaRPr lang="zh-CN" altLang="en-US" sz="1799">
              <a:solidFill>
                <a:schemeClr val="bg1"/>
              </a:solidFill>
            </a:endParaRPr>
          </a:p>
        </p:txBody>
      </p:sp>
    </p:spTree>
    <p:extLst>
      <p:ext uri="{BB962C8B-B14F-4D97-AF65-F5344CB8AC3E}">
        <p14:creationId xmlns:p14="http://schemas.microsoft.com/office/powerpoint/2010/main" val="1247057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a:prstGeom prst="rect">
            <a:avLst/>
          </a:prstGeo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a:prstGeom prst="rect">
            <a:avLst/>
          </a:prstGeo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a:xfrm>
            <a:off x="612000" y="6314400"/>
            <a:ext cx="2700000" cy="316800"/>
          </a:xfrm>
          <a:prstGeom prst="rect">
            <a:avLst/>
          </a:prstGeom>
        </p:spPr>
        <p:txBody>
          <a:bodyPr/>
          <a:lstStyle/>
          <a:p>
            <a:fld id="{760FBDFE-C587-4B4C-A407-44438C67B59E}" type="datetimeFigureOut">
              <a:rPr lang="zh-CN" altLang="en-US" smtClean="0"/>
              <a:t>2026-10-11</a:t>
            </a:fld>
            <a:endParaRPr lang="zh-CN" altLang="en-US"/>
          </a:p>
        </p:txBody>
      </p:sp>
      <p:sp>
        <p:nvSpPr>
          <p:cNvPr id="17" name="页脚占位符 16"/>
          <p:cNvSpPr>
            <a:spLocks noGrp="1"/>
          </p:cNvSpPr>
          <p:nvPr>
            <p:ph type="ftr" sz="quarter" idx="11"/>
            <p:custDataLst>
              <p:tags r:id="rId4"/>
            </p:custDataLst>
          </p:nvPr>
        </p:nvSpPr>
        <p:spPr>
          <a:xfrm>
            <a:off x="4116000" y="6314400"/>
            <a:ext cx="3960000" cy="316800"/>
          </a:xfrm>
          <a:prstGeom prst="rect">
            <a:avLst/>
          </a:prstGeom>
        </p:spPr>
        <p:txBody>
          <a:bodyPr/>
          <a:lstStyle/>
          <a:p>
            <a:endParaRPr lang="zh-CN" altLang="en-US" dirty="0"/>
          </a:p>
        </p:txBody>
      </p:sp>
      <p:sp>
        <p:nvSpPr>
          <p:cNvPr id="18" name="灯片编号占位符 17"/>
          <p:cNvSpPr>
            <a:spLocks noGrp="1"/>
          </p:cNvSpPr>
          <p:nvPr>
            <p:ph type="sldNum" sz="quarter" idx="12"/>
            <p:custDataLst>
              <p:tags r:id="rId5"/>
            </p:custDataLst>
          </p:nvPr>
        </p:nvSpPr>
        <p:spPr>
          <a:xfrm>
            <a:off x="8877600" y="6314400"/>
            <a:ext cx="2700000" cy="316800"/>
          </a:xfrm>
          <a:prstGeom prst="rect">
            <a:avLst/>
          </a:prstGeo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677905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19AE1DC0-3865-3A45-B836-59319E47BDBC}" type="datetime1">
              <a:rPr kumimoji="1" lang="en-US" altLang="zh-CN" smtClean="0"/>
              <a:t>10/11/2026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3408188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182B435F-D81D-F24C-AE2A-02439BD2556F}" type="datetime1">
              <a:rPr kumimoji="1" lang="en-US" altLang="zh-CN" smtClean="0"/>
              <a:t>10/11/2026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6734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4EE211CD-FC2C-FA4A-980F-2363766784BD}" type="datetime1">
              <a:rPr kumimoji="1" lang="en-US" altLang="zh-CN" smtClean="0"/>
              <a:t>10/11/2026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3544758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7F3BF7DF-236F-844E-A432-F963B136F83A}" type="datetime1">
              <a:rPr kumimoji="1" lang="en-US" altLang="zh-CN" smtClean="0"/>
              <a:t>10/11/2026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1556462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0BE3B809-AD63-E048-940C-FC09FC5185C6}" type="datetime1">
              <a:rPr kumimoji="1" lang="en-US" altLang="zh-CN" smtClean="0"/>
              <a:t>10/11/2026</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3107969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D3C80787-7D7E-6544-AA98-AAC6E9857BBA}" type="datetime1">
              <a:rPr kumimoji="1" lang="en-US" altLang="zh-CN" smtClean="0"/>
              <a:t>10/11/2026</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2461792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B275676-413E-D24D-909C-E4E6E1AED578}" type="datetime1">
              <a:rPr kumimoji="1" lang="en-US" altLang="zh-CN" smtClean="0"/>
              <a:t>10/11/2026</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2473663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F700A930-E608-CF4A-A485-F224C56C2964}" type="datetime1">
              <a:rPr kumimoji="1" lang="en-US" altLang="zh-CN" smtClean="0"/>
              <a:t>10/11/2026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3400590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43DD169B-B87B-324D-A913-5FA478E8DB64}" type="datetime1">
              <a:rPr kumimoji="1" lang="en-US" altLang="zh-CN" smtClean="0"/>
              <a:t>10/11/2026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235431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E4D91151-082D-174F-8EEE-2F6759882522}" type="datetime1">
              <a:rPr kumimoji="1" lang="en-US" altLang="zh-CN" smtClean="0"/>
              <a:t>10/11/2026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3056054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431E3DAE-663A-C94D-B49E-6E4E02A1B1D4}" type="datetime1">
              <a:rPr kumimoji="1" lang="en-US" altLang="zh-CN" smtClean="0"/>
              <a:t>10/11/2026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408488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灯片编号占位符 5">
            <a:extLst>
              <a:ext uri="{FF2B5EF4-FFF2-40B4-BE49-F238E27FC236}">
                <a16:creationId xmlns:a16="http://schemas.microsoft.com/office/drawing/2014/main" id="{30394CE8-B549-4B94-8243-C6AC1F0F361F}"/>
              </a:ext>
            </a:extLst>
          </p:cNvPr>
          <p:cNvSpPr>
            <a:spLocks noGrp="1"/>
          </p:cNvSpPr>
          <p:nvPr>
            <p:ph type="sldNum" sz="quarter" idx="12"/>
          </p:nvPr>
        </p:nvSpPr>
        <p:spPr>
          <a:xfrm>
            <a:off x="9448800" y="3175"/>
            <a:ext cx="2743200" cy="365125"/>
          </a:xfrm>
        </p:spPr>
        <p:txBody>
          <a:bodyPr/>
          <a:lstStyle/>
          <a:p>
            <a:fld id="{2D61274B-6331-E748-A81F-D054B7003DB9}" type="slidenum">
              <a:rPr kumimoji="1" lang="zh-CN" altLang="en-US" smtClean="0"/>
              <a:t>‹#›</a:t>
            </a:fld>
            <a:endParaRPr kumimoji="1" lang="zh-CN" altLang="en-US"/>
          </a:p>
        </p:txBody>
      </p:sp>
    </p:spTree>
    <p:extLst>
      <p:ext uri="{BB962C8B-B14F-4D97-AF65-F5344CB8AC3E}">
        <p14:creationId xmlns:p14="http://schemas.microsoft.com/office/powerpoint/2010/main" val="8768757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9" name="灯片编号占位符 8">
            <a:extLst>
              <a:ext uri="{FF2B5EF4-FFF2-40B4-BE49-F238E27FC236}">
                <a16:creationId xmlns:a16="http://schemas.microsoft.com/office/drawing/2014/main" id="{F20BC0AC-E269-4A25-BD45-B2FEE929984C}"/>
              </a:ext>
            </a:extLst>
          </p:cNvPr>
          <p:cNvSpPr>
            <a:spLocks noGrp="1"/>
          </p:cNvSpPr>
          <p:nvPr>
            <p:ph type="sldNum" sz="quarter" idx="12"/>
          </p:nvPr>
        </p:nvSpPr>
        <p:spPr>
          <a:xfrm>
            <a:off x="9217429" y="279762"/>
            <a:ext cx="2743200" cy="365125"/>
          </a:xfrm>
        </p:spPr>
        <p:txBody>
          <a:bodyPr/>
          <a:lstStyle>
            <a:lvl1pPr>
              <a:defRPr sz="2800">
                <a:solidFill>
                  <a:schemeClr val="tx1"/>
                </a:solidFill>
                <a:latin typeface="Arial" panose="020B0604020202020204" pitchFamily="34" charset="0"/>
                <a:cs typeface="Arial" panose="020B0604020202020204" pitchFamily="34" charset="0"/>
              </a:defRPr>
            </a:lvl1pPr>
          </a:lstStyle>
          <a:p>
            <a:fld id="{28102BB4-1A71-40EF-96ED-60976E04CDEE}" type="slidenum">
              <a:rPr lang="zh-CN" altLang="en-US" smtClean="0"/>
              <a:pPr/>
              <a:t>‹#›</a:t>
            </a:fld>
            <a:endParaRPr lang="zh-CN" altLang="en-US" dirty="0"/>
          </a:p>
        </p:txBody>
      </p:sp>
      <p:sp>
        <p:nvSpPr>
          <p:cNvPr id="10" name="任意多边形: 形状 9">
            <a:extLst>
              <a:ext uri="{FF2B5EF4-FFF2-40B4-BE49-F238E27FC236}">
                <a16:creationId xmlns:a16="http://schemas.microsoft.com/office/drawing/2014/main" id="{DC7F1A6D-0470-4F22-A256-9753C0C66347}"/>
              </a:ext>
            </a:extLst>
          </p:cNvPr>
          <p:cNvSpPr/>
          <p:nvPr userDrawn="1"/>
        </p:nvSpPr>
        <p:spPr>
          <a:xfrm>
            <a:off x="432954" y="845751"/>
            <a:ext cx="11426658" cy="108000"/>
          </a:xfrm>
          <a:custGeom>
            <a:avLst/>
            <a:gdLst>
              <a:gd name="connsiteX0" fmla="*/ 2 w 11426658"/>
              <a:gd name="connsiteY0" fmla="*/ 0 h 108000"/>
              <a:gd name="connsiteX1" fmla="*/ 2164018 w 11426658"/>
              <a:gd name="connsiteY1" fmla="*/ 0 h 108000"/>
              <a:gd name="connsiteX2" fmla="*/ 2228214 w 11426658"/>
              <a:gd name="connsiteY2" fmla="*/ 55065 h 108000"/>
              <a:gd name="connsiteX3" fmla="*/ 11426658 w 11426658"/>
              <a:gd name="connsiteY3" fmla="*/ 55065 h 108000"/>
              <a:gd name="connsiteX4" fmla="*/ 11426658 w 11426658"/>
              <a:gd name="connsiteY4" fmla="*/ 108000 h 108000"/>
              <a:gd name="connsiteX5" fmla="*/ 2289926 w 11426658"/>
              <a:gd name="connsiteY5" fmla="*/ 108000 h 108000"/>
              <a:gd name="connsiteX6" fmla="*/ 2 w 11426658"/>
              <a:gd name="connsiteY6" fmla="*/ 108000 h 108000"/>
              <a:gd name="connsiteX7" fmla="*/ 0 w 11426658"/>
              <a:gd name="connsiteY7" fmla="*/ 108000 h 108000"/>
              <a:gd name="connsiteX8" fmla="*/ 0 w 11426658"/>
              <a:gd name="connsiteY8" fmla="*/ 55065 h 108000"/>
              <a:gd name="connsiteX9" fmla="*/ 2 w 11426658"/>
              <a:gd name="connsiteY9" fmla="*/ 55065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26658" h="108000">
                <a:moveTo>
                  <a:pt x="2" y="0"/>
                </a:moveTo>
                <a:lnTo>
                  <a:pt x="2164018" y="0"/>
                </a:lnTo>
                <a:lnTo>
                  <a:pt x="2228214" y="55065"/>
                </a:lnTo>
                <a:lnTo>
                  <a:pt x="11426658" y="55065"/>
                </a:lnTo>
                <a:lnTo>
                  <a:pt x="11426658" y="108000"/>
                </a:lnTo>
                <a:lnTo>
                  <a:pt x="2289926" y="108000"/>
                </a:lnTo>
                <a:lnTo>
                  <a:pt x="2" y="108000"/>
                </a:lnTo>
                <a:lnTo>
                  <a:pt x="0" y="108000"/>
                </a:lnTo>
                <a:lnTo>
                  <a:pt x="0" y="55065"/>
                </a:lnTo>
                <a:lnTo>
                  <a:pt x="2" y="55065"/>
                </a:lnTo>
                <a:close/>
              </a:path>
            </a:pathLst>
          </a:custGeom>
          <a:gradFill>
            <a:gsLst>
              <a:gs pos="0">
                <a:srgbClr val="003DA6"/>
              </a:gs>
              <a:gs pos="20000">
                <a:srgbClr val="009BD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a:solidFill>
                <a:schemeClr val="bg1"/>
              </a:solidFill>
              <a:latin typeface="Calibri" panose="020F0502020204030204" pitchFamily="34" charset="0"/>
              <a:ea typeface="黑体" panose="02010609060101010101" pitchFamily="49" charset="-122"/>
              <a:cs typeface="Calibri" panose="020F0502020204030204" pitchFamily="34" charset="0"/>
            </a:endParaRPr>
          </a:p>
        </p:txBody>
      </p:sp>
    </p:spTree>
    <p:extLst>
      <p:ext uri="{BB962C8B-B14F-4D97-AF65-F5344CB8AC3E}">
        <p14:creationId xmlns:p14="http://schemas.microsoft.com/office/powerpoint/2010/main" val="21583177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4" name="矩形 3"/>
          <p:cNvSpPr/>
          <p:nvPr userDrawn="1"/>
        </p:nvSpPr>
        <p:spPr>
          <a:xfrm>
            <a:off x="493634" y="0"/>
            <a:ext cx="714526" cy="1179982"/>
          </a:xfrm>
          <a:prstGeom prst="rect">
            <a:avLst/>
          </a:prstGeom>
          <a:solidFill>
            <a:srgbClr val="444D57"/>
          </a:soli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标题 1"/>
          <p:cNvSpPr>
            <a:spLocks noGrp="1"/>
          </p:cNvSpPr>
          <p:nvPr>
            <p:ph type="title" hasCustomPrompt="1"/>
          </p:nvPr>
        </p:nvSpPr>
        <p:spPr>
          <a:xfrm>
            <a:off x="1457698" y="551761"/>
            <a:ext cx="3629564" cy="456129"/>
          </a:xfrm>
          <a:prstGeom prst="rect">
            <a:avLst/>
          </a:prstGeom>
        </p:spPr>
        <p:txBody>
          <a:bodyPr>
            <a:noAutofit/>
          </a:bodyPr>
          <a:lstStyle>
            <a:lvl1pPr>
              <a:defRPr sz="2400" b="1">
                <a:solidFill>
                  <a:srgbClr val="211E20"/>
                </a:solidFill>
                <a:ea typeface="思源黑体" panose="020B0500000000000000" pitchFamily="34" charset="-122"/>
              </a:defRPr>
            </a:lvl1pPr>
          </a:lstStyle>
          <a:p>
            <a:r>
              <a:rPr lang="zh-CN" altLang="en-US"/>
              <a:t>单击编辑标题</a:t>
            </a:r>
          </a:p>
        </p:txBody>
      </p:sp>
      <p:sp>
        <p:nvSpPr>
          <p:cNvPr id="9" name="Freeform 5"/>
          <p:cNvSpPr>
            <a:spLocks noEditPoints="1"/>
          </p:cNvSpPr>
          <p:nvPr userDrawn="1"/>
        </p:nvSpPr>
        <p:spPr bwMode="auto">
          <a:xfrm>
            <a:off x="635500" y="530700"/>
            <a:ext cx="441095" cy="525190"/>
          </a:xfrm>
          <a:custGeom>
            <a:avLst/>
            <a:gdLst>
              <a:gd name="T0" fmla="*/ 269 w 537"/>
              <a:gd name="T1" fmla="*/ 0 h 623"/>
              <a:gd name="T2" fmla="*/ 403 w 537"/>
              <a:gd name="T3" fmla="*/ 78 h 623"/>
              <a:gd name="T4" fmla="*/ 537 w 537"/>
              <a:gd name="T5" fmla="*/ 156 h 623"/>
              <a:gd name="T6" fmla="*/ 537 w 537"/>
              <a:gd name="T7" fmla="*/ 311 h 623"/>
              <a:gd name="T8" fmla="*/ 537 w 537"/>
              <a:gd name="T9" fmla="*/ 467 h 623"/>
              <a:gd name="T10" fmla="*/ 403 w 537"/>
              <a:gd name="T11" fmla="*/ 545 h 623"/>
              <a:gd name="T12" fmla="*/ 269 w 537"/>
              <a:gd name="T13" fmla="*/ 623 h 623"/>
              <a:gd name="T14" fmla="*/ 134 w 537"/>
              <a:gd name="T15" fmla="*/ 545 h 623"/>
              <a:gd name="T16" fmla="*/ 0 w 537"/>
              <a:gd name="T17" fmla="*/ 467 h 623"/>
              <a:gd name="T18" fmla="*/ 0 w 537"/>
              <a:gd name="T19" fmla="*/ 311 h 623"/>
              <a:gd name="T20" fmla="*/ 0 w 537"/>
              <a:gd name="T21" fmla="*/ 156 h 623"/>
              <a:gd name="T22" fmla="*/ 134 w 537"/>
              <a:gd name="T23" fmla="*/ 78 h 623"/>
              <a:gd name="T24" fmla="*/ 269 w 537"/>
              <a:gd name="T25" fmla="*/ 0 h 623"/>
              <a:gd name="T26" fmla="*/ 269 w 537"/>
              <a:gd name="T27" fmla="*/ 53 h 623"/>
              <a:gd name="T28" fmla="*/ 380 w 537"/>
              <a:gd name="T29" fmla="*/ 117 h 623"/>
              <a:gd name="T30" fmla="*/ 492 w 537"/>
              <a:gd name="T31" fmla="*/ 182 h 623"/>
              <a:gd name="T32" fmla="*/ 492 w 537"/>
              <a:gd name="T33" fmla="*/ 311 h 623"/>
              <a:gd name="T34" fmla="*/ 492 w 537"/>
              <a:gd name="T35" fmla="*/ 441 h 623"/>
              <a:gd name="T36" fmla="*/ 380 w 537"/>
              <a:gd name="T37" fmla="*/ 505 h 623"/>
              <a:gd name="T38" fmla="*/ 269 w 537"/>
              <a:gd name="T39" fmla="*/ 570 h 623"/>
              <a:gd name="T40" fmla="*/ 157 w 537"/>
              <a:gd name="T41" fmla="*/ 505 h 623"/>
              <a:gd name="T42" fmla="*/ 46 w 537"/>
              <a:gd name="T43" fmla="*/ 441 h 623"/>
              <a:gd name="T44" fmla="*/ 46 w 537"/>
              <a:gd name="T45" fmla="*/ 311 h 623"/>
              <a:gd name="T46" fmla="*/ 46 w 537"/>
              <a:gd name="T47" fmla="*/ 182 h 623"/>
              <a:gd name="T48" fmla="*/ 157 w 537"/>
              <a:gd name="T49" fmla="*/ 117 h 623"/>
              <a:gd name="T50" fmla="*/ 269 w 537"/>
              <a:gd name="T51" fmla="*/ 53 h 623"/>
              <a:gd name="T52" fmla="*/ 215 w 537"/>
              <a:gd name="T53" fmla="*/ 455 h 623"/>
              <a:gd name="T54" fmla="*/ 367 w 537"/>
              <a:gd name="T55" fmla="*/ 455 h 623"/>
              <a:gd name="T56" fmla="*/ 375 w 537"/>
              <a:gd name="T57" fmla="*/ 463 h 623"/>
              <a:gd name="T58" fmla="*/ 367 w 537"/>
              <a:gd name="T59" fmla="*/ 471 h 623"/>
              <a:gd name="T60" fmla="*/ 215 w 537"/>
              <a:gd name="T61" fmla="*/ 471 h 623"/>
              <a:gd name="T62" fmla="*/ 207 w 537"/>
              <a:gd name="T63" fmla="*/ 463 h 623"/>
              <a:gd name="T64" fmla="*/ 215 w 537"/>
              <a:gd name="T65" fmla="*/ 455 h 623"/>
              <a:gd name="T66" fmla="*/ 218 w 537"/>
              <a:gd name="T67" fmla="*/ 380 h 623"/>
              <a:gd name="T68" fmla="*/ 302 w 537"/>
              <a:gd name="T69" fmla="*/ 242 h 623"/>
              <a:gd name="T70" fmla="*/ 331 w 537"/>
              <a:gd name="T71" fmla="*/ 260 h 623"/>
              <a:gd name="T72" fmla="*/ 248 w 537"/>
              <a:gd name="T73" fmla="*/ 398 h 623"/>
              <a:gd name="T74" fmla="*/ 218 w 537"/>
              <a:gd name="T75" fmla="*/ 380 h 623"/>
              <a:gd name="T76" fmla="*/ 159 w 537"/>
              <a:gd name="T77" fmla="*/ 344 h 623"/>
              <a:gd name="T78" fmla="*/ 243 w 537"/>
              <a:gd name="T79" fmla="*/ 207 h 623"/>
              <a:gd name="T80" fmla="*/ 272 w 537"/>
              <a:gd name="T81" fmla="*/ 224 h 623"/>
              <a:gd name="T82" fmla="*/ 189 w 537"/>
              <a:gd name="T83" fmla="*/ 362 h 623"/>
              <a:gd name="T84" fmla="*/ 159 w 537"/>
              <a:gd name="T85" fmla="*/ 344 h 623"/>
              <a:gd name="T86" fmla="*/ 146 w 537"/>
              <a:gd name="T87" fmla="*/ 456 h 623"/>
              <a:gd name="T88" fmla="*/ 154 w 537"/>
              <a:gd name="T89" fmla="*/ 387 h 623"/>
              <a:gd name="T90" fmla="*/ 211 w 537"/>
              <a:gd name="T91" fmla="*/ 422 h 623"/>
              <a:gd name="T92" fmla="*/ 155 w 537"/>
              <a:gd name="T93" fmla="*/ 461 h 623"/>
              <a:gd name="T94" fmla="*/ 146 w 537"/>
              <a:gd name="T95" fmla="*/ 456 h 623"/>
              <a:gd name="T96" fmla="*/ 266 w 537"/>
              <a:gd name="T97" fmla="*/ 168 h 623"/>
              <a:gd name="T98" fmla="*/ 253 w 537"/>
              <a:gd name="T99" fmla="*/ 188 h 623"/>
              <a:gd name="T100" fmla="*/ 342 w 537"/>
              <a:gd name="T101" fmla="*/ 242 h 623"/>
              <a:gd name="T102" fmla="*/ 354 w 537"/>
              <a:gd name="T103" fmla="*/ 222 h 623"/>
              <a:gd name="T104" fmla="*/ 266 w 537"/>
              <a:gd name="T105" fmla="*/ 168 h 623"/>
              <a:gd name="T106" fmla="*/ 285 w 537"/>
              <a:gd name="T107" fmla="*/ 138 h 623"/>
              <a:gd name="T108" fmla="*/ 311 w 537"/>
              <a:gd name="T109" fmla="*/ 131 h 623"/>
              <a:gd name="T110" fmla="*/ 366 w 537"/>
              <a:gd name="T111" fmla="*/ 165 h 623"/>
              <a:gd name="T112" fmla="*/ 373 w 537"/>
              <a:gd name="T113" fmla="*/ 191 h 623"/>
              <a:gd name="T114" fmla="*/ 365 w 537"/>
              <a:gd name="T115" fmla="*/ 204 h 623"/>
              <a:gd name="T116" fmla="*/ 277 w 537"/>
              <a:gd name="T117" fmla="*/ 150 h 623"/>
              <a:gd name="T118" fmla="*/ 285 w 537"/>
              <a:gd name="T119" fmla="*/ 138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37" h="623">
                <a:moveTo>
                  <a:pt x="269" y="0"/>
                </a:moveTo>
                <a:lnTo>
                  <a:pt x="403" y="78"/>
                </a:lnTo>
                <a:lnTo>
                  <a:pt x="537" y="156"/>
                </a:lnTo>
                <a:lnTo>
                  <a:pt x="537" y="311"/>
                </a:lnTo>
                <a:lnTo>
                  <a:pt x="537" y="467"/>
                </a:lnTo>
                <a:lnTo>
                  <a:pt x="403" y="545"/>
                </a:lnTo>
                <a:lnTo>
                  <a:pt x="269" y="623"/>
                </a:lnTo>
                <a:lnTo>
                  <a:pt x="134" y="545"/>
                </a:lnTo>
                <a:lnTo>
                  <a:pt x="0" y="467"/>
                </a:lnTo>
                <a:lnTo>
                  <a:pt x="0" y="311"/>
                </a:lnTo>
                <a:lnTo>
                  <a:pt x="0" y="156"/>
                </a:lnTo>
                <a:lnTo>
                  <a:pt x="134" y="78"/>
                </a:lnTo>
                <a:lnTo>
                  <a:pt x="269" y="0"/>
                </a:lnTo>
                <a:close/>
                <a:moveTo>
                  <a:pt x="269" y="53"/>
                </a:moveTo>
                <a:lnTo>
                  <a:pt x="380" y="117"/>
                </a:lnTo>
                <a:lnTo>
                  <a:pt x="492" y="182"/>
                </a:lnTo>
                <a:lnTo>
                  <a:pt x="492" y="311"/>
                </a:lnTo>
                <a:lnTo>
                  <a:pt x="492" y="441"/>
                </a:lnTo>
                <a:lnTo>
                  <a:pt x="380" y="505"/>
                </a:lnTo>
                <a:lnTo>
                  <a:pt x="269" y="570"/>
                </a:lnTo>
                <a:lnTo>
                  <a:pt x="157" y="505"/>
                </a:lnTo>
                <a:lnTo>
                  <a:pt x="46" y="441"/>
                </a:lnTo>
                <a:lnTo>
                  <a:pt x="46" y="311"/>
                </a:lnTo>
                <a:lnTo>
                  <a:pt x="46" y="182"/>
                </a:lnTo>
                <a:lnTo>
                  <a:pt x="157" y="117"/>
                </a:lnTo>
                <a:lnTo>
                  <a:pt x="269" y="53"/>
                </a:lnTo>
                <a:close/>
                <a:moveTo>
                  <a:pt x="215" y="455"/>
                </a:moveTo>
                <a:lnTo>
                  <a:pt x="367" y="455"/>
                </a:lnTo>
                <a:cubicBezTo>
                  <a:pt x="371" y="455"/>
                  <a:pt x="375" y="458"/>
                  <a:pt x="375" y="463"/>
                </a:cubicBezTo>
                <a:cubicBezTo>
                  <a:pt x="375" y="467"/>
                  <a:pt x="371" y="471"/>
                  <a:pt x="367" y="471"/>
                </a:cubicBezTo>
                <a:lnTo>
                  <a:pt x="215" y="471"/>
                </a:lnTo>
                <a:cubicBezTo>
                  <a:pt x="211" y="471"/>
                  <a:pt x="207" y="467"/>
                  <a:pt x="207" y="463"/>
                </a:cubicBezTo>
                <a:cubicBezTo>
                  <a:pt x="207" y="458"/>
                  <a:pt x="211" y="455"/>
                  <a:pt x="215" y="455"/>
                </a:cubicBezTo>
                <a:close/>
                <a:moveTo>
                  <a:pt x="218" y="380"/>
                </a:moveTo>
                <a:lnTo>
                  <a:pt x="302" y="242"/>
                </a:lnTo>
                <a:lnTo>
                  <a:pt x="331" y="260"/>
                </a:lnTo>
                <a:lnTo>
                  <a:pt x="248" y="398"/>
                </a:lnTo>
                <a:lnTo>
                  <a:pt x="218" y="380"/>
                </a:lnTo>
                <a:close/>
                <a:moveTo>
                  <a:pt x="159" y="344"/>
                </a:moveTo>
                <a:lnTo>
                  <a:pt x="243" y="207"/>
                </a:lnTo>
                <a:lnTo>
                  <a:pt x="272" y="224"/>
                </a:lnTo>
                <a:lnTo>
                  <a:pt x="189" y="362"/>
                </a:lnTo>
                <a:lnTo>
                  <a:pt x="159" y="344"/>
                </a:lnTo>
                <a:close/>
                <a:moveTo>
                  <a:pt x="146" y="456"/>
                </a:moveTo>
                <a:lnTo>
                  <a:pt x="154" y="387"/>
                </a:lnTo>
                <a:lnTo>
                  <a:pt x="211" y="422"/>
                </a:lnTo>
                <a:lnTo>
                  <a:pt x="155" y="461"/>
                </a:lnTo>
                <a:cubicBezTo>
                  <a:pt x="149" y="465"/>
                  <a:pt x="145" y="463"/>
                  <a:pt x="146" y="456"/>
                </a:cubicBezTo>
                <a:close/>
                <a:moveTo>
                  <a:pt x="266" y="168"/>
                </a:moveTo>
                <a:lnTo>
                  <a:pt x="253" y="188"/>
                </a:lnTo>
                <a:lnTo>
                  <a:pt x="342" y="242"/>
                </a:lnTo>
                <a:lnTo>
                  <a:pt x="354" y="222"/>
                </a:lnTo>
                <a:lnTo>
                  <a:pt x="266" y="168"/>
                </a:lnTo>
                <a:close/>
                <a:moveTo>
                  <a:pt x="285" y="138"/>
                </a:moveTo>
                <a:cubicBezTo>
                  <a:pt x="290" y="129"/>
                  <a:pt x="302" y="126"/>
                  <a:pt x="311" y="131"/>
                </a:cubicBezTo>
                <a:lnTo>
                  <a:pt x="366" y="165"/>
                </a:lnTo>
                <a:cubicBezTo>
                  <a:pt x="375" y="170"/>
                  <a:pt x="378" y="182"/>
                  <a:pt x="373" y="191"/>
                </a:cubicBezTo>
                <a:lnTo>
                  <a:pt x="365" y="204"/>
                </a:lnTo>
                <a:lnTo>
                  <a:pt x="277" y="150"/>
                </a:lnTo>
                <a:lnTo>
                  <a:pt x="285" y="138"/>
                </a:lnTo>
                <a:close/>
              </a:path>
            </a:pathLst>
          </a:custGeom>
          <a:solidFill>
            <a:schemeClr val="bg1"/>
          </a:solidFill>
          <a:ln>
            <a:noFill/>
          </a:ln>
        </p:spPr>
        <p:txBody>
          <a:bodyPr vert="horz" wrap="square" lIns="91392" tIns="45696" rIns="91392" bIns="45696" numCol="1" anchor="t" anchorCtr="0" compatLnSpc="1"/>
          <a:lstStyle/>
          <a:p>
            <a:endParaRPr lang="zh-CN" altLang="en-US" sz="1800">
              <a:solidFill>
                <a:schemeClr val="bg1"/>
              </a:solidFill>
            </a:endParaRPr>
          </a:p>
        </p:txBody>
      </p:sp>
    </p:spTree>
    <p:extLst>
      <p:ext uri="{BB962C8B-B14F-4D97-AF65-F5344CB8AC3E}">
        <p14:creationId xmlns:p14="http://schemas.microsoft.com/office/powerpoint/2010/main" val="1600655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A684B914-9BB2-4713-9EBF-61770F406B81}" type="datetime1">
              <a:rPr lang="zh-CN" altLang="en-US" smtClean="0"/>
              <a:t>2026-10-11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2B6538A-33AE-45EB-868C-14B9E34ED961}" type="slidenum">
              <a:rPr lang="zh-CN" altLang="en-US" smtClean="0"/>
              <a:t>‹#›</a:t>
            </a:fld>
            <a:endParaRPr lang="zh-CN" altLang="en-US"/>
          </a:p>
        </p:txBody>
      </p:sp>
    </p:spTree>
    <p:extLst>
      <p:ext uri="{BB962C8B-B14F-4D97-AF65-F5344CB8AC3E}">
        <p14:creationId xmlns:p14="http://schemas.microsoft.com/office/powerpoint/2010/main" val="15381496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6" Type="http://schemas.openxmlformats.org/officeDocument/2006/relationships/theme" Target="../theme/theme2.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84B914-9BB2-4713-9EBF-61770F406B81}" type="datetime1">
              <a:rPr lang="zh-CN" altLang="en-US" smtClean="0"/>
              <a:t>2026-10-11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B6538A-33AE-45EB-868C-14B9E34ED96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7" r:id="rId4"/>
    <p:sldLayoutId id="214748366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EF1D8B-7A13-9442-9F8C-4C6BB9A4403E}" type="datetime1">
              <a:rPr kumimoji="1" lang="en-US" altLang="zh-CN" smtClean="0"/>
              <a:t>10/11/2026</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9448800" y="3175"/>
            <a:ext cx="2743200" cy="365125"/>
          </a:xfrm>
          <a:prstGeom prst="rect">
            <a:avLst/>
          </a:prstGeom>
        </p:spPr>
        <p:txBody>
          <a:bodyPr vert="horz" lIns="91440" tIns="45720" rIns="91440" bIns="45720" rtlCol="0" anchor="ctr"/>
          <a:lstStyle>
            <a:lvl1pPr algn="r">
              <a:defRPr sz="2000">
                <a:solidFill>
                  <a:schemeClr val="tx1">
                    <a:tint val="75000"/>
                  </a:schemeClr>
                </a:solidFill>
                <a:latin typeface="微软雅黑" panose="020B0503020204020204" pitchFamily="34" charset="-122"/>
                <a:ea typeface="微软雅黑" panose="020B0503020204020204" pitchFamily="34" charset="-122"/>
              </a:defRPr>
            </a:lvl1pPr>
          </a:lstStyle>
          <a:p>
            <a:fld id="{2D61274B-6331-E748-A81F-D054B7003DB9}" type="slidenum">
              <a:rPr kumimoji="1" lang="zh-CN" altLang="en-US" smtClean="0"/>
              <a:pPr/>
              <a:t>‹#›</a:t>
            </a:fld>
            <a:endParaRPr kumimoji="1" lang="zh-CN" altLang="en-US"/>
          </a:p>
        </p:txBody>
      </p:sp>
    </p:spTree>
    <p:extLst>
      <p:ext uri="{BB962C8B-B14F-4D97-AF65-F5344CB8AC3E}">
        <p14:creationId xmlns:p14="http://schemas.microsoft.com/office/powerpoint/2010/main" val="149472180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9"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5.xml"/><Relationship Id="rId1" Type="http://schemas.openxmlformats.org/officeDocument/2006/relationships/tags" Target="../tags/tag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image" Target="../media/image11.png"/><Relationship Id="rId26" Type="http://schemas.openxmlformats.org/officeDocument/2006/relationships/image" Target="../media/image19.png"/><Relationship Id="rId3" Type="http://schemas.openxmlformats.org/officeDocument/2006/relationships/tags" Target="../tags/tag15.xml"/><Relationship Id="rId21" Type="http://schemas.openxmlformats.org/officeDocument/2006/relationships/image" Target="../media/image14.png"/><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image" Target="../media/image10.png"/><Relationship Id="rId25" Type="http://schemas.openxmlformats.org/officeDocument/2006/relationships/image" Target="../media/image18.png"/><Relationship Id="rId2" Type="http://schemas.openxmlformats.org/officeDocument/2006/relationships/tags" Target="../tags/tag14.xml"/><Relationship Id="rId16" Type="http://schemas.openxmlformats.org/officeDocument/2006/relationships/notesSlide" Target="../notesSlides/notesSlide9.xml"/><Relationship Id="rId20" Type="http://schemas.openxmlformats.org/officeDocument/2006/relationships/image" Target="../media/image13.png"/><Relationship Id="rId29" Type="http://schemas.openxmlformats.org/officeDocument/2006/relationships/image" Target="../media/image22.png"/><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24" Type="http://schemas.openxmlformats.org/officeDocument/2006/relationships/image" Target="../media/image17.png"/><Relationship Id="rId32" Type="http://schemas.openxmlformats.org/officeDocument/2006/relationships/image" Target="../media/image25.png"/><Relationship Id="rId5" Type="http://schemas.openxmlformats.org/officeDocument/2006/relationships/tags" Target="../tags/tag17.xml"/><Relationship Id="rId15" Type="http://schemas.openxmlformats.org/officeDocument/2006/relationships/slideLayout" Target="../slideLayouts/slideLayout12.xml"/><Relationship Id="rId23" Type="http://schemas.openxmlformats.org/officeDocument/2006/relationships/image" Target="../media/image16.png"/><Relationship Id="rId28" Type="http://schemas.openxmlformats.org/officeDocument/2006/relationships/image" Target="../media/image21.png"/><Relationship Id="rId10" Type="http://schemas.openxmlformats.org/officeDocument/2006/relationships/tags" Target="../tags/tag22.xml"/><Relationship Id="rId19" Type="http://schemas.openxmlformats.org/officeDocument/2006/relationships/image" Target="../media/image12.png"/><Relationship Id="rId31" Type="http://schemas.openxmlformats.org/officeDocument/2006/relationships/image" Target="../media/image24.png"/><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 Id="rId22" Type="http://schemas.openxmlformats.org/officeDocument/2006/relationships/image" Target="../media/image15.png"/><Relationship Id="rId27" Type="http://schemas.openxmlformats.org/officeDocument/2006/relationships/image" Target="../media/image20.png"/><Relationship Id="rId30" Type="http://schemas.openxmlformats.org/officeDocument/2006/relationships/image" Target="../media/image23.svg"/></Relationships>
</file>

<file path=ppt/slides/_rels/slide15.xml.rels><?xml version="1.0" encoding="UTF-8" standalone="yes"?>
<Relationships xmlns="http://schemas.openxmlformats.org/package/2006/relationships"><Relationship Id="rId13" Type="http://schemas.openxmlformats.org/officeDocument/2006/relationships/tags" Target="../tags/tag39.xml"/><Relationship Id="rId18" Type="http://schemas.openxmlformats.org/officeDocument/2006/relationships/tags" Target="../tags/tag44.xml"/><Relationship Id="rId26" Type="http://schemas.openxmlformats.org/officeDocument/2006/relationships/tags" Target="../tags/tag52.xml"/><Relationship Id="rId39" Type="http://schemas.openxmlformats.org/officeDocument/2006/relationships/tags" Target="../tags/tag65.xml"/><Relationship Id="rId21" Type="http://schemas.openxmlformats.org/officeDocument/2006/relationships/tags" Target="../tags/tag47.xml"/><Relationship Id="rId34" Type="http://schemas.openxmlformats.org/officeDocument/2006/relationships/tags" Target="../tags/tag60.xml"/><Relationship Id="rId42" Type="http://schemas.openxmlformats.org/officeDocument/2006/relationships/image" Target="../media/image26.png"/><Relationship Id="rId47" Type="http://schemas.openxmlformats.org/officeDocument/2006/relationships/image" Target="../media/image31.svg"/><Relationship Id="rId50" Type="http://schemas.openxmlformats.org/officeDocument/2006/relationships/image" Target="../media/image34.png"/><Relationship Id="rId55" Type="http://schemas.openxmlformats.org/officeDocument/2006/relationships/image" Target="../media/image39.png"/><Relationship Id="rId7" Type="http://schemas.openxmlformats.org/officeDocument/2006/relationships/tags" Target="../tags/tag33.xml"/><Relationship Id="rId2" Type="http://schemas.openxmlformats.org/officeDocument/2006/relationships/tags" Target="../tags/tag28.xml"/><Relationship Id="rId16" Type="http://schemas.openxmlformats.org/officeDocument/2006/relationships/tags" Target="../tags/tag42.xml"/><Relationship Id="rId29" Type="http://schemas.openxmlformats.org/officeDocument/2006/relationships/tags" Target="../tags/tag55.xml"/><Relationship Id="rId11" Type="http://schemas.openxmlformats.org/officeDocument/2006/relationships/tags" Target="../tags/tag37.xml"/><Relationship Id="rId24" Type="http://schemas.openxmlformats.org/officeDocument/2006/relationships/tags" Target="../tags/tag50.xml"/><Relationship Id="rId32" Type="http://schemas.openxmlformats.org/officeDocument/2006/relationships/tags" Target="../tags/tag58.xml"/><Relationship Id="rId37" Type="http://schemas.openxmlformats.org/officeDocument/2006/relationships/tags" Target="../tags/tag63.xml"/><Relationship Id="rId40" Type="http://schemas.openxmlformats.org/officeDocument/2006/relationships/slideLayout" Target="../slideLayouts/slideLayout12.xml"/><Relationship Id="rId45" Type="http://schemas.openxmlformats.org/officeDocument/2006/relationships/image" Target="../media/image29.svg"/><Relationship Id="rId53" Type="http://schemas.openxmlformats.org/officeDocument/2006/relationships/image" Target="../media/image37.png"/><Relationship Id="rId58" Type="http://schemas.openxmlformats.org/officeDocument/2006/relationships/image" Target="../media/image23.svg"/><Relationship Id="rId5" Type="http://schemas.openxmlformats.org/officeDocument/2006/relationships/tags" Target="../tags/tag31.xml"/><Relationship Id="rId19" Type="http://schemas.openxmlformats.org/officeDocument/2006/relationships/tags" Target="../tags/tag45.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 Id="rId22" Type="http://schemas.openxmlformats.org/officeDocument/2006/relationships/tags" Target="../tags/tag48.xml"/><Relationship Id="rId27" Type="http://schemas.openxmlformats.org/officeDocument/2006/relationships/tags" Target="../tags/tag53.xml"/><Relationship Id="rId30" Type="http://schemas.openxmlformats.org/officeDocument/2006/relationships/tags" Target="../tags/tag56.xml"/><Relationship Id="rId35" Type="http://schemas.openxmlformats.org/officeDocument/2006/relationships/tags" Target="../tags/tag61.xml"/><Relationship Id="rId43" Type="http://schemas.openxmlformats.org/officeDocument/2006/relationships/image" Target="../media/image27.svg"/><Relationship Id="rId48" Type="http://schemas.openxmlformats.org/officeDocument/2006/relationships/image" Target="../media/image32.png"/><Relationship Id="rId56" Type="http://schemas.openxmlformats.org/officeDocument/2006/relationships/image" Target="../media/image40.png"/><Relationship Id="rId8" Type="http://schemas.openxmlformats.org/officeDocument/2006/relationships/tags" Target="../tags/tag34.xml"/><Relationship Id="rId51" Type="http://schemas.openxmlformats.org/officeDocument/2006/relationships/image" Target="../media/image35.svg"/><Relationship Id="rId3" Type="http://schemas.openxmlformats.org/officeDocument/2006/relationships/tags" Target="../tags/tag29.xml"/><Relationship Id="rId12" Type="http://schemas.openxmlformats.org/officeDocument/2006/relationships/tags" Target="../tags/tag38.xml"/><Relationship Id="rId17" Type="http://schemas.openxmlformats.org/officeDocument/2006/relationships/tags" Target="../tags/tag43.xml"/><Relationship Id="rId25" Type="http://schemas.openxmlformats.org/officeDocument/2006/relationships/tags" Target="../tags/tag51.xml"/><Relationship Id="rId33" Type="http://schemas.openxmlformats.org/officeDocument/2006/relationships/tags" Target="../tags/tag59.xml"/><Relationship Id="rId38" Type="http://schemas.openxmlformats.org/officeDocument/2006/relationships/tags" Target="../tags/tag64.xml"/><Relationship Id="rId46" Type="http://schemas.openxmlformats.org/officeDocument/2006/relationships/image" Target="../media/image30.png"/><Relationship Id="rId59" Type="http://schemas.openxmlformats.org/officeDocument/2006/relationships/image" Target="../media/image24.png"/><Relationship Id="rId20" Type="http://schemas.openxmlformats.org/officeDocument/2006/relationships/tags" Target="../tags/tag46.xml"/><Relationship Id="rId41" Type="http://schemas.openxmlformats.org/officeDocument/2006/relationships/notesSlide" Target="../notesSlides/notesSlide10.xml"/><Relationship Id="rId54" Type="http://schemas.openxmlformats.org/officeDocument/2006/relationships/image" Target="../media/image38.png"/><Relationship Id="rId1" Type="http://schemas.openxmlformats.org/officeDocument/2006/relationships/tags" Target="../tags/tag27.xml"/><Relationship Id="rId6" Type="http://schemas.openxmlformats.org/officeDocument/2006/relationships/tags" Target="../tags/tag32.xml"/><Relationship Id="rId15" Type="http://schemas.openxmlformats.org/officeDocument/2006/relationships/tags" Target="../tags/tag41.xml"/><Relationship Id="rId23" Type="http://schemas.openxmlformats.org/officeDocument/2006/relationships/tags" Target="../tags/tag49.xml"/><Relationship Id="rId28" Type="http://schemas.openxmlformats.org/officeDocument/2006/relationships/tags" Target="../tags/tag54.xml"/><Relationship Id="rId36" Type="http://schemas.openxmlformats.org/officeDocument/2006/relationships/tags" Target="../tags/tag62.xml"/><Relationship Id="rId49" Type="http://schemas.openxmlformats.org/officeDocument/2006/relationships/image" Target="../media/image33.svg"/><Relationship Id="rId57" Type="http://schemas.openxmlformats.org/officeDocument/2006/relationships/image" Target="../media/image22.png"/><Relationship Id="rId10" Type="http://schemas.openxmlformats.org/officeDocument/2006/relationships/tags" Target="../tags/tag36.xml"/><Relationship Id="rId31" Type="http://schemas.openxmlformats.org/officeDocument/2006/relationships/tags" Target="../tags/tag57.xml"/><Relationship Id="rId44" Type="http://schemas.openxmlformats.org/officeDocument/2006/relationships/image" Target="../media/image28.png"/><Relationship Id="rId52" Type="http://schemas.openxmlformats.org/officeDocument/2006/relationships/image" Target="../media/image36.png"/><Relationship Id="rId60"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22.png"/><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image" Target="../media/image44.png"/><Relationship Id="rId2" Type="http://schemas.openxmlformats.org/officeDocument/2006/relationships/tags" Target="../tags/tag67.xml"/><Relationship Id="rId16" Type="http://schemas.openxmlformats.org/officeDocument/2006/relationships/image" Target="../media/image25.png"/><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image" Target="../media/image43.png"/><Relationship Id="rId5" Type="http://schemas.openxmlformats.org/officeDocument/2006/relationships/tags" Target="../tags/tag70.xml"/><Relationship Id="rId15" Type="http://schemas.openxmlformats.org/officeDocument/2006/relationships/image" Target="../media/image24.png"/><Relationship Id="rId10" Type="http://schemas.openxmlformats.org/officeDocument/2006/relationships/image" Target="../media/image42.png"/><Relationship Id="rId4" Type="http://schemas.openxmlformats.org/officeDocument/2006/relationships/tags" Target="../tags/tag69.xml"/><Relationship Id="rId9" Type="http://schemas.openxmlformats.org/officeDocument/2006/relationships/notesSlide" Target="../notesSlides/notesSlide12.xml"/><Relationship Id="rId14" Type="http://schemas.openxmlformats.org/officeDocument/2006/relationships/image" Target="../media/image23.sv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0.xml"/><Relationship Id="rId1" Type="http://schemas.openxmlformats.org/officeDocument/2006/relationships/tags" Target="../tags/tag73.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image" Target="../media/image47.jpg"/><Relationship Id="rId7" Type="http://schemas.openxmlformats.org/officeDocument/2006/relationships/image" Target="../media/image51.jpeg"/><Relationship Id="rId2" Type="http://schemas.openxmlformats.org/officeDocument/2006/relationships/image" Target="../media/image46.jpeg"/><Relationship Id="rId1" Type="http://schemas.openxmlformats.org/officeDocument/2006/relationships/slideLayout" Target="../slideLayouts/slideLayout20.xml"/><Relationship Id="rId6" Type="http://schemas.openxmlformats.org/officeDocument/2006/relationships/image" Target="../media/image50.jpeg"/><Relationship Id="rId5" Type="http://schemas.openxmlformats.org/officeDocument/2006/relationships/image" Target="../media/image49.png"/><Relationship Id="rId4" Type="http://schemas.openxmlformats.org/officeDocument/2006/relationships/image" Target="../media/image48.jpg"/><Relationship Id="rId9" Type="http://schemas.openxmlformats.org/officeDocument/2006/relationships/image" Target="../media/image53.jpe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74.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2B6538A-33AE-45EB-868C-14B9E34ED961}" type="slidenum">
              <a:rPr lang="zh-CN" altLang="en-US" smtClean="0"/>
              <a:t>1</a:t>
            </a:fld>
            <a:endParaRPr lang="zh-CN" altLang="en-US"/>
          </a:p>
        </p:txBody>
      </p:sp>
      <p:sp>
        <p:nvSpPr>
          <p:cNvPr id="3" name="PA_矩形 7"/>
          <p:cNvSpPr/>
          <p:nvPr>
            <p:custDataLst>
              <p:tags r:id="rId1"/>
            </p:custDataLst>
          </p:nvPr>
        </p:nvSpPr>
        <p:spPr>
          <a:xfrm>
            <a:off x="0" y="3747752"/>
            <a:ext cx="12192000" cy="3110248"/>
          </a:xfrm>
          <a:prstGeom prst="rect">
            <a:avLst/>
          </a:prstGeom>
          <a:solidFill>
            <a:schemeClr val="accent5">
              <a:lumMod val="75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8"/>
          <p:cNvSpPr txBox="1"/>
          <p:nvPr/>
        </p:nvSpPr>
        <p:spPr>
          <a:xfrm>
            <a:off x="2380605" y="1924825"/>
            <a:ext cx="7357766" cy="830997"/>
          </a:xfrm>
          <a:prstGeom prst="rect">
            <a:avLst/>
          </a:prstGeom>
          <a:noFill/>
        </p:spPr>
        <p:txBody>
          <a:bodyPr wrap="square" lIns="0" tIns="0" rIns="0" bIns="0" rtlCol="0" anchor="ctr">
            <a:spAutoFit/>
          </a:bodyPr>
          <a:lstStyle/>
          <a:p>
            <a:pPr algn="ctr"/>
            <a:r>
              <a:rPr lang="zh-CN" altLang="en-US" sz="54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心之所向，步履往之</a:t>
            </a:r>
          </a:p>
        </p:txBody>
      </p:sp>
      <p:sp>
        <p:nvSpPr>
          <p:cNvPr id="6" name="TextBox 8"/>
          <p:cNvSpPr txBox="1"/>
          <p:nvPr/>
        </p:nvSpPr>
        <p:spPr>
          <a:xfrm>
            <a:off x="2420501" y="4257121"/>
            <a:ext cx="7277974" cy="1688411"/>
          </a:xfrm>
          <a:prstGeom prst="rect">
            <a:avLst/>
          </a:prstGeom>
          <a:noFill/>
        </p:spPr>
        <p:txBody>
          <a:bodyPr wrap="square" lIns="0" tIns="0" rIns="0" bIns="0" rtlCol="0" anchor="ctr">
            <a:spAutoFit/>
          </a:bodyPr>
          <a:lstStyle/>
          <a:p>
            <a:pPr algn="ctr">
              <a:lnSpc>
                <a:spcPct val="150000"/>
              </a:lnSpc>
            </a:pPr>
            <a:r>
              <a:rPr lang="zh-CN" altLang="en-US" sz="2800">
                <a:solidFill>
                  <a:schemeClr val="bg1"/>
                </a:solidFill>
                <a:latin typeface="Arial" panose="020B0604020202020204" pitchFamily="34" charset="0"/>
                <a:ea typeface="微软雅黑" panose="020B0503020204020204" pitchFamily="34" charset="-122"/>
                <a:sym typeface="Arial" panose="020B0604020202020204" pitchFamily="34" charset="0"/>
              </a:rPr>
              <a:t>余志椋</a:t>
            </a:r>
            <a:endParaRPr lang="en-US" altLang="zh-CN" sz="280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lnSpc>
                <a:spcPct val="150000"/>
              </a:lnSpc>
            </a:pPr>
            <a:r>
              <a:rPr lang="zh-CN" altLang="en-US" sz="2400">
                <a:solidFill>
                  <a:schemeClr val="bg1"/>
                </a:solidFill>
                <a:latin typeface="Arial" panose="020B0604020202020204" pitchFamily="34" charset="0"/>
                <a:ea typeface="微软雅黑" panose="020B0503020204020204" pitchFamily="34" charset="-122"/>
                <a:sym typeface="Arial" panose="020B0604020202020204" pitchFamily="34" charset="0"/>
              </a:rPr>
              <a:t>中共</a:t>
            </a:r>
            <a:r>
              <a:rPr lang="zh-CN" altLang="en-US" sz="2400" dirty="0">
                <a:solidFill>
                  <a:schemeClr val="bg1"/>
                </a:solidFill>
                <a:latin typeface="Arial" panose="020B0604020202020204" pitchFamily="34" charset="0"/>
                <a:ea typeface="微软雅黑" panose="020B0503020204020204" pitchFamily="34" charset="-122"/>
                <a:sym typeface="Arial" panose="020B0604020202020204" pitchFamily="34" charset="0"/>
              </a:rPr>
              <a:t>党员</a:t>
            </a:r>
            <a:endParaRPr lang="en-US" altLang="zh-CN" sz="2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lnSpc>
                <a:spcPct val="150000"/>
              </a:lnSpc>
            </a:pPr>
            <a:r>
              <a:rPr lang="zh-CN" altLang="en-US" sz="2400" dirty="0">
                <a:solidFill>
                  <a:schemeClr val="bg1"/>
                </a:solidFill>
                <a:latin typeface="Arial" panose="020B0604020202020204" pitchFamily="34" charset="0"/>
                <a:ea typeface="微软雅黑" panose="020B0503020204020204" pitchFamily="34" charset="-122"/>
                <a:sym typeface="Arial" panose="020B0604020202020204" pitchFamily="34" charset="0"/>
              </a:rPr>
              <a:t>武汉</a:t>
            </a:r>
            <a:r>
              <a:rPr lang="zh-CN" altLang="en-US" sz="2400">
                <a:solidFill>
                  <a:schemeClr val="bg1"/>
                </a:solidFill>
                <a:latin typeface="Arial" panose="020B0604020202020204" pitchFamily="34" charset="0"/>
                <a:ea typeface="微软雅黑" panose="020B0503020204020204" pitchFamily="34" charset="-122"/>
                <a:sym typeface="Arial" panose="020B0604020202020204" pitchFamily="34" charset="0"/>
              </a:rPr>
              <a:t>大学  计算机学院计算机科学与技术专业</a:t>
            </a:r>
            <a:endParaRPr lang="zh-CN" altLang="en-US" sz="24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ransition spd="slow" advTm="14657">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2B6538A-33AE-45EB-868C-14B9E34ED961}" type="slidenum">
              <a:rPr lang="zh-CN" altLang="en-US" smtClean="0"/>
              <a:t>2</a:t>
            </a:fld>
            <a:endParaRPr lang="zh-CN" altLang="en-US"/>
          </a:p>
        </p:txBody>
      </p:sp>
      <p:sp>
        <p:nvSpPr>
          <p:cNvPr id="3" name="PA_矩形 7"/>
          <p:cNvSpPr/>
          <p:nvPr>
            <p:custDataLst>
              <p:tags r:id="rId1"/>
            </p:custDataLst>
          </p:nvPr>
        </p:nvSpPr>
        <p:spPr>
          <a:xfrm>
            <a:off x="0" y="0"/>
            <a:ext cx="4314548" cy="6858000"/>
          </a:xfrm>
          <a:prstGeom prst="rect">
            <a:avLst/>
          </a:prstGeom>
          <a:solidFill>
            <a:schemeClr val="accent5">
              <a:lumMod val="75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8"/>
          <p:cNvSpPr txBox="1"/>
          <p:nvPr/>
        </p:nvSpPr>
        <p:spPr>
          <a:xfrm>
            <a:off x="514383" y="2136764"/>
            <a:ext cx="3125983" cy="2831544"/>
          </a:xfrm>
          <a:prstGeom prst="rect">
            <a:avLst/>
          </a:prstGeom>
          <a:noFill/>
        </p:spPr>
        <p:txBody>
          <a:bodyPr wrap="square" lIns="0" tIns="0" rIns="0" bIns="0" rtlCol="0" anchor="ctr">
            <a:spAutoFit/>
          </a:bodyPr>
          <a:lstStyle/>
          <a:p>
            <a:pPr algn="ctr"/>
            <a:r>
              <a:rPr lang="zh-CN" altLang="en-US" sz="60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endParaRPr lang="en-US" altLang="zh-CN" sz="6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endParaRPr lang="en-US" altLang="zh-CN" sz="32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en-US" altLang="zh-CN" sz="32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p>
          <a:p>
            <a:pPr algn="ctr"/>
            <a:endParaRPr lang="zh-CN" altLang="en-US" sz="6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7" name="Group 5"/>
          <p:cNvGrpSpPr/>
          <p:nvPr/>
        </p:nvGrpSpPr>
        <p:grpSpPr>
          <a:xfrm>
            <a:off x="5386029" y="1335079"/>
            <a:ext cx="4430625" cy="707887"/>
            <a:chOff x="1598315" y="1418185"/>
            <a:chExt cx="4430626" cy="707886"/>
          </a:xfrm>
        </p:grpSpPr>
        <p:sp>
          <p:nvSpPr>
            <p:cNvPr id="8" name="TextBox 6"/>
            <p:cNvSpPr txBox="1"/>
            <p:nvPr/>
          </p:nvSpPr>
          <p:spPr>
            <a:xfrm>
              <a:off x="1598315" y="1418185"/>
              <a:ext cx="655949" cy="707886"/>
            </a:xfrm>
            <a:prstGeom prst="rect">
              <a:avLst/>
            </a:prstGeom>
            <a:noFill/>
          </p:spPr>
          <p:txBody>
            <a:bodyPr wrap="none" anchor="ctr">
              <a:normAutofit fontScale="85000" lnSpcReduction="20000"/>
            </a:bodyPr>
            <a:lstStyle/>
            <a:p>
              <a:pPr defTabSz="1219200"/>
              <a:r>
                <a:rPr lang="en-US" altLang="zh-CN" sz="5335" dirty="0">
                  <a:solidFill>
                    <a:srgbClr val="FF0000"/>
                  </a:solidFill>
                  <a:latin typeface="Impact" panose="020B0806030902050204" pitchFamily="34" charset="0"/>
                  <a:ea typeface="宋体" panose="02010600030101010101" pitchFamily="2" charset="-122"/>
                </a:rPr>
                <a:t>01</a:t>
              </a:r>
            </a:p>
          </p:txBody>
        </p:sp>
        <p:grpSp>
          <p:nvGrpSpPr>
            <p:cNvPr id="9" name="Group 7"/>
            <p:cNvGrpSpPr/>
            <p:nvPr/>
          </p:nvGrpSpPr>
          <p:grpSpPr>
            <a:xfrm>
              <a:off x="2066367" y="1529264"/>
              <a:ext cx="3962574" cy="563232"/>
              <a:chOff x="3943834" y="704409"/>
              <a:chExt cx="3962574" cy="563232"/>
            </a:xfrm>
          </p:grpSpPr>
          <p:sp>
            <p:nvSpPr>
              <p:cNvPr id="10" name="TextBox 8"/>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dirty="0">
                    <a:solidFill>
                      <a:schemeClr val="accent1">
                        <a:lumMod val="50000"/>
                      </a:schemeClr>
                    </a:solidFill>
                    <a:latin typeface="Calibri" panose="020F0502020204030204"/>
                    <a:ea typeface="宋体" panose="02010600030101010101" pitchFamily="2" charset="-122"/>
                  </a:rPr>
                  <a:t>个人简介</a:t>
                </a:r>
              </a:p>
            </p:txBody>
          </p:sp>
          <p:sp>
            <p:nvSpPr>
              <p:cNvPr id="11" name="TextBox 9"/>
              <p:cNvSpPr txBox="1"/>
              <p:nvPr/>
            </p:nvSpPr>
            <p:spPr>
              <a:xfrm>
                <a:off x="3943834" y="947273"/>
                <a:ext cx="3962574" cy="320368"/>
              </a:xfrm>
              <a:prstGeom prst="rect">
                <a:avLst/>
              </a:prstGeom>
            </p:spPr>
            <p:txBody>
              <a:bodyPr vert="horz" wrap="square" lIns="480000" tIns="0" rIns="0" bIns="0" anchor="ctr" anchorCtr="0">
                <a:normAutofit/>
              </a:bodyPr>
              <a:lstStyle/>
              <a:p>
                <a:pPr defTabSz="1219200">
                  <a:lnSpc>
                    <a:spcPct val="120000"/>
                  </a:lnSpc>
                </a:pPr>
                <a:r>
                  <a:rPr lang="en-US" altLang="zh-CN" sz="1600">
                    <a:solidFill>
                      <a:schemeClr val="accent1">
                        <a:lumMod val="50000"/>
                      </a:schemeClr>
                    </a:solidFill>
                    <a:latin typeface="Calibri" panose="020F0502020204030204"/>
                    <a:ea typeface="宋体" panose="02010600030101010101" pitchFamily="2" charset="-122"/>
                  </a:rPr>
                  <a:t>Introduction</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12" name="Group 10"/>
          <p:cNvGrpSpPr/>
          <p:nvPr/>
        </p:nvGrpSpPr>
        <p:grpSpPr>
          <a:xfrm>
            <a:off x="5386029" y="2310193"/>
            <a:ext cx="5126765" cy="707887"/>
            <a:chOff x="1598315" y="2786337"/>
            <a:chExt cx="5053548" cy="707886"/>
          </a:xfrm>
        </p:grpSpPr>
        <p:sp>
          <p:nvSpPr>
            <p:cNvPr id="13" name="TextBox 11"/>
            <p:cNvSpPr txBox="1"/>
            <p:nvPr/>
          </p:nvSpPr>
          <p:spPr>
            <a:xfrm>
              <a:off x="1598315" y="2786337"/>
              <a:ext cx="718466" cy="707886"/>
            </a:xfrm>
            <a:prstGeom prst="rect">
              <a:avLst/>
            </a:prstGeom>
            <a:noFill/>
          </p:spPr>
          <p:txBody>
            <a:bodyPr wrap="none" anchor="ctr">
              <a:normAutofit fontScale="85000" lnSpcReduction="20000"/>
            </a:bodyPr>
            <a:lstStyle/>
            <a:p>
              <a:pPr defTabSz="1219200"/>
              <a:r>
                <a:rPr lang="en-US" altLang="zh-CN" sz="5335" dirty="0">
                  <a:solidFill>
                    <a:schemeClr val="accent1">
                      <a:lumMod val="50000"/>
                    </a:schemeClr>
                  </a:solidFill>
                  <a:latin typeface="Impact" panose="020B0806030902050204" pitchFamily="34" charset="0"/>
                  <a:ea typeface="宋体" panose="02010600030101010101" pitchFamily="2" charset="-122"/>
                </a:rPr>
                <a:t>02</a:t>
              </a:r>
            </a:p>
          </p:txBody>
        </p:sp>
        <p:grpSp>
          <p:nvGrpSpPr>
            <p:cNvPr id="14" name="Group 12"/>
            <p:cNvGrpSpPr/>
            <p:nvPr/>
          </p:nvGrpSpPr>
          <p:grpSpPr>
            <a:xfrm>
              <a:off x="2066367" y="2897416"/>
              <a:ext cx="4585496" cy="563232"/>
              <a:chOff x="3943834" y="704409"/>
              <a:chExt cx="4585496" cy="563232"/>
            </a:xfrm>
          </p:grpSpPr>
          <p:sp>
            <p:nvSpPr>
              <p:cNvPr id="15" name="TextBox 13"/>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企业实习经历</a:t>
                </a:r>
                <a:endParaRPr lang="zh-CN" altLang="en-US" sz="2400" b="1" dirty="0">
                  <a:solidFill>
                    <a:schemeClr val="accent1">
                      <a:lumMod val="50000"/>
                    </a:schemeClr>
                  </a:solidFill>
                  <a:latin typeface="Calibri" panose="020F0502020204030204"/>
                  <a:ea typeface="宋体" panose="02010600030101010101" pitchFamily="2" charset="-122"/>
                </a:endParaRPr>
              </a:p>
            </p:txBody>
          </p:sp>
          <p:sp>
            <p:nvSpPr>
              <p:cNvPr id="16" name="TextBox 14"/>
              <p:cNvSpPr txBox="1"/>
              <p:nvPr/>
            </p:nvSpPr>
            <p:spPr>
              <a:xfrm>
                <a:off x="3943834" y="947273"/>
                <a:ext cx="4585496" cy="320368"/>
              </a:xfrm>
              <a:prstGeom prst="rect">
                <a:avLst/>
              </a:prstGeom>
            </p:spPr>
            <p:txBody>
              <a:bodyPr vert="horz" wrap="square" lIns="480000" tIns="0" rIns="0" bIns="0" anchor="ctr" anchorCtr="0">
                <a:noAutofit/>
              </a:bodyPr>
              <a:lstStyle/>
              <a:p>
                <a:pPr defTabSz="1219200">
                  <a:lnSpc>
                    <a:spcPct val="120000"/>
                  </a:lnSpc>
                </a:pPr>
                <a:r>
                  <a:rPr lang="en-US" altLang="zh-CN" sz="1600">
                    <a:solidFill>
                      <a:schemeClr val="accent1">
                        <a:lumMod val="50000"/>
                      </a:schemeClr>
                    </a:solidFill>
                  </a:rPr>
                  <a:t>Internship</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17" name="Group 15"/>
          <p:cNvGrpSpPr/>
          <p:nvPr/>
        </p:nvGrpSpPr>
        <p:grpSpPr>
          <a:xfrm>
            <a:off x="5386029" y="4260421"/>
            <a:ext cx="4430625" cy="707887"/>
            <a:chOff x="1598315" y="4154489"/>
            <a:chExt cx="4430626" cy="707886"/>
          </a:xfrm>
        </p:grpSpPr>
        <p:sp>
          <p:nvSpPr>
            <p:cNvPr id="18" name="TextBox 16"/>
            <p:cNvSpPr txBox="1"/>
            <p:nvPr/>
          </p:nvSpPr>
          <p:spPr>
            <a:xfrm>
              <a:off x="1598315" y="4154489"/>
              <a:ext cx="732893" cy="707886"/>
            </a:xfrm>
            <a:prstGeom prst="rect">
              <a:avLst/>
            </a:prstGeom>
            <a:noFill/>
          </p:spPr>
          <p:txBody>
            <a:bodyPr wrap="none" anchor="ctr">
              <a:normAutofit fontScale="85000" lnSpcReduction="20000"/>
            </a:bodyPr>
            <a:lstStyle/>
            <a:p>
              <a:pPr defTabSz="1219200"/>
              <a:r>
                <a:rPr lang="en-US" altLang="zh-CN" sz="5335">
                  <a:solidFill>
                    <a:schemeClr val="accent1">
                      <a:lumMod val="50000"/>
                    </a:schemeClr>
                  </a:solidFill>
                  <a:latin typeface="Impact" panose="020B0806030902050204" pitchFamily="34" charset="0"/>
                  <a:ea typeface="宋体" panose="02010600030101010101" pitchFamily="2" charset="-122"/>
                </a:rPr>
                <a:t>04</a:t>
              </a:r>
              <a:endParaRPr lang="en-US" altLang="zh-CN" sz="5335" dirty="0">
                <a:solidFill>
                  <a:schemeClr val="accent1">
                    <a:lumMod val="50000"/>
                  </a:schemeClr>
                </a:solidFill>
                <a:latin typeface="Impact" panose="020B0806030902050204" pitchFamily="34" charset="0"/>
                <a:ea typeface="宋体" panose="02010600030101010101" pitchFamily="2" charset="-122"/>
              </a:endParaRPr>
            </a:p>
          </p:txBody>
        </p:sp>
        <p:grpSp>
          <p:nvGrpSpPr>
            <p:cNvPr id="19" name="Group 17"/>
            <p:cNvGrpSpPr/>
            <p:nvPr/>
          </p:nvGrpSpPr>
          <p:grpSpPr>
            <a:xfrm>
              <a:off x="2066367" y="4265568"/>
              <a:ext cx="3962574" cy="563232"/>
              <a:chOff x="3943834" y="704409"/>
              <a:chExt cx="3962574" cy="563232"/>
            </a:xfrm>
          </p:grpSpPr>
          <p:sp>
            <p:nvSpPr>
              <p:cNvPr id="20" name="TextBox 18"/>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latin typeface="Calibri" panose="020F0502020204030204"/>
                    <a:ea typeface="宋体" panose="02010600030101010101" pitchFamily="2" charset="-122"/>
                  </a:rPr>
                  <a:t>竞赛项目</a:t>
                </a:r>
                <a:r>
                  <a:rPr lang="zh-CN" altLang="en-US" sz="2400" b="1" dirty="0">
                    <a:solidFill>
                      <a:schemeClr val="accent1">
                        <a:lumMod val="50000"/>
                      </a:schemeClr>
                    </a:solidFill>
                    <a:latin typeface="Calibri" panose="020F0502020204030204"/>
                    <a:ea typeface="宋体" panose="02010600030101010101" pitchFamily="2" charset="-122"/>
                  </a:rPr>
                  <a:t>经历</a:t>
                </a:r>
              </a:p>
            </p:txBody>
          </p:sp>
          <p:sp>
            <p:nvSpPr>
              <p:cNvPr id="21" name="TextBox 19"/>
              <p:cNvSpPr txBox="1"/>
              <p:nvPr/>
            </p:nvSpPr>
            <p:spPr>
              <a:xfrm>
                <a:off x="3943834" y="947273"/>
                <a:ext cx="3962574" cy="320368"/>
              </a:xfrm>
              <a:prstGeom prst="rect">
                <a:avLst/>
              </a:prstGeom>
            </p:spPr>
            <p:txBody>
              <a:bodyPr vert="horz" wrap="square" lIns="480000" tIns="0" rIns="0" bIns="0" anchor="ctr" anchorCtr="0">
                <a:normAutofit/>
              </a:bodyPr>
              <a:lstStyle/>
              <a:p>
                <a:pPr defTabSz="1219200">
                  <a:lnSpc>
                    <a:spcPct val="120000"/>
                  </a:lnSpc>
                </a:pPr>
                <a:r>
                  <a:rPr lang="en-US" altLang="zh-CN" sz="1600" dirty="0">
                    <a:solidFill>
                      <a:schemeClr val="accent1">
                        <a:lumMod val="50000"/>
                      </a:schemeClr>
                    </a:solidFill>
                    <a:latin typeface="Calibri" panose="020F0502020204030204"/>
                    <a:ea typeface="宋体" panose="02010600030101010101" pitchFamily="2" charset="-122"/>
                  </a:rPr>
                  <a:t>Personal quality and development</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5" name="Group 10">
            <a:extLst>
              <a:ext uri="{FF2B5EF4-FFF2-40B4-BE49-F238E27FC236}">
                <a16:creationId xmlns:a16="http://schemas.microsoft.com/office/drawing/2014/main" id="{D690EE49-D00B-1171-72A7-B88F3F6633FF}"/>
              </a:ext>
            </a:extLst>
          </p:cNvPr>
          <p:cNvGrpSpPr/>
          <p:nvPr/>
        </p:nvGrpSpPr>
        <p:grpSpPr>
          <a:xfrm>
            <a:off x="5386029" y="3285307"/>
            <a:ext cx="5126765" cy="707887"/>
            <a:chOff x="1598315" y="2786337"/>
            <a:chExt cx="5053548" cy="707886"/>
          </a:xfrm>
        </p:grpSpPr>
        <p:sp>
          <p:nvSpPr>
            <p:cNvPr id="6" name="TextBox 11">
              <a:extLst>
                <a:ext uri="{FF2B5EF4-FFF2-40B4-BE49-F238E27FC236}">
                  <a16:creationId xmlns:a16="http://schemas.microsoft.com/office/drawing/2014/main" id="{5E281D47-DEE2-198F-E2CD-43609649C9A2}"/>
                </a:ext>
              </a:extLst>
            </p:cNvPr>
            <p:cNvSpPr txBox="1"/>
            <p:nvPr/>
          </p:nvSpPr>
          <p:spPr>
            <a:xfrm>
              <a:off x="1598315" y="2786337"/>
              <a:ext cx="718466" cy="707886"/>
            </a:xfrm>
            <a:prstGeom prst="rect">
              <a:avLst/>
            </a:prstGeom>
            <a:noFill/>
          </p:spPr>
          <p:txBody>
            <a:bodyPr wrap="none" anchor="ctr">
              <a:normAutofit fontScale="85000" lnSpcReduction="20000"/>
            </a:bodyPr>
            <a:lstStyle/>
            <a:p>
              <a:pPr defTabSz="1219200"/>
              <a:r>
                <a:rPr lang="en-US" altLang="zh-CN" sz="5335">
                  <a:solidFill>
                    <a:schemeClr val="accent1">
                      <a:lumMod val="50000"/>
                    </a:schemeClr>
                  </a:solidFill>
                  <a:latin typeface="Impact" panose="020B0806030902050204" pitchFamily="34" charset="0"/>
                  <a:ea typeface="宋体" panose="02010600030101010101" pitchFamily="2" charset="-122"/>
                </a:rPr>
                <a:t>03</a:t>
              </a:r>
              <a:endParaRPr lang="en-US" altLang="zh-CN" sz="5335" dirty="0">
                <a:solidFill>
                  <a:schemeClr val="accent1">
                    <a:lumMod val="50000"/>
                  </a:schemeClr>
                </a:solidFill>
                <a:latin typeface="Impact" panose="020B0806030902050204" pitchFamily="34" charset="0"/>
                <a:ea typeface="宋体" panose="02010600030101010101" pitchFamily="2" charset="-122"/>
              </a:endParaRPr>
            </a:p>
          </p:txBody>
        </p:sp>
        <p:grpSp>
          <p:nvGrpSpPr>
            <p:cNvPr id="22" name="Group 12">
              <a:extLst>
                <a:ext uri="{FF2B5EF4-FFF2-40B4-BE49-F238E27FC236}">
                  <a16:creationId xmlns:a16="http://schemas.microsoft.com/office/drawing/2014/main" id="{6C485CFC-8E08-D4E2-5D1C-52A364045F67}"/>
                </a:ext>
              </a:extLst>
            </p:cNvPr>
            <p:cNvGrpSpPr/>
            <p:nvPr/>
          </p:nvGrpSpPr>
          <p:grpSpPr>
            <a:xfrm>
              <a:off x="2066367" y="2897416"/>
              <a:ext cx="4585496" cy="563232"/>
              <a:chOff x="3943834" y="704409"/>
              <a:chExt cx="4585496" cy="563232"/>
            </a:xfrm>
          </p:grpSpPr>
          <p:sp>
            <p:nvSpPr>
              <p:cNvPr id="23" name="TextBox 13">
                <a:extLst>
                  <a:ext uri="{FF2B5EF4-FFF2-40B4-BE49-F238E27FC236}">
                    <a16:creationId xmlns:a16="http://schemas.microsoft.com/office/drawing/2014/main" id="{2725A35C-7384-7FC5-C969-9D9752C94C89}"/>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科研实习经历</a:t>
                </a:r>
                <a:endParaRPr lang="zh-CN" altLang="en-US" sz="2400" b="1" dirty="0">
                  <a:solidFill>
                    <a:schemeClr val="accent1">
                      <a:lumMod val="50000"/>
                    </a:schemeClr>
                  </a:solidFill>
                  <a:latin typeface="Calibri" panose="020F0502020204030204"/>
                  <a:ea typeface="宋体" panose="02010600030101010101" pitchFamily="2" charset="-122"/>
                </a:endParaRPr>
              </a:p>
            </p:txBody>
          </p:sp>
          <p:sp>
            <p:nvSpPr>
              <p:cNvPr id="24" name="TextBox 14">
                <a:extLst>
                  <a:ext uri="{FF2B5EF4-FFF2-40B4-BE49-F238E27FC236}">
                    <a16:creationId xmlns:a16="http://schemas.microsoft.com/office/drawing/2014/main" id="{4A996FF9-E9FA-9224-4E44-6668AA7C4105}"/>
                  </a:ext>
                </a:extLst>
              </p:cNvPr>
              <p:cNvSpPr txBox="1"/>
              <p:nvPr/>
            </p:nvSpPr>
            <p:spPr>
              <a:xfrm>
                <a:off x="3943834" y="947273"/>
                <a:ext cx="4585496" cy="320368"/>
              </a:xfrm>
              <a:prstGeom prst="rect">
                <a:avLst/>
              </a:prstGeom>
            </p:spPr>
            <p:txBody>
              <a:bodyPr vert="horz" wrap="square" lIns="480000" tIns="0" rIns="0" bIns="0" anchor="ctr" anchorCtr="0">
                <a:noAutofit/>
              </a:bodyPr>
              <a:lstStyle/>
              <a:p>
                <a:pPr defTabSz="1219200">
                  <a:lnSpc>
                    <a:spcPct val="120000"/>
                  </a:lnSpc>
                </a:pPr>
                <a:r>
                  <a:rPr lang="en-US" altLang="zh-CN" sz="1600" dirty="0">
                    <a:solidFill>
                      <a:schemeClr val="accent1">
                        <a:lumMod val="50000"/>
                      </a:schemeClr>
                    </a:solidFill>
                  </a:rPr>
                  <a:t>Competitions and scientific </a:t>
                </a:r>
                <a:r>
                  <a:rPr lang="en-US" altLang="zh-CN" sz="1600" dirty="0">
                    <a:solidFill>
                      <a:schemeClr val="accent1">
                        <a:lumMod val="50000"/>
                      </a:schemeClr>
                    </a:solidFill>
                    <a:latin typeface="Calibri" panose="020F0502020204030204"/>
                    <a:ea typeface="宋体" panose="02010600030101010101" pitchFamily="2" charset="-122"/>
                  </a:rPr>
                  <a:t>research</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pic>
        <p:nvPicPr>
          <p:cNvPr id="25" name="图片 24">
            <a:extLst>
              <a:ext uri="{FF2B5EF4-FFF2-40B4-BE49-F238E27FC236}">
                <a16:creationId xmlns:a16="http://schemas.microsoft.com/office/drawing/2014/main" id="{C9E1DDFE-B4E6-D339-0656-40FFBA73BA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6980" y="115635"/>
            <a:ext cx="1857628" cy="2035885"/>
          </a:xfrm>
          <a:prstGeom prst="rect">
            <a:avLst/>
          </a:prstGeom>
        </p:spPr>
      </p:pic>
    </p:spTree>
  </p:cSld>
  <p:clrMapOvr>
    <a:masterClrMapping/>
  </p:clrMapOvr>
  <p:transition spd="slow" advTm="11272">
    <p:wip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34000">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14:bounceEnd="34000">
                                          <p:cBhvr additive="base">
                                            <p:cTn id="7" dur="500" fill="hold"/>
                                            <p:tgtEl>
                                              <p:spTgt spid="7"/>
                                            </p:tgtEl>
                                            <p:attrNameLst>
                                              <p:attrName>ppt_x</p:attrName>
                                            </p:attrNameLst>
                                          </p:cBhvr>
                                          <p:tavLst>
                                            <p:tav tm="0">
                                              <p:val>
                                                <p:strVal val="1+#ppt_w/2"/>
                                              </p:val>
                                            </p:tav>
                                            <p:tav tm="100000">
                                              <p:val>
                                                <p:strVal val="#ppt_x"/>
                                              </p:val>
                                            </p:tav>
                                          </p:tavLst>
                                        </p:anim>
                                        <p:anim calcmode="lin" valueType="num" p14:bounceEnd="34000">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14:presetBounceEnd="34000">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14:bounceEnd="34000">
                                          <p:cBhvr additive="base">
                                            <p:cTn id="12" dur="5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14:presetBounceEnd="34000">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14:bounceEnd="34000">
                                          <p:cBhvr additive="base">
                                            <p:cTn id="17" dur="500" fill="hold"/>
                                            <p:tgtEl>
                                              <p:spTgt spid="17"/>
                                            </p:tgtEl>
                                            <p:attrNameLst>
                                              <p:attrName>ppt_x</p:attrName>
                                            </p:attrNameLst>
                                          </p:cBhvr>
                                          <p:tavLst>
                                            <p:tav tm="0">
                                              <p:val>
                                                <p:strVal val="1+#ppt_w/2"/>
                                              </p:val>
                                            </p:tav>
                                            <p:tav tm="100000">
                                              <p:val>
                                                <p:strVal val="#ppt_x"/>
                                              </p:val>
                                            </p:tav>
                                          </p:tavLst>
                                        </p:anim>
                                        <p:anim calcmode="lin" valueType="num" p14:bounceEnd="34000">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14:presetBounceEnd="34000">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14:bounceEnd="34000">
                                          <p:cBhvr additive="base">
                                            <p:cTn id="22" dur="500" fill="hold"/>
                                            <p:tgtEl>
                                              <p:spTgt spid="5"/>
                                            </p:tgtEl>
                                            <p:attrNameLst>
                                              <p:attrName>ppt_x</p:attrName>
                                            </p:attrNameLst>
                                          </p:cBhvr>
                                          <p:tavLst>
                                            <p:tav tm="0">
                                              <p:val>
                                                <p:strVal val="1+#ppt_w/2"/>
                                              </p:val>
                                            </p:tav>
                                            <p:tav tm="100000">
                                              <p:val>
                                                <p:strVal val="#ppt_x"/>
                                              </p:val>
                                            </p:tav>
                                          </p:tavLst>
                                        </p:anim>
                                        <p:anim calcmode="lin" valueType="num" p14:bounceEnd="34000">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1+#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1+#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2B6538A-33AE-45EB-868C-14B9E34ED9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t>3</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21" name="MH_SubTitle_1"/>
          <p:cNvSpPr/>
          <p:nvPr>
            <p:custDataLst>
              <p:tags r:id="rId1"/>
            </p:custDataLst>
          </p:nvPr>
        </p:nvSpPr>
        <p:spPr>
          <a:xfrm>
            <a:off x="82398" y="264158"/>
            <a:ext cx="4442467" cy="761135"/>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000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strike="noStrike" kern="1200" cap="none" spc="0" normalizeH="0" baseline="0" noProof="0" dirty="0">
                <a:ln>
                  <a:noFill/>
                </a:ln>
                <a:solidFill>
                  <a:srgbClr val="E7E6E6">
                    <a:lumMod val="25000"/>
                  </a:srgbClr>
                </a:solidFill>
                <a:effectLst/>
                <a:uLnTx/>
                <a:uFillTx/>
                <a:latin typeface="微软雅黑" panose="020B0503020204020204" pitchFamily="34" charset="-122"/>
                <a:ea typeface="微软雅黑" panose="020B0503020204020204" pitchFamily="34" charset="-122"/>
                <a:cs typeface="+mn-cs"/>
              </a:rPr>
              <a:t>第一部分 个人简介</a:t>
            </a:r>
            <a:endParaRPr lang="zh-CN" altLang="en-US" sz="2000" dirty="0">
              <a:solidFill>
                <a:srgbClr val="E7E6E6">
                  <a:lumMod val="25000"/>
                </a:srgbClr>
              </a:solidFill>
              <a:latin typeface="微软雅黑" panose="020B0503020204020204" pitchFamily="34" charset="-122"/>
              <a:ea typeface="微软雅黑" panose="020B0503020204020204" pitchFamily="34" charset="-122"/>
            </a:endParaRPr>
          </a:p>
          <a:p>
            <a:pPr marL="0" marR="0" lvl="0" indent="0" algn="l" defTabSz="1219200" rtl="0" eaLnBrk="1" fontAlgn="auto" latinLnBrk="0" hangingPunct="1">
              <a:lnSpc>
                <a:spcPct val="120000"/>
              </a:lnSpc>
              <a:spcBef>
                <a:spcPts val="0"/>
              </a:spcBef>
              <a:spcAft>
                <a:spcPts val="0"/>
              </a:spcAft>
              <a:buClrTx/>
              <a:buSzTx/>
              <a:buFontTx/>
              <a:buNone/>
              <a:defRPr/>
            </a:pPr>
            <a:r>
              <a:rPr kumimoji="0" lang="en-US" altLang="zh-CN" sz="1600" b="0" i="0"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rPr>
              <a:t>Introduction</a:t>
            </a:r>
            <a:endParaRPr kumimoji="0" lang="en-US" altLang="zh-CN" sz="1600" b="0" i="0"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23" name="TextBox 23"/>
          <p:cNvSpPr txBox="1"/>
          <p:nvPr/>
        </p:nvSpPr>
        <p:spPr>
          <a:xfrm>
            <a:off x="1951149" y="3052253"/>
            <a:ext cx="1609859"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总体目标</a:t>
            </a:r>
            <a:endPar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顺利完成</a:t>
            </a:r>
            <a:endParaRPr kumimoji="0" lang="en-US" altLang="zh-CN"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4" name="表格 6"/>
          <p:cNvGraphicFramePr>
            <a:graphicFrameLocks noGrp="1"/>
          </p:cNvGraphicFramePr>
          <p:nvPr>
            <p:extLst>
              <p:ext uri="{D42A27DB-BD31-4B8C-83A1-F6EECF244321}">
                <p14:modId xmlns:p14="http://schemas.microsoft.com/office/powerpoint/2010/main" val="3988673532"/>
              </p:ext>
            </p:extLst>
          </p:nvPr>
        </p:nvGraphicFramePr>
        <p:xfrm>
          <a:off x="172560" y="4340818"/>
          <a:ext cx="8704609" cy="1863090"/>
        </p:xfrm>
        <a:graphic>
          <a:graphicData uri="http://schemas.openxmlformats.org/drawingml/2006/table">
            <a:tbl>
              <a:tblPr firstRow="1" bandRow="1">
                <a:tableStyleId>{74C1A8A3-306A-4EB7-A6B1-4F7E0EB9C5D6}</a:tableStyleId>
              </a:tblPr>
              <a:tblGrid>
                <a:gridCol w="2710771">
                  <a:extLst>
                    <a:ext uri="{9D8B030D-6E8A-4147-A177-3AD203B41FA5}">
                      <a16:colId xmlns:a16="http://schemas.microsoft.com/office/drawing/2014/main" val="20000"/>
                    </a:ext>
                  </a:extLst>
                </a:gridCol>
                <a:gridCol w="3022038">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379730">
                <a:tc>
                  <a:txBody>
                    <a:bodyPr/>
                    <a:lstStyle/>
                    <a:p>
                      <a:pPr algn="ctr"/>
                      <a:r>
                        <a:rPr lang="zh-CN" altLang="en-US" dirty="0"/>
                        <a:t>数理基础</a:t>
                      </a:r>
                    </a:p>
                  </a:txBody>
                  <a:tcPr anchor="ctr"/>
                </a:tc>
                <a:tc>
                  <a:txBody>
                    <a:bodyPr/>
                    <a:lstStyle/>
                    <a:p>
                      <a:pPr algn="ctr"/>
                      <a:r>
                        <a:rPr lang="zh-CN" altLang="en-US"/>
                        <a:t>研究生计算机相关课程</a:t>
                      </a:r>
                      <a:endParaRPr lang="zh-CN" altLang="en-US" dirty="0"/>
                    </a:p>
                  </a:txBody>
                  <a:tcPr anchor="ctr"/>
                </a:tc>
                <a:tc>
                  <a:txBody>
                    <a:bodyPr/>
                    <a:lstStyle/>
                    <a:p>
                      <a:pPr algn="ctr"/>
                      <a:r>
                        <a:rPr lang="zh-CN" altLang="en-US"/>
                        <a:t>本科计算机相关课程</a:t>
                      </a:r>
                      <a:endParaRPr lang="zh-CN" altLang="en-US" dirty="0"/>
                    </a:p>
                  </a:txBody>
                  <a:tcPr anchor="ctr"/>
                </a:tc>
                <a:extLst>
                  <a:ext uri="{0D108BD9-81ED-4DB2-BD59-A6C34878D82A}">
                    <a16:rowId xmlns:a16="http://schemas.microsoft.com/office/drawing/2014/main" val="100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kern="1200">
                          <a:solidFill>
                            <a:srgbClr val="FF0000"/>
                          </a:solidFill>
                          <a:latin typeface="+mn-lt"/>
                          <a:ea typeface="+mn-ea"/>
                          <a:cs typeface="+mn-cs"/>
                          <a:sym typeface="+mn-ea"/>
                        </a:rPr>
                        <a:t>数值分析（</a:t>
                      </a:r>
                      <a:r>
                        <a:rPr lang="en-US" altLang="zh-CN" sz="1800" kern="1200">
                          <a:solidFill>
                            <a:srgbClr val="FF0000"/>
                          </a:solidFill>
                          <a:latin typeface="+mn-lt"/>
                          <a:ea typeface="+mn-ea"/>
                          <a:cs typeface="+mn-cs"/>
                          <a:sym typeface="+mn-ea"/>
                        </a:rPr>
                        <a:t>100</a:t>
                      </a:r>
                      <a:r>
                        <a:rPr lang="zh-CN" altLang="en-US" sz="1800" kern="1200">
                          <a:solidFill>
                            <a:srgbClr val="FF0000"/>
                          </a:solidFill>
                          <a:latin typeface="+mn-lt"/>
                          <a:ea typeface="+mn-ea"/>
                          <a:cs typeface="+mn-cs"/>
                          <a:sym typeface="+mn-ea"/>
                        </a:rPr>
                        <a:t>）</a:t>
                      </a:r>
                      <a:endParaRPr lang="zh-CN" altLang="en-US" sz="1800" kern="1200">
                        <a:solidFill>
                          <a:srgbClr val="FF0000"/>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a:t>视觉中的机器学习（</a:t>
                      </a:r>
                      <a:r>
                        <a:rPr lang="en-US" altLang="zh-CN"/>
                        <a:t>97</a:t>
                      </a:r>
                      <a:r>
                        <a:rPr lang="zh-CN" altLang="en-US"/>
                        <a:t>）</a:t>
                      </a:r>
                      <a:endParaRPr lang="zh-CN" altLang="en-US" dirty="0"/>
                    </a:p>
                  </a:txBody>
                  <a:tcPr anchor="ctr"/>
                </a:tc>
                <a:tc>
                  <a:txBody>
                    <a:bodyPr/>
                    <a:lstStyle/>
                    <a:p>
                      <a:pPr algn="ctr"/>
                      <a:r>
                        <a:rPr lang="zh-CN" altLang="en-US">
                          <a:solidFill>
                            <a:srgbClr val="FF0000"/>
                          </a:solidFill>
                        </a:rPr>
                        <a:t>计算机组成原理（</a:t>
                      </a:r>
                      <a:r>
                        <a:rPr lang="en-US" altLang="zh-CN">
                          <a:solidFill>
                            <a:srgbClr val="FF0000"/>
                          </a:solidFill>
                        </a:rPr>
                        <a:t>99.3</a:t>
                      </a:r>
                      <a:r>
                        <a:rPr lang="zh-CN" altLang="en-US">
                          <a:solidFill>
                            <a:srgbClr val="FF0000"/>
                          </a:solidFill>
                        </a:rPr>
                        <a:t>）</a:t>
                      </a:r>
                      <a:endParaRPr lang="zh-CN" altLang="en-US" dirty="0">
                        <a:solidFill>
                          <a:srgbClr val="FF0000"/>
                        </a:solidFill>
                      </a:endParaRPr>
                    </a:p>
                  </a:txBody>
                  <a:tcPr anchor="ctr"/>
                </a:tc>
                <a:extLst>
                  <a:ext uri="{0D108BD9-81ED-4DB2-BD59-A6C34878D82A}">
                    <a16:rowId xmlns:a16="http://schemas.microsoft.com/office/drawing/2014/main" val="10001"/>
                  </a:ext>
                </a:extLst>
              </a:tr>
              <a:tr h="370840">
                <a:tc>
                  <a:txBody>
                    <a:bodyPr/>
                    <a:lstStyle/>
                    <a:p>
                      <a:pPr algn="ctr"/>
                      <a:r>
                        <a:rPr lang="zh-CN" altLang="en-US">
                          <a:solidFill>
                            <a:srgbClr val="FF0000"/>
                          </a:solidFill>
                        </a:rPr>
                        <a:t>高等数学</a:t>
                      </a:r>
                      <a:r>
                        <a:rPr lang="en-US" altLang="zh-CN">
                          <a:solidFill>
                            <a:srgbClr val="FF0000"/>
                          </a:solidFill>
                        </a:rPr>
                        <a:t>A</a:t>
                      </a:r>
                      <a:r>
                        <a:rPr lang="zh-CN" altLang="en-US">
                          <a:solidFill>
                            <a:srgbClr val="FF0000"/>
                          </a:solidFill>
                        </a:rPr>
                        <a:t>（</a:t>
                      </a:r>
                      <a:r>
                        <a:rPr lang="en-US" altLang="zh-CN">
                          <a:solidFill>
                            <a:srgbClr val="FF0000"/>
                          </a:solidFill>
                        </a:rPr>
                        <a:t>97.4</a:t>
                      </a:r>
                      <a:r>
                        <a:rPr lang="zh-CN" altLang="en-US">
                          <a:solidFill>
                            <a:srgbClr val="FF0000"/>
                          </a:solidFill>
                        </a:rPr>
                        <a:t>）</a:t>
                      </a:r>
                      <a:endParaRPr lang="zh-CN" altLang="en-US" dirty="0">
                        <a:solidFill>
                          <a:srgbClr val="FF0000"/>
                        </a:solidFill>
                      </a:endParaRPr>
                    </a:p>
                  </a:txBody>
                  <a:tcPr anchor="ctr"/>
                </a:tc>
                <a:tc>
                  <a:txBody>
                    <a:bodyPr/>
                    <a:lstStyle/>
                    <a:p>
                      <a:pPr algn="ctr"/>
                      <a:r>
                        <a:rPr lang="zh-CN" altLang="en-US"/>
                        <a:t>听觉与声信号处理（</a:t>
                      </a:r>
                      <a:r>
                        <a:rPr lang="en-US" altLang="zh-CN"/>
                        <a:t>97</a:t>
                      </a:r>
                      <a:r>
                        <a:rPr lang="zh-CN" altLang="en-US"/>
                        <a:t>）</a:t>
                      </a:r>
                      <a:endParaRPr lang="zh-CN" altLang="en-US" dirty="0"/>
                    </a:p>
                  </a:txBody>
                  <a:tcPr anchor="ctr"/>
                </a:tc>
                <a:tc>
                  <a:txBody>
                    <a:bodyPr/>
                    <a:lstStyle/>
                    <a:p>
                      <a:pPr algn="ctr"/>
                      <a:r>
                        <a:rPr lang="zh-CN" altLang="en-US"/>
                        <a:t>操作系统（</a:t>
                      </a:r>
                      <a:r>
                        <a:rPr lang="en-US" altLang="zh-CN"/>
                        <a:t>97.1</a:t>
                      </a:r>
                      <a:r>
                        <a:rPr lang="zh-CN" altLang="en-US"/>
                        <a:t>）</a:t>
                      </a:r>
                      <a:endParaRPr lang="zh-CN" altLang="en-US" dirty="0"/>
                    </a:p>
                  </a:txBody>
                  <a:tcPr anchor="ctr"/>
                </a:tc>
                <a:extLst>
                  <a:ext uri="{0D108BD9-81ED-4DB2-BD59-A6C34878D82A}">
                    <a16:rowId xmlns:a16="http://schemas.microsoft.com/office/drawing/2014/main" val="10002"/>
                  </a:ext>
                </a:extLst>
              </a:tr>
              <a:tr h="370840">
                <a:tc>
                  <a:txBody>
                    <a:bodyPr/>
                    <a:lstStyle/>
                    <a:p>
                      <a:pPr algn="ctr"/>
                      <a:r>
                        <a:rPr lang="zh-CN" altLang="en-US"/>
                        <a:t>概率论（</a:t>
                      </a:r>
                      <a:r>
                        <a:rPr lang="en-US" altLang="zh-CN"/>
                        <a:t>95.5</a:t>
                      </a:r>
                      <a:r>
                        <a:rPr lang="zh-CN" altLang="en-US"/>
                        <a:t>）</a:t>
                      </a:r>
                      <a:endParaRPr lang="zh-CN" altLang="en-US" dirty="0"/>
                    </a:p>
                  </a:txBody>
                  <a:tcPr anchor="ctr"/>
                </a:tc>
                <a:tc>
                  <a:txBody>
                    <a:bodyPr/>
                    <a:lstStyle/>
                    <a:p>
                      <a:pPr algn="ctr"/>
                      <a:r>
                        <a:rPr lang="zh-CN" altLang="en-US" sz="1800" b="0" i="0" kern="1200">
                          <a:solidFill>
                            <a:schemeClr val="dk1"/>
                          </a:solidFill>
                          <a:effectLst/>
                          <a:latin typeface="+mn-lt"/>
                          <a:ea typeface="+mn-ea"/>
                          <a:cs typeface="+mn-cs"/>
                        </a:rPr>
                        <a:t>图像分析与解译</a:t>
                      </a:r>
                      <a:r>
                        <a:rPr lang="zh-CN" altLang="en-US"/>
                        <a:t>（</a:t>
                      </a:r>
                      <a:r>
                        <a:rPr lang="en-US" altLang="zh-CN"/>
                        <a:t>95</a:t>
                      </a:r>
                      <a:r>
                        <a:rPr lang="zh-CN" altLang="en-US"/>
                        <a:t>）</a:t>
                      </a:r>
                      <a:endParaRPr lang="zh-CN" altLang="en-US" dirty="0"/>
                    </a:p>
                  </a:txBody>
                  <a:tcPr anchor="ctr"/>
                </a:tc>
                <a:tc>
                  <a:txBody>
                    <a:bodyPr/>
                    <a:lstStyle/>
                    <a:p>
                      <a:pPr algn="ctr"/>
                      <a:r>
                        <a:rPr lang="zh-CN" altLang="en-US"/>
                        <a:t>算法设计与分析（</a:t>
                      </a:r>
                      <a:r>
                        <a:rPr lang="en-US" altLang="zh-CN"/>
                        <a:t>95.32</a:t>
                      </a:r>
                      <a:r>
                        <a:rPr lang="zh-CN" altLang="en-US"/>
                        <a:t>）</a:t>
                      </a:r>
                      <a:endParaRPr lang="zh-CN" altLang="en-US" dirty="0"/>
                    </a:p>
                  </a:txBody>
                  <a:tcPr anchor="ctr"/>
                </a:tc>
                <a:extLst>
                  <a:ext uri="{0D108BD9-81ED-4DB2-BD59-A6C34878D82A}">
                    <a16:rowId xmlns:a16="http://schemas.microsoft.com/office/drawing/2014/main" val="10003"/>
                  </a:ext>
                </a:extLst>
              </a:tr>
              <a:tr h="370840">
                <a:tc>
                  <a:txBody>
                    <a:bodyPr/>
                    <a:lstStyle/>
                    <a:p>
                      <a:pPr algn="ctr"/>
                      <a:r>
                        <a:rPr lang="zh-CN" altLang="en-US" sz="1800">
                          <a:sym typeface="+mn-ea"/>
                        </a:rPr>
                        <a:t>研究生数理统计（</a:t>
                      </a:r>
                      <a:r>
                        <a:rPr lang="en-US" altLang="zh-CN" sz="1800">
                          <a:sym typeface="+mn-ea"/>
                        </a:rPr>
                        <a:t>91</a:t>
                      </a:r>
                      <a:r>
                        <a:rPr lang="zh-CN" altLang="en-US" sz="1800">
                          <a:sym typeface="+mn-ea"/>
                        </a:rPr>
                        <a:t>）</a:t>
                      </a:r>
                      <a:endParaRPr lang="zh-CN" altLang="en-US" dirty="0"/>
                    </a:p>
                  </a:txBody>
                  <a:tcPr anchor="ctr"/>
                </a:tc>
                <a:tc>
                  <a:txBody>
                    <a:bodyPr/>
                    <a:lstStyle/>
                    <a:p>
                      <a:pPr algn="ctr"/>
                      <a:r>
                        <a:rPr lang="zh-CN" altLang="en-US" sz="1800" b="0" i="0" kern="1200">
                          <a:solidFill>
                            <a:schemeClr val="dk1"/>
                          </a:solidFill>
                          <a:effectLst/>
                          <a:latin typeface="+mn-lt"/>
                          <a:ea typeface="+mn-ea"/>
                          <a:cs typeface="+mn-cs"/>
                        </a:rPr>
                        <a:t>深度学习与计算机视觉</a:t>
                      </a:r>
                      <a:r>
                        <a:rPr lang="zh-CN" altLang="en-US"/>
                        <a:t>（</a:t>
                      </a:r>
                      <a:r>
                        <a:rPr lang="en-US" altLang="zh-CN"/>
                        <a:t>93</a:t>
                      </a:r>
                      <a:r>
                        <a:rPr lang="zh-CN" altLang="en-US"/>
                        <a:t>）</a:t>
                      </a:r>
                      <a:endParaRPr lang="zh-CN" altLang="en-US" dirty="0"/>
                    </a:p>
                  </a:txBody>
                  <a:tcPr anchor="ctr"/>
                </a:tc>
                <a:tc>
                  <a:txBody>
                    <a:bodyPr/>
                    <a:lstStyle/>
                    <a:p>
                      <a:pPr algn="ctr"/>
                      <a:r>
                        <a:rPr lang="zh-CN" altLang="en-US"/>
                        <a:t>数据结构（</a:t>
                      </a:r>
                      <a:r>
                        <a:rPr lang="en-US" altLang="zh-CN" dirty="0"/>
                        <a:t>94</a:t>
                      </a:r>
                      <a:r>
                        <a:rPr lang="zh-CN" altLang="en-US" dirty="0"/>
                        <a:t>）</a:t>
                      </a:r>
                    </a:p>
                  </a:txBody>
                  <a:tcPr anchor="ctr"/>
                </a:tc>
                <a:extLst>
                  <a:ext uri="{0D108BD9-81ED-4DB2-BD59-A6C34878D82A}">
                    <a16:rowId xmlns:a16="http://schemas.microsoft.com/office/drawing/2014/main" val="10004"/>
                  </a:ext>
                </a:extLst>
              </a:tr>
            </a:tbl>
          </a:graphicData>
        </a:graphic>
      </p:graphicFrame>
      <p:pic>
        <p:nvPicPr>
          <p:cNvPr id="2050" name="Picture 2" descr="preview"/>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21751" y="50664"/>
            <a:ext cx="2742987" cy="2742987"/>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E045B4F6-A3C9-F1A3-BC2D-F6F4DE4F1C9D}"/>
              </a:ext>
            </a:extLst>
          </p:cNvPr>
          <p:cNvSpPr txBox="1"/>
          <p:nvPr/>
        </p:nvSpPr>
        <p:spPr>
          <a:xfrm>
            <a:off x="1515439" y="798776"/>
            <a:ext cx="9156186" cy="3265574"/>
          </a:xfrm>
          <a:prstGeom prst="rect">
            <a:avLst/>
          </a:prstGeom>
          <a:noFill/>
        </p:spPr>
        <p:txBody>
          <a:bodyPr wrap="square" rtlCol="0">
            <a:spAutoFit/>
          </a:bodyPr>
          <a:lstStyle/>
          <a:p>
            <a:pPr>
              <a:lnSpc>
                <a:spcPct val="150000"/>
              </a:lnSpc>
            </a:pPr>
            <a:r>
              <a:rPr lang="zh-CN" altLang="en-US" sz="2000" dirty="0">
                <a:solidFill>
                  <a:prstClr val="black"/>
                </a:solidFill>
                <a:latin typeface="Calisto MT" panose="02040603050505030304" pitchFamily="18" charset="0"/>
                <a:ea typeface="宋体" panose="02010600030101010101" pitchFamily="2" charset="-122"/>
              </a:rPr>
              <a:t>姓名：余</a:t>
            </a:r>
            <a:r>
              <a:rPr lang="zh-CN" altLang="en-US" sz="2000">
                <a:solidFill>
                  <a:prstClr val="black"/>
                </a:solidFill>
                <a:latin typeface="Calisto MT" panose="02040603050505030304" pitchFamily="18" charset="0"/>
                <a:ea typeface="宋体" panose="02010600030101010101" pitchFamily="2" charset="-122"/>
              </a:rPr>
              <a:t>志椋</a:t>
            </a:r>
            <a:endParaRPr lang="en-US" altLang="zh-CN" sz="2000" dirty="0">
              <a:solidFill>
                <a:prstClr val="black"/>
              </a:solidFill>
              <a:latin typeface="Calisto MT" panose="02040603050505030304" pitchFamily="18" charset="0"/>
              <a:ea typeface="宋体" panose="02010600030101010101" pitchFamily="2" charset="-122"/>
            </a:endParaRPr>
          </a:p>
          <a:p>
            <a:pPr>
              <a:lnSpc>
                <a:spcPct val="150000"/>
              </a:lnSpc>
            </a:pPr>
            <a:r>
              <a:rPr lang="zh-CN" altLang="en-US" sz="2000">
                <a:solidFill>
                  <a:prstClr val="black"/>
                </a:solidFill>
                <a:latin typeface="Calisto MT" panose="02040603050505030304" pitchFamily="18" charset="0"/>
                <a:ea typeface="宋体" panose="02010600030101010101" pitchFamily="2" charset="-122"/>
              </a:rPr>
              <a:t>英语水平：</a:t>
            </a:r>
            <a:r>
              <a:rPr lang="en-US" altLang="zh-CN" sz="2000" b="1" dirty="0">
                <a:solidFill>
                  <a:prstClr val="black"/>
                </a:solidFill>
                <a:latin typeface="Calisto MT" panose="02040603050505030304" pitchFamily="18" charset="0"/>
                <a:ea typeface="宋体" panose="02010600030101010101" pitchFamily="2" charset="-122"/>
              </a:rPr>
              <a:t>CET-4(641</a:t>
            </a:r>
            <a:r>
              <a:rPr lang="en-US" altLang="zh-CN" sz="2000" b="1">
                <a:solidFill>
                  <a:prstClr val="black"/>
                </a:solidFill>
                <a:latin typeface="Calisto MT" panose="02040603050505030304" pitchFamily="18" charset="0"/>
                <a:ea typeface="宋体" panose="02010600030101010101" pitchFamily="2" charset="-122"/>
              </a:rPr>
              <a:t>)</a:t>
            </a:r>
            <a:r>
              <a:rPr lang="zh-CN" altLang="en-US" sz="2000" b="1">
                <a:solidFill>
                  <a:prstClr val="black"/>
                </a:solidFill>
                <a:latin typeface="Calisto MT" panose="02040603050505030304" pitchFamily="18" charset="0"/>
                <a:ea typeface="宋体" panose="02010600030101010101" pitchFamily="2" charset="-122"/>
              </a:rPr>
              <a:t>、</a:t>
            </a:r>
            <a:r>
              <a:rPr lang="en-US" altLang="zh-CN" sz="2000" b="1">
                <a:solidFill>
                  <a:prstClr val="black"/>
                </a:solidFill>
                <a:latin typeface="Calisto MT" panose="02040603050505030304" pitchFamily="18" charset="0"/>
                <a:ea typeface="宋体" panose="02010600030101010101" pitchFamily="2" charset="-122"/>
              </a:rPr>
              <a:t>CET-6(608)</a:t>
            </a:r>
            <a:r>
              <a:rPr lang="zh-CN" altLang="en-US" sz="2000" b="1">
                <a:solidFill>
                  <a:prstClr val="black"/>
                </a:solidFill>
                <a:latin typeface="Calisto MT" panose="02040603050505030304" pitchFamily="18" charset="0"/>
                <a:ea typeface="宋体" panose="02010600030101010101" pitchFamily="2" charset="-122"/>
              </a:rPr>
              <a:t>、</a:t>
            </a:r>
            <a:r>
              <a:rPr lang="zh-CN" altLang="en-US" sz="2000">
                <a:latin typeface="Calisto MT" panose="02040603050505030304" pitchFamily="18" charset="0"/>
              </a:rPr>
              <a:t>全国大学生英语竞赛一等奖</a:t>
            </a:r>
            <a:endParaRPr lang="en-US" altLang="zh-CN" sz="2000">
              <a:latin typeface="Calisto MT" panose="02040603050505030304" pitchFamily="18" charset="0"/>
            </a:endParaRPr>
          </a:p>
          <a:p>
            <a:pPr>
              <a:lnSpc>
                <a:spcPct val="150000"/>
              </a:lnSpc>
            </a:pPr>
            <a:r>
              <a:rPr lang="zh-CN" altLang="en-US" sz="2000">
                <a:solidFill>
                  <a:prstClr val="black"/>
                </a:solidFill>
                <a:latin typeface="Calisto MT" panose="02040603050505030304" pitchFamily="18" charset="0"/>
                <a:ea typeface="宋体" panose="02010600030101010101" pitchFamily="2" charset="-122"/>
              </a:rPr>
              <a:t>数学水平：</a:t>
            </a:r>
            <a:r>
              <a:rPr lang="en-US" altLang="zh-CN" sz="2000">
                <a:latin typeface="Calisto MT" panose="02040603050505030304" pitchFamily="18" charset="0"/>
              </a:rPr>
              <a:t>2023</a:t>
            </a:r>
            <a:r>
              <a:rPr lang="zh-CN" altLang="en-US" sz="2000">
                <a:latin typeface="Calisto MT" panose="02040603050505030304" pitchFamily="18" charset="0"/>
              </a:rPr>
              <a:t>年全国大学生数学竞赛一等奖</a:t>
            </a:r>
            <a:endParaRPr lang="en-US" altLang="zh-CN" sz="2000" b="1">
              <a:solidFill>
                <a:prstClr val="black"/>
              </a:solidFill>
              <a:latin typeface="Calisto MT" panose="02040603050505030304" pitchFamily="18" charset="0"/>
              <a:ea typeface="宋体" panose="02010600030101010101" pitchFamily="2" charset="-122"/>
            </a:endParaRPr>
          </a:p>
          <a:p>
            <a:pPr lvl="0">
              <a:lnSpc>
                <a:spcPct val="150000"/>
              </a:lnSpc>
              <a:defRPr/>
            </a:pPr>
            <a:r>
              <a:rPr lang="zh-CN" altLang="en-US" sz="2000" b="1">
                <a:solidFill>
                  <a:prstClr val="black"/>
                </a:solidFill>
                <a:latin typeface="Calisto MT" panose="02040603050505030304" pitchFamily="18" charset="0"/>
              </a:rPr>
              <a:t>本科</a:t>
            </a:r>
            <a:r>
              <a:rPr lang="en-US" altLang="zh-CN" sz="2000">
                <a:solidFill>
                  <a:prstClr val="black"/>
                </a:solidFill>
                <a:latin typeface="Calisto MT" panose="02040603050505030304" pitchFamily="18" charset="0"/>
              </a:rPr>
              <a:t>(2020.9-2024.6)</a:t>
            </a:r>
            <a:r>
              <a:rPr lang="zh-CN" altLang="en-US" sz="2000">
                <a:solidFill>
                  <a:prstClr val="black"/>
                </a:solidFill>
                <a:latin typeface="Calisto MT" panose="02040603050505030304" pitchFamily="18" charset="0"/>
              </a:rPr>
              <a:t>：武汉理工大学    计算机科学与技术专业</a:t>
            </a:r>
            <a:endParaRPr lang="en-US" altLang="zh-CN" sz="2000">
              <a:solidFill>
                <a:prstClr val="black"/>
              </a:solidFill>
              <a:latin typeface="Calisto MT" panose="02040603050505030304" pitchFamily="18" charset="0"/>
            </a:endParaRPr>
          </a:p>
          <a:p>
            <a:pPr lvl="0">
              <a:lnSpc>
                <a:spcPct val="150000"/>
              </a:lnSpc>
              <a:defRPr/>
            </a:pPr>
            <a:r>
              <a:rPr lang="zh-CN" altLang="en-US" sz="2000" b="1">
                <a:solidFill>
                  <a:prstClr val="black"/>
                </a:solidFill>
                <a:latin typeface="Calisto MT" panose="02040603050505030304" pitchFamily="18" charset="0"/>
              </a:rPr>
              <a:t>硕士</a:t>
            </a:r>
            <a:r>
              <a:rPr lang="en-US" altLang="zh-CN" sz="2000">
                <a:solidFill>
                  <a:prstClr val="black"/>
                </a:solidFill>
                <a:latin typeface="Calisto MT" panose="02040603050505030304" pitchFamily="18" charset="0"/>
              </a:rPr>
              <a:t>(2024.9</a:t>
            </a:r>
            <a:r>
              <a:rPr lang="zh-CN" altLang="en-US" sz="2000">
                <a:solidFill>
                  <a:prstClr val="black"/>
                </a:solidFill>
                <a:latin typeface="Calisto MT" panose="02040603050505030304" pitchFamily="18" charset="0"/>
              </a:rPr>
              <a:t>至今</a:t>
            </a:r>
            <a:r>
              <a:rPr lang="en-US" altLang="zh-CN" sz="2000">
                <a:solidFill>
                  <a:prstClr val="black"/>
                </a:solidFill>
                <a:latin typeface="Calisto MT" panose="02040603050505030304" pitchFamily="18" charset="0"/>
              </a:rPr>
              <a:t>) </a:t>
            </a:r>
            <a:r>
              <a:rPr lang="zh-CN" altLang="en-US" sz="2000">
                <a:solidFill>
                  <a:prstClr val="black"/>
                </a:solidFill>
                <a:latin typeface="Calisto MT" panose="02040603050505030304" pitchFamily="18" charset="0"/>
              </a:rPr>
              <a:t>：   武汉大学            计算机科学与技术专业</a:t>
            </a:r>
            <a:endParaRPr lang="en-US" altLang="zh-CN" sz="2000" dirty="0">
              <a:solidFill>
                <a:prstClr val="black"/>
              </a:solidFill>
              <a:latin typeface="Calisto MT" panose="02040603050505030304" pitchFamily="18" charset="0"/>
              <a:ea typeface="宋体" panose="02010600030101010101" pitchFamily="2" charset="-122"/>
            </a:endParaRPr>
          </a:p>
          <a:p>
            <a:pPr>
              <a:lnSpc>
                <a:spcPct val="150000"/>
              </a:lnSpc>
            </a:pPr>
            <a:r>
              <a:rPr lang="zh-CN" altLang="en-US" sz="2000">
                <a:solidFill>
                  <a:prstClr val="black"/>
                </a:solidFill>
                <a:latin typeface="Calisto MT" panose="02040603050505030304" pitchFamily="18" charset="0"/>
                <a:ea typeface="宋体" panose="02010600030101010101" pitchFamily="2" charset="-122"/>
              </a:rPr>
              <a:t>专业排名：本科（</a:t>
            </a:r>
            <a:r>
              <a:rPr lang="en-US" altLang="zh-CN" sz="2000">
                <a:solidFill>
                  <a:prstClr val="black"/>
                </a:solidFill>
                <a:latin typeface="Calisto MT" panose="02040603050505030304" pitchFamily="18" charset="0"/>
                <a:ea typeface="宋体" panose="02010600030101010101" pitchFamily="2" charset="-122"/>
              </a:rPr>
              <a:t>2/567  0.35%</a:t>
            </a:r>
            <a:r>
              <a:rPr lang="zh-CN" altLang="en-US" sz="2000">
                <a:solidFill>
                  <a:prstClr val="black"/>
                </a:solidFill>
                <a:latin typeface="Calisto MT" panose="02040603050505030304" pitchFamily="18" charset="0"/>
              </a:rPr>
              <a:t>），硕士（</a:t>
            </a:r>
            <a:r>
              <a:rPr lang="en-US" altLang="zh-CN" sz="2000">
                <a:solidFill>
                  <a:prstClr val="black"/>
                </a:solidFill>
                <a:latin typeface="Calisto MT" panose="02040603050505030304" pitchFamily="18" charset="0"/>
              </a:rPr>
              <a:t>9/206  4.37%</a:t>
            </a:r>
            <a:r>
              <a:rPr lang="zh-CN" altLang="en-US" sz="2000">
                <a:solidFill>
                  <a:prstClr val="black"/>
                </a:solidFill>
                <a:latin typeface="Calisto MT" panose="02040603050505030304" pitchFamily="18" charset="0"/>
              </a:rPr>
              <a:t>）</a:t>
            </a:r>
            <a:endParaRPr lang="en-US" altLang="zh-CN" sz="2000" b="1" dirty="0">
              <a:solidFill>
                <a:prstClr val="black"/>
              </a:solidFill>
              <a:latin typeface="Calisto MT" panose="02040603050505030304" pitchFamily="18" charset="0"/>
              <a:ea typeface="宋体" panose="02010600030101010101" pitchFamily="2" charset="-122"/>
            </a:endParaRPr>
          </a:p>
          <a:p>
            <a:pPr>
              <a:lnSpc>
                <a:spcPct val="150000"/>
              </a:lnSpc>
            </a:pPr>
            <a:r>
              <a:rPr lang="zh-CN" altLang="en-US" sz="2000">
                <a:solidFill>
                  <a:prstClr val="black"/>
                </a:solidFill>
                <a:latin typeface="Calisto MT" panose="02040603050505030304" pitchFamily="18" charset="0"/>
                <a:ea typeface="宋体" panose="02010600030101010101" pitchFamily="2" charset="-122"/>
              </a:rPr>
              <a:t>所</a:t>
            </a:r>
            <a:r>
              <a:rPr lang="zh-CN" altLang="en-US" sz="2000" dirty="0">
                <a:solidFill>
                  <a:prstClr val="black"/>
                </a:solidFill>
                <a:latin typeface="Calisto MT" panose="02040603050505030304" pitchFamily="18" charset="0"/>
                <a:ea typeface="宋体" panose="02010600030101010101" pitchFamily="2" charset="-122"/>
              </a:rPr>
              <a:t>获荣誉：</a:t>
            </a:r>
            <a:r>
              <a:rPr lang="zh-CN" altLang="en-US" sz="2000" dirty="0">
                <a:latin typeface="Calisto MT" panose="02040603050505030304" pitchFamily="18" charset="0"/>
                <a:ea typeface="宋体" panose="02010600030101010101" pitchFamily="2" charset="-122"/>
              </a:rPr>
              <a:t>国家</a:t>
            </a:r>
            <a:r>
              <a:rPr lang="zh-CN" altLang="en-US" sz="2000">
                <a:latin typeface="Calisto MT" panose="02040603050505030304" pitchFamily="18" charset="0"/>
                <a:ea typeface="宋体" panose="02010600030101010101" pitchFamily="2" charset="-122"/>
              </a:rPr>
              <a:t>奖学金</a:t>
            </a:r>
            <a:r>
              <a:rPr lang="zh-CN" altLang="en-US" sz="2000">
                <a:solidFill>
                  <a:prstClr val="black"/>
                </a:solidFill>
                <a:latin typeface="Calisto MT" panose="02040603050505030304" pitchFamily="18" charset="0"/>
                <a:ea typeface="宋体" panose="02010600030101010101" pitchFamily="2" charset="-122"/>
              </a:rPr>
              <a:t>、校毕业生代表、校三好学生标兵</a:t>
            </a:r>
            <a:endParaRPr lang="en-US" altLang="zh-CN" sz="2000" dirty="0">
              <a:solidFill>
                <a:srgbClr val="FF0000"/>
              </a:solidFill>
              <a:latin typeface="Times New Roman" panose="02020603050405020304" pitchFamily="18" charset="0"/>
              <a:ea typeface="微软雅黑" panose="020B0503020204020204" pitchFamily="34" charset="-122"/>
            </a:endParaRPr>
          </a:p>
        </p:txBody>
      </p:sp>
      <p:pic>
        <p:nvPicPr>
          <p:cNvPr id="3" name="图片 2">
            <a:extLst>
              <a:ext uri="{FF2B5EF4-FFF2-40B4-BE49-F238E27FC236}">
                <a16:creationId xmlns:a16="http://schemas.microsoft.com/office/drawing/2014/main" id="{873290CE-7D02-0E3B-9436-55171D73352E}"/>
              </a:ext>
            </a:extLst>
          </p:cNvPr>
          <p:cNvPicPr>
            <a:picLocks noChangeAspect="1"/>
          </p:cNvPicPr>
          <p:nvPr/>
        </p:nvPicPr>
        <p:blipFill>
          <a:blip r:embed="rId5"/>
          <a:srcRect l="4222"/>
          <a:stretch>
            <a:fillRect/>
          </a:stretch>
        </p:blipFill>
        <p:spPr>
          <a:xfrm>
            <a:off x="9147564" y="3072244"/>
            <a:ext cx="2817174" cy="3344873"/>
          </a:xfrm>
          <a:prstGeom prst="rect">
            <a:avLst/>
          </a:prstGeom>
        </p:spPr>
      </p:pic>
      <p:pic>
        <p:nvPicPr>
          <p:cNvPr id="9" name="图片 8">
            <a:extLst>
              <a:ext uri="{FF2B5EF4-FFF2-40B4-BE49-F238E27FC236}">
                <a16:creationId xmlns:a16="http://schemas.microsoft.com/office/drawing/2014/main" id="{D77801A1-6865-0654-1940-042B1C9B4A6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398" y="1177735"/>
            <a:ext cx="1433041" cy="2169953"/>
          </a:xfrm>
          <a:prstGeom prst="rect">
            <a:avLst/>
          </a:prstGeom>
        </p:spPr>
      </p:pic>
    </p:spTree>
  </p:cSld>
  <p:clrMapOvr>
    <a:masterClrMapping/>
  </p:clrMapOvr>
  <p:transition spd="slow" advTm="77427">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E767-5577-D277-F13B-59CE7285A3E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73899F4-FB4F-6FE6-7BAA-CBB266D8E7ED}"/>
              </a:ext>
            </a:extLst>
          </p:cNvPr>
          <p:cNvSpPr>
            <a:spLocks noGrp="1"/>
          </p:cNvSpPr>
          <p:nvPr>
            <p:ph type="sldNum" sz="quarter" idx="12"/>
          </p:nvPr>
        </p:nvSpPr>
        <p:spPr/>
        <p:txBody>
          <a:bodyPr/>
          <a:lstStyle/>
          <a:p>
            <a:fld id="{62B6538A-33AE-45EB-868C-14B9E34ED961}" type="slidenum">
              <a:rPr lang="zh-CN" altLang="en-US" smtClean="0"/>
              <a:t>4</a:t>
            </a:fld>
            <a:endParaRPr lang="zh-CN" altLang="en-US"/>
          </a:p>
        </p:txBody>
      </p:sp>
      <p:sp>
        <p:nvSpPr>
          <p:cNvPr id="3" name="PA_矩形 7">
            <a:extLst>
              <a:ext uri="{FF2B5EF4-FFF2-40B4-BE49-F238E27FC236}">
                <a16:creationId xmlns:a16="http://schemas.microsoft.com/office/drawing/2014/main" id="{BBD2AA64-6DA4-E813-D095-4EC41DA1990D}"/>
              </a:ext>
            </a:extLst>
          </p:cNvPr>
          <p:cNvSpPr/>
          <p:nvPr>
            <p:custDataLst>
              <p:tags r:id="rId1"/>
            </p:custDataLst>
          </p:nvPr>
        </p:nvSpPr>
        <p:spPr>
          <a:xfrm>
            <a:off x="0" y="0"/>
            <a:ext cx="4314548" cy="6858000"/>
          </a:xfrm>
          <a:prstGeom prst="rect">
            <a:avLst/>
          </a:prstGeom>
          <a:solidFill>
            <a:schemeClr val="accent5">
              <a:lumMod val="75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8">
            <a:extLst>
              <a:ext uri="{FF2B5EF4-FFF2-40B4-BE49-F238E27FC236}">
                <a16:creationId xmlns:a16="http://schemas.microsoft.com/office/drawing/2014/main" id="{988BF282-64D8-2DAA-3B18-6CAA05541469}"/>
              </a:ext>
            </a:extLst>
          </p:cNvPr>
          <p:cNvSpPr txBox="1"/>
          <p:nvPr/>
        </p:nvSpPr>
        <p:spPr>
          <a:xfrm>
            <a:off x="514383" y="2136764"/>
            <a:ext cx="3125983" cy="2831544"/>
          </a:xfrm>
          <a:prstGeom prst="rect">
            <a:avLst/>
          </a:prstGeom>
          <a:noFill/>
        </p:spPr>
        <p:txBody>
          <a:bodyPr wrap="square" lIns="0" tIns="0" rIns="0" bIns="0" rtlCol="0" anchor="ctr">
            <a:spAutoFit/>
          </a:bodyPr>
          <a:lstStyle/>
          <a:p>
            <a:pPr algn="ctr"/>
            <a:r>
              <a:rPr lang="zh-CN" altLang="en-US" sz="60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endParaRPr lang="en-US" altLang="zh-CN" sz="6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endParaRPr lang="en-US" altLang="zh-CN" sz="32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en-US" altLang="zh-CN" sz="32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p>
          <a:p>
            <a:pPr algn="ctr"/>
            <a:endParaRPr lang="zh-CN" altLang="en-US" sz="6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7" name="Group 5">
            <a:extLst>
              <a:ext uri="{FF2B5EF4-FFF2-40B4-BE49-F238E27FC236}">
                <a16:creationId xmlns:a16="http://schemas.microsoft.com/office/drawing/2014/main" id="{11BB0DB3-D64E-FA54-CBF1-326B0500FCB9}"/>
              </a:ext>
            </a:extLst>
          </p:cNvPr>
          <p:cNvGrpSpPr/>
          <p:nvPr/>
        </p:nvGrpSpPr>
        <p:grpSpPr>
          <a:xfrm>
            <a:off x="5386029" y="1335079"/>
            <a:ext cx="4430625" cy="707887"/>
            <a:chOff x="1598315" y="1418185"/>
            <a:chExt cx="4430626" cy="707886"/>
          </a:xfrm>
        </p:grpSpPr>
        <p:sp>
          <p:nvSpPr>
            <p:cNvPr id="8" name="TextBox 6">
              <a:extLst>
                <a:ext uri="{FF2B5EF4-FFF2-40B4-BE49-F238E27FC236}">
                  <a16:creationId xmlns:a16="http://schemas.microsoft.com/office/drawing/2014/main" id="{452DA35F-9F65-CEE0-5701-F49BE307BF7B}"/>
                </a:ext>
              </a:extLst>
            </p:cNvPr>
            <p:cNvSpPr txBox="1"/>
            <p:nvPr/>
          </p:nvSpPr>
          <p:spPr>
            <a:xfrm>
              <a:off x="1598315" y="1418185"/>
              <a:ext cx="655949" cy="707886"/>
            </a:xfrm>
            <a:prstGeom prst="rect">
              <a:avLst/>
            </a:prstGeom>
            <a:noFill/>
          </p:spPr>
          <p:txBody>
            <a:bodyPr wrap="none" anchor="ctr">
              <a:normAutofit fontScale="85000" lnSpcReduction="20000"/>
            </a:bodyPr>
            <a:lstStyle/>
            <a:p>
              <a:pPr defTabSz="1219200"/>
              <a:r>
                <a:rPr lang="en-US" altLang="zh-CN" sz="5335" dirty="0">
                  <a:solidFill>
                    <a:schemeClr val="accent1">
                      <a:lumMod val="50000"/>
                    </a:schemeClr>
                  </a:solidFill>
                  <a:latin typeface="Impact" panose="020B0806030902050204" pitchFamily="34" charset="0"/>
                  <a:ea typeface="宋体" panose="02010600030101010101" pitchFamily="2" charset="-122"/>
                </a:rPr>
                <a:t>01</a:t>
              </a:r>
            </a:p>
          </p:txBody>
        </p:sp>
        <p:grpSp>
          <p:nvGrpSpPr>
            <p:cNvPr id="9" name="Group 7">
              <a:extLst>
                <a:ext uri="{FF2B5EF4-FFF2-40B4-BE49-F238E27FC236}">
                  <a16:creationId xmlns:a16="http://schemas.microsoft.com/office/drawing/2014/main" id="{4E2EEF54-211D-7413-320A-1183DB7C0B7A}"/>
                </a:ext>
              </a:extLst>
            </p:cNvPr>
            <p:cNvGrpSpPr/>
            <p:nvPr/>
          </p:nvGrpSpPr>
          <p:grpSpPr>
            <a:xfrm>
              <a:off x="2066367" y="1529264"/>
              <a:ext cx="3962574" cy="563232"/>
              <a:chOff x="3943834" y="704409"/>
              <a:chExt cx="3962574" cy="563232"/>
            </a:xfrm>
          </p:grpSpPr>
          <p:sp>
            <p:nvSpPr>
              <p:cNvPr id="10" name="TextBox 8">
                <a:extLst>
                  <a:ext uri="{FF2B5EF4-FFF2-40B4-BE49-F238E27FC236}">
                    <a16:creationId xmlns:a16="http://schemas.microsoft.com/office/drawing/2014/main" id="{C2A6FB1C-2F7A-39FE-9C9B-D0F351CF8FDD}"/>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dirty="0">
                    <a:solidFill>
                      <a:schemeClr val="accent1">
                        <a:lumMod val="50000"/>
                      </a:schemeClr>
                    </a:solidFill>
                    <a:latin typeface="Calibri" panose="020F0502020204030204"/>
                    <a:ea typeface="宋体" panose="02010600030101010101" pitchFamily="2" charset="-122"/>
                  </a:rPr>
                  <a:t>个人简介</a:t>
                </a:r>
              </a:p>
            </p:txBody>
          </p:sp>
          <p:sp>
            <p:nvSpPr>
              <p:cNvPr id="11" name="TextBox 9">
                <a:extLst>
                  <a:ext uri="{FF2B5EF4-FFF2-40B4-BE49-F238E27FC236}">
                    <a16:creationId xmlns:a16="http://schemas.microsoft.com/office/drawing/2014/main" id="{8B5C9B96-D1F8-D967-875D-39EE162574AF}"/>
                  </a:ext>
                </a:extLst>
              </p:cNvPr>
              <p:cNvSpPr txBox="1"/>
              <p:nvPr/>
            </p:nvSpPr>
            <p:spPr>
              <a:xfrm>
                <a:off x="3943834" y="947273"/>
                <a:ext cx="3962574" cy="320368"/>
              </a:xfrm>
              <a:prstGeom prst="rect">
                <a:avLst/>
              </a:prstGeom>
            </p:spPr>
            <p:txBody>
              <a:bodyPr vert="horz" wrap="square" lIns="480000" tIns="0" rIns="0" bIns="0" anchor="ctr" anchorCtr="0">
                <a:normAutofit/>
              </a:bodyPr>
              <a:lstStyle/>
              <a:p>
                <a:pPr defTabSz="1219200">
                  <a:lnSpc>
                    <a:spcPct val="120000"/>
                  </a:lnSpc>
                </a:pPr>
                <a:r>
                  <a:rPr lang="en-US" altLang="zh-CN" sz="1600">
                    <a:solidFill>
                      <a:schemeClr val="accent1">
                        <a:lumMod val="50000"/>
                      </a:schemeClr>
                    </a:solidFill>
                    <a:latin typeface="Calibri" panose="020F0502020204030204"/>
                    <a:ea typeface="宋体" panose="02010600030101010101" pitchFamily="2" charset="-122"/>
                  </a:rPr>
                  <a:t>Introduction</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12" name="Group 10">
            <a:extLst>
              <a:ext uri="{FF2B5EF4-FFF2-40B4-BE49-F238E27FC236}">
                <a16:creationId xmlns:a16="http://schemas.microsoft.com/office/drawing/2014/main" id="{F05796E8-8681-1B92-0523-6D8388AA0558}"/>
              </a:ext>
            </a:extLst>
          </p:cNvPr>
          <p:cNvGrpSpPr/>
          <p:nvPr/>
        </p:nvGrpSpPr>
        <p:grpSpPr>
          <a:xfrm>
            <a:off x="5386029" y="2310193"/>
            <a:ext cx="5126765" cy="707887"/>
            <a:chOff x="1598315" y="2786337"/>
            <a:chExt cx="5053548" cy="707886"/>
          </a:xfrm>
        </p:grpSpPr>
        <p:sp>
          <p:nvSpPr>
            <p:cNvPr id="13" name="TextBox 11">
              <a:extLst>
                <a:ext uri="{FF2B5EF4-FFF2-40B4-BE49-F238E27FC236}">
                  <a16:creationId xmlns:a16="http://schemas.microsoft.com/office/drawing/2014/main" id="{A904008B-F6B7-D071-FDDF-135BD8690EDD}"/>
                </a:ext>
              </a:extLst>
            </p:cNvPr>
            <p:cNvSpPr txBox="1"/>
            <p:nvPr/>
          </p:nvSpPr>
          <p:spPr>
            <a:xfrm>
              <a:off x="1598315" y="2786337"/>
              <a:ext cx="718466" cy="707886"/>
            </a:xfrm>
            <a:prstGeom prst="rect">
              <a:avLst/>
            </a:prstGeom>
            <a:noFill/>
          </p:spPr>
          <p:txBody>
            <a:bodyPr wrap="none" anchor="ctr">
              <a:normAutofit fontScale="85000" lnSpcReduction="20000"/>
            </a:bodyPr>
            <a:lstStyle/>
            <a:p>
              <a:pPr defTabSz="1219200"/>
              <a:r>
                <a:rPr lang="en-US" altLang="zh-CN" sz="5335" dirty="0">
                  <a:solidFill>
                    <a:srgbClr val="FF0000"/>
                  </a:solidFill>
                  <a:latin typeface="Impact" panose="020B0806030902050204" pitchFamily="34" charset="0"/>
                  <a:ea typeface="宋体" panose="02010600030101010101" pitchFamily="2" charset="-122"/>
                </a:rPr>
                <a:t>02</a:t>
              </a:r>
            </a:p>
          </p:txBody>
        </p:sp>
        <p:grpSp>
          <p:nvGrpSpPr>
            <p:cNvPr id="14" name="Group 12">
              <a:extLst>
                <a:ext uri="{FF2B5EF4-FFF2-40B4-BE49-F238E27FC236}">
                  <a16:creationId xmlns:a16="http://schemas.microsoft.com/office/drawing/2014/main" id="{964BAE37-C69B-9314-D25D-CD2C544F618D}"/>
                </a:ext>
              </a:extLst>
            </p:cNvPr>
            <p:cNvGrpSpPr/>
            <p:nvPr/>
          </p:nvGrpSpPr>
          <p:grpSpPr>
            <a:xfrm>
              <a:off x="2066367" y="2897416"/>
              <a:ext cx="4585496" cy="563232"/>
              <a:chOff x="3943834" y="704409"/>
              <a:chExt cx="4585496" cy="563232"/>
            </a:xfrm>
          </p:grpSpPr>
          <p:sp>
            <p:nvSpPr>
              <p:cNvPr id="15" name="TextBox 13">
                <a:extLst>
                  <a:ext uri="{FF2B5EF4-FFF2-40B4-BE49-F238E27FC236}">
                    <a16:creationId xmlns:a16="http://schemas.microsoft.com/office/drawing/2014/main" id="{F2ED8970-F907-97F6-DF79-B4EC52AAE2C1}"/>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企业实习经历</a:t>
                </a:r>
                <a:endParaRPr lang="zh-CN" altLang="en-US" sz="2400" b="1" dirty="0">
                  <a:solidFill>
                    <a:schemeClr val="accent1">
                      <a:lumMod val="50000"/>
                    </a:schemeClr>
                  </a:solidFill>
                  <a:latin typeface="Calibri" panose="020F0502020204030204"/>
                  <a:ea typeface="宋体" panose="02010600030101010101" pitchFamily="2" charset="-122"/>
                </a:endParaRPr>
              </a:p>
            </p:txBody>
          </p:sp>
          <p:sp>
            <p:nvSpPr>
              <p:cNvPr id="16" name="TextBox 14">
                <a:extLst>
                  <a:ext uri="{FF2B5EF4-FFF2-40B4-BE49-F238E27FC236}">
                    <a16:creationId xmlns:a16="http://schemas.microsoft.com/office/drawing/2014/main" id="{4E547AD0-58B7-4F2A-20E0-D73EDDD85C25}"/>
                  </a:ext>
                </a:extLst>
              </p:cNvPr>
              <p:cNvSpPr txBox="1"/>
              <p:nvPr/>
            </p:nvSpPr>
            <p:spPr>
              <a:xfrm>
                <a:off x="3943834" y="947273"/>
                <a:ext cx="4585496" cy="320368"/>
              </a:xfrm>
              <a:prstGeom prst="rect">
                <a:avLst/>
              </a:prstGeom>
            </p:spPr>
            <p:txBody>
              <a:bodyPr vert="horz" wrap="square" lIns="480000" tIns="0" rIns="0" bIns="0" anchor="ctr" anchorCtr="0">
                <a:noAutofit/>
              </a:bodyPr>
              <a:lstStyle/>
              <a:p>
                <a:pPr defTabSz="1219200">
                  <a:lnSpc>
                    <a:spcPct val="120000"/>
                  </a:lnSpc>
                </a:pPr>
                <a:r>
                  <a:rPr lang="en-US" altLang="zh-CN" sz="1600">
                    <a:solidFill>
                      <a:schemeClr val="accent1">
                        <a:lumMod val="50000"/>
                      </a:schemeClr>
                    </a:solidFill>
                  </a:rPr>
                  <a:t>Internship</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17" name="Group 15">
            <a:extLst>
              <a:ext uri="{FF2B5EF4-FFF2-40B4-BE49-F238E27FC236}">
                <a16:creationId xmlns:a16="http://schemas.microsoft.com/office/drawing/2014/main" id="{3E9CEB2C-A2E4-ACDC-5E64-B0EDFF7DCB56}"/>
              </a:ext>
            </a:extLst>
          </p:cNvPr>
          <p:cNvGrpSpPr/>
          <p:nvPr/>
        </p:nvGrpSpPr>
        <p:grpSpPr>
          <a:xfrm>
            <a:off x="5386029" y="4260421"/>
            <a:ext cx="4430625" cy="707887"/>
            <a:chOff x="1598315" y="4154489"/>
            <a:chExt cx="4430626" cy="707886"/>
          </a:xfrm>
        </p:grpSpPr>
        <p:sp>
          <p:nvSpPr>
            <p:cNvPr id="18" name="TextBox 16">
              <a:extLst>
                <a:ext uri="{FF2B5EF4-FFF2-40B4-BE49-F238E27FC236}">
                  <a16:creationId xmlns:a16="http://schemas.microsoft.com/office/drawing/2014/main" id="{2881366B-C30C-BB57-F464-450D69C8F118}"/>
                </a:ext>
              </a:extLst>
            </p:cNvPr>
            <p:cNvSpPr txBox="1"/>
            <p:nvPr/>
          </p:nvSpPr>
          <p:spPr>
            <a:xfrm>
              <a:off x="1598315" y="4154489"/>
              <a:ext cx="732893" cy="707886"/>
            </a:xfrm>
            <a:prstGeom prst="rect">
              <a:avLst/>
            </a:prstGeom>
            <a:noFill/>
          </p:spPr>
          <p:txBody>
            <a:bodyPr wrap="none" anchor="ctr">
              <a:normAutofit fontScale="85000" lnSpcReduction="20000"/>
            </a:bodyPr>
            <a:lstStyle/>
            <a:p>
              <a:pPr defTabSz="1219200"/>
              <a:r>
                <a:rPr lang="en-US" altLang="zh-CN" sz="5335">
                  <a:solidFill>
                    <a:schemeClr val="accent1">
                      <a:lumMod val="50000"/>
                    </a:schemeClr>
                  </a:solidFill>
                  <a:latin typeface="Impact" panose="020B0806030902050204" pitchFamily="34" charset="0"/>
                  <a:ea typeface="宋体" panose="02010600030101010101" pitchFamily="2" charset="-122"/>
                </a:rPr>
                <a:t>04</a:t>
              </a:r>
              <a:endParaRPr lang="en-US" altLang="zh-CN" sz="5335" dirty="0">
                <a:solidFill>
                  <a:schemeClr val="accent1">
                    <a:lumMod val="50000"/>
                  </a:schemeClr>
                </a:solidFill>
                <a:latin typeface="Impact" panose="020B0806030902050204" pitchFamily="34" charset="0"/>
                <a:ea typeface="宋体" panose="02010600030101010101" pitchFamily="2" charset="-122"/>
              </a:endParaRPr>
            </a:p>
          </p:txBody>
        </p:sp>
        <p:grpSp>
          <p:nvGrpSpPr>
            <p:cNvPr id="19" name="Group 17">
              <a:extLst>
                <a:ext uri="{FF2B5EF4-FFF2-40B4-BE49-F238E27FC236}">
                  <a16:creationId xmlns:a16="http://schemas.microsoft.com/office/drawing/2014/main" id="{99649060-3F8C-0D25-19D9-A3708485C4BE}"/>
                </a:ext>
              </a:extLst>
            </p:cNvPr>
            <p:cNvGrpSpPr/>
            <p:nvPr/>
          </p:nvGrpSpPr>
          <p:grpSpPr>
            <a:xfrm>
              <a:off x="2066367" y="4265568"/>
              <a:ext cx="3962574" cy="563232"/>
              <a:chOff x="3943834" y="704409"/>
              <a:chExt cx="3962574" cy="563232"/>
            </a:xfrm>
          </p:grpSpPr>
          <p:sp>
            <p:nvSpPr>
              <p:cNvPr id="20" name="TextBox 18">
                <a:extLst>
                  <a:ext uri="{FF2B5EF4-FFF2-40B4-BE49-F238E27FC236}">
                    <a16:creationId xmlns:a16="http://schemas.microsoft.com/office/drawing/2014/main" id="{4F12F1BF-8F4E-F7CF-D7C4-B66ED0870E4A}"/>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竞赛项目经历</a:t>
                </a:r>
                <a:endParaRPr lang="zh-CN" altLang="en-US" sz="2400" b="1" dirty="0">
                  <a:solidFill>
                    <a:schemeClr val="accent1">
                      <a:lumMod val="50000"/>
                    </a:schemeClr>
                  </a:solidFill>
                </a:endParaRPr>
              </a:p>
            </p:txBody>
          </p:sp>
          <p:sp>
            <p:nvSpPr>
              <p:cNvPr id="21" name="TextBox 19">
                <a:extLst>
                  <a:ext uri="{FF2B5EF4-FFF2-40B4-BE49-F238E27FC236}">
                    <a16:creationId xmlns:a16="http://schemas.microsoft.com/office/drawing/2014/main" id="{CE86EB60-CC26-C8B3-A0A1-60DC8D6EED20}"/>
                  </a:ext>
                </a:extLst>
              </p:cNvPr>
              <p:cNvSpPr txBox="1"/>
              <p:nvPr/>
            </p:nvSpPr>
            <p:spPr>
              <a:xfrm>
                <a:off x="3943834" y="947273"/>
                <a:ext cx="3962574" cy="320368"/>
              </a:xfrm>
              <a:prstGeom prst="rect">
                <a:avLst/>
              </a:prstGeom>
            </p:spPr>
            <p:txBody>
              <a:bodyPr vert="horz" wrap="square" lIns="480000" tIns="0" rIns="0" bIns="0" anchor="ctr" anchorCtr="0">
                <a:normAutofit/>
              </a:bodyPr>
              <a:lstStyle/>
              <a:p>
                <a:pPr defTabSz="1219200">
                  <a:lnSpc>
                    <a:spcPct val="120000"/>
                  </a:lnSpc>
                </a:pPr>
                <a:r>
                  <a:rPr lang="en-US" altLang="zh-CN" sz="1600" dirty="0">
                    <a:solidFill>
                      <a:schemeClr val="accent1">
                        <a:lumMod val="50000"/>
                      </a:schemeClr>
                    </a:solidFill>
                    <a:latin typeface="Calibri" panose="020F0502020204030204"/>
                    <a:ea typeface="宋体" panose="02010600030101010101" pitchFamily="2" charset="-122"/>
                  </a:rPr>
                  <a:t>Personal quality and development</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5" name="Group 10">
            <a:extLst>
              <a:ext uri="{FF2B5EF4-FFF2-40B4-BE49-F238E27FC236}">
                <a16:creationId xmlns:a16="http://schemas.microsoft.com/office/drawing/2014/main" id="{28EAA860-F71D-CDE6-4F10-E1017A61D535}"/>
              </a:ext>
            </a:extLst>
          </p:cNvPr>
          <p:cNvGrpSpPr/>
          <p:nvPr/>
        </p:nvGrpSpPr>
        <p:grpSpPr>
          <a:xfrm>
            <a:off x="5386029" y="3285307"/>
            <a:ext cx="5126765" cy="707887"/>
            <a:chOff x="1598315" y="2786337"/>
            <a:chExt cx="5053548" cy="707886"/>
          </a:xfrm>
        </p:grpSpPr>
        <p:sp>
          <p:nvSpPr>
            <p:cNvPr id="6" name="TextBox 11">
              <a:extLst>
                <a:ext uri="{FF2B5EF4-FFF2-40B4-BE49-F238E27FC236}">
                  <a16:creationId xmlns:a16="http://schemas.microsoft.com/office/drawing/2014/main" id="{FFA7F02A-5CED-C524-C8D4-A3EFE030D03A}"/>
                </a:ext>
              </a:extLst>
            </p:cNvPr>
            <p:cNvSpPr txBox="1"/>
            <p:nvPr/>
          </p:nvSpPr>
          <p:spPr>
            <a:xfrm>
              <a:off x="1598315" y="2786337"/>
              <a:ext cx="718466" cy="707886"/>
            </a:xfrm>
            <a:prstGeom prst="rect">
              <a:avLst/>
            </a:prstGeom>
            <a:noFill/>
          </p:spPr>
          <p:txBody>
            <a:bodyPr wrap="none" anchor="ctr">
              <a:normAutofit fontScale="85000" lnSpcReduction="20000"/>
            </a:bodyPr>
            <a:lstStyle/>
            <a:p>
              <a:pPr defTabSz="1219200"/>
              <a:r>
                <a:rPr lang="en-US" altLang="zh-CN" sz="5335">
                  <a:solidFill>
                    <a:schemeClr val="accent1">
                      <a:lumMod val="50000"/>
                    </a:schemeClr>
                  </a:solidFill>
                  <a:latin typeface="Impact" panose="020B0806030902050204" pitchFamily="34" charset="0"/>
                  <a:ea typeface="宋体" panose="02010600030101010101" pitchFamily="2" charset="-122"/>
                </a:rPr>
                <a:t>03</a:t>
              </a:r>
              <a:endParaRPr lang="en-US" altLang="zh-CN" sz="5335" dirty="0">
                <a:solidFill>
                  <a:schemeClr val="accent1">
                    <a:lumMod val="50000"/>
                  </a:schemeClr>
                </a:solidFill>
                <a:latin typeface="Impact" panose="020B0806030902050204" pitchFamily="34" charset="0"/>
                <a:ea typeface="宋体" panose="02010600030101010101" pitchFamily="2" charset="-122"/>
              </a:endParaRPr>
            </a:p>
          </p:txBody>
        </p:sp>
        <p:grpSp>
          <p:nvGrpSpPr>
            <p:cNvPr id="22" name="Group 12">
              <a:extLst>
                <a:ext uri="{FF2B5EF4-FFF2-40B4-BE49-F238E27FC236}">
                  <a16:creationId xmlns:a16="http://schemas.microsoft.com/office/drawing/2014/main" id="{C733D145-F6A4-E4B9-1D97-6E5A5CFE2F37}"/>
                </a:ext>
              </a:extLst>
            </p:cNvPr>
            <p:cNvGrpSpPr/>
            <p:nvPr/>
          </p:nvGrpSpPr>
          <p:grpSpPr>
            <a:xfrm>
              <a:off x="2066367" y="2897416"/>
              <a:ext cx="4585496" cy="563232"/>
              <a:chOff x="3943834" y="704409"/>
              <a:chExt cx="4585496" cy="563232"/>
            </a:xfrm>
          </p:grpSpPr>
          <p:sp>
            <p:nvSpPr>
              <p:cNvPr id="23" name="TextBox 13">
                <a:extLst>
                  <a:ext uri="{FF2B5EF4-FFF2-40B4-BE49-F238E27FC236}">
                    <a16:creationId xmlns:a16="http://schemas.microsoft.com/office/drawing/2014/main" id="{8147B53C-929C-22DA-15B5-69D3A64869EE}"/>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科研实习经历</a:t>
                </a:r>
                <a:endParaRPr lang="zh-CN" altLang="en-US" sz="2400" b="1" dirty="0">
                  <a:solidFill>
                    <a:schemeClr val="accent1">
                      <a:lumMod val="50000"/>
                    </a:schemeClr>
                  </a:solidFill>
                  <a:latin typeface="Calibri" panose="020F0502020204030204"/>
                  <a:ea typeface="宋体" panose="02010600030101010101" pitchFamily="2" charset="-122"/>
                </a:endParaRPr>
              </a:p>
            </p:txBody>
          </p:sp>
          <p:sp>
            <p:nvSpPr>
              <p:cNvPr id="24" name="TextBox 14">
                <a:extLst>
                  <a:ext uri="{FF2B5EF4-FFF2-40B4-BE49-F238E27FC236}">
                    <a16:creationId xmlns:a16="http://schemas.microsoft.com/office/drawing/2014/main" id="{4A708534-C30B-AE38-96C2-EC1C3443126E}"/>
                  </a:ext>
                </a:extLst>
              </p:cNvPr>
              <p:cNvSpPr txBox="1"/>
              <p:nvPr/>
            </p:nvSpPr>
            <p:spPr>
              <a:xfrm>
                <a:off x="3943834" y="947273"/>
                <a:ext cx="4585496" cy="320368"/>
              </a:xfrm>
              <a:prstGeom prst="rect">
                <a:avLst/>
              </a:prstGeom>
            </p:spPr>
            <p:txBody>
              <a:bodyPr vert="horz" wrap="square" lIns="480000" tIns="0" rIns="0" bIns="0" anchor="ctr" anchorCtr="0">
                <a:noAutofit/>
              </a:bodyPr>
              <a:lstStyle/>
              <a:p>
                <a:pPr defTabSz="1219200">
                  <a:lnSpc>
                    <a:spcPct val="120000"/>
                  </a:lnSpc>
                </a:pPr>
                <a:r>
                  <a:rPr lang="en-US" altLang="zh-CN" sz="1600" dirty="0">
                    <a:solidFill>
                      <a:schemeClr val="accent1">
                        <a:lumMod val="50000"/>
                      </a:schemeClr>
                    </a:solidFill>
                  </a:rPr>
                  <a:t>Competitions and scientific </a:t>
                </a:r>
                <a:r>
                  <a:rPr lang="en-US" altLang="zh-CN" sz="1600" dirty="0">
                    <a:solidFill>
                      <a:schemeClr val="accent1">
                        <a:lumMod val="50000"/>
                      </a:schemeClr>
                    </a:solidFill>
                    <a:latin typeface="Calibri" panose="020F0502020204030204"/>
                    <a:ea typeface="宋体" panose="02010600030101010101" pitchFamily="2" charset="-122"/>
                  </a:rPr>
                  <a:t>research</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pic>
        <p:nvPicPr>
          <p:cNvPr id="26" name="图片 25">
            <a:extLst>
              <a:ext uri="{FF2B5EF4-FFF2-40B4-BE49-F238E27FC236}">
                <a16:creationId xmlns:a16="http://schemas.microsoft.com/office/drawing/2014/main" id="{B35DA6FE-9DC1-0B0E-E867-F5831ABE56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6980" y="115635"/>
            <a:ext cx="1857628" cy="2035885"/>
          </a:xfrm>
          <a:prstGeom prst="rect">
            <a:avLst/>
          </a:prstGeom>
        </p:spPr>
      </p:pic>
    </p:spTree>
    <p:extLst>
      <p:ext uri="{BB962C8B-B14F-4D97-AF65-F5344CB8AC3E}">
        <p14:creationId xmlns:p14="http://schemas.microsoft.com/office/powerpoint/2010/main" val="1296972156"/>
      </p:ext>
    </p:extLst>
  </p:cSld>
  <p:clrMapOvr>
    <a:masterClrMapping/>
  </p:clrMapOvr>
  <p:transition spd="slow" advTm="11272">
    <p:wip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34000">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14:bounceEnd="34000">
                                          <p:cBhvr additive="base">
                                            <p:cTn id="7" dur="500" fill="hold"/>
                                            <p:tgtEl>
                                              <p:spTgt spid="7"/>
                                            </p:tgtEl>
                                            <p:attrNameLst>
                                              <p:attrName>ppt_x</p:attrName>
                                            </p:attrNameLst>
                                          </p:cBhvr>
                                          <p:tavLst>
                                            <p:tav tm="0">
                                              <p:val>
                                                <p:strVal val="1+#ppt_w/2"/>
                                              </p:val>
                                            </p:tav>
                                            <p:tav tm="100000">
                                              <p:val>
                                                <p:strVal val="#ppt_x"/>
                                              </p:val>
                                            </p:tav>
                                          </p:tavLst>
                                        </p:anim>
                                        <p:anim calcmode="lin" valueType="num" p14:bounceEnd="34000">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14:presetBounceEnd="34000">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14:bounceEnd="34000">
                                          <p:cBhvr additive="base">
                                            <p:cTn id="12" dur="5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14:presetBounceEnd="34000">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14:bounceEnd="34000">
                                          <p:cBhvr additive="base">
                                            <p:cTn id="17" dur="500" fill="hold"/>
                                            <p:tgtEl>
                                              <p:spTgt spid="17"/>
                                            </p:tgtEl>
                                            <p:attrNameLst>
                                              <p:attrName>ppt_x</p:attrName>
                                            </p:attrNameLst>
                                          </p:cBhvr>
                                          <p:tavLst>
                                            <p:tav tm="0">
                                              <p:val>
                                                <p:strVal val="1+#ppt_w/2"/>
                                              </p:val>
                                            </p:tav>
                                            <p:tav tm="100000">
                                              <p:val>
                                                <p:strVal val="#ppt_x"/>
                                              </p:val>
                                            </p:tav>
                                          </p:tavLst>
                                        </p:anim>
                                        <p:anim calcmode="lin" valueType="num" p14:bounceEnd="34000">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14:presetBounceEnd="34000">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14:bounceEnd="34000">
                                          <p:cBhvr additive="base">
                                            <p:cTn id="22" dur="500" fill="hold"/>
                                            <p:tgtEl>
                                              <p:spTgt spid="5"/>
                                            </p:tgtEl>
                                            <p:attrNameLst>
                                              <p:attrName>ppt_x</p:attrName>
                                            </p:attrNameLst>
                                          </p:cBhvr>
                                          <p:tavLst>
                                            <p:tav tm="0">
                                              <p:val>
                                                <p:strVal val="1+#ppt_w/2"/>
                                              </p:val>
                                            </p:tav>
                                            <p:tav tm="100000">
                                              <p:val>
                                                <p:strVal val="#ppt_x"/>
                                              </p:val>
                                            </p:tav>
                                          </p:tavLst>
                                        </p:anim>
                                        <p:anim calcmode="lin" valueType="num" p14:bounceEnd="34000">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1+#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1+#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9B88FEA2-5A17-3881-EB58-23B20A30161E}"/>
              </a:ext>
            </a:extLst>
          </p:cNvPr>
          <p:cNvSpPr/>
          <p:nvPr/>
        </p:nvSpPr>
        <p:spPr>
          <a:xfrm>
            <a:off x="432954" y="845751"/>
            <a:ext cx="11426658" cy="108000"/>
          </a:xfrm>
          <a:custGeom>
            <a:avLst/>
            <a:gdLst>
              <a:gd name="connsiteX0" fmla="*/ 2 w 11426658"/>
              <a:gd name="connsiteY0" fmla="*/ 0 h 108000"/>
              <a:gd name="connsiteX1" fmla="*/ 2164018 w 11426658"/>
              <a:gd name="connsiteY1" fmla="*/ 0 h 108000"/>
              <a:gd name="connsiteX2" fmla="*/ 2228214 w 11426658"/>
              <a:gd name="connsiteY2" fmla="*/ 55065 h 108000"/>
              <a:gd name="connsiteX3" fmla="*/ 11426658 w 11426658"/>
              <a:gd name="connsiteY3" fmla="*/ 55065 h 108000"/>
              <a:gd name="connsiteX4" fmla="*/ 11426658 w 11426658"/>
              <a:gd name="connsiteY4" fmla="*/ 108000 h 108000"/>
              <a:gd name="connsiteX5" fmla="*/ 2289926 w 11426658"/>
              <a:gd name="connsiteY5" fmla="*/ 108000 h 108000"/>
              <a:gd name="connsiteX6" fmla="*/ 2 w 11426658"/>
              <a:gd name="connsiteY6" fmla="*/ 108000 h 108000"/>
              <a:gd name="connsiteX7" fmla="*/ 0 w 11426658"/>
              <a:gd name="connsiteY7" fmla="*/ 108000 h 108000"/>
              <a:gd name="connsiteX8" fmla="*/ 0 w 11426658"/>
              <a:gd name="connsiteY8" fmla="*/ 55065 h 108000"/>
              <a:gd name="connsiteX9" fmla="*/ 2 w 11426658"/>
              <a:gd name="connsiteY9" fmla="*/ 55065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26658" h="108000">
                <a:moveTo>
                  <a:pt x="2" y="0"/>
                </a:moveTo>
                <a:lnTo>
                  <a:pt x="2164018" y="0"/>
                </a:lnTo>
                <a:lnTo>
                  <a:pt x="2228214" y="55065"/>
                </a:lnTo>
                <a:lnTo>
                  <a:pt x="11426658" y="55065"/>
                </a:lnTo>
                <a:lnTo>
                  <a:pt x="11426658" y="108000"/>
                </a:lnTo>
                <a:lnTo>
                  <a:pt x="2289926" y="108000"/>
                </a:lnTo>
                <a:lnTo>
                  <a:pt x="2" y="108000"/>
                </a:lnTo>
                <a:lnTo>
                  <a:pt x="0" y="108000"/>
                </a:lnTo>
                <a:lnTo>
                  <a:pt x="0" y="55065"/>
                </a:lnTo>
                <a:lnTo>
                  <a:pt x="2" y="55065"/>
                </a:lnTo>
                <a:close/>
              </a:path>
            </a:pathLst>
          </a:custGeom>
          <a:gradFill>
            <a:gsLst>
              <a:gs pos="0">
                <a:srgbClr val="003DA6"/>
              </a:gs>
              <a:gs pos="20000">
                <a:srgbClr val="009BD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srgbClr val="FF0000"/>
              </a:solidFill>
              <a:effectLst/>
              <a:uLnTx/>
              <a:uFillTx/>
              <a:latin typeface="Calibri" panose="020F0502020204030204" pitchFamily="34" charset="0"/>
              <a:ea typeface="黑体" panose="02010609060101010101" pitchFamily="49" charset="-122"/>
              <a:cs typeface="Calibri" panose="020F0502020204030204" pitchFamily="34" charset="0"/>
            </a:endParaRPr>
          </a:p>
        </p:txBody>
      </p:sp>
      <p:sp>
        <p:nvSpPr>
          <p:cNvPr id="5" name="文本框 4">
            <a:extLst>
              <a:ext uri="{FF2B5EF4-FFF2-40B4-BE49-F238E27FC236}">
                <a16:creationId xmlns:a16="http://schemas.microsoft.com/office/drawing/2014/main" id="{E85161E2-04E2-A3D0-CA0D-EC7CB6A70CAD}"/>
              </a:ext>
            </a:extLst>
          </p:cNvPr>
          <p:cNvSpPr txBox="1"/>
          <p:nvPr/>
        </p:nvSpPr>
        <p:spPr>
          <a:xfrm>
            <a:off x="335678" y="244573"/>
            <a:ext cx="10385662" cy="400110"/>
          </a:xfrm>
          <a:prstGeom prst="rect">
            <a:avLst/>
          </a:prstGeom>
          <a:noFill/>
        </p:spPr>
        <p:txBody>
          <a:bodyPr wrap="square" rtlCol="0">
            <a:spAutoFit/>
          </a:bodyPr>
          <a:lstStyle/>
          <a:p>
            <a:pPr lvl="0">
              <a:defRPr/>
            </a:pPr>
            <a:r>
              <a:rPr lang="zh-CN" altLang="en-US" sz="2000" b="1">
                <a:solidFill>
                  <a:srgbClr val="003DA6"/>
                </a:solidFill>
                <a:latin typeface="Microsoft YaHei" panose="020B0503020204020204" pitchFamily="34" charset="-122"/>
                <a:ea typeface="Microsoft YaHei" panose="020B0503020204020204" pitchFamily="34" charset="-122"/>
                <a:cs typeface="Calibri" panose="020F0502020204030204" charset="0"/>
              </a:rPr>
              <a:t>华为计算产品线昇腾部门</a:t>
            </a:r>
            <a:r>
              <a:rPr kumimoji="0" lang="zh-CN" altLang="en-US" sz="2000" b="1" i="0" u="none" strike="noStrike" kern="1200" cap="none" spc="0" normalizeH="0" baseline="0" noProof="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：边缘</a:t>
            </a:r>
            <a:r>
              <a:rPr lang="zh-CN" altLang="en-US" sz="2000" b="1">
                <a:solidFill>
                  <a:srgbClr val="003DA6"/>
                </a:solidFill>
                <a:latin typeface="Microsoft YaHei" panose="020B0503020204020204" pitchFamily="34" charset="-122"/>
                <a:ea typeface="Microsoft YaHei" panose="020B0503020204020204" pitchFamily="34" charset="-122"/>
                <a:cs typeface="Calibri" panose="020F0502020204030204" charset="0"/>
              </a:rPr>
              <a:t>一体机 </a:t>
            </a:r>
            <a:r>
              <a:rPr kumimoji="0" lang="en-US" altLang="zh-CN" sz="2000" b="1" i="0" u="none" strike="noStrike" kern="1200" cap="none" spc="0" normalizeH="0" baseline="0" noProof="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AI Infra </a:t>
            </a:r>
            <a:r>
              <a:rPr kumimoji="0" lang="zh-CN" altLang="en-US" sz="2000" b="1" i="0" u="none" strike="noStrike" kern="1200" cap="none" spc="0" normalizeH="0" baseline="0" noProof="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推理优化实习生（</a:t>
            </a:r>
            <a:r>
              <a:rPr lang="en-US" altLang="zh-CN" sz="2000" b="1">
                <a:solidFill>
                  <a:srgbClr val="003DA6"/>
                </a:solidFill>
                <a:latin typeface="Microsoft YaHei" panose="020B0503020204020204" pitchFamily="34" charset="-122"/>
                <a:ea typeface="Microsoft YaHei" panose="020B0503020204020204" pitchFamily="34" charset="-122"/>
                <a:cs typeface="Calibri" panose="020F0502020204030204" charset="0"/>
              </a:rPr>
              <a:t>2026.06——2026.12</a:t>
            </a:r>
            <a:r>
              <a:rPr kumimoji="0" lang="zh-CN" altLang="en-US" sz="2000" b="1" i="0" u="none" strike="noStrike" kern="1200" cap="none" spc="0" normalizeH="0" baseline="0" noProof="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a:t>
            </a:r>
            <a:endPar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19" name="Shape 9">
            <a:extLst>
              <a:ext uri="{FF2B5EF4-FFF2-40B4-BE49-F238E27FC236}">
                <a16:creationId xmlns:a16="http://schemas.microsoft.com/office/drawing/2014/main" id="{AFC0308E-10B0-F679-7643-3E9419508EA4}"/>
              </a:ext>
            </a:extLst>
          </p:cNvPr>
          <p:cNvSpPr/>
          <p:nvPr/>
        </p:nvSpPr>
        <p:spPr>
          <a:xfrm>
            <a:off x="145915" y="1147603"/>
            <a:ext cx="5401445" cy="4888385"/>
          </a:xfrm>
          <a:prstGeom prst="roundRect">
            <a:avLst>
              <a:gd name="adj" fmla="val 2972"/>
            </a:avLst>
          </a:prstGeom>
          <a:solidFill>
            <a:srgbClr val="FFFFFF"/>
          </a:solidFill>
          <a:ln w="9525">
            <a:solidFill>
              <a:srgbClr val="DCE5F1"/>
            </a:solidFill>
            <a:prstDash val="solid"/>
          </a:ln>
        </p:spPr>
        <p:txBody>
          <a:bodyPr/>
          <a:lstStyle/>
          <a:p>
            <a:endParaRPr lang="zh-CN" altLang="en-US"/>
          </a:p>
        </p:txBody>
      </p:sp>
      <p:sp>
        <p:nvSpPr>
          <p:cNvPr id="20" name="Shape 10">
            <a:extLst>
              <a:ext uri="{FF2B5EF4-FFF2-40B4-BE49-F238E27FC236}">
                <a16:creationId xmlns:a16="http://schemas.microsoft.com/office/drawing/2014/main" id="{5600D3AE-73D2-1CE3-A8FA-7EC5519A2F84}"/>
              </a:ext>
            </a:extLst>
          </p:cNvPr>
          <p:cNvSpPr/>
          <p:nvPr/>
        </p:nvSpPr>
        <p:spPr>
          <a:xfrm>
            <a:off x="204621" y="1186822"/>
            <a:ext cx="1832459" cy="422521"/>
          </a:xfrm>
          <a:prstGeom prst="roundRect">
            <a:avLst>
              <a:gd name="adj" fmla="val 48387"/>
            </a:avLst>
          </a:prstGeom>
          <a:solidFill>
            <a:srgbClr val="EEF4FF"/>
          </a:solidFill>
          <a:ln w="12700">
            <a:solidFill>
              <a:srgbClr val="EEF4FF">
                <a:alpha val="0"/>
              </a:srgbClr>
            </a:solidFill>
            <a:prstDash val="solid"/>
          </a:ln>
        </p:spPr>
        <p:txBody>
          <a:bodyPr/>
          <a:lstStyle/>
          <a:p>
            <a:endParaRPr lang="zh-CN" altLang="en-US"/>
          </a:p>
        </p:txBody>
      </p:sp>
      <p:sp>
        <p:nvSpPr>
          <p:cNvPr id="21" name="Text 11">
            <a:extLst>
              <a:ext uri="{FF2B5EF4-FFF2-40B4-BE49-F238E27FC236}">
                <a16:creationId xmlns:a16="http://schemas.microsoft.com/office/drawing/2014/main" id="{51DE1A8F-7366-73FA-7967-7D08FBDB992B}"/>
              </a:ext>
            </a:extLst>
          </p:cNvPr>
          <p:cNvSpPr/>
          <p:nvPr/>
        </p:nvSpPr>
        <p:spPr>
          <a:xfrm>
            <a:off x="284987" y="1247244"/>
            <a:ext cx="1579982" cy="301751"/>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a:solidFill>
                  <a:srgbClr val="235DDD"/>
                </a:solidFill>
                <a:latin typeface="微软雅黑" panose="020B0503020204020204" pitchFamily="34" charset="-122"/>
                <a:ea typeface="微软雅黑" panose="020B0503020204020204" pitchFamily="34" charset="-122"/>
                <a:cs typeface="微软雅黑" panose="020B0503020204020204" pitchFamily="34" charset="-120"/>
              </a:rPr>
              <a:t>核心理论</a:t>
            </a:r>
            <a:r>
              <a:rPr lang="zh-CN" altLang="en-US" sz="2000" b="1">
                <a:solidFill>
                  <a:srgbClr val="235DDD"/>
                </a:solidFill>
                <a:latin typeface="微软雅黑" panose="020B0503020204020204" pitchFamily="34" charset="-122"/>
                <a:ea typeface="微软雅黑" panose="020B0503020204020204" pitchFamily="34" charset="-122"/>
                <a:cs typeface="微软雅黑" panose="020B0503020204020204" pitchFamily="34" charset="-120"/>
              </a:rPr>
              <a:t>学习</a:t>
            </a:r>
            <a:endParaRPr lang="en-US" sz="2000" dirty="0"/>
          </a:p>
        </p:txBody>
      </p:sp>
      <p:sp>
        <p:nvSpPr>
          <p:cNvPr id="22" name="Shape 12">
            <a:extLst>
              <a:ext uri="{FF2B5EF4-FFF2-40B4-BE49-F238E27FC236}">
                <a16:creationId xmlns:a16="http://schemas.microsoft.com/office/drawing/2014/main" id="{90CF42CA-E6E9-3B72-E3E4-30BE3EFBA53D}"/>
              </a:ext>
            </a:extLst>
          </p:cNvPr>
          <p:cNvSpPr/>
          <p:nvPr/>
        </p:nvSpPr>
        <p:spPr>
          <a:xfrm>
            <a:off x="284987" y="1677924"/>
            <a:ext cx="5079491" cy="713232"/>
          </a:xfrm>
          <a:prstGeom prst="roundRect">
            <a:avLst>
              <a:gd name="adj" fmla="val 15385"/>
            </a:avLst>
          </a:prstGeom>
          <a:solidFill>
            <a:srgbClr val="F5F8FE"/>
          </a:solidFill>
          <a:ln w="12700">
            <a:solidFill>
              <a:srgbClr val="F5F8FE">
                <a:alpha val="0"/>
              </a:srgbClr>
            </a:solidFill>
            <a:prstDash val="solid"/>
          </a:ln>
        </p:spPr>
        <p:txBody>
          <a:bodyPr/>
          <a:lstStyle/>
          <a:p>
            <a:endParaRPr lang="zh-CN" altLang="en-US"/>
          </a:p>
        </p:txBody>
      </p:sp>
      <p:sp>
        <p:nvSpPr>
          <p:cNvPr id="23" name="Shape 13">
            <a:extLst>
              <a:ext uri="{FF2B5EF4-FFF2-40B4-BE49-F238E27FC236}">
                <a16:creationId xmlns:a16="http://schemas.microsoft.com/office/drawing/2014/main" id="{6D22F886-9613-99DF-B26A-B0F3642B01F1}"/>
              </a:ext>
            </a:extLst>
          </p:cNvPr>
          <p:cNvSpPr/>
          <p:nvPr/>
        </p:nvSpPr>
        <p:spPr>
          <a:xfrm>
            <a:off x="422148" y="1805940"/>
            <a:ext cx="530352" cy="429768"/>
          </a:xfrm>
          <a:prstGeom prst="roundRect">
            <a:avLst>
              <a:gd name="adj" fmla="val 17021"/>
            </a:avLst>
          </a:prstGeom>
          <a:solidFill>
            <a:srgbClr val="EEF4FF"/>
          </a:solidFill>
          <a:ln w="12700">
            <a:solidFill>
              <a:srgbClr val="EEF4FF">
                <a:alpha val="0"/>
              </a:srgbClr>
            </a:solidFill>
            <a:prstDash val="solid"/>
          </a:ln>
        </p:spPr>
      </p:sp>
      <p:sp>
        <p:nvSpPr>
          <p:cNvPr id="24" name="Text 14">
            <a:extLst>
              <a:ext uri="{FF2B5EF4-FFF2-40B4-BE49-F238E27FC236}">
                <a16:creationId xmlns:a16="http://schemas.microsoft.com/office/drawing/2014/main" id="{6E42EE70-327C-BE98-6217-6C62BAB90087}"/>
              </a:ext>
            </a:extLst>
          </p:cNvPr>
          <p:cNvSpPr/>
          <p:nvPr/>
        </p:nvSpPr>
        <p:spPr>
          <a:xfrm>
            <a:off x="458724" y="1860804"/>
            <a:ext cx="448056" cy="283464"/>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235DDD"/>
                </a:solidFill>
                <a:latin typeface="微软雅黑" panose="020B0503020204020204" pitchFamily="34" charset="-122"/>
                <a:ea typeface="微软雅黑" panose="020B0503020204020204" pitchFamily="34" charset="-122"/>
                <a:cs typeface="微软雅黑" panose="020B0503020204020204" pitchFamily="34" charset="-120"/>
              </a:rPr>
              <a:t>K/V</a:t>
            </a:r>
            <a:endParaRPr lang="en-US" sz="1600" dirty="0"/>
          </a:p>
        </p:txBody>
      </p:sp>
      <p:sp>
        <p:nvSpPr>
          <p:cNvPr id="25" name="Text 15">
            <a:extLst>
              <a:ext uri="{FF2B5EF4-FFF2-40B4-BE49-F238E27FC236}">
                <a16:creationId xmlns:a16="http://schemas.microsoft.com/office/drawing/2014/main" id="{29E38695-72C0-5063-5E54-E85D8936D3E2}"/>
              </a:ext>
            </a:extLst>
          </p:cNvPr>
          <p:cNvSpPr/>
          <p:nvPr/>
        </p:nvSpPr>
        <p:spPr>
          <a:xfrm>
            <a:off x="1089660" y="1796796"/>
            <a:ext cx="3474720" cy="265176"/>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122A4D"/>
                </a:solidFill>
                <a:latin typeface="微软雅黑" panose="020B0503020204020204" pitchFamily="34" charset="-122"/>
                <a:ea typeface="微软雅黑" panose="020B0503020204020204" pitchFamily="34" charset="-122"/>
                <a:cs typeface="微软雅黑" panose="020B0503020204020204" pitchFamily="34" charset="-120"/>
              </a:rPr>
              <a:t>KV Cache</a:t>
            </a:r>
            <a:endParaRPr lang="en-US" dirty="0"/>
          </a:p>
        </p:txBody>
      </p:sp>
      <p:sp>
        <p:nvSpPr>
          <p:cNvPr id="26" name="Text 16">
            <a:extLst>
              <a:ext uri="{FF2B5EF4-FFF2-40B4-BE49-F238E27FC236}">
                <a16:creationId xmlns:a16="http://schemas.microsoft.com/office/drawing/2014/main" id="{9CD2FB0A-0CDE-736D-A7F7-D60E76722606}"/>
              </a:ext>
            </a:extLst>
          </p:cNvPr>
          <p:cNvSpPr/>
          <p:nvPr/>
        </p:nvSpPr>
        <p:spPr>
          <a:xfrm>
            <a:off x="1089660" y="2098548"/>
            <a:ext cx="3584448" cy="219456"/>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dirty="0">
                <a:solidFill>
                  <a:srgbClr val="61718A"/>
                </a:solidFill>
                <a:latin typeface="微软雅黑" panose="020B0503020204020204" pitchFamily="34" charset="-122"/>
                <a:ea typeface="微软雅黑" panose="020B0503020204020204" pitchFamily="34" charset="-122"/>
                <a:cs typeface="微软雅黑" panose="020B0503020204020204" pitchFamily="34" charset="-120"/>
              </a:rPr>
              <a:t>历史 K/V 复用，理解显存 / 时延 / 吞吐权衡</a:t>
            </a:r>
            <a:endParaRPr lang="en-US" sz="1400" dirty="0"/>
          </a:p>
        </p:txBody>
      </p:sp>
      <p:sp>
        <p:nvSpPr>
          <p:cNvPr id="27" name="Shape 17">
            <a:extLst>
              <a:ext uri="{FF2B5EF4-FFF2-40B4-BE49-F238E27FC236}">
                <a16:creationId xmlns:a16="http://schemas.microsoft.com/office/drawing/2014/main" id="{C8CDCE11-4352-30F6-22EE-CB8E1C78CE48}"/>
              </a:ext>
            </a:extLst>
          </p:cNvPr>
          <p:cNvSpPr/>
          <p:nvPr/>
        </p:nvSpPr>
        <p:spPr>
          <a:xfrm>
            <a:off x="284987" y="2537460"/>
            <a:ext cx="5079492" cy="713232"/>
          </a:xfrm>
          <a:prstGeom prst="roundRect">
            <a:avLst>
              <a:gd name="adj" fmla="val 15385"/>
            </a:avLst>
          </a:prstGeom>
          <a:solidFill>
            <a:srgbClr val="F9FBFE"/>
          </a:solidFill>
          <a:ln w="12700">
            <a:solidFill>
              <a:srgbClr val="F9FBFE">
                <a:alpha val="0"/>
              </a:srgbClr>
            </a:solidFill>
            <a:prstDash val="solid"/>
          </a:ln>
        </p:spPr>
        <p:txBody>
          <a:bodyPr/>
          <a:lstStyle/>
          <a:p>
            <a:endParaRPr lang="zh-CN" altLang="en-US"/>
          </a:p>
        </p:txBody>
      </p:sp>
      <p:sp>
        <p:nvSpPr>
          <p:cNvPr id="28" name="Shape 18">
            <a:extLst>
              <a:ext uri="{FF2B5EF4-FFF2-40B4-BE49-F238E27FC236}">
                <a16:creationId xmlns:a16="http://schemas.microsoft.com/office/drawing/2014/main" id="{5185DBA9-2AFC-C1FA-C2DC-832CA15AAC9D}"/>
              </a:ext>
            </a:extLst>
          </p:cNvPr>
          <p:cNvSpPr/>
          <p:nvPr/>
        </p:nvSpPr>
        <p:spPr>
          <a:xfrm>
            <a:off x="422148" y="2665476"/>
            <a:ext cx="530352" cy="429768"/>
          </a:xfrm>
          <a:prstGeom prst="roundRect">
            <a:avLst>
              <a:gd name="adj" fmla="val 17021"/>
            </a:avLst>
          </a:prstGeom>
          <a:solidFill>
            <a:srgbClr val="EEF4FF"/>
          </a:solidFill>
          <a:ln w="12700">
            <a:solidFill>
              <a:srgbClr val="EEF4FF">
                <a:alpha val="0"/>
              </a:srgbClr>
            </a:solidFill>
            <a:prstDash val="solid"/>
          </a:ln>
        </p:spPr>
      </p:sp>
      <p:sp>
        <p:nvSpPr>
          <p:cNvPr id="29" name="Text 19">
            <a:extLst>
              <a:ext uri="{FF2B5EF4-FFF2-40B4-BE49-F238E27FC236}">
                <a16:creationId xmlns:a16="http://schemas.microsoft.com/office/drawing/2014/main" id="{2F752B74-4EE4-AB70-42EA-B1F4B430B3CB}"/>
              </a:ext>
            </a:extLst>
          </p:cNvPr>
          <p:cNvSpPr/>
          <p:nvPr/>
        </p:nvSpPr>
        <p:spPr>
          <a:xfrm>
            <a:off x="458724" y="2720340"/>
            <a:ext cx="448056" cy="283464"/>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235DDD"/>
                </a:solidFill>
                <a:latin typeface="微软雅黑" panose="020B0503020204020204" pitchFamily="34" charset="-122"/>
                <a:ea typeface="微软雅黑" panose="020B0503020204020204" pitchFamily="34" charset="-122"/>
                <a:cs typeface="微软雅黑" panose="020B0503020204020204" pitchFamily="34" charset="-120"/>
              </a:rPr>
              <a:t>P · D</a:t>
            </a:r>
            <a:endParaRPr lang="en-US" sz="1100" dirty="0"/>
          </a:p>
        </p:txBody>
      </p:sp>
      <p:sp>
        <p:nvSpPr>
          <p:cNvPr id="30" name="Text 20">
            <a:extLst>
              <a:ext uri="{FF2B5EF4-FFF2-40B4-BE49-F238E27FC236}">
                <a16:creationId xmlns:a16="http://schemas.microsoft.com/office/drawing/2014/main" id="{DB71722D-160F-C6C0-F0DE-EE8F41CA5E6F}"/>
              </a:ext>
            </a:extLst>
          </p:cNvPr>
          <p:cNvSpPr/>
          <p:nvPr/>
        </p:nvSpPr>
        <p:spPr>
          <a:xfrm>
            <a:off x="1089660" y="2656332"/>
            <a:ext cx="3474720" cy="265176"/>
          </a:xfrm>
          <a:prstGeom prst="rect">
            <a:avLst/>
          </a:prstGeom>
          <a:noFill/>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a:solidFill>
                  <a:srgbClr val="122A4D"/>
                </a:solidFill>
                <a:latin typeface="微软雅黑" panose="020B0503020204020204" pitchFamily="34" charset="-122"/>
                <a:ea typeface="微软雅黑" panose="020B0503020204020204" pitchFamily="34" charset="-122"/>
              </a:rPr>
              <a:t>PD</a:t>
            </a:r>
            <a:r>
              <a:rPr lang="en-US" sz="1400" b="1">
                <a:solidFill>
                  <a:srgbClr val="122A4D"/>
                </a:solidFill>
                <a:latin typeface="微软雅黑" panose="020B0503020204020204" pitchFamily="34" charset="-122"/>
                <a:ea typeface="微软雅黑" panose="020B0503020204020204" pitchFamily="34" charset="-122"/>
                <a:cs typeface="微软雅黑" panose="020B0503020204020204" pitchFamily="34" charset="-120"/>
              </a:rPr>
              <a:t> </a:t>
            </a:r>
            <a:r>
              <a:rPr lang="en-US" b="1">
                <a:solidFill>
                  <a:srgbClr val="122A4D"/>
                </a:solidFill>
                <a:latin typeface="微软雅黑" panose="020B0503020204020204" pitchFamily="34" charset="-122"/>
                <a:ea typeface="微软雅黑" panose="020B0503020204020204" pitchFamily="34" charset="-122"/>
              </a:rPr>
              <a:t>分离</a:t>
            </a:r>
            <a:endParaRPr lang="en-US" b="1" dirty="0">
              <a:solidFill>
                <a:srgbClr val="122A4D"/>
              </a:solidFill>
              <a:latin typeface="微软雅黑" panose="020B0503020204020204" pitchFamily="34" charset="-122"/>
              <a:ea typeface="微软雅黑" panose="020B0503020204020204" pitchFamily="34" charset="-122"/>
            </a:endParaRPr>
          </a:p>
        </p:txBody>
      </p:sp>
      <p:sp>
        <p:nvSpPr>
          <p:cNvPr id="31" name="Text 21">
            <a:extLst>
              <a:ext uri="{FF2B5EF4-FFF2-40B4-BE49-F238E27FC236}">
                <a16:creationId xmlns:a16="http://schemas.microsoft.com/office/drawing/2014/main" id="{13F0228C-6317-0446-D8D3-75FC5D9035FE}"/>
              </a:ext>
            </a:extLst>
          </p:cNvPr>
          <p:cNvSpPr/>
          <p:nvPr/>
        </p:nvSpPr>
        <p:spPr>
          <a:xfrm>
            <a:off x="1089660" y="2958084"/>
            <a:ext cx="4009644" cy="157276"/>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rgbClr val="61718A"/>
                </a:solidFill>
                <a:latin typeface="微软雅黑" panose="020B0503020204020204" pitchFamily="34" charset="-122"/>
                <a:ea typeface="微软雅黑" panose="020B0503020204020204" pitchFamily="34" charset="-122"/>
              </a:rPr>
              <a:t>Prefill 计算密集、Decode 访存敏感，分阶段优化</a:t>
            </a:r>
            <a:endParaRPr lang="en-US" sz="1400" dirty="0">
              <a:solidFill>
                <a:srgbClr val="61718A"/>
              </a:solidFill>
              <a:latin typeface="微软雅黑" panose="020B0503020204020204" pitchFamily="34" charset="-122"/>
              <a:ea typeface="微软雅黑" panose="020B0503020204020204" pitchFamily="34" charset="-122"/>
            </a:endParaRPr>
          </a:p>
        </p:txBody>
      </p:sp>
      <p:sp>
        <p:nvSpPr>
          <p:cNvPr id="32" name="Shape 22">
            <a:extLst>
              <a:ext uri="{FF2B5EF4-FFF2-40B4-BE49-F238E27FC236}">
                <a16:creationId xmlns:a16="http://schemas.microsoft.com/office/drawing/2014/main" id="{42A9841D-1C06-AB0C-DC71-175351F7730A}"/>
              </a:ext>
            </a:extLst>
          </p:cNvPr>
          <p:cNvSpPr/>
          <p:nvPr/>
        </p:nvSpPr>
        <p:spPr>
          <a:xfrm>
            <a:off x="284988" y="3396996"/>
            <a:ext cx="5079492" cy="713232"/>
          </a:xfrm>
          <a:prstGeom prst="roundRect">
            <a:avLst>
              <a:gd name="adj" fmla="val 15385"/>
            </a:avLst>
          </a:prstGeom>
          <a:solidFill>
            <a:srgbClr val="F5F8FE"/>
          </a:solidFill>
          <a:ln w="12700">
            <a:solidFill>
              <a:srgbClr val="F5F8FE">
                <a:alpha val="0"/>
              </a:srgbClr>
            </a:solidFill>
            <a:prstDash val="solid"/>
          </a:ln>
        </p:spPr>
        <p:txBody>
          <a:bodyPr/>
          <a:lstStyle/>
          <a:p>
            <a:endParaRPr lang="zh-CN" altLang="en-US"/>
          </a:p>
        </p:txBody>
      </p:sp>
      <p:sp>
        <p:nvSpPr>
          <p:cNvPr id="33" name="Shape 23">
            <a:extLst>
              <a:ext uri="{FF2B5EF4-FFF2-40B4-BE49-F238E27FC236}">
                <a16:creationId xmlns:a16="http://schemas.microsoft.com/office/drawing/2014/main" id="{1FC205D9-8ECC-4659-E48B-770FE3D4ECF0}"/>
              </a:ext>
            </a:extLst>
          </p:cNvPr>
          <p:cNvSpPr/>
          <p:nvPr/>
        </p:nvSpPr>
        <p:spPr>
          <a:xfrm>
            <a:off x="422148" y="3525012"/>
            <a:ext cx="530352" cy="429768"/>
          </a:xfrm>
          <a:prstGeom prst="roundRect">
            <a:avLst>
              <a:gd name="adj" fmla="val 17021"/>
            </a:avLst>
          </a:prstGeom>
          <a:solidFill>
            <a:srgbClr val="EEF4FF"/>
          </a:solidFill>
          <a:ln w="12700">
            <a:solidFill>
              <a:srgbClr val="EEF4FF">
                <a:alpha val="0"/>
              </a:srgbClr>
            </a:solidFill>
            <a:prstDash val="solid"/>
          </a:ln>
        </p:spPr>
      </p:sp>
      <p:sp>
        <p:nvSpPr>
          <p:cNvPr id="34" name="Text 24">
            <a:extLst>
              <a:ext uri="{FF2B5EF4-FFF2-40B4-BE49-F238E27FC236}">
                <a16:creationId xmlns:a16="http://schemas.microsoft.com/office/drawing/2014/main" id="{45D745C7-B9A7-2D59-F7A3-98D5667E7AC1}"/>
              </a:ext>
            </a:extLst>
          </p:cNvPr>
          <p:cNvSpPr/>
          <p:nvPr/>
        </p:nvSpPr>
        <p:spPr>
          <a:xfrm>
            <a:off x="458724" y="3579876"/>
            <a:ext cx="448056" cy="283464"/>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235DDD"/>
                </a:solidFill>
                <a:latin typeface="微软雅黑" panose="020B0503020204020204" pitchFamily="34" charset="-122"/>
                <a:ea typeface="微软雅黑" panose="020B0503020204020204" pitchFamily="34" charset="-122"/>
                <a:cs typeface="微软雅黑" panose="020B0503020204020204" pitchFamily="34" charset="-120"/>
              </a:rPr>
              <a:t>IO</a:t>
            </a:r>
            <a:endParaRPr lang="en-US" sz="1100" dirty="0"/>
          </a:p>
        </p:txBody>
      </p:sp>
      <p:sp>
        <p:nvSpPr>
          <p:cNvPr id="35" name="Text 25">
            <a:extLst>
              <a:ext uri="{FF2B5EF4-FFF2-40B4-BE49-F238E27FC236}">
                <a16:creationId xmlns:a16="http://schemas.microsoft.com/office/drawing/2014/main" id="{544EDF50-84F6-7FB3-37FD-D719647C039D}"/>
              </a:ext>
            </a:extLst>
          </p:cNvPr>
          <p:cNvSpPr/>
          <p:nvPr/>
        </p:nvSpPr>
        <p:spPr>
          <a:xfrm>
            <a:off x="1089660" y="3515868"/>
            <a:ext cx="3474720" cy="265176"/>
          </a:xfrm>
          <a:prstGeom prst="rect">
            <a:avLst/>
          </a:prstGeom>
          <a:noFill/>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solidFill>
                  <a:srgbClr val="122A4D"/>
                </a:solidFill>
                <a:latin typeface="微软雅黑" panose="020B0503020204020204" pitchFamily="34" charset="-122"/>
                <a:ea typeface="微软雅黑" panose="020B0503020204020204" pitchFamily="34" charset="-122"/>
              </a:rPr>
              <a:t>FlashAttention</a:t>
            </a:r>
            <a:endParaRPr lang="en-US" b="1" dirty="0">
              <a:solidFill>
                <a:srgbClr val="122A4D"/>
              </a:solidFill>
              <a:latin typeface="微软雅黑" panose="020B0503020204020204" pitchFamily="34" charset="-122"/>
              <a:ea typeface="微软雅黑" panose="020B0503020204020204" pitchFamily="34" charset="-122"/>
            </a:endParaRPr>
          </a:p>
        </p:txBody>
      </p:sp>
      <p:sp>
        <p:nvSpPr>
          <p:cNvPr id="36" name="Text 26">
            <a:extLst>
              <a:ext uri="{FF2B5EF4-FFF2-40B4-BE49-F238E27FC236}">
                <a16:creationId xmlns:a16="http://schemas.microsoft.com/office/drawing/2014/main" id="{B7278CF9-F4AD-5DB5-0959-E3982529DF64}"/>
              </a:ext>
            </a:extLst>
          </p:cNvPr>
          <p:cNvSpPr/>
          <p:nvPr/>
        </p:nvSpPr>
        <p:spPr>
          <a:xfrm>
            <a:off x="1089660" y="3817620"/>
            <a:ext cx="3584448" cy="219456"/>
          </a:xfrm>
          <a:prstGeom prst="rect">
            <a:avLst/>
          </a:prstGeom>
          <a:noFill/>
        </p:spPr>
        <p:txBody>
          <a:bodyPr wrap="square" lIns="0" tIns="0" rIns="0" bIns="0" rtlCol="0" anchor="ctr">
            <a:normAutofit fontScale="85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buNone/>
            </a:pPr>
            <a:r>
              <a:rPr lang="en-US" sz="1400" dirty="0">
                <a:solidFill>
                  <a:srgbClr val="61718A"/>
                </a:solidFill>
                <a:latin typeface="微软雅黑" panose="020B0503020204020204" pitchFamily="34" charset="-122"/>
                <a:ea typeface="微软雅黑" panose="020B0503020204020204" pitchFamily="34" charset="-122"/>
              </a:rPr>
              <a:t>Tile </a:t>
            </a:r>
            <a:r>
              <a:rPr lang="en-US" sz="1400">
                <a:solidFill>
                  <a:srgbClr val="61718A"/>
                </a:solidFill>
                <a:latin typeface="微软雅黑" panose="020B0503020204020204" pitchFamily="34" charset="-122"/>
                <a:ea typeface="微软雅黑" panose="020B0503020204020204" pitchFamily="34" charset="-122"/>
              </a:rPr>
              <a:t>分块 + Online </a:t>
            </a:r>
            <a:r>
              <a:rPr lang="en-US" sz="1400" dirty="0">
                <a:solidFill>
                  <a:srgbClr val="61718A"/>
                </a:solidFill>
                <a:latin typeface="微软雅黑" panose="020B0503020204020204" pitchFamily="34" charset="-122"/>
                <a:ea typeface="微软雅黑" panose="020B0503020204020204" pitchFamily="34" charset="-122"/>
              </a:rPr>
              <a:t>Softmax，降低 </a:t>
            </a:r>
            <a:r>
              <a:rPr lang="en-US" sz="1400">
                <a:solidFill>
                  <a:srgbClr val="61718A"/>
                </a:solidFill>
                <a:latin typeface="微软雅黑" panose="020B0503020204020204" pitchFamily="34" charset="-122"/>
                <a:ea typeface="微软雅黑" panose="020B0503020204020204" pitchFamily="34" charset="-122"/>
              </a:rPr>
              <a:t>HBM 访问开销</a:t>
            </a:r>
            <a:endParaRPr lang="en-US" sz="1400" dirty="0">
              <a:solidFill>
                <a:srgbClr val="61718A"/>
              </a:solidFill>
              <a:latin typeface="微软雅黑" panose="020B0503020204020204" pitchFamily="34" charset="-122"/>
              <a:ea typeface="微软雅黑" panose="020B0503020204020204" pitchFamily="34" charset="-122"/>
            </a:endParaRPr>
          </a:p>
        </p:txBody>
      </p:sp>
      <p:sp>
        <p:nvSpPr>
          <p:cNvPr id="37" name="Shape 27">
            <a:extLst>
              <a:ext uri="{FF2B5EF4-FFF2-40B4-BE49-F238E27FC236}">
                <a16:creationId xmlns:a16="http://schemas.microsoft.com/office/drawing/2014/main" id="{EA3CCF57-535A-E447-123B-13A9FE862117}"/>
              </a:ext>
            </a:extLst>
          </p:cNvPr>
          <p:cNvSpPr/>
          <p:nvPr/>
        </p:nvSpPr>
        <p:spPr>
          <a:xfrm>
            <a:off x="284987" y="4256532"/>
            <a:ext cx="5079493" cy="713232"/>
          </a:xfrm>
          <a:prstGeom prst="roundRect">
            <a:avLst>
              <a:gd name="adj" fmla="val 15385"/>
            </a:avLst>
          </a:prstGeom>
          <a:solidFill>
            <a:srgbClr val="F9FBFE"/>
          </a:solidFill>
          <a:ln w="12700">
            <a:solidFill>
              <a:srgbClr val="F9FBFE">
                <a:alpha val="0"/>
              </a:srgbClr>
            </a:solidFill>
            <a:prstDash val="solid"/>
          </a:ln>
        </p:spPr>
        <p:txBody>
          <a:bodyPr/>
          <a:lstStyle/>
          <a:p>
            <a:endParaRPr lang="zh-CN" altLang="en-US"/>
          </a:p>
        </p:txBody>
      </p:sp>
      <p:sp>
        <p:nvSpPr>
          <p:cNvPr id="38" name="Shape 28">
            <a:extLst>
              <a:ext uri="{FF2B5EF4-FFF2-40B4-BE49-F238E27FC236}">
                <a16:creationId xmlns:a16="http://schemas.microsoft.com/office/drawing/2014/main" id="{2C637B56-5C50-749B-8A31-0AF2BBA65E27}"/>
              </a:ext>
            </a:extLst>
          </p:cNvPr>
          <p:cNvSpPr/>
          <p:nvPr/>
        </p:nvSpPr>
        <p:spPr>
          <a:xfrm>
            <a:off x="422148" y="4384548"/>
            <a:ext cx="530352" cy="429768"/>
          </a:xfrm>
          <a:prstGeom prst="roundRect">
            <a:avLst>
              <a:gd name="adj" fmla="val 17021"/>
            </a:avLst>
          </a:prstGeom>
          <a:solidFill>
            <a:srgbClr val="F2EDFF"/>
          </a:solidFill>
          <a:ln w="12700">
            <a:solidFill>
              <a:srgbClr val="F2EDFF">
                <a:alpha val="0"/>
              </a:srgbClr>
            </a:solidFill>
            <a:prstDash val="solid"/>
          </a:ln>
        </p:spPr>
      </p:sp>
      <p:sp>
        <p:nvSpPr>
          <p:cNvPr id="39" name="Text 29">
            <a:extLst>
              <a:ext uri="{FF2B5EF4-FFF2-40B4-BE49-F238E27FC236}">
                <a16:creationId xmlns:a16="http://schemas.microsoft.com/office/drawing/2014/main" id="{218836F7-705E-BCA7-7E37-18858407E3E7}"/>
              </a:ext>
            </a:extLst>
          </p:cNvPr>
          <p:cNvSpPr/>
          <p:nvPr/>
        </p:nvSpPr>
        <p:spPr>
          <a:xfrm>
            <a:off x="458724" y="4439412"/>
            <a:ext cx="448056" cy="283464"/>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dirty="0">
                <a:solidFill>
                  <a:srgbClr val="7453C5"/>
                </a:solidFill>
                <a:latin typeface="微软雅黑" panose="020B0503020204020204" pitchFamily="34" charset="-122"/>
                <a:ea typeface="微软雅黑" panose="020B0503020204020204" pitchFamily="34" charset="-122"/>
                <a:cs typeface="微软雅黑" panose="020B0503020204020204" pitchFamily="34" charset="-120"/>
              </a:rPr>
              <a:t>KV</a:t>
            </a:r>
            <a:endParaRPr lang="en-US" sz="1100" dirty="0"/>
          </a:p>
        </p:txBody>
      </p:sp>
      <p:sp>
        <p:nvSpPr>
          <p:cNvPr id="40" name="Text 30">
            <a:extLst>
              <a:ext uri="{FF2B5EF4-FFF2-40B4-BE49-F238E27FC236}">
                <a16:creationId xmlns:a16="http://schemas.microsoft.com/office/drawing/2014/main" id="{F1C6413C-BAF6-091A-8EF1-8D02BB97F8A5}"/>
              </a:ext>
            </a:extLst>
          </p:cNvPr>
          <p:cNvSpPr/>
          <p:nvPr/>
        </p:nvSpPr>
        <p:spPr>
          <a:xfrm>
            <a:off x="1089660" y="4375404"/>
            <a:ext cx="3474720" cy="265176"/>
          </a:xfrm>
          <a:prstGeom prst="rect">
            <a:avLst/>
          </a:prstGeom>
          <a:noFill/>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solidFill>
                  <a:srgbClr val="122A4D"/>
                </a:solidFill>
                <a:latin typeface="微软雅黑" panose="020B0503020204020204" pitchFamily="34" charset="-122"/>
                <a:ea typeface="微软雅黑" panose="020B0503020204020204" pitchFamily="34" charset="-122"/>
              </a:rPr>
              <a:t>Flash Decoding</a:t>
            </a:r>
            <a:endParaRPr lang="en-US" b="1" dirty="0">
              <a:solidFill>
                <a:srgbClr val="122A4D"/>
              </a:solidFill>
              <a:latin typeface="微软雅黑" panose="020B0503020204020204" pitchFamily="34" charset="-122"/>
              <a:ea typeface="微软雅黑" panose="020B0503020204020204" pitchFamily="34" charset="-122"/>
            </a:endParaRPr>
          </a:p>
        </p:txBody>
      </p:sp>
      <p:sp>
        <p:nvSpPr>
          <p:cNvPr id="41" name="Text 31">
            <a:extLst>
              <a:ext uri="{FF2B5EF4-FFF2-40B4-BE49-F238E27FC236}">
                <a16:creationId xmlns:a16="http://schemas.microsoft.com/office/drawing/2014/main" id="{E22BB470-DBC9-3887-0920-BD2B47D2C5A8}"/>
              </a:ext>
            </a:extLst>
          </p:cNvPr>
          <p:cNvSpPr/>
          <p:nvPr/>
        </p:nvSpPr>
        <p:spPr>
          <a:xfrm>
            <a:off x="1089660" y="4677156"/>
            <a:ext cx="3584448" cy="219456"/>
          </a:xfrm>
          <a:prstGeom prst="rect">
            <a:avLst/>
          </a:prstGeom>
          <a:noFill/>
        </p:spPr>
        <p:txBody>
          <a:bodyPr wrap="square" lIns="0" tIns="0" rIns="0" bIns="0" rtlCol="0" anchor="ctr">
            <a:normAutofit fontScale="85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buNone/>
            </a:pPr>
            <a:r>
              <a:rPr lang="en-US" sz="1400">
                <a:solidFill>
                  <a:srgbClr val="61718A"/>
                </a:solidFill>
                <a:latin typeface="微软雅黑" panose="020B0503020204020204" pitchFamily="34" charset="-122"/>
                <a:ea typeface="微软雅黑" panose="020B0503020204020204" pitchFamily="34" charset="-122"/>
              </a:rPr>
              <a:t>KV </a:t>
            </a:r>
            <a:r>
              <a:rPr lang="en-US" sz="1400" dirty="0">
                <a:solidFill>
                  <a:srgbClr val="61718A"/>
                </a:solidFill>
                <a:latin typeface="微软雅黑" panose="020B0503020204020204" pitchFamily="34" charset="-122"/>
                <a:ea typeface="微软雅黑" panose="020B0503020204020204" pitchFamily="34" charset="-122"/>
              </a:rPr>
              <a:t>下按 KV block 并行，归约局部 </a:t>
            </a:r>
            <a:r>
              <a:rPr lang="en-US" sz="1400">
                <a:solidFill>
                  <a:srgbClr val="61718A"/>
                </a:solidFill>
                <a:latin typeface="微软雅黑" panose="020B0503020204020204" pitchFamily="34" charset="-122"/>
                <a:ea typeface="微软雅黑" panose="020B0503020204020204" pitchFamily="34" charset="-122"/>
              </a:rPr>
              <a:t>softmax 状态</a:t>
            </a:r>
            <a:endParaRPr lang="en-US" sz="1400" dirty="0">
              <a:solidFill>
                <a:srgbClr val="61718A"/>
              </a:solidFill>
              <a:latin typeface="微软雅黑" panose="020B0503020204020204" pitchFamily="34" charset="-122"/>
              <a:ea typeface="微软雅黑" panose="020B0503020204020204" pitchFamily="34" charset="-122"/>
            </a:endParaRPr>
          </a:p>
        </p:txBody>
      </p:sp>
      <p:sp>
        <p:nvSpPr>
          <p:cNvPr id="42" name="Shape 32">
            <a:extLst>
              <a:ext uri="{FF2B5EF4-FFF2-40B4-BE49-F238E27FC236}">
                <a16:creationId xmlns:a16="http://schemas.microsoft.com/office/drawing/2014/main" id="{765BF0F7-1E03-6F0D-C5E6-7F67FCD749A0}"/>
              </a:ext>
            </a:extLst>
          </p:cNvPr>
          <p:cNvSpPr/>
          <p:nvPr/>
        </p:nvSpPr>
        <p:spPr>
          <a:xfrm>
            <a:off x="5684520" y="1154819"/>
            <a:ext cx="3264408" cy="4919441"/>
          </a:xfrm>
          <a:prstGeom prst="roundRect">
            <a:avLst>
              <a:gd name="adj" fmla="val 4403"/>
            </a:avLst>
          </a:prstGeom>
          <a:solidFill>
            <a:srgbClr val="FFFFFF"/>
          </a:solidFill>
          <a:ln w="9525">
            <a:solidFill>
              <a:srgbClr val="DCE5F1"/>
            </a:solidFill>
            <a:prstDash val="solid"/>
          </a:ln>
        </p:spPr>
        <p:txBody>
          <a:bodyPr/>
          <a:lstStyle/>
          <a:p>
            <a:endParaRPr lang="zh-CN" altLang="en-US"/>
          </a:p>
        </p:txBody>
      </p:sp>
      <p:sp>
        <p:nvSpPr>
          <p:cNvPr id="43" name="Shape 33">
            <a:extLst>
              <a:ext uri="{FF2B5EF4-FFF2-40B4-BE49-F238E27FC236}">
                <a16:creationId xmlns:a16="http://schemas.microsoft.com/office/drawing/2014/main" id="{EEAF8B3F-2BBB-D4E7-5D8F-4E9DF65522BA}"/>
              </a:ext>
            </a:extLst>
          </p:cNvPr>
          <p:cNvSpPr/>
          <p:nvPr/>
        </p:nvSpPr>
        <p:spPr>
          <a:xfrm>
            <a:off x="5849111" y="1211580"/>
            <a:ext cx="2395727" cy="451865"/>
          </a:xfrm>
          <a:prstGeom prst="roundRect">
            <a:avLst>
              <a:gd name="adj" fmla="val 48387"/>
            </a:avLst>
          </a:prstGeom>
          <a:solidFill>
            <a:srgbClr val="E1F6F2"/>
          </a:solidFill>
          <a:ln w="12700">
            <a:solidFill>
              <a:srgbClr val="E1F6F2">
                <a:alpha val="0"/>
              </a:srgbClr>
            </a:solidFill>
            <a:prstDash val="solid"/>
          </a:ln>
        </p:spPr>
        <p:txBody>
          <a:bodyPr/>
          <a:lstStyle/>
          <a:p>
            <a:endParaRPr lang="zh-CN" altLang="en-US"/>
          </a:p>
        </p:txBody>
      </p:sp>
      <p:sp>
        <p:nvSpPr>
          <p:cNvPr id="44" name="Text 34">
            <a:extLst>
              <a:ext uri="{FF2B5EF4-FFF2-40B4-BE49-F238E27FC236}">
                <a16:creationId xmlns:a16="http://schemas.microsoft.com/office/drawing/2014/main" id="{297772FC-8EC4-679F-35BB-3D60B4F884E8}"/>
              </a:ext>
            </a:extLst>
          </p:cNvPr>
          <p:cNvSpPr/>
          <p:nvPr/>
        </p:nvSpPr>
        <p:spPr>
          <a:xfrm>
            <a:off x="5849112" y="1307763"/>
            <a:ext cx="2395728" cy="264237"/>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zh-CN" altLang="en-US" sz="2000" b="1">
                <a:solidFill>
                  <a:srgbClr val="148C6A"/>
                </a:solidFill>
                <a:latin typeface="微软雅黑" panose="020B0503020204020204" pitchFamily="34" charset="-122"/>
                <a:ea typeface="微软雅黑" panose="020B0503020204020204" pitchFamily="34" charset="-122"/>
                <a:cs typeface="微软雅黑" panose="020B0503020204020204" pitchFamily="34" charset="-120"/>
              </a:rPr>
              <a:t>性能分析与并行优化</a:t>
            </a:r>
            <a:endParaRPr lang="en-US" sz="2000" dirty="0"/>
          </a:p>
        </p:txBody>
      </p:sp>
      <p:sp>
        <p:nvSpPr>
          <p:cNvPr id="45" name="Text 35">
            <a:extLst>
              <a:ext uri="{FF2B5EF4-FFF2-40B4-BE49-F238E27FC236}">
                <a16:creationId xmlns:a16="http://schemas.microsoft.com/office/drawing/2014/main" id="{F595CE5E-B3AE-F214-5264-0EA7A3566972}"/>
              </a:ext>
            </a:extLst>
          </p:cNvPr>
          <p:cNvSpPr/>
          <p:nvPr/>
        </p:nvSpPr>
        <p:spPr>
          <a:xfrm>
            <a:off x="7343489" y="3197320"/>
            <a:ext cx="533400" cy="225093"/>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22A4D"/>
                </a:solidFill>
                <a:latin typeface="微软雅黑" panose="020B0503020204020204" pitchFamily="34" charset="-122"/>
                <a:ea typeface="微软雅黑" panose="020B0503020204020204" pitchFamily="34" charset="-122"/>
                <a:cs typeface="微软雅黑" panose="020B0503020204020204" pitchFamily="34" charset="-120"/>
              </a:rPr>
              <a:t>工具栈</a:t>
            </a:r>
            <a:endParaRPr lang="en-US" sz="1300" dirty="0"/>
          </a:p>
        </p:txBody>
      </p:sp>
      <p:sp>
        <p:nvSpPr>
          <p:cNvPr id="46" name="Shape 36">
            <a:extLst>
              <a:ext uri="{FF2B5EF4-FFF2-40B4-BE49-F238E27FC236}">
                <a16:creationId xmlns:a16="http://schemas.microsoft.com/office/drawing/2014/main" id="{695EFAC4-DAC1-405D-5002-B563227FA0F2}"/>
              </a:ext>
            </a:extLst>
          </p:cNvPr>
          <p:cNvSpPr/>
          <p:nvPr/>
        </p:nvSpPr>
        <p:spPr>
          <a:xfrm>
            <a:off x="5754752" y="2224337"/>
            <a:ext cx="3153028" cy="281161"/>
          </a:xfrm>
          <a:prstGeom prst="roundRect">
            <a:avLst>
              <a:gd name="adj" fmla="val 48387"/>
            </a:avLst>
          </a:prstGeom>
          <a:solidFill>
            <a:srgbClr val="F1F5FA"/>
          </a:solidFill>
          <a:ln w="12700">
            <a:solidFill>
              <a:srgbClr val="F1F5FA">
                <a:alpha val="0"/>
              </a:srgbClr>
            </a:solidFill>
            <a:prstDash val="solid"/>
          </a:ln>
        </p:spPr>
        <p:txBody>
          <a:bodyPr/>
          <a:lstStyle/>
          <a:p>
            <a:endParaRPr lang="zh-CN" altLang="en-US"/>
          </a:p>
        </p:txBody>
      </p:sp>
      <p:sp>
        <p:nvSpPr>
          <p:cNvPr id="47" name="Text 37">
            <a:extLst>
              <a:ext uri="{FF2B5EF4-FFF2-40B4-BE49-F238E27FC236}">
                <a16:creationId xmlns:a16="http://schemas.microsoft.com/office/drawing/2014/main" id="{7686E925-3048-5BC2-004A-2E88CE64F9F5}"/>
              </a:ext>
            </a:extLst>
          </p:cNvPr>
          <p:cNvSpPr/>
          <p:nvPr/>
        </p:nvSpPr>
        <p:spPr>
          <a:xfrm>
            <a:off x="5833174" y="2200906"/>
            <a:ext cx="3031235" cy="334335"/>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100" b="1">
                <a:solidFill>
                  <a:srgbClr val="172B46"/>
                </a:solidFill>
                <a:latin typeface="微软雅黑" panose="020B0503020204020204" pitchFamily="34" charset="-122"/>
                <a:ea typeface="微软雅黑" panose="020B0503020204020204" pitchFamily="34" charset="-122"/>
              </a:rPr>
              <a:t>TTFT</a:t>
            </a:r>
            <a:r>
              <a:rPr lang="zh-CN" altLang="en-US" sz="1100" b="1">
                <a:solidFill>
                  <a:srgbClr val="172B46"/>
                </a:solidFill>
                <a:latin typeface="微软雅黑" panose="020B0503020204020204" pitchFamily="34" charset="-122"/>
                <a:ea typeface="微软雅黑" panose="020B0503020204020204" pitchFamily="34" charset="-122"/>
              </a:rPr>
              <a:t>：首 </a:t>
            </a:r>
            <a:r>
              <a:rPr lang="en-US" altLang="zh-CN" sz="1100" b="1">
                <a:solidFill>
                  <a:srgbClr val="172B46"/>
                </a:solidFill>
                <a:latin typeface="微软雅黑" panose="020B0503020204020204" pitchFamily="34" charset="-122"/>
                <a:ea typeface="微软雅黑" panose="020B0503020204020204" pitchFamily="34" charset="-122"/>
              </a:rPr>
              <a:t>Token </a:t>
            </a:r>
            <a:r>
              <a:rPr lang="zh-CN" altLang="en-US" sz="1100" b="1">
                <a:solidFill>
                  <a:srgbClr val="172B46"/>
                </a:solidFill>
                <a:latin typeface="微软雅黑" panose="020B0503020204020204" pitchFamily="34" charset="-122"/>
                <a:ea typeface="微软雅黑" panose="020B0503020204020204" pitchFamily="34" charset="-122"/>
              </a:rPr>
              <a:t>时延，关注 </a:t>
            </a:r>
            <a:r>
              <a:rPr lang="en-US" altLang="zh-CN" sz="1100" b="1">
                <a:solidFill>
                  <a:srgbClr val="172B46"/>
                </a:solidFill>
                <a:latin typeface="微软雅黑" panose="020B0503020204020204" pitchFamily="34" charset="-122"/>
                <a:ea typeface="微软雅黑" panose="020B0503020204020204" pitchFamily="34" charset="-122"/>
              </a:rPr>
              <a:t>Prefill </a:t>
            </a:r>
            <a:r>
              <a:rPr lang="zh-CN" altLang="en-US" sz="1100" b="1">
                <a:solidFill>
                  <a:srgbClr val="172B46"/>
                </a:solidFill>
                <a:latin typeface="微软雅黑" panose="020B0503020204020204" pitchFamily="34" charset="-122"/>
                <a:ea typeface="微软雅黑" panose="020B0503020204020204" pitchFamily="34" charset="-122"/>
              </a:rPr>
              <a:t>与排队开销</a:t>
            </a:r>
            <a:endParaRPr lang="en-US" sz="1100" b="1" dirty="0">
              <a:solidFill>
                <a:srgbClr val="172B46"/>
              </a:solidFill>
              <a:latin typeface="微软雅黑" panose="020B0503020204020204" pitchFamily="34" charset="-122"/>
              <a:ea typeface="微软雅黑" panose="020B0503020204020204" pitchFamily="34" charset="-122"/>
            </a:endParaRPr>
          </a:p>
        </p:txBody>
      </p:sp>
      <p:sp>
        <p:nvSpPr>
          <p:cNvPr id="50" name="Shape 40">
            <a:extLst>
              <a:ext uri="{FF2B5EF4-FFF2-40B4-BE49-F238E27FC236}">
                <a16:creationId xmlns:a16="http://schemas.microsoft.com/office/drawing/2014/main" id="{D39735DB-12C0-6624-0A17-CCB38366C1F1}"/>
              </a:ext>
            </a:extLst>
          </p:cNvPr>
          <p:cNvSpPr/>
          <p:nvPr/>
        </p:nvSpPr>
        <p:spPr>
          <a:xfrm>
            <a:off x="7300817" y="3763511"/>
            <a:ext cx="768096" cy="192024"/>
          </a:xfrm>
          <a:prstGeom prst="roundRect">
            <a:avLst>
              <a:gd name="adj" fmla="val 48387"/>
            </a:avLst>
          </a:prstGeom>
          <a:solidFill>
            <a:srgbClr val="F1F5FA"/>
          </a:solidFill>
          <a:ln w="12700">
            <a:solidFill>
              <a:srgbClr val="F1F5FA">
                <a:alpha val="0"/>
              </a:srgbClr>
            </a:solidFill>
            <a:prstDash val="solid"/>
          </a:ln>
        </p:spPr>
        <p:txBody>
          <a:bodyPr/>
          <a:lstStyle/>
          <a:p>
            <a:endParaRPr lang="zh-CN" altLang="en-US"/>
          </a:p>
        </p:txBody>
      </p:sp>
      <p:sp>
        <p:nvSpPr>
          <p:cNvPr id="54" name="Shape 44">
            <a:extLst>
              <a:ext uri="{FF2B5EF4-FFF2-40B4-BE49-F238E27FC236}">
                <a16:creationId xmlns:a16="http://schemas.microsoft.com/office/drawing/2014/main" id="{255CD3D5-C28E-57C3-EFEF-5C6E42BBCF61}"/>
              </a:ext>
            </a:extLst>
          </p:cNvPr>
          <p:cNvSpPr/>
          <p:nvPr/>
        </p:nvSpPr>
        <p:spPr>
          <a:xfrm>
            <a:off x="5984081" y="3086651"/>
            <a:ext cx="2487168" cy="0"/>
          </a:xfrm>
          <a:prstGeom prst="line">
            <a:avLst/>
          </a:prstGeom>
          <a:noFill/>
          <a:ln w="11430">
            <a:solidFill>
              <a:srgbClr val="DCE5F1"/>
            </a:solidFill>
            <a:prstDash val="solid"/>
          </a:ln>
        </p:spPr>
        <p:txBody>
          <a:bodyPr/>
          <a:lstStyle/>
          <a:p>
            <a:endParaRPr lang="zh-CN" altLang="en-US"/>
          </a:p>
        </p:txBody>
      </p:sp>
      <p:sp>
        <p:nvSpPr>
          <p:cNvPr id="55" name="Text 45">
            <a:extLst>
              <a:ext uri="{FF2B5EF4-FFF2-40B4-BE49-F238E27FC236}">
                <a16:creationId xmlns:a16="http://schemas.microsoft.com/office/drawing/2014/main" id="{93FB6045-8910-45FF-2804-5B7F87BB3851}"/>
              </a:ext>
            </a:extLst>
          </p:cNvPr>
          <p:cNvSpPr/>
          <p:nvPr/>
        </p:nvSpPr>
        <p:spPr>
          <a:xfrm>
            <a:off x="5984081" y="3173108"/>
            <a:ext cx="712088" cy="265176"/>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22A4D"/>
                </a:solidFill>
                <a:latin typeface="微软雅黑" panose="020B0503020204020204" pitchFamily="34" charset="-122"/>
                <a:ea typeface="微软雅黑" panose="020B0503020204020204" pitchFamily="34" charset="-122"/>
                <a:cs typeface="微软雅黑" panose="020B0503020204020204" pitchFamily="34" charset="-120"/>
              </a:rPr>
              <a:t>分析链路</a:t>
            </a:r>
            <a:endParaRPr lang="en-US" sz="1300" dirty="0"/>
          </a:p>
        </p:txBody>
      </p:sp>
      <p:sp>
        <p:nvSpPr>
          <p:cNvPr id="56" name="Shape 46">
            <a:extLst>
              <a:ext uri="{FF2B5EF4-FFF2-40B4-BE49-F238E27FC236}">
                <a16:creationId xmlns:a16="http://schemas.microsoft.com/office/drawing/2014/main" id="{C801AA5A-AF60-74B7-8A2B-806903C73C74}"/>
              </a:ext>
            </a:extLst>
          </p:cNvPr>
          <p:cNvSpPr/>
          <p:nvPr/>
        </p:nvSpPr>
        <p:spPr>
          <a:xfrm>
            <a:off x="5994367" y="3524740"/>
            <a:ext cx="137160" cy="137160"/>
          </a:xfrm>
          <a:prstGeom prst="ellipse">
            <a:avLst/>
          </a:prstGeom>
          <a:solidFill>
            <a:srgbClr val="235DDD"/>
          </a:solidFill>
          <a:ln w="12700">
            <a:solidFill>
              <a:srgbClr val="235DDD">
                <a:alpha val="0"/>
              </a:srgbClr>
            </a:solidFill>
            <a:prstDash val="solid"/>
          </a:ln>
        </p:spPr>
      </p:sp>
      <p:sp>
        <p:nvSpPr>
          <p:cNvPr id="57" name="Text 47">
            <a:extLst>
              <a:ext uri="{FF2B5EF4-FFF2-40B4-BE49-F238E27FC236}">
                <a16:creationId xmlns:a16="http://schemas.microsoft.com/office/drawing/2014/main" id="{98DE3FAD-F4F3-BACA-3373-CC9105086242}"/>
              </a:ext>
            </a:extLst>
          </p:cNvPr>
          <p:cNvSpPr/>
          <p:nvPr/>
        </p:nvSpPr>
        <p:spPr>
          <a:xfrm>
            <a:off x="5994367" y="3530226"/>
            <a:ext cx="137160" cy="109728"/>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630" dirty="0"/>
          </a:p>
        </p:txBody>
      </p:sp>
      <p:sp>
        <p:nvSpPr>
          <p:cNvPr id="58" name="Text 48">
            <a:extLst>
              <a:ext uri="{FF2B5EF4-FFF2-40B4-BE49-F238E27FC236}">
                <a16:creationId xmlns:a16="http://schemas.microsoft.com/office/drawing/2014/main" id="{9524F36A-FCF5-C386-9D5D-688E79C94E39}"/>
              </a:ext>
            </a:extLst>
          </p:cNvPr>
          <p:cNvSpPr/>
          <p:nvPr/>
        </p:nvSpPr>
        <p:spPr>
          <a:xfrm>
            <a:off x="6204679" y="3483592"/>
            <a:ext cx="589788" cy="192024"/>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40" dirty="0">
                <a:solidFill>
                  <a:srgbClr val="61718A"/>
                </a:solidFill>
                <a:latin typeface="微软雅黑" panose="020B0503020204020204" pitchFamily="34" charset="-122"/>
                <a:ea typeface="微软雅黑" panose="020B0503020204020204" pitchFamily="34" charset="-122"/>
                <a:cs typeface="微软雅黑" panose="020B0503020204020204" pitchFamily="34" charset="-120"/>
              </a:rPr>
              <a:t>时间线</a:t>
            </a:r>
            <a:endParaRPr lang="en-US" sz="1040" dirty="0"/>
          </a:p>
        </p:txBody>
      </p:sp>
      <p:sp>
        <p:nvSpPr>
          <p:cNvPr id="59" name="Shape 49">
            <a:extLst>
              <a:ext uri="{FF2B5EF4-FFF2-40B4-BE49-F238E27FC236}">
                <a16:creationId xmlns:a16="http://schemas.microsoft.com/office/drawing/2014/main" id="{BF52B116-EB75-6217-C154-1C6D4E45A5BE}"/>
              </a:ext>
            </a:extLst>
          </p:cNvPr>
          <p:cNvSpPr/>
          <p:nvPr/>
        </p:nvSpPr>
        <p:spPr>
          <a:xfrm>
            <a:off x="5994367" y="3757912"/>
            <a:ext cx="137160" cy="137160"/>
          </a:xfrm>
          <a:prstGeom prst="ellipse">
            <a:avLst/>
          </a:prstGeom>
          <a:solidFill>
            <a:srgbClr val="235DDD"/>
          </a:solidFill>
          <a:ln w="12700">
            <a:solidFill>
              <a:srgbClr val="235DDD">
                <a:alpha val="0"/>
              </a:srgbClr>
            </a:solidFill>
            <a:prstDash val="solid"/>
          </a:ln>
        </p:spPr>
      </p:sp>
      <p:sp>
        <p:nvSpPr>
          <p:cNvPr id="60" name="Text 50">
            <a:extLst>
              <a:ext uri="{FF2B5EF4-FFF2-40B4-BE49-F238E27FC236}">
                <a16:creationId xmlns:a16="http://schemas.microsoft.com/office/drawing/2014/main" id="{0974CFD1-C3AC-E2B7-F1C0-DA2B310D8489}"/>
              </a:ext>
            </a:extLst>
          </p:cNvPr>
          <p:cNvSpPr/>
          <p:nvPr/>
        </p:nvSpPr>
        <p:spPr>
          <a:xfrm>
            <a:off x="5994367" y="3763398"/>
            <a:ext cx="137160" cy="109728"/>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630" dirty="0"/>
          </a:p>
        </p:txBody>
      </p:sp>
      <p:sp>
        <p:nvSpPr>
          <p:cNvPr id="61" name="Text 51">
            <a:extLst>
              <a:ext uri="{FF2B5EF4-FFF2-40B4-BE49-F238E27FC236}">
                <a16:creationId xmlns:a16="http://schemas.microsoft.com/office/drawing/2014/main" id="{EF61BEA9-91E4-2784-A78B-EBF25816104D}"/>
              </a:ext>
            </a:extLst>
          </p:cNvPr>
          <p:cNvSpPr/>
          <p:nvPr/>
        </p:nvSpPr>
        <p:spPr>
          <a:xfrm>
            <a:off x="6204679" y="3716764"/>
            <a:ext cx="596645" cy="192024"/>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40" dirty="0">
                <a:solidFill>
                  <a:srgbClr val="61718A"/>
                </a:solidFill>
                <a:latin typeface="微软雅黑" panose="020B0503020204020204" pitchFamily="34" charset="-122"/>
                <a:ea typeface="微软雅黑" panose="020B0503020204020204" pitchFamily="34" charset="-122"/>
                <a:cs typeface="微软雅黑" panose="020B0503020204020204" pitchFamily="34" charset="-120"/>
              </a:rPr>
              <a:t>算子热点</a:t>
            </a:r>
            <a:endParaRPr lang="en-US" sz="1040" dirty="0"/>
          </a:p>
        </p:txBody>
      </p:sp>
      <p:sp>
        <p:nvSpPr>
          <p:cNvPr id="62" name="Shape 52">
            <a:extLst>
              <a:ext uri="{FF2B5EF4-FFF2-40B4-BE49-F238E27FC236}">
                <a16:creationId xmlns:a16="http://schemas.microsoft.com/office/drawing/2014/main" id="{10947DD7-3DD4-1FC0-CB68-A063989C06F6}"/>
              </a:ext>
            </a:extLst>
          </p:cNvPr>
          <p:cNvSpPr/>
          <p:nvPr/>
        </p:nvSpPr>
        <p:spPr>
          <a:xfrm>
            <a:off x="5994367" y="3991084"/>
            <a:ext cx="137160" cy="137160"/>
          </a:xfrm>
          <a:prstGeom prst="ellipse">
            <a:avLst/>
          </a:prstGeom>
          <a:solidFill>
            <a:srgbClr val="235DDD"/>
          </a:solidFill>
          <a:ln w="12700">
            <a:solidFill>
              <a:srgbClr val="235DDD">
                <a:alpha val="0"/>
              </a:srgbClr>
            </a:solidFill>
            <a:prstDash val="solid"/>
          </a:ln>
        </p:spPr>
      </p:sp>
      <p:sp>
        <p:nvSpPr>
          <p:cNvPr id="63" name="Text 53">
            <a:extLst>
              <a:ext uri="{FF2B5EF4-FFF2-40B4-BE49-F238E27FC236}">
                <a16:creationId xmlns:a16="http://schemas.microsoft.com/office/drawing/2014/main" id="{039C18FD-5341-6DAD-EF37-AE7F1702A895}"/>
              </a:ext>
            </a:extLst>
          </p:cNvPr>
          <p:cNvSpPr/>
          <p:nvPr/>
        </p:nvSpPr>
        <p:spPr>
          <a:xfrm>
            <a:off x="5994367" y="3996570"/>
            <a:ext cx="137160" cy="109728"/>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630" dirty="0"/>
          </a:p>
        </p:txBody>
      </p:sp>
      <p:sp>
        <p:nvSpPr>
          <p:cNvPr id="64" name="Text 54">
            <a:extLst>
              <a:ext uri="{FF2B5EF4-FFF2-40B4-BE49-F238E27FC236}">
                <a16:creationId xmlns:a16="http://schemas.microsoft.com/office/drawing/2014/main" id="{46E582B0-2C54-DEEB-ECB8-3755949FD197}"/>
              </a:ext>
            </a:extLst>
          </p:cNvPr>
          <p:cNvSpPr/>
          <p:nvPr/>
        </p:nvSpPr>
        <p:spPr>
          <a:xfrm>
            <a:off x="6204679" y="3949936"/>
            <a:ext cx="548640" cy="192024"/>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40" dirty="0">
                <a:solidFill>
                  <a:srgbClr val="61718A"/>
                </a:solidFill>
                <a:latin typeface="微软雅黑" panose="020B0503020204020204" pitchFamily="34" charset="-122"/>
                <a:ea typeface="微软雅黑" panose="020B0503020204020204" pitchFamily="34" charset="-122"/>
                <a:cs typeface="微软雅黑" panose="020B0503020204020204" pitchFamily="34" charset="-120"/>
              </a:rPr>
              <a:t>通信开销</a:t>
            </a:r>
            <a:endParaRPr lang="en-US" sz="1040" dirty="0"/>
          </a:p>
        </p:txBody>
      </p:sp>
      <p:sp>
        <p:nvSpPr>
          <p:cNvPr id="65" name="Shape 55">
            <a:extLst>
              <a:ext uri="{FF2B5EF4-FFF2-40B4-BE49-F238E27FC236}">
                <a16:creationId xmlns:a16="http://schemas.microsoft.com/office/drawing/2014/main" id="{65DC54B4-D9C5-C1DB-3D61-97CA3177EA8E}"/>
              </a:ext>
            </a:extLst>
          </p:cNvPr>
          <p:cNvSpPr/>
          <p:nvPr/>
        </p:nvSpPr>
        <p:spPr>
          <a:xfrm>
            <a:off x="5994367" y="4224256"/>
            <a:ext cx="137160" cy="137160"/>
          </a:xfrm>
          <a:prstGeom prst="ellipse">
            <a:avLst/>
          </a:prstGeom>
          <a:solidFill>
            <a:srgbClr val="235DDD"/>
          </a:solidFill>
          <a:ln w="12700">
            <a:solidFill>
              <a:srgbClr val="235DDD">
                <a:alpha val="0"/>
              </a:srgbClr>
            </a:solidFill>
            <a:prstDash val="solid"/>
          </a:ln>
        </p:spPr>
      </p:sp>
      <p:sp>
        <p:nvSpPr>
          <p:cNvPr id="66" name="Text 56">
            <a:extLst>
              <a:ext uri="{FF2B5EF4-FFF2-40B4-BE49-F238E27FC236}">
                <a16:creationId xmlns:a16="http://schemas.microsoft.com/office/drawing/2014/main" id="{9A0DB348-27B5-7D52-F25F-22215296ED35}"/>
              </a:ext>
            </a:extLst>
          </p:cNvPr>
          <p:cNvSpPr/>
          <p:nvPr/>
        </p:nvSpPr>
        <p:spPr>
          <a:xfrm>
            <a:off x="5994367" y="4229742"/>
            <a:ext cx="137160" cy="109728"/>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6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630" dirty="0"/>
          </a:p>
        </p:txBody>
      </p:sp>
      <p:sp>
        <p:nvSpPr>
          <p:cNvPr id="67" name="Text 57">
            <a:extLst>
              <a:ext uri="{FF2B5EF4-FFF2-40B4-BE49-F238E27FC236}">
                <a16:creationId xmlns:a16="http://schemas.microsoft.com/office/drawing/2014/main" id="{48F64AAB-163A-FD95-9765-0CF5EB4172A5}"/>
              </a:ext>
            </a:extLst>
          </p:cNvPr>
          <p:cNvSpPr/>
          <p:nvPr/>
        </p:nvSpPr>
        <p:spPr>
          <a:xfrm>
            <a:off x="6204679" y="4183108"/>
            <a:ext cx="548640" cy="192024"/>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40" dirty="0">
                <a:solidFill>
                  <a:srgbClr val="61718A"/>
                </a:solidFill>
                <a:latin typeface="微软雅黑" panose="020B0503020204020204" pitchFamily="34" charset="-122"/>
                <a:ea typeface="微软雅黑" panose="020B0503020204020204" pitchFamily="34" charset="-122"/>
                <a:cs typeface="微软雅黑" panose="020B0503020204020204" pitchFamily="34" charset="-120"/>
              </a:rPr>
              <a:t>实验验证</a:t>
            </a:r>
            <a:endParaRPr lang="en-US" sz="1040" dirty="0"/>
          </a:p>
        </p:txBody>
      </p:sp>
      <p:sp>
        <p:nvSpPr>
          <p:cNvPr id="77" name="Shape 67">
            <a:extLst>
              <a:ext uri="{FF2B5EF4-FFF2-40B4-BE49-F238E27FC236}">
                <a16:creationId xmlns:a16="http://schemas.microsoft.com/office/drawing/2014/main" id="{797C4B80-1920-56DE-5F3E-C73A55955590}"/>
              </a:ext>
            </a:extLst>
          </p:cNvPr>
          <p:cNvSpPr/>
          <p:nvPr/>
        </p:nvSpPr>
        <p:spPr>
          <a:xfrm>
            <a:off x="145915" y="6216870"/>
            <a:ext cx="11900169" cy="408905"/>
          </a:xfrm>
          <a:prstGeom prst="roundRect">
            <a:avLst>
              <a:gd name="adj" fmla="val 38889"/>
            </a:avLst>
          </a:prstGeom>
          <a:solidFill>
            <a:srgbClr val="E6F0FF"/>
          </a:solidFill>
          <a:ln w="9525">
            <a:solidFill>
              <a:srgbClr val="E6F0FF"/>
            </a:solidFill>
            <a:prstDash val="solid"/>
          </a:ln>
        </p:spPr>
        <p:txBody>
          <a:bodyPr/>
          <a:lstStyle/>
          <a:p>
            <a:endParaRPr lang="zh-CN" altLang="en-US"/>
          </a:p>
        </p:txBody>
      </p:sp>
      <p:sp>
        <p:nvSpPr>
          <p:cNvPr id="78" name="Text 68">
            <a:extLst>
              <a:ext uri="{FF2B5EF4-FFF2-40B4-BE49-F238E27FC236}">
                <a16:creationId xmlns:a16="http://schemas.microsoft.com/office/drawing/2014/main" id="{1BC25E1D-75E7-A8E3-A3CD-EEABCD6E896A}"/>
              </a:ext>
            </a:extLst>
          </p:cNvPr>
          <p:cNvSpPr/>
          <p:nvPr/>
        </p:nvSpPr>
        <p:spPr>
          <a:xfrm>
            <a:off x="937048" y="6291497"/>
            <a:ext cx="10515600" cy="306679"/>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235DDD"/>
                </a:solidFill>
                <a:latin typeface="微软雅黑" panose="020B0503020204020204" pitchFamily="34" charset="-122"/>
                <a:ea typeface="微软雅黑" panose="020B0503020204020204" pitchFamily="34" charset="-122"/>
                <a:cs typeface="微软雅黑" panose="020B0503020204020204" pitchFamily="34" charset="-120"/>
              </a:rPr>
              <a:t>理论学习  →  环境实验  →  性能分析  →  Wiki / 团队复用</a:t>
            </a:r>
            <a:endParaRPr lang="en-US" sz="1200" dirty="0"/>
          </a:p>
        </p:txBody>
      </p:sp>
      <p:pic>
        <p:nvPicPr>
          <p:cNvPr id="79" name="图片 78" descr="竖版华为公司标志 Vertical Version of Huawei Corporate Logo_2018">
            <a:extLst>
              <a:ext uri="{FF2B5EF4-FFF2-40B4-BE49-F238E27FC236}">
                <a16:creationId xmlns:a16="http://schemas.microsoft.com/office/drawing/2014/main" id="{A22035ED-52C4-9BAC-87EC-7B39A7A557FF}"/>
              </a:ext>
            </a:extLst>
          </p:cNvPr>
          <p:cNvPicPr>
            <a:picLocks noChangeAspect="1"/>
          </p:cNvPicPr>
          <p:nvPr/>
        </p:nvPicPr>
        <p:blipFill>
          <a:blip r:embed="rId3"/>
          <a:stretch>
            <a:fillRect/>
          </a:stretch>
        </p:blipFill>
        <p:spPr>
          <a:xfrm>
            <a:off x="10780956" y="87585"/>
            <a:ext cx="810588" cy="802246"/>
          </a:xfrm>
          <a:prstGeom prst="rect">
            <a:avLst/>
          </a:prstGeom>
        </p:spPr>
      </p:pic>
      <p:sp>
        <p:nvSpPr>
          <p:cNvPr id="80" name="Shape 27">
            <a:extLst>
              <a:ext uri="{FF2B5EF4-FFF2-40B4-BE49-F238E27FC236}">
                <a16:creationId xmlns:a16="http://schemas.microsoft.com/office/drawing/2014/main" id="{8FE72572-E1BB-3138-FA41-9A4F2C696C1F}"/>
              </a:ext>
            </a:extLst>
          </p:cNvPr>
          <p:cNvSpPr/>
          <p:nvPr/>
        </p:nvSpPr>
        <p:spPr>
          <a:xfrm>
            <a:off x="284987" y="5138928"/>
            <a:ext cx="5079493" cy="713232"/>
          </a:xfrm>
          <a:prstGeom prst="roundRect">
            <a:avLst>
              <a:gd name="adj" fmla="val 15385"/>
            </a:avLst>
          </a:prstGeom>
          <a:solidFill>
            <a:srgbClr val="F9FBFE"/>
          </a:solidFill>
          <a:ln w="12700">
            <a:solidFill>
              <a:srgbClr val="F9FBFE">
                <a:alpha val="0"/>
              </a:srgbClr>
            </a:solidFill>
            <a:prstDash val="solid"/>
          </a:ln>
        </p:spPr>
        <p:txBody>
          <a:bodyPr/>
          <a:lstStyle/>
          <a:p>
            <a:endParaRPr lang="zh-CN" altLang="en-US"/>
          </a:p>
        </p:txBody>
      </p:sp>
      <p:sp>
        <p:nvSpPr>
          <p:cNvPr id="81" name="Shape 28">
            <a:extLst>
              <a:ext uri="{FF2B5EF4-FFF2-40B4-BE49-F238E27FC236}">
                <a16:creationId xmlns:a16="http://schemas.microsoft.com/office/drawing/2014/main" id="{405FAF90-E2AB-D14C-9C2D-971AD770A2AB}"/>
              </a:ext>
            </a:extLst>
          </p:cNvPr>
          <p:cNvSpPr/>
          <p:nvPr/>
        </p:nvSpPr>
        <p:spPr>
          <a:xfrm>
            <a:off x="422148" y="5266944"/>
            <a:ext cx="530352" cy="429768"/>
          </a:xfrm>
          <a:prstGeom prst="roundRect">
            <a:avLst>
              <a:gd name="adj" fmla="val 17021"/>
            </a:avLst>
          </a:prstGeom>
          <a:solidFill>
            <a:srgbClr val="F2EDFF"/>
          </a:solidFill>
          <a:ln w="12700">
            <a:solidFill>
              <a:srgbClr val="F2EDFF">
                <a:alpha val="0"/>
              </a:srgbClr>
            </a:solidFill>
            <a:prstDash val="solid"/>
          </a:ln>
        </p:spPr>
      </p:sp>
      <p:sp>
        <p:nvSpPr>
          <p:cNvPr id="82" name="Text 29">
            <a:extLst>
              <a:ext uri="{FF2B5EF4-FFF2-40B4-BE49-F238E27FC236}">
                <a16:creationId xmlns:a16="http://schemas.microsoft.com/office/drawing/2014/main" id="{5AF709E5-D347-08CC-B0A7-2668182E3124}"/>
              </a:ext>
            </a:extLst>
          </p:cNvPr>
          <p:cNvSpPr/>
          <p:nvPr/>
        </p:nvSpPr>
        <p:spPr>
          <a:xfrm>
            <a:off x="458724" y="5321808"/>
            <a:ext cx="448056" cy="283464"/>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a:solidFill>
                  <a:srgbClr val="7453C5"/>
                </a:solidFill>
                <a:latin typeface="微软雅黑" panose="020B0503020204020204" pitchFamily="34" charset="-122"/>
                <a:ea typeface="微软雅黑" panose="020B0503020204020204" pitchFamily="34" charset="-122"/>
              </a:rPr>
              <a:t>PA</a:t>
            </a:r>
            <a:endParaRPr lang="en-US" sz="1100" dirty="0"/>
          </a:p>
        </p:txBody>
      </p:sp>
      <p:sp>
        <p:nvSpPr>
          <p:cNvPr id="83" name="Text 30">
            <a:extLst>
              <a:ext uri="{FF2B5EF4-FFF2-40B4-BE49-F238E27FC236}">
                <a16:creationId xmlns:a16="http://schemas.microsoft.com/office/drawing/2014/main" id="{3049B222-A8BF-600B-9EAA-69F838BF53DD}"/>
              </a:ext>
            </a:extLst>
          </p:cNvPr>
          <p:cNvSpPr/>
          <p:nvPr/>
        </p:nvSpPr>
        <p:spPr>
          <a:xfrm>
            <a:off x="1089660" y="5257800"/>
            <a:ext cx="3474720" cy="265176"/>
          </a:xfrm>
          <a:prstGeom prst="rect">
            <a:avLst/>
          </a:prstGeom>
          <a:noFill/>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solidFill>
                  <a:srgbClr val="122A4D"/>
                </a:solidFill>
                <a:latin typeface="微软雅黑" panose="020B0503020204020204" pitchFamily="34" charset="-122"/>
                <a:ea typeface="微软雅黑" panose="020B0503020204020204" pitchFamily="34" charset="-122"/>
              </a:rPr>
              <a:t>PagedAttention</a:t>
            </a:r>
            <a:endParaRPr lang="en-US" b="1" dirty="0">
              <a:solidFill>
                <a:srgbClr val="122A4D"/>
              </a:solidFill>
              <a:latin typeface="微软雅黑" panose="020B0503020204020204" pitchFamily="34" charset="-122"/>
              <a:ea typeface="微软雅黑" panose="020B0503020204020204" pitchFamily="34" charset="-122"/>
            </a:endParaRPr>
          </a:p>
        </p:txBody>
      </p:sp>
      <p:sp>
        <p:nvSpPr>
          <p:cNvPr id="84" name="Text 31">
            <a:extLst>
              <a:ext uri="{FF2B5EF4-FFF2-40B4-BE49-F238E27FC236}">
                <a16:creationId xmlns:a16="http://schemas.microsoft.com/office/drawing/2014/main" id="{3F4E3BA3-0AFF-049A-3B9D-D535180F227C}"/>
              </a:ext>
            </a:extLst>
          </p:cNvPr>
          <p:cNvSpPr/>
          <p:nvPr/>
        </p:nvSpPr>
        <p:spPr>
          <a:xfrm>
            <a:off x="1089660" y="5559552"/>
            <a:ext cx="4349072" cy="169164"/>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200">
                <a:solidFill>
                  <a:srgbClr val="61718A"/>
                </a:solidFill>
                <a:latin typeface="微软雅黑" panose="020B0503020204020204" pitchFamily="34" charset="-122"/>
                <a:ea typeface="微软雅黑" panose="020B0503020204020204" pitchFamily="34" charset="-122"/>
              </a:rPr>
              <a:t>KV Cache </a:t>
            </a:r>
            <a:r>
              <a:rPr lang="zh-CN" altLang="en-US" sz="1200">
                <a:solidFill>
                  <a:srgbClr val="61718A"/>
                </a:solidFill>
                <a:latin typeface="微软雅黑" panose="020B0503020204020204" pitchFamily="34" charset="-122"/>
                <a:ea typeface="微软雅黑" panose="020B0503020204020204" pitchFamily="34" charset="-122"/>
              </a:rPr>
              <a:t>按 </a:t>
            </a:r>
            <a:r>
              <a:rPr lang="en-US" altLang="zh-CN" sz="1200">
                <a:solidFill>
                  <a:srgbClr val="61718A"/>
                </a:solidFill>
                <a:latin typeface="微软雅黑" panose="020B0503020204020204" pitchFamily="34" charset="-122"/>
                <a:ea typeface="微软雅黑" panose="020B0503020204020204" pitchFamily="34" charset="-122"/>
              </a:rPr>
              <a:t>block/page </a:t>
            </a:r>
            <a:r>
              <a:rPr lang="zh-CN" altLang="en-US" sz="1200">
                <a:solidFill>
                  <a:srgbClr val="61718A"/>
                </a:solidFill>
                <a:latin typeface="微软雅黑" panose="020B0503020204020204" pitchFamily="34" charset="-122"/>
                <a:ea typeface="微软雅黑" panose="020B0503020204020204" pitchFamily="34" charset="-122"/>
              </a:rPr>
              <a:t>管理，减少连续显存分配要求与碎片</a:t>
            </a:r>
            <a:endParaRPr lang="en-US" sz="1200" dirty="0">
              <a:solidFill>
                <a:srgbClr val="61718A"/>
              </a:solidFill>
              <a:latin typeface="微软雅黑" panose="020B0503020204020204" pitchFamily="34" charset="-122"/>
              <a:ea typeface="微软雅黑" panose="020B0503020204020204" pitchFamily="34" charset="-122"/>
            </a:endParaRPr>
          </a:p>
        </p:txBody>
      </p:sp>
      <p:sp>
        <p:nvSpPr>
          <p:cNvPr id="85" name="Shape 38">
            <a:extLst>
              <a:ext uri="{FF2B5EF4-FFF2-40B4-BE49-F238E27FC236}">
                <a16:creationId xmlns:a16="http://schemas.microsoft.com/office/drawing/2014/main" id="{7A506BE3-B920-6811-3BEB-10AF8E5B55F7}"/>
              </a:ext>
            </a:extLst>
          </p:cNvPr>
          <p:cNvSpPr/>
          <p:nvPr/>
        </p:nvSpPr>
        <p:spPr>
          <a:xfrm>
            <a:off x="7300817" y="3503415"/>
            <a:ext cx="618744" cy="185420"/>
          </a:xfrm>
          <a:prstGeom prst="roundRect">
            <a:avLst>
              <a:gd name="adj" fmla="val 48387"/>
            </a:avLst>
          </a:prstGeom>
          <a:solidFill>
            <a:srgbClr val="EEF4FF"/>
          </a:solidFill>
          <a:ln w="12700">
            <a:solidFill>
              <a:srgbClr val="EEF4FF">
                <a:alpha val="0"/>
              </a:srgbClr>
            </a:solidFill>
            <a:prstDash val="solid"/>
          </a:ln>
        </p:spPr>
        <p:txBody>
          <a:bodyPr/>
          <a:lstStyle/>
          <a:p>
            <a:endParaRPr lang="zh-CN" altLang="en-US"/>
          </a:p>
        </p:txBody>
      </p:sp>
      <p:sp>
        <p:nvSpPr>
          <p:cNvPr id="86" name="Text 39">
            <a:extLst>
              <a:ext uri="{FF2B5EF4-FFF2-40B4-BE49-F238E27FC236}">
                <a16:creationId xmlns:a16="http://schemas.microsoft.com/office/drawing/2014/main" id="{2A20CB74-0464-1077-9F84-3A5449698B02}"/>
              </a:ext>
            </a:extLst>
          </p:cNvPr>
          <p:cNvSpPr/>
          <p:nvPr/>
        </p:nvSpPr>
        <p:spPr>
          <a:xfrm>
            <a:off x="7346537" y="3481267"/>
            <a:ext cx="533400" cy="228600"/>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dirty="0">
                <a:solidFill>
                  <a:srgbClr val="172B46"/>
                </a:solidFill>
                <a:latin typeface="微软雅黑" panose="020B0503020204020204" pitchFamily="34" charset="-122"/>
                <a:ea typeface="微软雅黑" panose="020B0503020204020204" pitchFamily="34" charset="-122"/>
                <a:cs typeface="微软雅黑" panose="020B0503020204020204" pitchFamily="34" charset="-120"/>
              </a:rPr>
              <a:t>aisbench</a:t>
            </a:r>
            <a:endParaRPr lang="en-US" sz="900" dirty="0"/>
          </a:p>
        </p:txBody>
      </p:sp>
      <p:sp>
        <p:nvSpPr>
          <p:cNvPr id="87" name="Text 41">
            <a:extLst>
              <a:ext uri="{FF2B5EF4-FFF2-40B4-BE49-F238E27FC236}">
                <a16:creationId xmlns:a16="http://schemas.microsoft.com/office/drawing/2014/main" id="{65251081-AAD4-CF0D-5801-18349B63ABBC}"/>
              </a:ext>
            </a:extLst>
          </p:cNvPr>
          <p:cNvSpPr/>
          <p:nvPr/>
        </p:nvSpPr>
        <p:spPr>
          <a:xfrm>
            <a:off x="7348822" y="3743699"/>
            <a:ext cx="676656" cy="228600"/>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zh-CN" sz="900" b="1">
                <a:solidFill>
                  <a:srgbClr val="172B46"/>
                </a:solidFill>
                <a:latin typeface="微软雅黑" panose="020B0503020204020204" pitchFamily="34" charset="-122"/>
                <a:ea typeface="微软雅黑" panose="020B0503020204020204" pitchFamily="34" charset="-122"/>
                <a:cs typeface="微软雅黑" panose="020B0503020204020204" pitchFamily="34" charset="-120"/>
              </a:rPr>
              <a:t>evalscope</a:t>
            </a:r>
            <a:endParaRPr lang="en-US" sz="900" dirty="0"/>
          </a:p>
        </p:txBody>
      </p:sp>
      <p:sp>
        <p:nvSpPr>
          <p:cNvPr id="88" name="Shape 38">
            <a:extLst>
              <a:ext uri="{FF2B5EF4-FFF2-40B4-BE49-F238E27FC236}">
                <a16:creationId xmlns:a16="http://schemas.microsoft.com/office/drawing/2014/main" id="{5CC63E82-4718-C7E6-9958-A665F4F15770}"/>
              </a:ext>
            </a:extLst>
          </p:cNvPr>
          <p:cNvSpPr/>
          <p:nvPr/>
        </p:nvSpPr>
        <p:spPr>
          <a:xfrm>
            <a:off x="7300817" y="4020151"/>
            <a:ext cx="1078992" cy="185420"/>
          </a:xfrm>
          <a:prstGeom prst="roundRect">
            <a:avLst>
              <a:gd name="adj" fmla="val 48387"/>
            </a:avLst>
          </a:prstGeom>
          <a:solidFill>
            <a:srgbClr val="EEF4FF"/>
          </a:solidFill>
          <a:ln w="12700">
            <a:solidFill>
              <a:srgbClr val="EEF4FF">
                <a:alpha val="0"/>
              </a:srgbClr>
            </a:solidFill>
            <a:prstDash val="solid"/>
          </a:ln>
        </p:spPr>
        <p:txBody>
          <a:bodyPr/>
          <a:lstStyle/>
          <a:p>
            <a:pPr algn="ctr"/>
            <a:endParaRPr lang="zh-CN" altLang="en-US" sz="900" b="1">
              <a:solidFill>
                <a:srgbClr val="172B46"/>
              </a:solidFill>
              <a:latin typeface="微软雅黑" panose="020B0503020204020204" pitchFamily="34" charset="-122"/>
              <a:ea typeface="微软雅黑" panose="020B0503020204020204" pitchFamily="34" charset="-122"/>
            </a:endParaRPr>
          </a:p>
        </p:txBody>
      </p:sp>
      <p:sp>
        <p:nvSpPr>
          <p:cNvPr id="89" name="Text 39">
            <a:extLst>
              <a:ext uri="{FF2B5EF4-FFF2-40B4-BE49-F238E27FC236}">
                <a16:creationId xmlns:a16="http://schemas.microsoft.com/office/drawing/2014/main" id="{71D21009-AEF3-F4B6-14A9-C8EC3BBF39B8}"/>
              </a:ext>
            </a:extLst>
          </p:cNvPr>
          <p:cNvSpPr/>
          <p:nvPr/>
        </p:nvSpPr>
        <p:spPr>
          <a:xfrm>
            <a:off x="7346537" y="4006131"/>
            <a:ext cx="987552" cy="228600"/>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dirty="0"/>
          </a:p>
        </p:txBody>
      </p:sp>
      <p:sp>
        <p:nvSpPr>
          <p:cNvPr id="90" name="Text 41">
            <a:extLst>
              <a:ext uri="{FF2B5EF4-FFF2-40B4-BE49-F238E27FC236}">
                <a16:creationId xmlns:a16="http://schemas.microsoft.com/office/drawing/2014/main" id="{A692DD0E-865D-CE78-CCAD-3E11B70678CA}"/>
              </a:ext>
            </a:extLst>
          </p:cNvPr>
          <p:cNvSpPr/>
          <p:nvPr/>
        </p:nvSpPr>
        <p:spPr>
          <a:xfrm>
            <a:off x="7354539" y="3991095"/>
            <a:ext cx="987552" cy="228600"/>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zh-CN" sz="900" b="1">
                <a:solidFill>
                  <a:srgbClr val="172B46"/>
                </a:solidFill>
                <a:latin typeface="微软雅黑" panose="020B0503020204020204" pitchFamily="34" charset="-122"/>
                <a:ea typeface="微软雅黑" panose="020B0503020204020204" pitchFamily="34" charset="-122"/>
                <a:cs typeface="微软雅黑" panose="020B0503020204020204" pitchFamily="34" charset="-120"/>
              </a:rPr>
              <a:t>Pytorch profiling</a:t>
            </a:r>
            <a:endParaRPr lang="en-US" sz="900" dirty="0"/>
          </a:p>
        </p:txBody>
      </p:sp>
      <p:sp>
        <p:nvSpPr>
          <p:cNvPr id="91" name="Shape 36">
            <a:extLst>
              <a:ext uri="{FF2B5EF4-FFF2-40B4-BE49-F238E27FC236}">
                <a16:creationId xmlns:a16="http://schemas.microsoft.com/office/drawing/2014/main" id="{AA29D53A-B35B-B6D0-3BA9-31755A3F7837}"/>
              </a:ext>
            </a:extLst>
          </p:cNvPr>
          <p:cNvSpPr/>
          <p:nvPr/>
        </p:nvSpPr>
        <p:spPr>
          <a:xfrm>
            <a:off x="5757672" y="1799491"/>
            <a:ext cx="2751328" cy="319789"/>
          </a:xfrm>
          <a:prstGeom prst="roundRect">
            <a:avLst>
              <a:gd name="adj" fmla="val 48387"/>
            </a:avLst>
          </a:prstGeom>
          <a:solidFill>
            <a:srgbClr val="F1F5FA"/>
          </a:solidFill>
          <a:ln w="12700">
            <a:solidFill>
              <a:srgbClr val="F1F5FA">
                <a:alpha val="0"/>
              </a:srgbClr>
            </a:solidFill>
            <a:prstDash val="solid"/>
          </a:ln>
        </p:spPr>
        <p:txBody>
          <a:bodyPr/>
          <a:lstStyle/>
          <a:p>
            <a:endParaRPr lang="zh-CN" altLang="en-US"/>
          </a:p>
        </p:txBody>
      </p:sp>
      <p:sp>
        <p:nvSpPr>
          <p:cNvPr id="92" name="Text 37">
            <a:extLst>
              <a:ext uri="{FF2B5EF4-FFF2-40B4-BE49-F238E27FC236}">
                <a16:creationId xmlns:a16="http://schemas.microsoft.com/office/drawing/2014/main" id="{0F67017F-9DF1-572E-6E22-EBEF05D974B0}"/>
              </a:ext>
            </a:extLst>
          </p:cNvPr>
          <p:cNvSpPr/>
          <p:nvPr/>
        </p:nvSpPr>
        <p:spPr>
          <a:xfrm>
            <a:off x="5803393" y="1799491"/>
            <a:ext cx="2616709" cy="298575"/>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100" b="1">
                <a:solidFill>
                  <a:srgbClr val="172B46"/>
                </a:solidFill>
                <a:latin typeface="微软雅黑" panose="020B0503020204020204" pitchFamily="34" charset="-122"/>
                <a:ea typeface="微软雅黑" panose="020B0503020204020204" pitchFamily="34" charset="-122"/>
              </a:rPr>
              <a:t>TPOT</a:t>
            </a:r>
            <a:r>
              <a:rPr lang="zh-CN" altLang="en-US" sz="1100" b="1">
                <a:solidFill>
                  <a:srgbClr val="172B46"/>
                </a:solidFill>
                <a:latin typeface="微软雅黑" panose="020B0503020204020204" pitchFamily="34" charset="-122"/>
                <a:ea typeface="微软雅黑" panose="020B0503020204020204" pitchFamily="34" charset="-122"/>
              </a:rPr>
              <a:t>：</a:t>
            </a:r>
            <a:r>
              <a:rPr lang="en-US" altLang="zh-CN" sz="1100" b="1">
                <a:solidFill>
                  <a:srgbClr val="172B46"/>
                </a:solidFill>
                <a:latin typeface="微软雅黑" panose="020B0503020204020204" pitchFamily="34" charset="-122"/>
                <a:ea typeface="微软雅黑" panose="020B0503020204020204" pitchFamily="34" charset="-122"/>
              </a:rPr>
              <a:t>Decode </a:t>
            </a:r>
            <a:r>
              <a:rPr lang="zh-CN" altLang="en-US" sz="1100" b="1">
                <a:solidFill>
                  <a:srgbClr val="172B46"/>
                </a:solidFill>
                <a:latin typeface="微软雅黑" panose="020B0503020204020204" pitchFamily="34" charset="-122"/>
                <a:ea typeface="微软雅黑" panose="020B0503020204020204" pitchFamily="34" charset="-122"/>
              </a:rPr>
              <a:t>阶段单 </a:t>
            </a:r>
            <a:r>
              <a:rPr lang="en-US" altLang="zh-CN" sz="1100" b="1">
                <a:solidFill>
                  <a:srgbClr val="172B46"/>
                </a:solidFill>
                <a:latin typeface="微软雅黑" panose="020B0503020204020204" pitchFamily="34" charset="-122"/>
                <a:ea typeface="微软雅黑" panose="020B0503020204020204" pitchFamily="34" charset="-122"/>
              </a:rPr>
              <a:t>Token </a:t>
            </a:r>
            <a:r>
              <a:rPr lang="zh-CN" altLang="en-US" sz="1100" b="1">
                <a:solidFill>
                  <a:srgbClr val="172B46"/>
                </a:solidFill>
                <a:latin typeface="微软雅黑" panose="020B0503020204020204" pitchFamily="34" charset="-122"/>
                <a:ea typeface="微软雅黑" panose="020B0503020204020204" pitchFamily="34" charset="-122"/>
              </a:rPr>
              <a:t>生成效率</a:t>
            </a:r>
            <a:endParaRPr lang="en-US" sz="1100" b="1" dirty="0">
              <a:solidFill>
                <a:srgbClr val="172B46"/>
              </a:solidFill>
              <a:latin typeface="微软雅黑" panose="020B0503020204020204" pitchFamily="34" charset="-122"/>
              <a:ea typeface="微软雅黑" panose="020B0503020204020204" pitchFamily="34" charset="-122"/>
            </a:endParaRPr>
          </a:p>
        </p:txBody>
      </p:sp>
      <p:sp>
        <p:nvSpPr>
          <p:cNvPr id="93" name="Shape 36">
            <a:extLst>
              <a:ext uri="{FF2B5EF4-FFF2-40B4-BE49-F238E27FC236}">
                <a16:creationId xmlns:a16="http://schemas.microsoft.com/office/drawing/2014/main" id="{00DC63E9-4CCB-7FEE-0F82-1449AB600765}"/>
              </a:ext>
            </a:extLst>
          </p:cNvPr>
          <p:cNvSpPr/>
          <p:nvPr/>
        </p:nvSpPr>
        <p:spPr>
          <a:xfrm>
            <a:off x="5740210" y="2656332"/>
            <a:ext cx="3153028" cy="281161"/>
          </a:xfrm>
          <a:prstGeom prst="roundRect">
            <a:avLst>
              <a:gd name="adj" fmla="val 48387"/>
            </a:avLst>
          </a:prstGeom>
          <a:solidFill>
            <a:srgbClr val="F1F5FA"/>
          </a:solidFill>
          <a:ln w="12700">
            <a:solidFill>
              <a:srgbClr val="F1F5FA">
                <a:alpha val="0"/>
              </a:srgbClr>
            </a:solidFill>
            <a:prstDash val="solid"/>
          </a:ln>
        </p:spPr>
        <p:txBody>
          <a:bodyPr/>
          <a:lstStyle/>
          <a:p>
            <a:endParaRPr lang="zh-CN" altLang="en-US" sz="1100" b="1">
              <a:solidFill>
                <a:srgbClr val="172B46"/>
              </a:solidFill>
              <a:latin typeface="微软雅黑" panose="020B0503020204020204" pitchFamily="34" charset="-122"/>
              <a:ea typeface="微软雅黑" panose="020B0503020204020204" pitchFamily="34" charset="-122"/>
            </a:endParaRPr>
          </a:p>
        </p:txBody>
      </p:sp>
      <p:sp>
        <p:nvSpPr>
          <p:cNvPr id="94" name="Text 37">
            <a:extLst>
              <a:ext uri="{FF2B5EF4-FFF2-40B4-BE49-F238E27FC236}">
                <a16:creationId xmlns:a16="http://schemas.microsoft.com/office/drawing/2014/main" id="{6A26F0E6-881F-B653-E5B0-3581BE26535C}"/>
              </a:ext>
            </a:extLst>
          </p:cNvPr>
          <p:cNvSpPr/>
          <p:nvPr/>
        </p:nvSpPr>
        <p:spPr>
          <a:xfrm>
            <a:off x="5795423" y="2627205"/>
            <a:ext cx="2675826" cy="334335"/>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100" b="1">
                <a:solidFill>
                  <a:srgbClr val="172B46"/>
                </a:solidFill>
                <a:latin typeface="微软雅黑" panose="020B0503020204020204" pitchFamily="34" charset="-122"/>
                <a:ea typeface="微软雅黑" panose="020B0503020204020204" pitchFamily="34" charset="-122"/>
              </a:rPr>
              <a:t>Throughput</a:t>
            </a:r>
            <a:r>
              <a:rPr lang="zh-CN" altLang="en-US" sz="1100" b="1">
                <a:solidFill>
                  <a:srgbClr val="172B46"/>
                </a:solidFill>
                <a:latin typeface="微软雅黑" panose="020B0503020204020204" pitchFamily="34" charset="-122"/>
                <a:ea typeface="微软雅黑" panose="020B0503020204020204" pitchFamily="34" charset="-122"/>
              </a:rPr>
              <a:t>：不同并发下整体 </a:t>
            </a:r>
            <a:r>
              <a:rPr lang="en-US" altLang="zh-CN" sz="1100" b="1">
                <a:solidFill>
                  <a:srgbClr val="172B46"/>
                </a:solidFill>
                <a:latin typeface="微软雅黑" panose="020B0503020204020204" pitchFamily="34" charset="-122"/>
                <a:ea typeface="微软雅黑" panose="020B0503020204020204" pitchFamily="34" charset="-122"/>
              </a:rPr>
              <a:t>tokens/s</a:t>
            </a:r>
            <a:endParaRPr lang="en-US" sz="1100" b="1" dirty="0">
              <a:solidFill>
                <a:srgbClr val="172B46"/>
              </a:solidFill>
              <a:latin typeface="微软雅黑" panose="020B0503020204020204" pitchFamily="34" charset="-122"/>
              <a:ea typeface="微软雅黑" panose="020B0503020204020204" pitchFamily="34" charset="-122"/>
            </a:endParaRPr>
          </a:p>
        </p:txBody>
      </p:sp>
      <p:sp>
        <p:nvSpPr>
          <p:cNvPr id="95" name="Text 37">
            <a:extLst>
              <a:ext uri="{FF2B5EF4-FFF2-40B4-BE49-F238E27FC236}">
                <a16:creationId xmlns:a16="http://schemas.microsoft.com/office/drawing/2014/main" id="{FEE06C01-A81A-112B-1213-1A7D95027BAF}"/>
              </a:ext>
            </a:extLst>
          </p:cNvPr>
          <p:cNvSpPr/>
          <p:nvPr/>
        </p:nvSpPr>
        <p:spPr>
          <a:xfrm>
            <a:off x="5723022" y="4400577"/>
            <a:ext cx="3073347" cy="1507223"/>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100" b="1">
                <a:solidFill>
                  <a:srgbClr val="172B46"/>
                </a:solidFill>
                <a:latin typeface="微软雅黑" panose="020B0503020204020204" pitchFamily="34" charset="-122"/>
                <a:ea typeface="微软雅黑" panose="020B0503020204020204" pitchFamily="34" charset="-122"/>
              </a:rPr>
              <a:t>完成 </a:t>
            </a:r>
            <a:r>
              <a:rPr lang="en-US" altLang="zh-CN" sz="1100" b="1">
                <a:solidFill>
                  <a:srgbClr val="172B46"/>
                </a:solidFill>
                <a:latin typeface="微软雅黑" panose="020B0503020204020204" pitchFamily="34" charset="-122"/>
                <a:ea typeface="微软雅黑" panose="020B0503020204020204" pitchFamily="34" charset="-122"/>
              </a:rPr>
              <a:t>Gemma4 </a:t>
            </a:r>
            <a:r>
              <a:rPr lang="zh-CN" altLang="en-US" sz="1100" b="1">
                <a:solidFill>
                  <a:srgbClr val="172B46"/>
                </a:solidFill>
                <a:latin typeface="微软雅黑" panose="020B0503020204020204" pitchFamily="34" charset="-122"/>
                <a:ea typeface="微软雅黑" panose="020B0503020204020204" pitchFamily="34" charset="-122"/>
              </a:rPr>
              <a:t>多模型、多配置精度与性能验证：开发批量启动、精度评测及性能压测脚本，覆盖 </a:t>
            </a:r>
            <a:r>
              <a:rPr lang="en-US" altLang="zh-CN" sz="1100" b="1">
                <a:solidFill>
                  <a:srgbClr val="172B46"/>
                </a:solidFill>
                <a:latin typeface="微软雅黑" panose="020B0503020204020204" pitchFamily="34" charset="-122"/>
                <a:ea typeface="微软雅黑" panose="020B0503020204020204" pitchFamily="34" charset="-122"/>
              </a:rPr>
              <a:t>AIME2026</a:t>
            </a:r>
            <a:r>
              <a:rPr lang="zh-CN" altLang="en-US" sz="1100" b="1">
                <a:solidFill>
                  <a:srgbClr val="172B46"/>
                </a:solidFill>
                <a:latin typeface="微软雅黑" panose="020B0503020204020204" pitchFamily="34" charset="-122"/>
                <a:ea typeface="微软雅黑" panose="020B0503020204020204" pitchFamily="34" charset="-122"/>
              </a:rPr>
              <a:t>、</a:t>
            </a:r>
            <a:r>
              <a:rPr lang="en-US" altLang="zh-CN" sz="1100" b="1">
                <a:solidFill>
                  <a:srgbClr val="172B46"/>
                </a:solidFill>
                <a:latin typeface="微软雅黑" panose="020B0503020204020204" pitchFamily="34" charset="-122"/>
                <a:ea typeface="微软雅黑" panose="020B0503020204020204" pitchFamily="34" charset="-122"/>
              </a:rPr>
              <a:t>GPQA Diamond</a:t>
            </a:r>
            <a:r>
              <a:rPr lang="zh-CN" altLang="en-US" sz="1100" b="1">
                <a:solidFill>
                  <a:srgbClr val="172B46"/>
                </a:solidFill>
                <a:latin typeface="微软雅黑" panose="020B0503020204020204" pitchFamily="34" charset="-122"/>
                <a:ea typeface="微软雅黑" panose="020B0503020204020204" pitchFamily="34" charset="-122"/>
              </a:rPr>
              <a:t>、</a:t>
            </a:r>
            <a:r>
              <a:rPr lang="en-US" altLang="zh-CN" sz="1100" b="1">
                <a:solidFill>
                  <a:srgbClr val="172B46"/>
                </a:solidFill>
                <a:latin typeface="微软雅黑" panose="020B0503020204020204" pitchFamily="34" charset="-122"/>
                <a:ea typeface="微软雅黑" panose="020B0503020204020204" pitchFamily="34" charset="-122"/>
              </a:rPr>
              <a:t>MMMU-Pro </a:t>
            </a:r>
            <a:r>
              <a:rPr lang="zh-CN" altLang="en-US" sz="1100" b="1">
                <a:solidFill>
                  <a:srgbClr val="172B46"/>
                </a:solidFill>
                <a:latin typeface="微软雅黑" panose="020B0503020204020204" pitchFamily="34" charset="-122"/>
                <a:ea typeface="微软雅黑" panose="020B0503020204020204" pitchFamily="34" charset="-122"/>
              </a:rPr>
              <a:t>三大数据集，以精度差距 ≤</a:t>
            </a:r>
            <a:r>
              <a:rPr lang="en-US" altLang="zh-CN" sz="1100" b="1">
                <a:solidFill>
                  <a:srgbClr val="172B46"/>
                </a:solidFill>
                <a:latin typeface="微软雅黑" panose="020B0503020204020204" pitchFamily="34" charset="-122"/>
                <a:ea typeface="微软雅黑" panose="020B0503020204020204" pitchFamily="34" charset="-122"/>
              </a:rPr>
              <a:t>1% </a:t>
            </a:r>
            <a:r>
              <a:rPr lang="zh-CN" altLang="en-US" sz="1100" b="1">
                <a:solidFill>
                  <a:srgbClr val="172B46"/>
                </a:solidFill>
                <a:latin typeface="微软雅黑" panose="020B0503020204020204" pitchFamily="34" charset="-122"/>
                <a:ea typeface="微软雅黑" panose="020B0503020204020204" pitchFamily="34" charset="-122"/>
              </a:rPr>
              <a:t>为验收目标；对比 </a:t>
            </a:r>
            <a:r>
              <a:rPr lang="en-US" altLang="zh-CN" sz="1100" b="1">
                <a:solidFill>
                  <a:srgbClr val="172B46"/>
                </a:solidFill>
                <a:latin typeface="微软雅黑" panose="020B0503020204020204" pitchFamily="34" charset="-122"/>
                <a:ea typeface="微软雅黑" panose="020B0503020204020204" pitchFamily="34" charset="-122"/>
              </a:rPr>
              <a:t>A5 / H20</a:t>
            </a:r>
            <a:r>
              <a:rPr lang="zh-CN" altLang="en-US" sz="1100" b="1">
                <a:solidFill>
                  <a:srgbClr val="172B46"/>
                </a:solidFill>
                <a:latin typeface="微软雅黑" panose="020B0503020204020204" pitchFamily="34" charset="-122"/>
                <a:ea typeface="微软雅黑" panose="020B0503020204020204" pitchFamily="34" charset="-122"/>
              </a:rPr>
              <a:t>、</a:t>
            </a:r>
            <a:r>
              <a:rPr lang="en-US" altLang="zh-CN" sz="1100" b="1">
                <a:solidFill>
                  <a:srgbClr val="172B46"/>
                </a:solidFill>
                <a:latin typeface="微软雅黑" panose="020B0503020204020204" pitchFamily="34" charset="-122"/>
                <a:ea typeface="微软雅黑" panose="020B0503020204020204" pitchFamily="34" charset="-122"/>
              </a:rPr>
              <a:t>TP / EP</a:t>
            </a:r>
            <a:r>
              <a:rPr lang="zh-CN" altLang="en-US" sz="1100" b="1">
                <a:solidFill>
                  <a:srgbClr val="172B46"/>
                </a:solidFill>
                <a:latin typeface="微软雅黑" panose="020B0503020204020204" pitchFamily="34" charset="-122"/>
                <a:ea typeface="微软雅黑" panose="020B0503020204020204" pitchFamily="34" charset="-122"/>
              </a:rPr>
              <a:t>、量化及不同并发场景下的 </a:t>
            </a:r>
            <a:r>
              <a:rPr lang="en-US" altLang="zh-CN" sz="1100" b="1">
                <a:solidFill>
                  <a:srgbClr val="172B46"/>
                </a:solidFill>
                <a:latin typeface="微软雅黑" panose="020B0503020204020204" pitchFamily="34" charset="-122"/>
                <a:ea typeface="微软雅黑" panose="020B0503020204020204" pitchFamily="34" charset="-122"/>
              </a:rPr>
              <a:t>TTFT</a:t>
            </a:r>
            <a:r>
              <a:rPr lang="zh-CN" altLang="en-US" sz="1100" b="1">
                <a:solidFill>
                  <a:srgbClr val="172B46"/>
                </a:solidFill>
                <a:latin typeface="微软雅黑" panose="020B0503020204020204" pitchFamily="34" charset="-122"/>
                <a:ea typeface="微软雅黑" panose="020B0503020204020204" pitchFamily="34" charset="-122"/>
              </a:rPr>
              <a:t>、</a:t>
            </a:r>
            <a:r>
              <a:rPr lang="en-US" altLang="zh-CN" sz="1100" b="1">
                <a:solidFill>
                  <a:srgbClr val="172B46"/>
                </a:solidFill>
                <a:latin typeface="微软雅黑" panose="020B0503020204020204" pitchFamily="34" charset="-122"/>
                <a:ea typeface="微软雅黑" panose="020B0503020204020204" pitchFamily="34" charset="-122"/>
              </a:rPr>
              <a:t>TPOT</a:t>
            </a:r>
            <a:r>
              <a:rPr lang="zh-CN" altLang="en-US" sz="1100" b="1">
                <a:solidFill>
                  <a:srgbClr val="172B46"/>
                </a:solidFill>
                <a:latin typeface="微软雅黑" panose="020B0503020204020204" pitchFamily="34" charset="-122"/>
                <a:ea typeface="微软雅黑" panose="020B0503020204020204" pitchFamily="34" charset="-122"/>
              </a:rPr>
              <a:t>、吞吐表现，结合 </a:t>
            </a:r>
            <a:r>
              <a:rPr lang="en-US" altLang="zh-CN" sz="1100" b="1">
                <a:solidFill>
                  <a:srgbClr val="172B46"/>
                </a:solidFill>
                <a:latin typeface="微软雅黑" panose="020B0503020204020204" pitchFamily="34" charset="-122"/>
                <a:ea typeface="微软雅黑" panose="020B0503020204020204" pitchFamily="34" charset="-122"/>
              </a:rPr>
              <a:t>Profiling </a:t>
            </a:r>
            <a:r>
              <a:rPr lang="zh-CN" altLang="en-US" sz="1100" b="1">
                <a:solidFill>
                  <a:srgbClr val="172B46"/>
                </a:solidFill>
                <a:latin typeface="微软雅黑" panose="020B0503020204020204" pitchFamily="34" charset="-122"/>
                <a:ea typeface="微软雅黑" panose="020B0503020204020204" pitchFamily="34" charset="-122"/>
              </a:rPr>
              <a:t>定位性能瓶颈，支撑模型优化与版本交付。</a:t>
            </a:r>
            <a:endParaRPr lang="en-US" sz="1100" b="1" dirty="0">
              <a:solidFill>
                <a:srgbClr val="172B46"/>
              </a:solidFill>
              <a:latin typeface="微软雅黑" panose="020B0503020204020204" pitchFamily="34" charset="-122"/>
              <a:ea typeface="微软雅黑" panose="020B0503020204020204" pitchFamily="34" charset="-122"/>
            </a:endParaRPr>
          </a:p>
        </p:txBody>
      </p:sp>
      <p:sp>
        <p:nvSpPr>
          <p:cNvPr id="114" name="Shape 58">
            <a:extLst>
              <a:ext uri="{FF2B5EF4-FFF2-40B4-BE49-F238E27FC236}">
                <a16:creationId xmlns:a16="http://schemas.microsoft.com/office/drawing/2014/main" id="{647A70FD-D735-207A-BD8F-EED1ED97EA1B}"/>
              </a:ext>
            </a:extLst>
          </p:cNvPr>
          <p:cNvSpPr/>
          <p:nvPr/>
        </p:nvSpPr>
        <p:spPr>
          <a:xfrm>
            <a:off x="9028999" y="1123763"/>
            <a:ext cx="3017086" cy="4950497"/>
          </a:xfrm>
          <a:prstGeom prst="roundRect">
            <a:avLst>
              <a:gd name="adj" fmla="val 4459"/>
            </a:avLst>
          </a:prstGeom>
          <a:solidFill>
            <a:srgbClr val="FFFFFF"/>
          </a:solidFill>
          <a:ln w="9525">
            <a:solidFill>
              <a:srgbClr val="DCE5F1"/>
            </a:solidFill>
            <a:prstDash val="solid"/>
          </a:ln>
        </p:spPr>
        <p:txBody>
          <a:bodyPr/>
          <a:lstStyle/>
          <a:p>
            <a:endParaRPr lang="zh-CN" altLang="en-US"/>
          </a:p>
        </p:txBody>
      </p:sp>
      <p:sp>
        <p:nvSpPr>
          <p:cNvPr id="115" name="Shape 59">
            <a:extLst>
              <a:ext uri="{FF2B5EF4-FFF2-40B4-BE49-F238E27FC236}">
                <a16:creationId xmlns:a16="http://schemas.microsoft.com/office/drawing/2014/main" id="{7767D625-C34B-FBAF-5480-0449468EC653}"/>
              </a:ext>
            </a:extLst>
          </p:cNvPr>
          <p:cNvSpPr/>
          <p:nvPr/>
        </p:nvSpPr>
        <p:spPr>
          <a:xfrm>
            <a:off x="9243060" y="1199234"/>
            <a:ext cx="2072640" cy="431389"/>
          </a:xfrm>
          <a:prstGeom prst="roundRect">
            <a:avLst>
              <a:gd name="adj" fmla="val 48387"/>
            </a:avLst>
          </a:prstGeom>
          <a:solidFill>
            <a:srgbClr val="F2EDFF"/>
          </a:solidFill>
          <a:ln w="12700">
            <a:solidFill>
              <a:srgbClr val="F2EDFF">
                <a:alpha val="0"/>
              </a:srgbClr>
            </a:solidFill>
            <a:prstDash val="solid"/>
          </a:ln>
        </p:spPr>
        <p:txBody>
          <a:bodyPr/>
          <a:lstStyle/>
          <a:p>
            <a:endParaRPr lang="zh-CN" altLang="en-US"/>
          </a:p>
        </p:txBody>
      </p:sp>
      <p:sp>
        <p:nvSpPr>
          <p:cNvPr id="116" name="Text 60">
            <a:extLst>
              <a:ext uri="{FF2B5EF4-FFF2-40B4-BE49-F238E27FC236}">
                <a16:creationId xmlns:a16="http://schemas.microsoft.com/office/drawing/2014/main" id="{7906D625-AB06-B916-098D-293908DC662D}"/>
              </a:ext>
            </a:extLst>
          </p:cNvPr>
          <p:cNvSpPr/>
          <p:nvPr/>
        </p:nvSpPr>
        <p:spPr>
          <a:xfrm>
            <a:off x="9296400" y="1316164"/>
            <a:ext cx="1920240" cy="209477"/>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zh-CN" altLang="en-US" sz="2000" b="1">
                <a:solidFill>
                  <a:srgbClr val="7453C5"/>
                </a:solidFill>
                <a:latin typeface="微软雅黑" panose="020B0503020204020204" pitchFamily="34" charset="-122"/>
                <a:ea typeface="微软雅黑" panose="020B0503020204020204" pitchFamily="34" charset="-122"/>
              </a:rPr>
              <a:t>可量化产出工作</a:t>
            </a:r>
            <a:endParaRPr lang="en-US" sz="2000" dirty="0"/>
          </a:p>
        </p:txBody>
      </p:sp>
      <p:sp>
        <p:nvSpPr>
          <p:cNvPr id="117" name="Text 61">
            <a:extLst>
              <a:ext uri="{FF2B5EF4-FFF2-40B4-BE49-F238E27FC236}">
                <a16:creationId xmlns:a16="http://schemas.microsoft.com/office/drawing/2014/main" id="{4327210C-BB3A-ED2E-E664-684C2B5681C8}"/>
              </a:ext>
            </a:extLst>
          </p:cNvPr>
          <p:cNvSpPr/>
          <p:nvPr/>
        </p:nvSpPr>
        <p:spPr>
          <a:xfrm>
            <a:off x="9913906" y="2956560"/>
            <a:ext cx="476511" cy="510369"/>
          </a:xfrm>
          <a:prstGeom prst="rect">
            <a:avLst/>
          </a:prstGeom>
          <a:noFill/>
        </p:spPr>
        <p:txBody>
          <a:bodyPr wrap="square" lIns="0" tIns="0" rIns="0" bIns="0" rtlCol="0" anchor="ctr">
            <a:normAutofit fontScale="850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600" b="1">
                <a:solidFill>
                  <a:srgbClr val="235DDD"/>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4600" dirty="0"/>
          </a:p>
        </p:txBody>
      </p:sp>
      <p:sp>
        <p:nvSpPr>
          <p:cNvPr id="118" name="Text 62">
            <a:extLst>
              <a:ext uri="{FF2B5EF4-FFF2-40B4-BE49-F238E27FC236}">
                <a16:creationId xmlns:a16="http://schemas.microsoft.com/office/drawing/2014/main" id="{05196683-F9EF-2BA6-6D00-F5E986685F5E}"/>
              </a:ext>
            </a:extLst>
          </p:cNvPr>
          <p:cNvSpPr/>
          <p:nvPr/>
        </p:nvSpPr>
        <p:spPr>
          <a:xfrm>
            <a:off x="10241454" y="2997627"/>
            <a:ext cx="1486879" cy="301752"/>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a:solidFill>
                  <a:srgbClr val="122A4D"/>
                </a:solidFill>
                <a:latin typeface="微软雅黑" panose="020B0503020204020204" pitchFamily="34" charset="-122"/>
                <a:ea typeface="微软雅黑" panose="020B0503020204020204" pitchFamily="34" charset="-122"/>
                <a:cs typeface="微软雅黑" panose="020B0503020204020204" pitchFamily="34" charset="-120"/>
              </a:rPr>
              <a:t>篇技术Wiki</a:t>
            </a:r>
            <a:r>
              <a:rPr lang="zh-CN" altLang="en-US" sz="1500" b="1">
                <a:solidFill>
                  <a:srgbClr val="122A4D"/>
                </a:solidFill>
                <a:latin typeface="微软雅黑" panose="020B0503020204020204" pitchFamily="34" charset="-122"/>
                <a:ea typeface="微软雅黑" panose="020B0503020204020204" pitchFamily="34" charset="-122"/>
                <a:cs typeface="微软雅黑" panose="020B0503020204020204" pitchFamily="34" charset="-120"/>
              </a:rPr>
              <a:t>沉淀</a:t>
            </a:r>
            <a:endParaRPr lang="en-US" sz="1500" dirty="0"/>
          </a:p>
        </p:txBody>
      </p:sp>
      <p:sp>
        <p:nvSpPr>
          <p:cNvPr id="119" name="Text 63">
            <a:extLst>
              <a:ext uri="{FF2B5EF4-FFF2-40B4-BE49-F238E27FC236}">
                <a16:creationId xmlns:a16="http://schemas.microsoft.com/office/drawing/2014/main" id="{993507E8-8269-6B93-8B4B-D3F2C66A2342}"/>
              </a:ext>
            </a:extLst>
          </p:cNvPr>
          <p:cNvSpPr/>
          <p:nvPr/>
        </p:nvSpPr>
        <p:spPr>
          <a:xfrm>
            <a:off x="9344574" y="4152658"/>
            <a:ext cx="2386584" cy="640080"/>
          </a:xfrm>
          <a:prstGeom prst="rect">
            <a:avLst/>
          </a:prstGeom>
          <a:noFill/>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rgbClr val="61718A"/>
                </a:solidFill>
                <a:latin typeface="微软雅黑" panose="020B0503020204020204" pitchFamily="34" charset="-122"/>
                <a:ea typeface="微软雅黑" panose="020B0503020204020204" pitchFamily="34" charset="-122"/>
                <a:cs typeface="微软雅黑" panose="020B0503020204020204" pitchFamily="34" charset="-120"/>
              </a:rPr>
              <a:t>推理框架  /  </a:t>
            </a:r>
            <a:r>
              <a:rPr lang="zh-CN" altLang="en-US" sz="1200">
                <a:solidFill>
                  <a:srgbClr val="61718A"/>
                </a:solidFill>
                <a:latin typeface="微软雅黑" panose="020B0503020204020204" pitchFamily="34" charset="-122"/>
                <a:ea typeface="微软雅黑" panose="020B0503020204020204" pitchFamily="34" charset="-122"/>
                <a:cs typeface="微软雅黑" panose="020B0503020204020204" pitchFamily="34" charset="-120"/>
              </a:rPr>
              <a:t>并行优化</a:t>
            </a:r>
            <a:r>
              <a:rPr lang="en-US" sz="1200">
                <a:solidFill>
                  <a:srgbClr val="61718A"/>
                </a:solidFill>
                <a:latin typeface="微软雅黑" panose="020B0503020204020204" pitchFamily="34" charset="-122"/>
                <a:ea typeface="微软雅黑" panose="020B0503020204020204" pitchFamily="34" charset="-122"/>
                <a:cs typeface="微软雅黑" panose="020B0503020204020204" pitchFamily="34" charset="-120"/>
              </a:rPr>
              <a:t>  /  </a:t>
            </a:r>
            <a:r>
              <a:rPr lang="zh-CN" altLang="en-US" sz="1200">
                <a:solidFill>
                  <a:srgbClr val="61718A"/>
                </a:solidFill>
                <a:latin typeface="微软雅黑" panose="020B0503020204020204" pitchFamily="34" charset="-122"/>
                <a:ea typeface="微软雅黑" panose="020B0503020204020204" pitchFamily="34" charset="-122"/>
              </a:rPr>
              <a:t>性能</a:t>
            </a:r>
            <a:r>
              <a:rPr lang="en-US" sz="1200">
                <a:solidFill>
                  <a:srgbClr val="61718A"/>
                </a:solidFill>
                <a:latin typeface="微软雅黑" panose="020B0503020204020204" pitchFamily="34" charset="-122"/>
                <a:ea typeface="微软雅黑" panose="020B0503020204020204" pitchFamily="34" charset="-122"/>
              </a:rPr>
              <a:t>分析</a:t>
            </a:r>
            <a:endParaRPr lang="en-US" sz="1200" dirty="0">
              <a:solidFill>
                <a:srgbClr val="61718A"/>
              </a:solidFill>
              <a:latin typeface="微软雅黑" panose="020B0503020204020204" pitchFamily="34" charset="-122"/>
              <a:ea typeface="微软雅黑" panose="020B0503020204020204" pitchFamily="34" charset="-122"/>
            </a:endParaRPr>
          </a:p>
        </p:txBody>
      </p:sp>
      <p:sp>
        <p:nvSpPr>
          <p:cNvPr id="120" name="Shape 64">
            <a:extLst>
              <a:ext uri="{FF2B5EF4-FFF2-40B4-BE49-F238E27FC236}">
                <a16:creationId xmlns:a16="http://schemas.microsoft.com/office/drawing/2014/main" id="{FDA812EF-9445-1CA5-F569-6396DBB40106}"/>
              </a:ext>
            </a:extLst>
          </p:cNvPr>
          <p:cNvSpPr/>
          <p:nvPr/>
        </p:nvSpPr>
        <p:spPr>
          <a:xfrm>
            <a:off x="9056528" y="5055771"/>
            <a:ext cx="2891573" cy="0"/>
          </a:xfrm>
          <a:prstGeom prst="line">
            <a:avLst/>
          </a:prstGeom>
          <a:noFill/>
          <a:ln w="11430">
            <a:solidFill>
              <a:srgbClr val="DCE5F1"/>
            </a:solidFill>
            <a:prstDash val="solid"/>
          </a:ln>
        </p:spPr>
        <p:txBody>
          <a:bodyPr/>
          <a:lstStyle/>
          <a:p>
            <a:endParaRPr lang="zh-CN" altLang="en-US"/>
          </a:p>
        </p:txBody>
      </p:sp>
      <p:sp>
        <p:nvSpPr>
          <p:cNvPr id="121" name="Text 65">
            <a:extLst>
              <a:ext uri="{FF2B5EF4-FFF2-40B4-BE49-F238E27FC236}">
                <a16:creationId xmlns:a16="http://schemas.microsoft.com/office/drawing/2014/main" id="{E45EB6B0-D824-14DE-A3BB-08652156C8FB}"/>
              </a:ext>
            </a:extLst>
          </p:cNvPr>
          <p:cNvSpPr/>
          <p:nvPr/>
        </p:nvSpPr>
        <p:spPr>
          <a:xfrm>
            <a:off x="9316414" y="5143761"/>
            <a:ext cx="2194560" cy="274320"/>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a:solidFill>
                  <a:srgbClr val="122A4D"/>
                </a:solidFill>
                <a:latin typeface="微软雅黑" panose="020B0503020204020204" pitchFamily="34" charset="-122"/>
                <a:ea typeface="微软雅黑" panose="020B0503020204020204" pitchFamily="34" charset="-122"/>
                <a:cs typeface="微软雅黑" panose="020B0503020204020204" pitchFamily="34" charset="-120"/>
              </a:rPr>
              <a:t>组内知识</a:t>
            </a:r>
            <a:r>
              <a:rPr lang="zh-CN" altLang="en-US" sz="1400" b="1">
                <a:solidFill>
                  <a:srgbClr val="122A4D"/>
                </a:solidFill>
                <a:latin typeface="微软雅黑" panose="020B0503020204020204" pitchFamily="34" charset="-122"/>
                <a:ea typeface="微软雅黑" panose="020B0503020204020204" pitchFamily="34" charset="-122"/>
                <a:cs typeface="微软雅黑" panose="020B0503020204020204" pitchFamily="34" charset="-120"/>
              </a:rPr>
              <a:t>池</a:t>
            </a:r>
            <a:endParaRPr lang="en-US" sz="1400" dirty="0"/>
          </a:p>
        </p:txBody>
      </p:sp>
      <p:sp>
        <p:nvSpPr>
          <p:cNvPr id="122" name="Text 66">
            <a:extLst>
              <a:ext uri="{FF2B5EF4-FFF2-40B4-BE49-F238E27FC236}">
                <a16:creationId xmlns:a16="http://schemas.microsoft.com/office/drawing/2014/main" id="{C68DF6C9-AD0A-11B1-4890-7A82C2E00AC4}"/>
              </a:ext>
            </a:extLst>
          </p:cNvPr>
          <p:cNvSpPr/>
          <p:nvPr/>
        </p:nvSpPr>
        <p:spPr>
          <a:xfrm>
            <a:off x="9133745" y="5610323"/>
            <a:ext cx="2695589" cy="359310"/>
          </a:xfrm>
          <a:prstGeom prst="rect">
            <a:avLst/>
          </a:prstGeom>
          <a:noFill/>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20" dirty="0">
                <a:solidFill>
                  <a:srgbClr val="61718A"/>
                </a:solidFill>
                <a:latin typeface="微软雅黑" panose="020B0503020204020204" pitchFamily="34" charset="-122"/>
                <a:ea typeface="微软雅黑" panose="020B0503020204020204" pitchFamily="34" charset="-122"/>
                <a:cs typeface="微软雅黑" panose="020B0503020204020204" pitchFamily="34" charset="-120"/>
              </a:rPr>
              <a:t>围绕推理优化原理与工具使用，沉淀可复用的分析方法与工程经验。</a:t>
            </a:r>
            <a:endParaRPr lang="en-US" sz="1120" dirty="0"/>
          </a:p>
        </p:txBody>
      </p:sp>
      <p:sp>
        <p:nvSpPr>
          <p:cNvPr id="124" name="文本框 123">
            <a:extLst>
              <a:ext uri="{FF2B5EF4-FFF2-40B4-BE49-F238E27FC236}">
                <a16:creationId xmlns:a16="http://schemas.microsoft.com/office/drawing/2014/main" id="{33A075CB-FEA6-788C-5619-EEF84DFF7A17}"/>
              </a:ext>
            </a:extLst>
          </p:cNvPr>
          <p:cNvSpPr txBox="1"/>
          <p:nvPr/>
        </p:nvSpPr>
        <p:spPr>
          <a:xfrm>
            <a:off x="9306951" y="2970937"/>
            <a:ext cx="654499" cy="367425"/>
          </a:xfrm>
          <a:prstGeom prst="rect">
            <a:avLst/>
          </a:prstGeom>
          <a:noFill/>
        </p:spPr>
        <p:txBody>
          <a:bodyPr wrap="square">
            <a:spAutoFit/>
          </a:bodyPr>
          <a:lstStyle/>
          <a:p>
            <a:r>
              <a:rPr lang="zh-CN" altLang="en-US" sz="1800" b="1">
                <a:solidFill>
                  <a:srgbClr val="122A4D"/>
                </a:solidFill>
                <a:latin typeface="微软雅黑" panose="020B0503020204020204" pitchFamily="34" charset="-122"/>
                <a:ea typeface="微软雅黑" panose="020B0503020204020204" pitchFamily="34" charset="-122"/>
              </a:rPr>
              <a:t>计划</a:t>
            </a:r>
            <a:endParaRPr lang="zh-CN" altLang="en-US"/>
          </a:p>
        </p:txBody>
      </p:sp>
      <p:pic>
        <p:nvPicPr>
          <p:cNvPr id="3" name="图片 2">
            <a:extLst>
              <a:ext uri="{FF2B5EF4-FFF2-40B4-BE49-F238E27FC236}">
                <a16:creationId xmlns:a16="http://schemas.microsoft.com/office/drawing/2014/main" id="{D6757FE1-7477-6E58-2822-044055D51D22}"/>
              </a:ext>
            </a:extLst>
          </p:cNvPr>
          <p:cNvPicPr>
            <a:picLocks noChangeAspect="1"/>
          </p:cNvPicPr>
          <p:nvPr/>
        </p:nvPicPr>
        <p:blipFill>
          <a:blip r:embed="rId4"/>
          <a:stretch>
            <a:fillRect/>
          </a:stretch>
        </p:blipFill>
        <p:spPr>
          <a:xfrm>
            <a:off x="9298453" y="3397054"/>
            <a:ext cx="662997" cy="640135"/>
          </a:xfrm>
          <a:prstGeom prst="rect">
            <a:avLst/>
          </a:prstGeom>
        </p:spPr>
      </p:pic>
      <p:sp>
        <p:nvSpPr>
          <p:cNvPr id="6" name="文本框 5">
            <a:extLst>
              <a:ext uri="{FF2B5EF4-FFF2-40B4-BE49-F238E27FC236}">
                <a16:creationId xmlns:a16="http://schemas.microsoft.com/office/drawing/2014/main" id="{AFBE1839-1ACB-1706-70ED-D02609251C11}"/>
              </a:ext>
            </a:extLst>
          </p:cNvPr>
          <p:cNvSpPr txBox="1"/>
          <p:nvPr/>
        </p:nvSpPr>
        <p:spPr>
          <a:xfrm>
            <a:off x="8981029" y="4479359"/>
            <a:ext cx="1297844" cy="461665"/>
          </a:xfrm>
          <a:prstGeom prst="rect">
            <a:avLst/>
          </a:prstGeom>
          <a:noFill/>
        </p:spPr>
        <p:txBody>
          <a:bodyPr wrap="square">
            <a:spAutoFit/>
          </a:bodyPr>
          <a:lstStyle/>
          <a:p>
            <a:r>
              <a:rPr lang="en-US" altLang="zh-CN" sz="1200"/>
              <a:t>PagedAttention</a:t>
            </a:r>
          </a:p>
          <a:p>
            <a:r>
              <a:rPr lang="en-US" altLang="zh-CN" sz="1200"/>
              <a:t>Radix prefixcache</a:t>
            </a:r>
            <a:endParaRPr lang="zh-CN" altLang="en-US" sz="1200"/>
          </a:p>
        </p:txBody>
      </p:sp>
      <p:sp>
        <p:nvSpPr>
          <p:cNvPr id="8" name="文本框 7">
            <a:extLst>
              <a:ext uri="{FF2B5EF4-FFF2-40B4-BE49-F238E27FC236}">
                <a16:creationId xmlns:a16="http://schemas.microsoft.com/office/drawing/2014/main" id="{F0FAF66C-201A-AFBB-7AD9-C480501032BC}"/>
              </a:ext>
            </a:extLst>
          </p:cNvPr>
          <p:cNvSpPr txBox="1"/>
          <p:nvPr/>
        </p:nvSpPr>
        <p:spPr>
          <a:xfrm>
            <a:off x="10166727" y="4481537"/>
            <a:ext cx="742277" cy="461665"/>
          </a:xfrm>
          <a:prstGeom prst="rect">
            <a:avLst/>
          </a:prstGeom>
          <a:noFill/>
        </p:spPr>
        <p:txBody>
          <a:bodyPr wrap="square">
            <a:spAutoFit/>
          </a:bodyPr>
          <a:lstStyle/>
          <a:p>
            <a:r>
              <a:rPr lang="en-US" altLang="zh-CN" sz="1200"/>
              <a:t>TP / PP </a:t>
            </a:r>
          </a:p>
          <a:p>
            <a:r>
              <a:rPr lang="en-US" altLang="zh-CN" sz="1200"/>
              <a:t> DP / EP</a:t>
            </a:r>
            <a:endParaRPr lang="zh-CN" altLang="en-US" sz="1200"/>
          </a:p>
        </p:txBody>
      </p:sp>
      <p:sp>
        <p:nvSpPr>
          <p:cNvPr id="10" name="文本框 9">
            <a:extLst>
              <a:ext uri="{FF2B5EF4-FFF2-40B4-BE49-F238E27FC236}">
                <a16:creationId xmlns:a16="http://schemas.microsoft.com/office/drawing/2014/main" id="{B792B195-CE56-3F74-2434-F4A1C01CF076}"/>
              </a:ext>
            </a:extLst>
          </p:cNvPr>
          <p:cNvSpPr txBox="1"/>
          <p:nvPr/>
        </p:nvSpPr>
        <p:spPr>
          <a:xfrm>
            <a:off x="10826696" y="4384861"/>
            <a:ext cx="1204066" cy="646331"/>
          </a:xfrm>
          <a:prstGeom prst="rect">
            <a:avLst/>
          </a:prstGeom>
          <a:noFill/>
        </p:spPr>
        <p:txBody>
          <a:bodyPr wrap="square">
            <a:spAutoFit/>
          </a:bodyPr>
          <a:lstStyle/>
          <a:p>
            <a:r>
              <a:rPr lang="en-US" altLang="zh-CN" sz="1200"/>
              <a:t>TTFT</a:t>
            </a:r>
            <a:r>
              <a:rPr lang="zh-CN" altLang="en-US" sz="1200"/>
              <a:t>、</a:t>
            </a:r>
            <a:r>
              <a:rPr lang="en-US" altLang="zh-CN" sz="1200"/>
              <a:t>TPOT</a:t>
            </a:r>
            <a:r>
              <a:rPr lang="zh-CN" altLang="en-US" sz="1200"/>
              <a:t>、吞吐、</a:t>
            </a:r>
            <a:r>
              <a:rPr lang="en-US" altLang="zh-CN" sz="1200"/>
              <a:t>Profiling</a:t>
            </a:r>
            <a:r>
              <a:rPr lang="zh-CN" altLang="en-US" sz="1200"/>
              <a:t>、</a:t>
            </a:r>
            <a:r>
              <a:rPr lang="en-US" altLang="zh-CN" sz="1200"/>
              <a:t>MXFP4/MXFP8 </a:t>
            </a:r>
            <a:endParaRPr lang="zh-CN" altLang="en-US" sz="1200"/>
          </a:p>
        </p:txBody>
      </p:sp>
      <p:pic>
        <p:nvPicPr>
          <p:cNvPr id="11" name="图片 10">
            <a:extLst>
              <a:ext uri="{FF2B5EF4-FFF2-40B4-BE49-F238E27FC236}">
                <a16:creationId xmlns:a16="http://schemas.microsoft.com/office/drawing/2014/main" id="{E07F6901-6DC6-1DA0-3D7E-FD0A58726AD0}"/>
              </a:ext>
            </a:extLst>
          </p:cNvPr>
          <p:cNvPicPr>
            <a:picLocks noChangeAspect="1"/>
          </p:cNvPicPr>
          <p:nvPr/>
        </p:nvPicPr>
        <p:blipFill>
          <a:blip r:embed="rId5"/>
          <a:stretch>
            <a:fillRect/>
          </a:stretch>
        </p:blipFill>
        <p:spPr>
          <a:xfrm>
            <a:off x="10202783" y="3362052"/>
            <a:ext cx="807790" cy="701101"/>
          </a:xfrm>
          <a:prstGeom prst="rect">
            <a:avLst/>
          </a:prstGeom>
        </p:spPr>
      </p:pic>
      <p:pic>
        <p:nvPicPr>
          <p:cNvPr id="12" name="图片 11">
            <a:extLst>
              <a:ext uri="{FF2B5EF4-FFF2-40B4-BE49-F238E27FC236}">
                <a16:creationId xmlns:a16="http://schemas.microsoft.com/office/drawing/2014/main" id="{CC72FF90-2CB2-E979-4C59-BAFE53BBD2F3}"/>
              </a:ext>
            </a:extLst>
          </p:cNvPr>
          <p:cNvPicPr>
            <a:picLocks noChangeAspect="1"/>
          </p:cNvPicPr>
          <p:nvPr/>
        </p:nvPicPr>
        <p:blipFill>
          <a:blip r:embed="rId6"/>
          <a:stretch>
            <a:fillRect/>
          </a:stretch>
        </p:blipFill>
        <p:spPr>
          <a:xfrm>
            <a:off x="11092467" y="3458483"/>
            <a:ext cx="602032" cy="586791"/>
          </a:xfrm>
          <a:prstGeom prst="rect">
            <a:avLst/>
          </a:prstGeom>
        </p:spPr>
      </p:pic>
      <p:sp>
        <p:nvSpPr>
          <p:cNvPr id="4" name="灯片编号占位符 1">
            <a:extLst>
              <a:ext uri="{FF2B5EF4-FFF2-40B4-BE49-F238E27FC236}">
                <a16:creationId xmlns:a16="http://schemas.microsoft.com/office/drawing/2014/main" id="{10A26B5F-32CA-5575-1C15-F3FA557B888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2B6538A-33AE-45EB-868C-14B9E34ED9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t>5</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
        <p:nvSpPr>
          <p:cNvPr id="7" name="Shape 64">
            <a:extLst>
              <a:ext uri="{FF2B5EF4-FFF2-40B4-BE49-F238E27FC236}">
                <a16:creationId xmlns:a16="http://schemas.microsoft.com/office/drawing/2014/main" id="{A1A2C29C-1D06-0B87-74B3-930DB7208FF7}"/>
              </a:ext>
            </a:extLst>
          </p:cNvPr>
          <p:cNvSpPr/>
          <p:nvPr/>
        </p:nvSpPr>
        <p:spPr>
          <a:xfrm>
            <a:off x="9077887" y="2894739"/>
            <a:ext cx="2891573" cy="0"/>
          </a:xfrm>
          <a:prstGeom prst="line">
            <a:avLst/>
          </a:prstGeom>
          <a:noFill/>
          <a:ln w="11430">
            <a:solidFill>
              <a:srgbClr val="DCE5F1"/>
            </a:solidFill>
            <a:prstDash val="solid"/>
          </a:ln>
        </p:spPr>
        <p:txBody>
          <a:bodyPr/>
          <a:lstStyle/>
          <a:p>
            <a:endParaRPr lang="zh-CN" altLang="en-US"/>
          </a:p>
        </p:txBody>
      </p:sp>
      <p:sp>
        <p:nvSpPr>
          <p:cNvPr id="9" name="Text 62">
            <a:extLst>
              <a:ext uri="{FF2B5EF4-FFF2-40B4-BE49-F238E27FC236}">
                <a16:creationId xmlns:a16="http://schemas.microsoft.com/office/drawing/2014/main" id="{31060341-4C3D-6C0C-60DE-DC5ADE6EC137}"/>
              </a:ext>
            </a:extLst>
          </p:cNvPr>
          <p:cNvSpPr/>
          <p:nvPr/>
        </p:nvSpPr>
        <p:spPr>
          <a:xfrm>
            <a:off x="10249230" y="1777856"/>
            <a:ext cx="1486879" cy="301752"/>
          </a:xfrm>
          <a:prstGeom prst="rect">
            <a:avLst/>
          </a:prstGeom>
          <a:noFill/>
        </p:spPr>
        <p:txBody>
          <a:bodyPr wrap="square" lIns="0" tIns="0" rIns="0" bIns="0" rtlCol="0" anchor="ctr">
            <a:normAutofit fontScale="85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zh-CN" altLang="en-US" sz="1500" b="1">
                <a:solidFill>
                  <a:srgbClr val="122A4D"/>
                </a:solidFill>
                <a:latin typeface="微软雅黑" panose="020B0503020204020204" pitchFamily="34" charset="-122"/>
                <a:ea typeface="微软雅黑" panose="020B0503020204020204" pitchFamily="34" charset="-122"/>
              </a:rPr>
              <a:t>个</a:t>
            </a:r>
            <a:r>
              <a:rPr lang="en-US" altLang="zh-CN" sz="1500" b="1">
                <a:solidFill>
                  <a:srgbClr val="122A4D"/>
                </a:solidFill>
                <a:latin typeface="微软雅黑" panose="020B0503020204020204" pitchFamily="34" charset="-122"/>
                <a:ea typeface="微软雅黑" panose="020B0503020204020204" pitchFamily="34" charset="-122"/>
              </a:rPr>
              <a:t>vllm_ascend PR</a:t>
            </a:r>
            <a:endParaRPr lang="en-US" sz="1500" dirty="0"/>
          </a:p>
        </p:txBody>
      </p:sp>
      <p:sp>
        <p:nvSpPr>
          <p:cNvPr id="13" name="文本框 12">
            <a:extLst>
              <a:ext uri="{FF2B5EF4-FFF2-40B4-BE49-F238E27FC236}">
                <a16:creationId xmlns:a16="http://schemas.microsoft.com/office/drawing/2014/main" id="{7F1F4845-2D2A-CB06-BA07-5F4D91356E58}"/>
              </a:ext>
            </a:extLst>
          </p:cNvPr>
          <p:cNvSpPr txBox="1"/>
          <p:nvPr/>
        </p:nvSpPr>
        <p:spPr>
          <a:xfrm>
            <a:off x="9314727" y="1751166"/>
            <a:ext cx="1085444" cy="369332"/>
          </a:xfrm>
          <a:prstGeom prst="rect">
            <a:avLst/>
          </a:prstGeom>
          <a:noFill/>
        </p:spPr>
        <p:txBody>
          <a:bodyPr wrap="square">
            <a:spAutoFit/>
          </a:bodyPr>
          <a:lstStyle/>
          <a:p>
            <a:r>
              <a:rPr lang="zh-CN" altLang="en-US" sz="1800" b="1">
                <a:solidFill>
                  <a:srgbClr val="122A4D"/>
                </a:solidFill>
                <a:latin typeface="微软雅黑" panose="020B0503020204020204" pitchFamily="34" charset="-122"/>
                <a:ea typeface="微软雅黑" panose="020B0503020204020204" pitchFamily="34" charset="-122"/>
              </a:rPr>
              <a:t>完成</a:t>
            </a:r>
            <a:endParaRPr lang="zh-CN" altLang="en-US"/>
          </a:p>
        </p:txBody>
      </p:sp>
      <p:sp>
        <p:nvSpPr>
          <p:cNvPr id="14" name="Text 61">
            <a:extLst>
              <a:ext uri="{FF2B5EF4-FFF2-40B4-BE49-F238E27FC236}">
                <a16:creationId xmlns:a16="http://schemas.microsoft.com/office/drawing/2014/main" id="{AF090269-8B14-E58E-F43C-8D03EF09F6B2}"/>
              </a:ext>
            </a:extLst>
          </p:cNvPr>
          <p:cNvSpPr/>
          <p:nvPr/>
        </p:nvSpPr>
        <p:spPr>
          <a:xfrm>
            <a:off x="9913906" y="1753305"/>
            <a:ext cx="476511" cy="510369"/>
          </a:xfrm>
          <a:prstGeom prst="rect">
            <a:avLst/>
          </a:prstGeom>
          <a:noFill/>
        </p:spPr>
        <p:txBody>
          <a:bodyPr wrap="square" lIns="0" tIns="0" rIns="0" bIns="0" rtlCol="0" anchor="ctr">
            <a:normAutofit fontScale="850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4600" b="1">
                <a:solidFill>
                  <a:srgbClr val="235DDD"/>
                </a:solidFill>
                <a:latin typeface="微软雅黑" panose="020B0503020204020204" pitchFamily="34" charset="-122"/>
                <a:ea typeface="微软雅黑" panose="020B0503020204020204" pitchFamily="34" charset="-122"/>
                <a:cs typeface="微软雅黑" panose="020B0503020204020204" pitchFamily="34" charset="-120"/>
              </a:rPr>
              <a:t>3</a:t>
            </a:r>
            <a:endParaRPr lang="en-US" sz="4600" dirty="0"/>
          </a:p>
        </p:txBody>
      </p:sp>
      <p:sp>
        <p:nvSpPr>
          <p:cNvPr id="15" name="文本框 14">
            <a:extLst>
              <a:ext uri="{FF2B5EF4-FFF2-40B4-BE49-F238E27FC236}">
                <a16:creationId xmlns:a16="http://schemas.microsoft.com/office/drawing/2014/main" id="{A3E3294E-8BD3-8605-D251-E35D1EBDC20E}"/>
              </a:ext>
            </a:extLst>
          </p:cNvPr>
          <p:cNvSpPr txBox="1"/>
          <p:nvPr/>
        </p:nvSpPr>
        <p:spPr>
          <a:xfrm>
            <a:off x="9013064" y="2151695"/>
            <a:ext cx="3033020" cy="646331"/>
          </a:xfrm>
          <a:prstGeom prst="rect">
            <a:avLst/>
          </a:prstGeom>
          <a:noFill/>
        </p:spPr>
        <p:txBody>
          <a:bodyPr wrap="square" rtlCol="0">
            <a:spAutoFit/>
          </a:bodyPr>
          <a:lstStyle/>
          <a:p>
            <a:r>
              <a:rPr lang="en-US" altLang="zh-CN" sz="1200"/>
              <a:t>#16110   Gemma4 MoEMXFP4 TP Scale </a:t>
            </a:r>
            <a:r>
              <a:rPr lang="zh-CN" altLang="en-US" sz="1200"/>
              <a:t>修复  </a:t>
            </a:r>
            <a:r>
              <a:rPr lang="en-US" altLang="zh-CN" sz="1200"/>
              <a:t>#14607   Gemma4 </a:t>
            </a:r>
            <a:r>
              <a:rPr lang="zh-CN" altLang="en-US" sz="1200"/>
              <a:t>多模态 </a:t>
            </a:r>
            <a:r>
              <a:rPr lang="en-US" altLang="zh-CN" sz="1200"/>
              <a:t>MXFP4 </a:t>
            </a:r>
            <a:r>
              <a:rPr lang="zh-CN" altLang="en-US" sz="1200"/>
              <a:t>适配   </a:t>
            </a:r>
            <a:r>
              <a:rPr lang="en-US" altLang="zh-CN" sz="1200"/>
              <a:t>#15806   MM LoRA </a:t>
            </a:r>
            <a:r>
              <a:rPr lang="zh-CN" altLang="en-US" sz="1200"/>
              <a:t>初始化修复</a:t>
            </a:r>
          </a:p>
        </p:txBody>
      </p:sp>
    </p:spTree>
    <p:custDataLst>
      <p:tags r:id="rId1"/>
    </p:custDataLst>
    <p:extLst>
      <p:ext uri="{BB962C8B-B14F-4D97-AF65-F5344CB8AC3E}">
        <p14:creationId xmlns:p14="http://schemas.microsoft.com/office/powerpoint/2010/main" val="4001135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8757231-09F0-8F71-DA9E-79F55A0CEF40}"/>
              </a:ext>
            </a:extLst>
          </p:cNvPr>
          <p:cNvSpPr>
            <a:spLocks noGrp="1"/>
          </p:cNvSpPr>
          <p:nvPr>
            <p:ph type="sldNum" sz="quarter" idx="12"/>
          </p:nvPr>
        </p:nvSpPr>
        <p:spPr/>
        <p:txBody>
          <a:bodyPr/>
          <a:lstStyle/>
          <a:p>
            <a:fld id="{49AE70B2-8BF9-45C0-BB95-33D1B9D3A854}" type="slidenum">
              <a:rPr lang="zh-CN" altLang="en-US" smtClean="0"/>
              <a:t>6</a:t>
            </a:fld>
            <a:endParaRPr lang="zh-CN" altLang="en-US" dirty="0"/>
          </a:p>
        </p:txBody>
      </p:sp>
      <p:sp>
        <p:nvSpPr>
          <p:cNvPr id="5" name="Shape 24">
            <a:extLst>
              <a:ext uri="{FF2B5EF4-FFF2-40B4-BE49-F238E27FC236}">
                <a16:creationId xmlns:a16="http://schemas.microsoft.com/office/drawing/2014/main" id="{BC7BF703-0138-4765-1A9C-C511B73462C7}"/>
              </a:ext>
            </a:extLst>
          </p:cNvPr>
          <p:cNvSpPr/>
          <p:nvPr/>
        </p:nvSpPr>
        <p:spPr>
          <a:xfrm>
            <a:off x="804431" y="3633578"/>
            <a:ext cx="5285232" cy="2919621"/>
          </a:xfrm>
          <a:prstGeom prst="roundRect">
            <a:avLst>
              <a:gd name="adj" fmla="val 7115"/>
            </a:avLst>
          </a:prstGeom>
          <a:solidFill>
            <a:srgbClr val="FFFFFF"/>
          </a:solidFill>
          <a:ln w="12700">
            <a:solidFill>
              <a:srgbClr val="DFE7F0"/>
            </a:solidFill>
            <a:prstDash val="solid"/>
          </a:ln>
        </p:spPr>
        <p:txBody>
          <a:bodyPr/>
          <a:lstStyle/>
          <a:p>
            <a:endParaRPr lang="zh-CN" altLang="en-US" dirty="0"/>
          </a:p>
        </p:txBody>
      </p:sp>
      <p:sp>
        <p:nvSpPr>
          <p:cNvPr id="6" name="Shape 12">
            <a:extLst>
              <a:ext uri="{FF2B5EF4-FFF2-40B4-BE49-F238E27FC236}">
                <a16:creationId xmlns:a16="http://schemas.microsoft.com/office/drawing/2014/main" id="{FD2BD96F-2D01-9BE7-6DAB-6C44406B3B1E}"/>
              </a:ext>
            </a:extLst>
          </p:cNvPr>
          <p:cNvSpPr/>
          <p:nvPr/>
        </p:nvSpPr>
        <p:spPr>
          <a:xfrm>
            <a:off x="729625" y="3783984"/>
            <a:ext cx="50292" cy="2192601"/>
          </a:xfrm>
          <a:prstGeom prst="rect">
            <a:avLst/>
          </a:prstGeom>
          <a:solidFill>
            <a:srgbClr val="DD4051"/>
          </a:solidFill>
          <a:ln w="12700">
            <a:solidFill>
              <a:srgbClr val="DD4051">
                <a:alpha val="0"/>
              </a:srgbClr>
            </a:solidFill>
            <a:prstDash val="solid"/>
          </a:ln>
        </p:spPr>
      </p:sp>
      <p:sp>
        <p:nvSpPr>
          <p:cNvPr id="7" name="Text 13">
            <a:extLst>
              <a:ext uri="{FF2B5EF4-FFF2-40B4-BE49-F238E27FC236}">
                <a16:creationId xmlns:a16="http://schemas.microsoft.com/office/drawing/2014/main" id="{F984BD17-35F8-37A8-67C8-287C780CB4A8}"/>
              </a:ext>
            </a:extLst>
          </p:cNvPr>
          <p:cNvSpPr/>
          <p:nvPr/>
        </p:nvSpPr>
        <p:spPr>
          <a:xfrm>
            <a:off x="1101481" y="3756553"/>
            <a:ext cx="3218688" cy="438520"/>
          </a:xfrm>
          <a:prstGeom prst="rect">
            <a:avLst/>
          </a:prstGeom>
          <a:noFill/>
          <a:ln/>
        </p:spPr>
        <p:txBody>
          <a:bodyPr wrap="square" lIns="0" tIns="0" rIns="0" bIns="0" rtlCol="0" anchor="ctr">
            <a:normAutofit/>
          </a:bodyPr>
          <a:lstStyle/>
          <a:p>
            <a:pPr marL="0" indent="0">
              <a:lnSpc>
                <a:spcPct val="102000"/>
              </a:lnSpc>
              <a:buNone/>
            </a:pPr>
            <a:r>
              <a:rPr lang="en-US" b="1" dirty="0">
                <a:solidFill>
                  <a:srgbClr val="17243A"/>
                </a:solidFill>
                <a:latin typeface="微软雅黑" panose="020B0503020204020204" pitchFamily="34" charset="-122"/>
                <a:ea typeface="微软雅黑" panose="020B0503020204020204" pitchFamily="34" charset="-122"/>
                <a:cs typeface="Noto Sans CJK SC" pitchFamily="34" charset="-120"/>
              </a:rPr>
              <a:t>Gemma-4-31B</a:t>
            </a:r>
            <a:r>
              <a:rPr lang="en-US" altLang="zh-CN" b="1" dirty="0">
                <a:solidFill>
                  <a:srgbClr val="17243A"/>
                </a:solidFill>
                <a:latin typeface="微软雅黑" panose="020B0503020204020204" pitchFamily="34" charset="-122"/>
                <a:ea typeface="微软雅黑" panose="020B0503020204020204" pitchFamily="34" charset="-122"/>
                <a:cs typeface="Noto Sans CJK SC" pitchFamily="34" charset="-120"/>
              </a:rPr>
              <a:t>-quant</a:t>
            </a:r>
            <a:endParaRPr lang="en-US" dirty="0">
              <a:latin typeface="微软雅黑" panose="020B0503020204020204" pitchFamily="34" charset="-122"/>
              <a:ea typeface="微软雅黑" panose="020B0503020204020204" pitchFamily="34" charset="-122"/>
            </a:endParaRPr>
          </a:p>
        </p:txBody>
      </p:sp>
      <p:sp>
        <p:nvSpPr>
          <p:cNvPr id="8" name="Shape 24">
            <a:extLst>
              <a:ext uri="{FF2B5EF4-FFF2-40B4-BE49-F238E27FC236}">
                <a16:creationId xmlns:a16="http://schemas.microsoft.com/office/drawing/2014/main" id="{925F2B29-600F-D8A4-9C6E-D4E4FAB96824}"/>
              </a:ext>
            </a:extLst>
          </p:cNvPr>
          <p:cNvSpPr/>
          <p:nvPr/>
        </p:nvSpPr>
        <p:spPr>
          <a:xfrm>
            <a:off x="6511682" y="3574705"/>
            <a:ext cx="5592606" cy="2978494"/>
          </a:xfrm>
          <a:prstGeom prst="roundRect">
            <a:avLst>
              <a:gd name="adj" fmla="val 7115"/>
            </a:avLst>
          </a:prstGeom>
          <a:solidFill>
            <a:srgbClr val="FFFFFF"/>
          </a:solidFill>
          <a:ln w="12700">
            <a:solidFill>
              <a:srgbClr val="DFE7F0"/>
            </a:solidFill>
            <a:prstDash val="solid"/>
          </a:ln>
        </p:spPr>
        <p:txBody>
          <a:bodyPr/>
          <a:lstStyle/>
          <a:p>
            <a:endParaRPr lang="zh-CN" altLang="en-US" dirty="0"/>
          </a:p>
        </p:txBody>
      </p:sp>
      <p:sp>
        <p:nvSpPr>
          <p:cNvPr id="9" name="Shape 25">
            <a:extLst>
              <a:ext uri="{FF2B5EF4-FFF2-40B4-BE49-F238E27FC236}">
                <a16:creationId xmlns:a16="http://schemas.microsoft.com/office/drawing/2014/main" id="{AE861873-90DB-3281-7858-19D5B14CFDF2}"/>
              </a:ext>
            </a:extLst>
          </p:cNvPr>
          <p:cNvSpPr/>
          <p:nvPr/>
        </p:nvSpPr>
        <p:spPr>
          <a:xfrm>
            <a:off x="6423289" y="3783984"/>
            <a:ext cx="50292" cy="2192601"/>
          </a:xfrm>
          <a:prstGeom prst="rect">
            <a:avLst/>
          </a:prstGeom>
          <a:solidFill>
            <a:srgbClr val="2868B8"/>
          </a:solidFill>
          <a:ln w="12700">
            <a:solidFill>
              <a:srgbClr val="2868B8">
                <a:alpha val="0"/>
              </a:srgbClr>
            </a:solidFill>
            <a:prstDash val="solid"/>
          </a:ln>
        </p:spPr>
      </p:sp>
      <p:sp>
        <p:nvSpPr>
          <p:cNvPr id="10" name="Text 26">
            <a:extLst>
              <a:ext uri="{FF2B5EF4-FFF2-40B4-BE49-F238E27FC236}">
                <a16:creationId xmlns:a16="http://schemas.microsoft.com/office/drawing/2014/main" id="{B9432938-6CE9-CF44-870C-05101732DBF4}"/>
              </a:ext>
            </a:extLst>
          </p:cNvPr>
          <p:cNvSpPr/>
          <p:nvPr/>
        </p:nvSpPr>
        <p:spPr>
          <a:xfrm>
            <a:off x="6651889" y="3756553"/>
            <a:ext cx="3218688" cy="438520"/>
          </a:xfrm>
          <a:prstGeom prst="rect">
            <a:avLst/>
          </a:prstGeom>
          <a:noFill/>
          <a:ln/>
        </p:spPr>
        <p:txBody>
          <a:bodyPr wrap="square" lIns="0" tIns="0" rIns="0" bIns="0" rtlCol="0" anchor="ctr">
            <a:normAutofit/>
          </a:bodyPr>
          <a:lstStyle/>
          <a:p>
            <a:pPr marL="0" indent="0">
              <a:lnSpc>
                <a:spcPct val="102000"/>
              </a:lnSpc>
              <a:buNone/>
            </a:pPr>
            <a:r>
              <a:rPr lang="en-US" b="1" dirty="0">
                <a:solidFill>
                  <a:srgbClr val="17243A"/>
                </a:solidFill>
                <a:latin typeface="微软雅黑" panose="020B0503020204020204" pitchFamily="34" charset="-122"/>
                <a:ea typeface="微软雅黑" panose="020B0503020204020204" pitchFamily="34" charset="-122"/>
                <a:cs typeface="Noto Sans CJK SC" pitchFamily="34" charset="-120"/>
              </a:rPr>
              <a:t>Gemma-4-26B-A4B</a:t>
            </a:r>
            <a:endParaRPr lang="en-US" dirty="0">
              <a:latin typeface="微软雅黑" panose="020B0503020204020204" pitchFamily="34" charset="-122"/>
              <a:ea typeface="微软雅黑" panose="020B0503020204020204" pitchFamily="34" charset="-122"/>
            </a:endParaRPr>
          </a:p>
        </p:txBody>
      </p:sp>
      <p:sp>
        <p:nvSpPr>
          <p:cNvPr id="11" name="Shape 33">
            <a:extLst>
              <a:ext uri="{FF2B5EF4-FFF2-40B4-BE49-F238E27FC236}">
                <a16:creationId xmlns:a16="http://schemas.microsoft.com/office/drawing/2014/main" id="{8861C044-E0B5-9D01-E006-96D5EF8C2E96}"/>
              </a:ext>
            </a:extLst>
          </p:cNvPr>
          <p:cNvSpPr/>
          <p:nvPr/>
        </p:nvSpPr>
        <p:spPr>
          <a:xfrm>
            <a:off x="7128119" y="4263948"/>
            <a:ext cx="2377440" cy="392360"/>
          </a:xfrm>
          <a:prstGeom prst="roundRect">
            <a:avLst>
              <a:gd name="adj" fmla="val 35294"/>
            </a:avLst>
          </a:prstGeom>
          <a:solidFill>
            <a:srgbClr val="FFF0F2"/>
          </a:solidFill>
          <a:ln w="12700">
            <a:solidFill>
              <a:srgbClr val="FFF0F2"/>
            </a:solidFill>
            <a:prstDash val="solid"/>
          </a:ln>
        </p:spPr>
        <p:txBody>
          <a:bodyPr/>
          <a:lstStyle/>
          <a:p>
            <a:endParaRPr lang="zh-CN" altLang="en-US"/>
          </a:p>
        </p:txBody>
      </p:sp>
      <p:sp>
        <p:nvSpPr>
          <p:cNvPr id="12" name="Text 34">
            <a:extLst>
              <a:ext uri="{FF2B5EF4-FFF2-40B4-BE49-F238E27FC236}">
                <a16:creationId xmlns:a16="http://schemas.microsoft.com/office/drawing/2014/main" id="{BA08F5D1-9FAF-8B33-8DB5-17529CB9E8BB}"/>
              </a:ext>
            </a:extLst>
          </p:cNvPr>
          <p:cNvSpPr/>
          <p:nvPr/>
        </p:nvSpPr>
        <p:spPr>
          <a:xfrm>
            <a:off x="7210415" y="4273092"/>
            <a:ext cx="2212848" cy="369280"/>
          </a:xfrm>
          <a:prstGeom prst="rect">
            <a:avLst/>
          </a:prstGeom>
          <a:noFill/>
          <a:ln/>
        </p:spPr>
        <p:txBody>
          <a:bodyPr wrap="square" lIns="0" tIns="0" rIns="0" bIns="0" rtlCol="0" anchor="ctr">
            <a:normAutofit/>
          </a:bodyPr>
          <a:lstStyle/>
          <a:p>
            <a:pPr algn="ctr">
              <a:lnSpc>
                <a:spcPct val="102000"/>
              </a:lnSpc>
            </a:pPr>
            <a:r>
              <a:rPr lang="en-US" sz="1060" b="1">
                <a:solidFill>
                  <a:srgbClr val="DD4051"/>
                </a:solidFill>
                <a:latin typeface="Times New Roman" panose="02020603050405020304" pitchFamily="18" charset="0"/>
                <a:ea typeface="Noto Sans CJK SC" pitchFamily="34" charset="-122"/>
                <a:cs typeface="Times New Roman" panose="02020603050405020304" pitchFamily="18" charset="0"/>
              </a:rPr>
              <a:t>A5 输出吞吐 7428 tok/s</a:t>
            </a:r>
            <a:endParaRPr lang="en-US" sz="1060" b="1" dirty="0">
              <a:solidFill>
                <a:srgbClr val="DD4051"/>
              </a:solidFill>
              <a:latin typeface="Times New Roman" panose="02020603050405020304" pitchFamily="18" charset="0"/>
              <a:ea typeface="Noto Sans CJK SC" pitchFamily="34" charset="-122"/>
              <a:cs typeface="Times New Roman" panose="02020603050405020304" pitchFamily="18" charset="0"/>
            </a:endParaRPr>
          </a:p>
        </p:txBody>
      </p:sp>
      <p:sp>
        <p:nvSpPr>
          <p:cNvPr id="13" name="Shape 35">
            <a:extLst>
              <a:ext uri="{FF2B5EF4-FFF2-40B4-BE49-F238E27FC236}">
                <a16:creationId xmlns:a16="http://schemas.microsoft.com/office/drawing/2014/main" id="{F3FF4936-2891-C2B5-5017-B9CD945AFFDE}"/>
              </a:ext>
            </a:extLst>
          </p:cNvPr>
          <p:cNvSpPr/>
          <p:nvPr/>
        </p:nvSpPr>
        <p:spPr>
          <a:xfrm>
            <a:off x="9606143" y="4263948"/>
            <a:ext cx="2258568" cy="392360"/>
          </a:xfrm>
          <a:prstGeom prst="roundRect">
            <a:avLst>
              <a:gd name="adj" fmla="val 35294"/>
            </a:avLst>
          </a:prstGeom>
          <a:solidFill>
            <a:srgbClr val="EAF2FC"/>
          </a:solidFill>
          <a:ln w="12700">
            <a:solidFill>
              <a:srgbClr val="EAF2FC"/>
            </a:solidFill>
            <a:prstDash val="solid"/>
          </a:ln>
        </p:spPr>
      </p:sp>
      <p:sp>
        <p:nvSpPr>
          <p:cNvPr id="14" name="Text 36">
            <a:extLst>
              <a:ext uri="{FF2B5EF4-FFF2-40B4-BE49-F238E27FC236}">
                <a16:creationId xmlns:a16="http://schemas.microsoft.com/office/drawing/2014/main" id="{45DC99AF-43F3-3E08-2BB5-5ECF9474EFA3}"/>
              </a:ext>
            </a:extLst>
          </p:cNvPr>
          <p:cNvSpPr/>
          <p:nvPr/>
        </p:nvSpPr>
        <p:spPr>
          <a:xfrm>
            <a:off x="9688439" y="4273092"/>
            <a:ext cx="2093976" cy="369280"/>
          </a:xfrm>
          <a:prstGeom prst="rect">
            <a:avLst/>
          </a:prstGeom>
          <a:noFill/>
          <a:ln/>
        </p:spPr>
        <p:txBody>
          <a:bodyPr wrap="square" lIns="0" tIns="0" rIns="0" bIns="0" rtlCol="0" anchor="ctr">
            <a:normAutofit/>
          </a:bodyPr>
          <a:lstStyle/>
          <a:p>
            <a:pPr marL="0" indent="0" algn="ctr">
              <a:lnSpc>
                <a:spcPct val="102000"/>
              </a:lnSpc>
              <a:buNone/>
            </a:pPr>
            <a:r>
              <a:rPr lang="en-US" sz="1060" b="1">
                <a:solidFill>
                  <a:srgbClr val="2868B8"/>
                </a:solidFill>
                <a:latin typeface="Times New Roman" panose="02020603050405020304" pitchFamily="18" charset="0"/>
                <a:ea typeface="Noto Sans CJK SC" pitchFamily="34" charset="-122"/>
                <a:cs typeface="Times New Roman" panose="02020603050405020304" pitchFamily="18" charset="0"/>
              </a:rPr>
              <a:t>H20 输出吞吐 </a:t>
            </a:r>
            <a:r>
              <a:rPr lang="en-US" sz="1060" b="1" dirty="0">
                <a:solidFill>
                  <a:srgbClr val="2868B8"/>
                </a:solidFill>
                <a:latin typeface="Times New Roman" panose="02020603050405020304" pitchFamily="18" charset="0"/>
                <a:ea typeface="Noto Sans CJK SC" pitchFamily="34" charset="-122"/>
                <a:cs typeface="Times New Roman" panose="02020603050405020304" pitchFamily="18" charset="0"/>
              </a:rPr>
              <a:t>3477 tok</a:t>
            </a:r>
            <a:r>
              <a:rPr lang="en-US" sz="1060" b="1">
                <a:solidFill>
                  <a:srgbClr val="2868B8"/>
                </a:solidFill>
                <a:latin typeface="Times New Roman" panose="02020603050405020304" pitchFamily="18" charset="0"/>
                <a:ea typeface="Noto Sans CJK SC" pitchFamily="34" charset="-122"/>
                <a:cs typeface="Times New Roman" panose="02020603050405020304" pitchFamily="18" charset="0"/>
              </a:rPr>
              <a:t>/s</a:t>
            </a:r>
            <a:endParaRPr lang="en-US" sz="106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15" name="Shape 0">
            <a:extLst>
              <a:ext uri="{FF2B5EF4-FFF2-40B4-BE49-F238E27FC236}">
                <a16:creationId xmlns:a16="http://schemas.microsoft.com/office/drawing/2014/main" id="{79264D43-C3AD-B27D-4A7A-007CC7AC1696}"/>
              </a:ext>
            </a:extLst>
          </p:cNvPr>
          <p:cNvSpPr/>
          <p:nvPr/>
        </p:nvSpPr>
        <p:spPr>
          <a:xfrm>
            <a:off x="585216" y="475488"/>
            <a:ext cx="68580" cy="640080"/>
          </a:xfrm>
          <a:prstGeom prst="rect">
            <a:avLst/>
          </a:prstGeom>
          <a:solidFill>
            <a:srgbClr val="DD4051"/>
          </a:solidFill>
          <a:ln w="12700">
            <a:solidFill>
              <a:srgbClr val="DD4051">
                <a:alpha val="0"/>
              </a:srgbClr>
            </a:solidFill>
            <a:prstDash val="solid"/>
          </a:ln>
        </p:spPr>
      </p:sp>
      <p:sp>
        <p:nvSpPr>
          <p:cNvPr id="16" name="Text 1">
            <a:extLst>
              <a:ext uri="{FF2B5EF4-FFF2-40B4-BE49-F238E27FC236}">
                <a16:creationId xmlns:a16="http://schemas.microsoft.com/office/drawing/2014/main" id="{D17E9A72-67CF-E0D5-281D-84244A279903}"/>
              </a:ext>
            </a:extLst>
          </p:cNvPr>
          <p:cNvSpPr/>
          <p:nvPr/>
        </p:nvSpPr>
        <p:spPr>
          <a:xfrm>
            <a:off x="822960" y="420624"/>
            <a:ext cx="7683366" cy="502920"/>
          </a:xfrm>
          <a:prstGeom prst="rect">
            <a:avLst/>
          </a:prstGeom>
          <a:noFill/>
          <a:ln/>
        </p:spPr>
        <p:txBody>
          <a:bodyPr wrap="square" lIns="0" tIns="0" rIns="0" bIns="0" rtlCol="0" anchor="ctr">
            <a:normAutofit/>
          </a:bodyPr>
          <a:lstStyle/>
          <a:p>
            <a:pPr marL="0" indent="0">
              <a:lnSpc>
                <a:spcPct val="102000"/>
              </a:lnSpc>
              <a:buNone/>
            </a:pPr>
            <a:r>
              <a:rPr lang="en-US" sz="2800" b="1" dirty="0">
                <a:solidFill>
                  <a:srgbClr val="17243A"/>
                </a:solidFill>
                <a:latin typeface="Times New Roman" panose="02020603050405020304" pitchFamily="18" charset="0"/>
                <a:ea typeface="Noto Sans CJK SC" pitchFamily="34" charset="-122"/>
                <a:cs typeface="Times New Roman" panose="02020603050405020304" pitchFamily="18" charset="0"/>
              </a:rPr>
              <a:t>Gemma-4 模型精度与性能评测总览</a:t>
            </a:r>
            <a:endParaRPr lang="en-US" sz="2800" dirty="0">
              <a:latin typeface="Times New Roman" panose="02020603050405020304" pitchFamily="18" charset="0"/>
              <a:cs typeface="Times New Roman" panose="02020603050405020304" pitchFamily="18" charset="0"/>
            </a:endParaRPr>
          </a:p>
        </p:txBody>
      </p:sp>
      <p:sp>
        <p:nvSpPr>
          <p:cNvPr id="17" name="Text 2">
            <a:extLst>
              <a:ext uri="{FF2B5EF4-FFF2-40B4-BE49-F238E27FC236}">
                <a16:creationId xmlns:a16="http://schemas.microsoft.com/office/drawing/2014/main" id="{A6D9953D-3FE7-3450-1421-18081DE3EF00}"/>
              </a:ext>
            </a:extLst>
          </p:cNvPr>
          <p:cNvSpPr/>
          <p:nvPr/>
        </p:nvSpPr>
        <p:spPr>
          <a:xfrm>
            <a:off x="822960" y="1024128"/>
            <a:ext cx="7113069" cy="301752"/>
          </a:xfrm>
          <a:prstGeom prst="rect">
            <a:avLst/>
          </a:prstGeom>
          <a:noFill/>
          <a:ln/>
        </p:spPr>
        <p:txBody>
          <a:bodyPr wrap="square" lIns="0" tIns="0" rIns="0" bIns="0" rtlCol="0" anchor="ctr">
            <a:normAutofit/>
          </a:bodyPr>
          <a:lstStyle/>
          <a:p>
            <a:pPr marL="0" indent="0">
              <a:lnSpc>
                <a:spcPct val="102000"/>
              </a:lnSpc>
              <a:buNone/>
            </a:pPr>
            <a:r>
              <a:rPr lang="en-US" sz="1230" dirty="0">
                <a:solidFill>
                  <a:srgbClr val="697C95"/>
                </a:solidFill>
                <a:latin typeface="Times New Roman" panose="02020603050405020304" pitchFamily="18" charset="0"/>
                <a:ea typeface="Noto Sans CJK SC" pitchFamily="34" charset="-122"/>
                <a:cs typeface="Times New Roman" panose="02020603050405020304" pitchFamily="18" charset="0"/>
              </a:rPr>
              <a:t>覆盖 31B </a:t>
            </a:r>
            <a:r>
              <a:rPr lang="en-US" sz="1230" b="1" dirty="0">
                <a:solidFill>
                  <a:srgbClr val="FF0000"/>
                </a:solidFill>
                <a:latin typeface="Times New Roman" panose="02020603050405020304" pitchFamily="18" charset="0"/>
                <a:ea typeface="Noto Sans CJK SC" pitchFamily="34" charset="-122"/>
                <a:cs typeface="Times New Roman" panose="02020603050405020304" pitchFamily="18" charset="0"/>
              </a:rPr>
              <a:t>Dense</a:t>
            </a:r>
            <a:r>
              <a:rPr lang="en-US" sz="1230" b="1" dirty="0">
                <a:solidFill>
                  <a:srgbClr val="697C95"/>
                </a:solidFill>
                <a:latin typeface="Times New Roman" panose="02020603050405020304" pitchFamily="18" charset="0"/>
                <a:ea typeface="Noto Sans CJK SC" pitchFamily="34" charset="-122"/>
                <a:cs typeface="Times New Roman" panose="02020603050405020304" pitchFamily="18" charset="0"/>
              </a:rPr>
              <a:t> </a:t>
            </a:r>
            <a:r>
              <a:rPr lang="en-US" sz="1230" dirty="0">
                <a:solidFill>
                  <a:srgbClr val="697C95"/>
                </a:solidFill>
                <a:latin typeface="Times New Roman" panose="02020603050405020304" pitchFamily="18" charset="0"/>
                <a:ea typeface="Noto Sans CJK SC" pitchFamily="34" charset="-122"/>
                <a:cs typeface="Times New Roman" panose="02020603050405020304" pitchFamily="18" charset="0"/>
              </a:rPr>
              <a:t>/ 26B-A4B </a:t>
            </a:r>
            <a:r>
              <a:rPr lang="en-US" sz="1230" b="1" dirty="0">
                <a:solidFill>
                  <a:schemeClr val="accent1"/>
                </a:solidFill>
                <a:latin typeface="Times New Roman" panose="02020603050405020304" pitchFamily="18" charset="0"/>
                <a:ea typeface="Noto Sans CJK SC" pitchFamily="34" charset="-122"/>
                <a:cs typeface="Times New Roman" panose="02020603050405020304" pitchFamily="18" charset="0"/>
              </a:rPr>
              <a:t>MoE</a:t>
            </a:r>
            <a:r>
              <a:rPr lang="en-US" sz="1230" dirty="0">
                <a:solidFill>
                  <a:srgbClr val="697C95"/>
                </a:solidFill>
                <a:latin typeface="Times New Roman" panose="02020603050405020304" pitchFamily="18" charset="0"/>
                <a:ea typeface="Noto Sans CJK SC" pitchFamily="34" charset="-122"/>
                <a:cs typeface="Times New Roman" panose="02020603050405020304" pitchFamily="18" charset="0"/>
              </a:rPr>
              <a:t>，A5（Ascend）与 H20（GPU）两类硬件</a:t>
            </a:r>
            <a:endParaRPr lang="en-US" sz="1230" dirty="0">
              <a:latin typeface="Times New Roman" panose="02020603050405020304" pitchFamily="18" charset="0"/>
              <a:cs typeface="Times New Roman" panose="02020603050405020304" pitchFamily="18" charset="0"/>
            </a:endParaRPr>
          </a:p>
        </p:txBody>
      </p:sp>
      <p:sp>
        <p:nvSpPr>
          <p:cNvPr id="18" name="Shape 8">
            <a:extLst>
              <a:ext uri="{FF2B5EF4-FFF2-40B4-BE49-F238E27FC236}">
                <a16:creationId xmlns:a16="http://schemas.microsoft.com/office/drawing/2014/main" id="{6EAA655D-0825-CF59-7A24-D43942792C16}"/>
              </a:ext>
            </a:extLst>
          </p:cNvPr>
          <p:cNvSpPr/>
          <p:nvPr/>
        </p:nvSpPr>
        <p:spPr>
          <a:xfrm>
            <a:off x="747501" y="1513801"/>
            <a:ext cx="5348500" cy="1956816"/>
          </a:xfrm>
          <a:prstGeom prst="roundRect">
            <a:avLst>
              <a:gd name="adj" fmla="val 6542"/>
            </a:avLst>
          </a:prstGeom>
          <a:solidFill>
            <a:srgbClr val="FFFFFF"/>
          </a:solidFill>
          <a:ln w="12700">
            <a:solidFill>
              <a:srgbClr val="DFE7F0"/>
            </a:solidFill>
            <a:prstDash val="solid"/>
          </a:ln>
        </p:spPr>
        <p:txBody>
          <a:bodyPr/>
          <a:lstStyle/>
          <a:p>
            <a:endParaRPr lang="zh-CN" altLang="en-US"/>
          </a:p>
        </p:txBody>
      </p:sp>
      <p:sp>
        <p:nvSpPr>
          <p:cNvPr id="19" name="Shape 9">
            <a:extLst>
              <a:ext uri="{FF2B5EF4-FFF2-40B4-BE49-F238E27FC236}">
                <a16:creationId xmlns:a16="http://schemas.microsoft.com/office/drawing/2014/main" id="{B65ABE83-DEB7-3E9F-599F-E2B66C3B31A8}"/>
              </a:ext>
            </a:extLst>
          </p:cNvPr>
          <p:cNvSpPr/>
          <p:nvPr/>
        </p:nvSpPr>
        <p:spPr>
          <a:xfrm>
            <a:off x="694944" y="1737360"/>
            <a:ext cx="50292" cy="1536192"/>
          </a:xfrm>
          <a:prstGeom prst="rect">
            <a:avLst/>
          </a:prstGeom>
          <a:solidFill>
            <a:srgbClr val="DD4051"/>
          </a:solidFill>
          <a:ln w="12700">
            <a:solidFill>
              <a:srgbClr val="DD4051">
                <a:alpha val="0"/>
              </a:srgbClr>
            </a:solidFill>
            <a:prstDash val="solid"/>
          </a:ln>
        </p:spPr>
      </p:sp>
      <p:sp>
        <p:nvSpPr>
          <p:cNvPr id="20" name="Text 10">
            <a:extLst>
              <a:ext uri="{FF2B5EF4-FFF2-40B4-BE49-F238E27FC236}">
                <a16:creationId xmlns:a16="http://schemas.microsoft.com/office/drawing/2014/main" id="{4D7BC1FC-3543-08FA-2A3E-28862E2B81A7}"/>
              </a:ext>
            </a:extLst>
          </p:cNvPr>
          <p:cNvSpPr/>
          <p:nvPr/>
        </p:nvSpPr>
        <p:spPr>
          <a:xfrm>
            <a:off x="914400" y="1673352"/>
            <a:ext cx="3986784" cy="329184"/>
          </a:xfrm>
          <a:prstGeom prst="rect">
            <a:avLst/>
          </a:prstGeom>
          <a:noFill/>
          <a:ln/>
        </p:spPr>
        <p:txBody>
          <a:bodyPr wrap="square" lIns="0" tIns="0" rIns="0" bIns="0" rtlCol="0" anchor="ctr">
            <a:normAutofit/>
          </a:bodyPr>
          <a:lstStyle/>
          <a:p>
            <a:pPr marL="0" indent="0">
              <a:lnSpc>
                <a:spcPct val="102000"/>
              </a:lnSpc>
              <a:buNone/>
            </a:pPr>
            <a:r>
              <a:rPr lang="en-US" sz="1740" b="1" dirty="0">
                <a:solidFill>
                  <a:srgbClr val="17243A"/>
                </a:solidFill>
                <a:latin typeface="微软雅黑" panose="020B0503020204020204" pitchFamily="34" charset="-122"/>
                <a:ea typeface="微软雅黑" panose="020B0503020204020204" pitchFamily="34" charset="-122"/>
                <a:cs typeface="Noto Sans CJK SC" pitchFamily="34" charset="-120"/>
              </a:rPr>
              <a:t>Gemma-4-31B-</a:t>
            </a:r>
            <a:r>
              <a:rPr lang="en-US" altLang="zh-CN" sz="1740" b="1" dirty="0">
                <a:solidFill>
                  <a:srgbClr val="17243A"/>
                </a:solidFill>
                <a:latin typeface="微软雅黑" panose="020B0503020204020204" pitchFamily="34" charset="-122"/>
                <a:ea typeface="微软雅黑" panose="020B0503020204020204" pitchFamily="34" charset="-122"/>
                <a:cs typeface="Noto Sans CJK SC" pitchFamily="34" charset="-120"/>
              </a:rPr>
              <a:t>quant</a:t>
            </a:r>
            <a:endParaRPr lang="en-US" sz="1740" dirty="0">
              <a:latin typeface="微软雅黑" panose="020B0503020204020204" pitchFamily="34" charset="-122"/>
              <a:ea typeface="微软雅黑" panose="020B0503020204020204" pitchFamily="34" charset="-122"/>
            </a:endParaRPr>
          </a:p>
        </p:txBody>
      </p:sp>
      <p:sp>
        <p:nvSpPr>
          <p:cNvPr id="21" name="Shape 11">
            <a:extLst>
              <a:ext uri="{FF2B5EF4-FFF2-40B4-BE49-F238E27FC236}">
                <a16:creationId xmlns:a16="http://schemas.microsoft.com/office/drawing/2014/main" id="{BC4C1CB0-F153-AD7B-DE75-3776418ED539}"/>
              </a:ext>
            </a:extLst>
          </p:cNvPr>
          <p:cNvSpPr/>
          <p:nvPr/>
        </p:nvSpPr>
        <p:spPr>
          <a:xfrm>
            <a:off x="3403628" y="1703185"/>
            <a:ext cx="604521" cy="292608"/>
          </a:xfrm>
          <a:prstGeom prst="roundRect">
            <a:avLst>
              <a:gd name="adj" fmla="val 37500"/>
            </a:avLst>
          </a:prstGeom>
          <a:solidFill>
            <a:srgbClr val="FFF0F2"/>
          </a:solidFill>
          <a:ln w="12700">
            <a:solidFill>
              <a:srgbClr val="FFF0F2"/>
            </a:solidFill>
            <a:prstDash val="solid"/>
          </a:ln>
        </p:spPr>
      </p:sp>
      <p:sp>
        <p:nvSpPr>
          <p:cNvPr id="22" name="Text 12">
            <a:extLst>
              <a:ext uri="{FF2B5EF4-FFF2-40B4-BE49-F238E27FC236}">
                <a16:creationId xmlns:a16="http://schemas.microsoft.com/office/drawing/2014/main" id="{963489BB-46A1-BBAC-D3CE-7589441E5244}"/>
              </a:ext>
            </a:extLst>
          </p:cNvPr>
          <p:cNvSpPr/>
          <p:nvPr/>
        </p:nvSpPr>
        <p:spPr>
          <a:xfrm>
            <a:off x="3303778" y="1703185"/>
            <a:ext cx="786384" cy="274320"/>
          </a:xfrm>
          <a:prstGeom prst="rect">
            <a:avLst/>
          </a:prstGeom>
          <a:noFill/>
          <a:ln/>
        </p:spPr>
        <p:txBody>
          <a:bodyPr wrap="square" lIns="0" tIns="0" rIns="0" bIns="0" rtlCol="0" anchor="ctr">
            <a:normAutofit/>
          </a:bodyPr>
          <a:lstStyle/>
          <a:p>
            <a:pPr marL="0" indent="0" algn="ctr">
              <a:lnSpc>
                <a:spcPct val="102000"/>
              </a:lnSpc>
              <a:buNone/>
            </a:pPr>
            <a:r>
              <a:rPr lang="en-US" sz="1100" b="1">
                <a:solidFill>
                  <a:srgbClr val="DD4051"/>
                </a:solidFill>
                <a:latin typeface="Times New Roman" panose="02020603050405020304" pitchFamily="18" charset="0"/>
                <a:ea typeface="Noto Sans CJK SC" pitchFamily="34" charset="-122"/>
                <a:cs typeface="Times New Roman" panose="02020603050405020304" pitchFamily="18" charset="0"/>
              </a:rPr>
              <a:t>Dense</a:t>
            </a:r>
            <a:endParaRPr lang="en-US" sz="1100" dirty="0">
              <a:latin typeface="Times New Roman" panose="02020603050405020304" pitchFamily="18" charset="0"/>
              <a:cs typeface="Times New Roman" panose="02020603050405020304" pitchFamily="18" charset="0"/>
            </a:endParaRPr>
          </a:p>
        </p:txBody>
      </p:sp>
      <p:sp>
        <p:nvSpPr>
          <p:cNvPr id="23" name="Text 13">
            <a:extLst>
              <a:ext uri="{FF2B5EF4-FFF2-40B4-BE49-F238E27FC236}">
                <a16:creationId xmlns:a16="http://schemas.microsoft.com/office/drawing/2014/main" id="{BE2B057E-D0B3-D3E8-AC62-F6A49E57063F}"/>
              </a:ext>
            </a:extLst>
          </p:cNvPr>
          <p:cNvSpPr/>
          <p:nvPr/>
        </p:nvSpPr>
        <p:spPr>
          <a:xfrm>
            <a:off x="923544" y="2066544"/>
            <a:ext cx="2468880" cy="256032"/>
          </a:xfrm>
          <a:prstGeom prst="rect">
            <a:avLst/>
          </a:prstGeom>
          <a:noFill/>
          <a:ln/>
        </p:spPr>
        <p:txBody>
          <a:bodyPr wrap="square" lIns="0" tIns="0" rIns="0" bIns="0" rtlCol="0" anchor="ctr">
            <a:normAutofit/>
          </a:bodyPr>
          <a:lstStyle/>
          <a:p>
            <a:pPr marL="0" indent="0" algn="l">
              <a:lnSpc>
                <a:spcPct val="102000"/>
              </a:lnSpc>
              <a:buNone/>
            </a:pPr>
            <a:r>
              <a:rPr lang="en-US" sz="1140" b="1" dirty="0">
                <a:solidFill>
                  <a:srgbClr val="697C95"/>
                </a:solidFill>
                <a:latin typeface="微软雅黑" panose="020B0503020204020204" pitchFamily="34" charset="-122"/>
                <a:ea typeface="微软雅黑" panose="020B0503020204020204" pitchFamily="34" charset="-122"/>
                <a:cs typeface="Noto Sans CJK SC" pitchFamily="34" charset="-120"/>
              </a:rPr>
              <a:t>数据集</a:t>
            </a:r>
            <a:endParaRPr lang="en-US" sz="1140" dirty="0">
              <a:latin typeface="微软雅黑" panose="020B0503020204020204" pitchFamily="34" charset="-122"/>
              <a:ea typeface="微软雅黑" panose="020B0503020204020204" pitchFamily="34" charset="-122"/>
            </a:endParaRPr>
          </a:p>
        </p:txBody>
      </p:sp>
      <p:sp>
        <p:nvSpPr>
          <p:cNvPr id="24" name="Text 14">
            <a:extLst>
              <a:ext uri="{FF2B5EF4-FFF2-40B4-BE49-F238E27FC236}">
                <a16:creationId xmlns:a16="http://schemas.microsoft.com/office/drawing/2014/main" id="{5BA39E84-BB0A-CBEB-569E-C8338264B8B5}"/>
              </a:ext>
            </a:extLst>
          </p:cNvPr>
          <p:cNvSpPr/>
          <p:nvPr/>
        </p:nvSpPr>
        <p:spPr>
          <a:xfrm>
            <a:off x="2869352" y="2084679"/>
            <a:ext cx="645479" cy="256032"/>
          </a:xfrm>
          <a:prstGeom prst="rect">
            <a:avLst/>
          </a:prstGeom>
          <a:noFill/>
          <a:ln/>
        </p:spPr>
        <p:txBody>
          <a:bodyPr wrap="square" lIns="0" tIns="0" rIns="0" bIns="0" rtlCol="0" anchor="ctr">
            <a:normAutofit/>
          </a:bodyPr>
          <a:lstStyle/>
          <a:p>
            <a:pPr marL="0" indent="0" algn="ctr">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H20</a:t>
            </a:r>
            <a:r>
              <a:rPr lang="en-US" sz="1140" b="1" dirty="0">
                <a:solidFill>
                  <a:srgbClr val="697C95"/>
                </a:solidFill>
                <a:latin typeface="Noto Sans CJK SC" pitchFamily="34" charset="0"/>
                <a:ea typeface="Noto Sans CJK SC" pitchFamily="34" charset="-122"/>
                <a:cs typeface="Noto Sans CJK SC" pitchFamily="34" charset="-120"/>
              </a:rPr>
              <a:t> </a:t>
            </a:r>
            <a:r>
              <a:rPr lang="en-US" sz="1140" b="1" dirty="0" err="1">
                <a:solidFill>
                  <a:srgbClr val="697C95"/>
                </a:solidFill>
                <a:latin typeface="微软雅黑" panose="020B0503020204020204" pitchFamily="34" charset="-122"/>
                <a:ea typeface="微软雅黑" panose="020B0503020204020204" pitchFamily="34" charset="-122"/>
              </a:rPr>
              <a:t>浮点</a:t>
            </a:r>
            <a:endParaRPr lang="en-US" sz="1140" b="1" dirty="0">
              <a:solidFill>
                <a:srgbClr val="697C95"/>
              </a:solidFill>
              <a:latin typeface="微软雅黑" panose="020B0503020204020204" pitchFamily="34" charset="-122"/>
              <a:ea typeface="微软雅黑" panose="020B0503020204020204" pitchFamily="34" charset="-122"/>
            </a:endParaRPr>
          </a:p>
        </p:txBody>
      </p:sp>
      <p:sp>
        <p:nvSpPr>
          <p:cNvPr id="25" name="Text 15">
            <a:extLst>
              <a:ext uri="{FF2B5EF4-FFF2-40B4-BE49-F238E27FC236}">
                <a16:creationId xmlns:a16="http://schemas.microsoft.com/office/drawing/2014/main" id="{34D2DB6C-31AB-C592-00DB-98EF58012304}"/>
              </a:ext>
            </a:extLst>
          </p:cNvPr>
          <p:cNvSpPr/>
          <p:nvPr/>
        </p:nvSpPr>
        <p:spPr>
          <a:xfrm>
            <a:off x="3708400" y="2084679"/>
            <a:ext cx="1344168" cy="256032"/>
          </a:xfrm>
          <a:prstGeom prst="rect">
            <a:avLst/>
          </a:prstGeom>
          <a:noFill/>
          <a:ln/>
        </p:spPr>
        <p:txBody>
          <a:bodyPr wrap="square" lIns="0" tIns="0" rIns="0" bIns="0" rtlCol="0" anchor="ctr">
            <a:normAutofit/>
          </a:bodyPr>
          <a:lstStyle/>
          <a:p>
            <a:pPr marL="0" indent="0" algn="ctr">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A5</a:t>
            </a:r>
            <a:r>
              <a:rPr lang="en-US" sz="1140" b="1" dirty="0">
                <a:solidFill>
                  <a:srgbClr val="697C95"/>
                </a:solidFill>
                <a:latin typeface="Noto Sans CJK SC" pitchFamily="34" charset="0"/>
                <a:ea typeface="Noto Sans CJK SC" pitchFamily="34" charset="-122"/>
                <a:cs typeface="Noto Sans CJK SC" pitchFamily="34" charset="-120"/>
              </a:rPr>
              <a:t> </a:t>
            </a:r>
            <a:r>
              <a:rPr lang="zh-CN" altLang="en-US" sz="1140" b="1" dirty="0">
                <a:solidFill>
                  <a:srgbClr val="697C95"/>
                </a:solidFill>
                <a:latin typeface="Noto Sans CJK SC" pitchFamily="34" charset="0"/>
                <a:ea typeface="Noto Sans CJK SC" pitchFamily="34" charset="-122"/>
                <a:cs typeface="Noto Sans CJK SC" pitchFamily="34" charset="-120"/>
              </a:rPr>
              <a:t>量化</a:t>
            </a:r>
            <a:endParaRPr lang="en-US" sz="1140" dirty="0"/>
          </a:p>
        </p:txBody>
      </p:sp>
      <p:sp>
        <p:nvSpPr>
          <p:cNvPr id="26" name="Text 17">
            <a:extLst>
              <a:ext uri="{FF2B5EF4-FFF2-40B4-BE49-F238E27FC236}">
                <a16:creationId xmlns:a16="http://schemas.microsoft.com/office/drawing/2014/main" id="{DACCC0F2-05CD-2E53-4917-1D1D5522C580}"/>
              </a:ext>
            </a:extLst>
          </p:cNvPr>
          <p:cNvSpPr/>
          <p:nvPr/>
        </p:nvSpPr>
        <p:spPr>
          <a:xfrm>
            <a:off x="5115390" y="2070202"/>
            <a:ext cx="792141" cy="256032"/>
          </a:xfrm>
          <a:prstGeom prst="rect">
            <a:avLst/>
          </a:prstGeom>
          <a:noFill/>
          <a:ln/>
        </p:spPr>
        <p:txBody>
          <a:bodyPr wrap="square" lIns="0" tIns="0" rIns="0" bIns="0" rtlCol="0" anchor="ctr">
            <a:normAutofit/>
          </a:bodyPr>
          <a:lstStyle/>
          <a:p>
            <a:pPr marL="0" indent="0" algn="ctr">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A5</a:t>
            </a:r>
            <a:r>
              <a:rPr lang="en-US" sz="1140" b="1" dirty="0">
                <a:solidFill>
                  <a:srgbClr val="697C95"/>
                </a:solidFill>
                <a:latin typeface="Noto Sans CJK SC" pitchFamily="34" charset="0"/>
                <a:ea typeface="Noto Sans CJK SC" pitchFamily="34" charset="-122"/>
                <a:cs typeface="Noto Sans CJK SC" pitchFamily="34" charset="-120"/>
              </a:rPr>
              <a:t> − H20</a:t>
            </a:r>
            <a:endParaRPr lang="en-US" sz="1140" dirty="0"/>
          </a:p>
        </p:txBody>
      </p:sp>
      <p:sp>
        <p:nvSpPr>
          <p:cNvPr id="27" name="Shape 18">
            <a:extLst>
              <a:ext uri="{FF2B5EF4-FFF2-40B4-BE49-F238E27FC236}">
                <a16:creationId xmlns:a16="http://schemas.microsoft.com/office/drawing/2014/main" id="{9A5FEA83-D398-D1B5-86BC-CA33D5702504}"/>
              </a:ext>
            </a:extLst>
          </p:cNvPr>
          <p:cNvSpPr/>
          <p:nvPr/>
        </p:nvSpPr>
        <p:spPr>
          <a:xfrm>
            <a:off x="905257" y="2386584"/>
            <a:ext cx="5190744" cy="13144"/>
          </a:xfrm>
          <a:prstGeom prst="line">
            <a:avLst/>
          </a:prstGeom>
          <a:noFill/>
          <a:ln w="8890">
            <a:solidFill>
              <a:srgbClr val="DFE7F0"/>
            </a:solidFill>
            <a:prstDash val="solid"/>
          </a:ln>
        </p:spPr>
      </p:sp>
      <p:sp>
        <p:nvSpPr>
          <p:cNvPr id="28" name="Text 19">
            <a:extLst>
              <a:ext uri="{FF2B5EF4-FFF2-40B4-BE49-F238E27FC236}">
                <a16:creationId xmlns:a16="http://schemas.microsoft.com/office/drawing/2014/main" id="{4A9A27DA-7ABC-2B57-5FF6-C481538F8C4D}"/>
              </a:ext>
            </a:extLst>
          </p:cNvPr>
          <p:cNvSpPr/>
          <p:nvPr/>
        </p:nvSpPr>
        <p:spPr>
          <a:xfrm>
            <a:off x="923544" y="2468880"/>
            <a:ext cx="2468880" cy="256032"/>
          </a:xfrm>
          <a:prstGeom prst="rect">
            <a:avLst/>
          </a:prstGeom>
          <a:noFill/>
          <a:ln/>
        </p:spPr>
        <p:txBody>
          <a:bodyPr wrap="square" lIns="0" tIns="0" rIns="0" bIns="0" rtlCol="0" anchor="ctr">
            <a:normAutofit/>
          </a:bodyPr>
          <a:lstStyle/>
          <a:p>
            <a:pPr marL="0" indent="0" algn="l">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AIME2026</a:t>
            </a:r>
          </a:p>
        </p:txBody>
      </p:sp>
      <p:sp>
        <p:nvSpPr>
          <p:cNvPr id="29" name="Text 20">
            <a:extLst>
              <a:ext uri="{FF2B5EF4-FFF2-40B4-BE49-F238E27FC236}">
                <a16:creationId xmlns:a16="http://schemas.microsoft.com/office/drawing/2014/main" id="{D69493AB-DBD7-AD10-FCA5-682AFE2D7EC5}"/>
              </a:ext>
            </a:extLst>
          </p:cNvPr>
          <p:cNvSpPr/>
          <p:nvPr/>
        </p:nvSpPr>
        <p:spPr>
          <a:xfrm>
            <a:off x="2431288" y="2487015"/>
            <a:ext cx="1408176" cy="256032"/>
          </a:xfrm>
          <a:prstGeom prst="rect">
            <a:avLst/>
          </a:prstGeom>
          <a:noFill/>
          <a:ln/>
        </p:spPr>
        <p:txBody>
          <a:bodyPr wrap="square" lIns="0" tIns="0" rIns="0" bIns="0" rtlCol="0" anchor="ctr">
            <a:normAutofit/>
          </a:bodyPr>
          <a:lstStyle/>
          <a:p>
            <a:pPr algn="ctr">
              <a:lnSpc>
                <a:spcPct val="102000"/>
              </a:lnSpc>
            </a:pPr>
            <a:r>
              <a:rPr lang="en-US" sz="1060" b="1">
                <a:solidFill>
                  <a:srgbClr val="2868B8"/>
                </a:solidFill>
                <a:latin typeface="Times New Roman" panose="02020603050405020304" pitchFamily="18" charset="0"/>
                <a:ea typeface="Noto Sans CJK SC" pitchFamily="34" charset="-122"/>
                <a:cs typeface="Times New Roman" panose="02020603050405020304" pitchFamily="18" charset="0"/>
              </a:rPr>
              <a:t>73.33%</a:t>
            </a:r>
            <a:endParaRPr lang="en-US" sz="106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30" name="Text 21">
            <a:extLst>
              <a:ext uri="{FF2B5EF4-FFF2-40B4-BE49-F238E27FC236}">
                <a16:creationId xmlns:a16="http://schemas.microsoft.com/office/drawing/2014/main" id="{B71F11CF-ACFC-8CC7-A710-0830151F3E7B}"/>
              </a:ext>
            </a:extLst>
          </p:cNvPr>
          <p:cNvSpPr/>
          <p:nvPr/>
        </p:nvSpPr>
        <p:spPr>
          <a:xfrm>
            <a:off x="3708400" y="2487015"/>
            <a:ext cx="1344168" cy="256032"/>
          </a:xfrm>
          <a:prstGeom prst="rect">
            <a:avLst/>
          </a:prstGeom>
          <a:noFill/>
          <a:ln/>
        </p:spPr>
        <p:txBody>
          <a:bodyPr wrap="square" lIns="0" tIns="0" rIns="0" bIns="0" rtlCol="0" anchor="ctr">
            <a:normAutofit/>
          </a:bodyPr>
          <a:lstStyle/>
          <a:p>
            <a:pPr marL="0" indent="0" algn="ctr">
              <a:lnSpc>
                <a:spcPct val="102000"/>
              </a:lnSpc>
              <a:buNone/>
            </a:pPr>
            <a:r>
              <a:rPr lang="en-US" sz="1235" b="1" dirty="0">
                <a:solidFill>
                  <a:srgbClr val="DD4051"/>
                </a:solidFill>
                <a:latin typeface="Times New Roman" panose="02020603050405020304" pitchFamily="18" charset="0"/>
                <a:ea typeface="Noto Sans CJK SC" pitchFamily="34" charset="-122"/>
                <a:cs typeface="Times New Roman" panose="02020603050405020304" pitchFamily="18" charset="0"/>
              </a:rPr>
              <a:t>80.00</a:t>
            </a:r>
            <a:r>
              <a:rPr lang="en-US" sz="1235" b="1">
                <a:solidFill>
                  <a:srgbClr val="DD4051"/>
                </a:solidFill>
                <a:latin typeface="Times New Roman" panose="02020603050405020304" pitchFamily="18" charset="0"/>
                <a:ea typeface="Noto Sans CJK SC" pitchFamily="34" charset="-122"/>
                <a:cs typeface="Times New Roman" panose="02020603050405020304" pitchFamily="18" charset="0"/>
              </a:rPr>
              <a:t>%</a:t>
            </a:r>
            <a:endParaRPr lang="en-US" sz="1235" dirty="0">
              <a:latin typeface="Times New Roman" panose="02020603050405020304" pitchFamily="18" charset="0"/>
              <a:cs typeface="Times New Roman" panose="02020603050405020304" pitchFamily="18" charset="0"/>
            </a:endParaRPr>
          </a:p>
        </p:txBody>
      </p:sp>
      <p:sp>
        <p:nvSpPr>
          <p:cNvPr id="31" name="Text 23">
            <a:extLst>
              <a:ext uri="{FF2B5EF4-FFF2-40B4-BE49-F238E27FC236}">
                <a16:creationId xmlns:a16="http://schemas.microsoft.com/office/drawing/2014/main" id="{AF4E1CA4-1B98-6DD3-381C-CB9C87C5EA2B}"/>
              </a:ext>
            </a:extLst>
          </p:cNvPr>
          <p:cNvSpPr/>
          <p:nvPr/>
        </p:nvSpPr>
        <p:spPr>
          <a:xfrm>
            <a:off x="4643494" y="2487015"/>
            <a:ext cx="1645920" cy="256032"/>
          </a:xfrm>
          <a:prstGeom prst="rect">
            <a:avLst/>
          </a:prstGeom>
          <a:noFill/>
          <a:ln/>
        </p:spPr>
        <p:txBody>
          <a:bodyPr wrap="square" lIns="0" tIns="0" rIns="0" bIns="0" rtlCol="0" anchor="ctr">
            <a:normAutofit/>
          </a:bodyPr>
          <a:lstStyle/>
          <a:p>
            <a:pPr marL="0" indent="0" algn="ctr">
              <a:lnSpc>
                <a:spcPct val="102000"/>
              </a:lnSpc>
              <a:buNone/>
            </a:pPr>
            <a:r>
              <a:rPr lang="en-US" sz="1235" b="1" dirty="0">
                <a:solidFill>
                  <a:srgbClr val="19856D"/>
                </a:solidFill>
                <a:latin typeface="微软雅黑" panose="020B0503020204020204" pitchFamily="34" charset="-122"/>
                <a:ea typeface="微软雅黑" panose="020B0503020204020204" pitchFamily="34" charset="-122"/>
                <a:cs typeface="Noto Sans CJK SC" pitchFamily="34" charset="-120"/>
              </a:rPr>
              <a:t>+6.67 pp</a:t>
            </a:r>
            <a:endParaRPr lang="en-US" sz="1235" dirty="0">
              <a:latin typeface="微软雅黑" panose="020B0503020204020204" pitchFamily="34" charset="-122"/>
              <a:ea typeface="微软雅黑" panose="020B0503020204020204" pitchFamily="34" charset="-122"/>
            </a:endParaRPr>
          </a:p>
        </p:txBody>
      </p:sp>
      <p:sp>
        <p:nvSpPr>
          <p:cNvPr id="32" name="Shape 24">
            <a:extLst>
              <a:ext uri="{FF2B5EF4-FFF2-40B4-BE49-F238E27FC236}">
                <a16:creationId xmlns:a16="http://schemas.microsoft.com/office/drawing/2014/main" id="{A43B13D2-BF31-3116-3F25-CD33F1D95DF2}"/>
              </a:ext>
            </a:extLst>
          </p:cNvPr>
          <p:cNvSpPr/>
          <p:nvPr/>
        </p:nvSpPr>
        <p:spPr>
          <a:xfrm>
            <a:off x="905257" y="2777033"/>
            <a:ext cx="4403344" cy="256032"/>
          </a:xfrm>
          <a:prstGeom prst="roundRect">
            <a:avLst>
              <a:gd name="adj" fmla="val 12308"/>
            </a:avLst>
          </a:prstGeom>
          <a:solidFill>
            <a:srgbClr val="F7F9FC"/>
          </a:solidFill>
          <a:ln w="12700">
            <a:solidFill>
              <a:srgbClr val="F7F9FC"/>
            </a:solidFill>
            <a:prstDash val="solid"/>
          </a:ln>
        </p:spPr>
        <p:txBody>
          <a:bodyPr/>
          <a:lstStyle/>
          <a:p>
            <a:endParaRPr lang="zh-CN" altLang="en-US" dirty="0"/>
          </a:p>
        </p:txBody>
      </p:sp>
      <p:sp>
        <p:nvSpPr>
          <p:cNvPr id="33" name="Text 25">
            <a:extLst>
              <a:ext uri="{FF2B5EF4-FFF2-40B4-BE49-F238E27FC236}">
                <a16:creationId xmlns:a16="http://schemas.microsoft.com/office/drawing/2014/main" id="{3FD0EADD-5746-0ED7-85B8-5E35DC10A8CD}"/>
              </a:ext>
            </a:extLst>
          </p:cNvPr>
          <p:cNvSpPr/>
          <p:nvPr/>
        </p:nvSpPr>
        <p:spPr>
          <a:xfrm>
            <a:off x="923544" y="2777033"/>
            <a:ext cx="2468880" cy="256032"/>
          </a:xfrm>
          <a:prstGeom prst="rect">
            <a:avLst/>
          </a:prstGeom>
          <a:noFill/>
          <a:ln/>
        </p:spPr>
        <p:txBody>
          <a:bodyPr wrap="square" lIns="0" tIns="0" rIns="0" bIns="0" rtlCol="0" anchor="ctr">
            <a:normAutofit/>
          </a:bodyPr>
          <a:lstStyle/>
          <a:p>
            <a:pPr marL="0" indent="0" algn="l">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GPQA</a:t>
            </a:r>
            <a:r>
              <a:rPr lang="en-US" sz="1200" dirty="0">
                <a:solidFill>
                  <a:srgbClr val="263850"/>
                </a:solidFill>
                <a:latin typeface="Noto Sans CJK SC" pitchFamily="34" charset="0"/>
                <a:ea typeface="Noto Sans CJK SC" pitchFamily="34" charset="-122"/>
                <a:cs typeface="Noto Sans CJK SC" pitchFamily="34" charset="-120"/>
              </a:rPr>
              <a:t> </a:t>
            </a:r>
            <a:r>
              <a:rPr lang="en-US" sz="1140" b="1" dirty="0">
                <a:solidFill>
                  <a:srgbClr val="697C95"/>
                </a:solidFill>
                <a:latin typeface="微软雅黑" panose="020B0503020204020204" pitchFamily="34" charset="-122"/>
                <a:ea typeface="微软雅黑" panose="020B0503020204020204" pitchFamily="34" charset="-122"/>
              </a:rPr>
              <a:t>Diamond</a:t>
            </a:r>
          </a:p>
        </p:txBody>
      </p:sp>
      <p:sp>
        <p:nvSpPr>
          <p:cNvPr id="34" name="Text 26">
            <a:extLst>
              <a:ext uri="{FF2B5EF4-FFF2-40B4-BE49-F238E27FC236}">
                <a16:creationId xmlns:a16="http://schemas.microsoft.com/office/drawing/2014/main" id="{FBA17C33-CD13-7134-3E1D-8346E16A4521}"/>
              </a:ext>
            </a:extLst>
          </p:cNvPr>
          <p:cNvSpPr/>
          <p:nvPr/>
        </p:nvSpPr>
        <p:spPr>
          <a:xfrm>
            <a:off x="2431288" y="2787290"/>
            <a:ext cx="1408176" cy="256032"/>
          </a:xfrm>
          <a:prstGeom prst="rect">
            <a:avLst/>
          </a:prstGeom>
          <a:noFill/>
          <a:ln/>
        </p:spPr>
        <p:txBody>
          <a:bodyPr wrap="square" lIns="0" tIns="0" rIns="0" bIns="0" rtlCol="0" anchor="ctr">
            <a:normAutofit/>
          </a:bodyPr>
          <a:lstStyle/>
          <a:p>
            <a:pPr algn="ctr">
              <a:lnSpc>
                <a:spcPct val="102000"/>
              </a:lnSpc>
            </a:pPr>
            <a:r>
              <a:rPr lang="en-US" sz="1060" b="1">
                <a:solidFill>
                  <a:srgbClr val="2868B8"/>
                </a:solidFill>
                <a:latin typeface="Times New Roman" panose="02020603050405020304" pitchFamily="18" charset="0"/>
                <a:ea typeface="Noto Sans CJK SC" pitchFamily="34" charset="-122"/>
                <a:cs typeface="Times New Roman" panose="02020603050405020304" pitchFamily="18" charset="0"/>
              </a:rPr>
              <a:t>77.78%</a:t>
            </a:r>
            <a:endParaRPr lang="en-US" sz="106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35" name="Text 27">
            <a:extLst>
              <a:ext uri="{FF2B5EF4-FFF2-40B4-BE49-F238E27FC236}">
                <a16:creationId xmlns:a16="http://schemas.microsoft.com/office/drawing/2014/main" id="{F063B6E9-3F08-23C3-898E-8F37D5F2E9B7}"/>
              </a:ext>
            </a:extLst>
          </p:cNvPr>
          <p:cNvSpPr/>
          <p:nvPr/>
        </p:nvSpPr>
        <p:spPr>
          <a:xfrm>
            <a:off x="3708400" y="2795168"/>
            <a:ext cx="1344168" cy="256032"/>
          </a:xfrm>
          <a:prstGeom prst="rect">
            <a:avLst/>
          </a:prstGeom>
          <a:noFill/>
          <a:ln/>
        </p:spPr>
        <p:txBody>
          <a:bodyPr wrap="square" lIns="0" tIns="0" rIns="0" bIns="0" rtlCol="0" anchor="ctr">
            <a:normAutofit/>
          </a:bodyPr>
          <a:lstStyle/>
          <a:p>
            <a:pPr algn="ctr">
              <a:lnSpc>
                <a:spcPct val="102000"/>
              </a:lnSpc>
            </a:pPr>
            <a:r>
              <a:rPr lang="en-US" sz="1235" b="1">
                <a:solidFill>
                  <a:srgbClr val="DD4051"/>
                </a:solidFill>
                <a:latin typeface="Times New Roman" panose="02020603050405020304" pitchFamily="18" charset="0"/>
                <a:ea typeface="Noto Sans CJK SC" pitchFamily="34" charset="-122"/>
                <a:cs typeface="Times New Roman" panose="02020603050405020304" pitchFamily="18" charset="0"/>
              </a:rPr>
              <a:t>77.27%</a:t>
            </a:r>
            <a:endParaRPr lang="en-US" sz="1235" b="1" dirty="0">
              <a:solidFill>
                <a:srgbClr val="DD4051"/>
              </a:solidFill>
              <a:latin typeface="Times New Roman" panose="02020603050405020304" pitchFamily="18" charset="0"/>
              <a:ea typeface="Noto Sans CJK SC" pitchFamily="34" charset="-122"/>
              <a:cs typeface="Times New Roman" panose="02020603050405020304" pitchFamily="18" charset="0"/>
            </a:endParaRPr>
          </a:p>
        </p:txBody>
      </p:sp>
      <p:sp>
        <p:nvSpPr>
          <p:cNvPr id="36" name="Text 29">
            <a:extLst>
              <a:ext uri="{FF2B5EF4-FFF2-40B4-BE49-F238E27FC236}">
                <a16:creationId xmlns:a16="http://schemas.microsoft.com/office/drawing/2014/main" id="{88DEDA71-BB4B-1126-A988-61D6372D1F22}"/>
              </a:ext>
            </a:extLst>
          </p:cNvPr>
          <p:cNvSpPr/>
          <p:nvPr/>
        </p:nvSpPr>
        <p:spPr>
          <a:xfrm>
            <a:off x="4643494" y="2764179"/>
            <a:ext cx="1645920" cy="256032"/>
          </a:xfrm>
          <a:prstGeom prst="rect">
            <a:avLst/>
          </a:prstGeom>
          <a:noFill/>
          <a:ln/>
        </p:spPr>
        <p:txBody>
          <a:bodyPr wrap="square" lIns="0" tIns="0" rIns="0" bIns="0" rtlCol="0" anchor="ctr">
            <a:normAutofit/>
          </a:bodyPr>
          <a:lstStyle/>
          <a:p>
            <a:pPr marL="0" indent="0" algn="ctr">
              <a:lnSpc>
                <a:spcPct val="102000"/>
              </a:lnSpc>
              <a:buNone/>
            </a:pPr>
            <a:r>
              <a:rPr lang="en-US" sz="1235" b="1" dirty="0">
                <a:solidFill>
                  <a:srgbClr val="19856D"/>
                </a:solidFill>
                <a:latin typeface="Noto Sans CJK SC" pitchFamily="34" charset="0"/>
                <a:ea typeface="Noto Sans CJK SC" pitchFamily="34" charset="-122"/>
                <a:cs typeface="Noto Sans CJK SC" pitchFamily="34" charset="-120"/>
              </a:rPr>
              <a:t>−</a:t>
            </a:r>
            <a:r>
              <a:rPr lang="en-US" sz="1235" b="1" dirty="0">
                <a:solidFill>
                  <a:srgbClr val="19856D"/>
                </a:solidFill>
                <a:latin typeface="微软雅黑" panose="020B0503020204020204" pitchFamily="34" charset="-122"/>
                <a:ea typeface="微软雅黑" panose="020B0503020204020204" pitchFamily="34" charset="-122"/>
              </a:rPr>
              <a:t>0.51</a:t>
            </a:r>
            <a:r>
              <a:rPr lang="en-US" sz="1235" b="1" dirty="0">
                <a:solidFill>
                  <a:srgbClr val="19856D"/>
                </a:solidFill>
                <a:latin typeface="Noto Sans CJK SC" pitchFamily="34" charset="0"/>
                <a:ea typeface="Noto Sans CJK SC" pitchFamily="34" charset="-122"/>
                <a:cs typeface="Noto Sans CJK SC" pitchFamily="34" charset="-120"/>
              </a:rPr>
              <a:t> </a:t>
            </a:r>
            <a:r>
              <a:rPr lang="en-US" sz="1235" b="1" dirty="0">
                <a:solidFill>
                  <a:srgbClr val="19856D"/>
                </a:solidFill>
                <a:latin typeface="微软雅黑" panose="020B0503020204020204" pitchFamily="34" charset="-122"/>
                <a:ea typeface="微软雅黑" panose="020B0503020204020204" pitchFamily="34" charset="-122"/>
              </a:rPr>
              <a:t>pp</a:t>
            </a:r>
          </a:p>
        </p:txBody>
      </p:sp>
      <p:sp>
        <p:nvSpPr>
          <p:cNvPr id="37" name="Text 30">
            <a:extLst>
              <a:ext uri="{FF2B5EF4-FFF2-40B4-BE49-F238E27FC236}">
                <a16:creationId xmlns:a16="http://schemas.microsoft.com/office/drawing/2014/main" id="{A6987A50-974E-B1D2-9F84-C4691B51DD01}"/>
              </a:ext>
            </a:extLst>
          </p:cNvPr>
          <p:cNvSpPr/>
          <p:nvPr/>
        </p:nvSpPr>
        <p:spPr>
          <a:xfrm>
            <a:off x="923544" y="3085186"/>
            <a:ext cx="2468880" cy="256032"/>
          </a:xfrm>
          <a:prstGeom prst="rect">
            <a:avLst/>
          </a:prstGeom>
          <a:noFill/>
          <a:ln/>
        </p:spPr>
        <p:txBody>
          <a:bodyPr wrap="square" lIns="0" tIns="0" rIns="0" bIns="0" rtlCol="0" anchor="ctr">
            <a:normAutofit/>
          </a:bodyPr>
          <a:lstStyle/>
          <a:p>
            <a:pPr marL="0" indent="0" algn="l">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MMMU-Pro</a:t>
            </a:r>
          </a:p>
        </p:txBody>
      </p:sp>
      <p:sp>
        <p:nvSpPr>
          <p:cNvPr id="38" name="Text 31">
            <a:extLst>
              <a:ext uri="{FF2B5EF4-FFF2-40B4-BE49-F238E27FC236}">
                <a16:creationId xmlns:a16="http://schemas.microsoft.com/office/drawing/2014/main" id="{B1C7AEB7-5E9E-0BF9-11BC-87F8D27DED4A}"/>
              </a:ext>
            </a:extLst>
          </p:cNvPr>
          <p:cNvSpPr/>
          <p:nvPr/>
        </p:nvSpPr>
        <p:spPr>
          <a:xfrm>
            <a:off x="2431288" y="3095443"/>
            <a:ext cx="1408176" cy="256032"/>
          </a:xfrm>
          <a:prstGeom prst="rect">
            <a:avLst/>
          </a:prstGeom>
          <a:noFill/>
          <a:ln/>
        </p:spPr>
        <p:txBody>
          <a:bodyPr wrap="square" lIns="0" tIns="0" rIns="0" bIns="0" rtlCol="0" anchor="ctr">
            <a:normAutofit/>
          </a:bodyPr>
          <a:lstStyle/>
          <a:p>
            <a:pPr algn="ctr">
              <a:lnSpc>
                <a:spcPct val="102000"/>
              </a:lnSpc>
            </a:pPr>
            <a:r>
              <a:rPr lang="en-US" sz="1060" b="1">
                <a:solidFill>
                  <a:srgbClr val="2868B8"/>
                </a:solidFill>
                <a:latin typeface="Times New Roman" panose="02020603050405020304" pitchFamily="18" charset="0"/>
                <a:ea typeface="Noto Sans CJK SC" pitchFamily="34" charset="-122"/>
                <a:cs typeface="Times New Roman" panose="02020603050405020304" pitchFamily="18" charset="0"/>
              </a:rPr>
              <a:t>76.20%</a:t>
            </a:r>
            <a:endParaRPr lang="en-US" sz="106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39" name="Text 32">
            <a:extLst>
              <a:ext uri="{FF2B5EF4-FFF2-40B4-BE49-F238E27FC236}">
                <a16:creationId xmlns:a16="http://schemas.microsoft.com/office/drawing/2014/main" id="{A307BDA5-EE40-0E10-F565-508A8DFD3262}"/>
              </a:ext>
            </a:extLst>
          </p:cNvPr>
          <p:cNvSpPr/>
          <p:nvPr/>
        </p:nvSpPr>
        <p:spPr>
          <a:xfrm>
            <a:off x="3708400" y="3103321"/>
            <a:ext cx="1344168" cy="256032"/>
          </a:xfrm>
          <a:prstGeom prst="rect">
            <a:avLst/>
          </a:prstGeom>
          <a:noFill/>
          <a:ln/>
        </p:spPr>
        <p:txBody>
          <a:bodyPr wrap="square" lIns="0" tIns="0" rIns="0" bIns="0" rtlCol="0" anchor="ctr">
            <a:normAutofit/>
          </a:bodyPr>
          <a:lstStyle/>
          <a:p>
            <a:pPr algn="ctr">
              <a:lnSpc>
                <a:spcPct val="102000"/>
              </a:lnSpc>
            </a:pPr>
            <a:r>
              <a:rPr lang="en-US" sz="1235" b="1">
                <a:solidFill>
                  <a:srgbClr val="DD4051"/>
                </a:solidFill>
                <a:latin typeface="Times New Roman" panose="02020603050405020304" pitchFamily="18" charset="0"/>
                <a:ea typeface="Noto Sans CJK SC" pitchFamily="34" charset="-122"/>
                <a:cs typeface="Times New Roman" panose="02020603050405020304" pitchFamily="18" charset="0"/>
              </a:rPr>
              <a:t>80.00%</a:t>
            </a:r>
            <a:endParaRPr lang="en-US" sz="1235" b="1" dirty="0">
              <a:solidFill>
                <a:srgbClr val="DD4051"/>
              </a:solidFill>
              <a:latin typeface="Times New Roman" panose="02020603050405020304" pitchFamily="18" charset="0"/>
              <a:ea typeface="Noto Sans CJK SC" pitchFamily="34" charset="-122"/>
              <a:cs typeface="Times New Roman" panose="02020603050405020304" pitchFamily="18" charset="0"/>
            </a:endParaRPr>
          </a:p>
        </p:txBody>
      </p:sp>
      <p:sp>
        <p:nvSpPr>
          <p:cNvPr id="40" name="Text 34">
            <a:extLst>
              <a:ext uri="{FF2B5EF4-FFF2-40B4-BE49-F238E27FC236}">
                <a16:creationId xmlns:a16="http://schemas.microsoft.com/office/drawing/2014/main" id="{17F896A3-2128-7112-ECB6-48CA31F6F86A}"/>
              </a:ext>
            </a:extLst>
          </p:cNvPr>
          <p:cNvSpPr/>
          <p:nvPr/>
        </p:nvSpPr>
        <p:spPr>
          <a:xfrm>
            <a:off x="4643494" y="3072332"/>
            <a:ext cx="1645920" cy="256032"/>
          </a:xfrm>
          <a:prstGeom prst="rect">
            <a:avLst/>
          </a:prstGeom>
          <a:noFill/>
          <a:ln/>
        </p:spPr>
        <p:txBody>
          <a:bodyPr wrap="square" lIns="0" tIns="0" rIns="0" bIns="0" rtlCol="0" anchor="ctr">
            <a:normAutofit/>
          </a:bodyPr>
          <a:lstStyle/>
          <a:p>
            <a:pPr marL="0" indent="0" algn="ctr">
              <a:lnSpc>
                <a:spcPct val="102000"/>
              </a:lnSpc>
              <a:buNone/>
            </a:pPr>
            <a:r>
              <a:rPr lang="en-US" sz="1235" b="1" dirty="0">
                <a:solidFill>
                  <a:srgbClr val="19856D"/>
                </a:solidFill>
                <a:latin typeface="Noto Sans CJK SC" pitchFamily="34" charset="0"/>
                <a:ea typeface="Noto Sans CJK SC" pitchFamily="34" charset="-122"/>
                <a:cs typeface="Noto Sans CJK SC" pitchFamily="34" charset="-120"/>
              </a:rPr>
              <a:t>+</a:t>
            </a:r>
            <a:r>
              <a:rPr lang="en-US" sz="1235" b="1" dirty="0">
                <a:solidFill>
                  <a:srgbClr val="19856D"/>
                </a:solidFill>
                <a:latin typeface="微软雅黑" panose="020B0503020204020204" pitchFamily="34" charset="-122"/>
                <a:ea typeface="微软雅黑" panose="020B0503020204020204" pitchFamily="34" charset="-122"/>
              </a:rPr>
              <a:t>3.80</a:t>
            </a:r>
            <a:r>
              <a:rPr lang="en-US" sz="1235" b="1" dirty="0">
                <a:solidFill>
                  <a:srgbClr val="19856D"/>
                </a:solidFill>
                <a:latin typeface="Noto Sans CJK SC" pitchFamily="34" charset="0"/>
                <a:ea typeface="Noto Sans CJK SC" pitchFamily="34" charset="-122"/>
                <a:cs typeface="Noto Sans CJK SC" pitchFamily="34" charset="-120"/>
              </a:rPr>
              <a:t> </a:t>
            </a:r>
            <a:r>
              <a:rPr lang="en-US" sz="1235" b="1" dirty="0">
                <a:solidFill>
                  <a:srgbClr val="19856D"/>
                </a:solidFill>
                <a:latin typeface="微软雅黑" panose="020B0503020204020204" pitchFamily="34" charset="-122"/>
                <a:ea typeface="微软雅黑" panose="020B0503020204020204" pitchFamily="34" charset="-122"/>
              </a:rPr>
              <a:t>pp</a:t>
            </a:r>
          </a:p>
        </p:txBody>
      </p:sp>
      <p:sp>
        <p:nvSpPr>
          <p:cNvPr id="41" name="Shape 8">
            <a:extLst>
              <a:ext uri="{FF2B5EF4-FFF2-40B4-BE49-F238E27FC236}">
                <a16:creationId xmlns:a16="http://schemas.microsoft.com/office/drawing/2014/main" id="{300E7DE7-4250-025B-8B7D-C666617403F7}"/>
              </a:ext>
            </a:extLst>
          </p:cNvPr>
          <p:cNvSpPr/>
          <p:nvPr/>
        </p:nvSpPr>
        <p:spPr>
          <a:xfrm>
            <a:off x="6448414" y="1490472"/>
            <a:ext cx="5592606" cy="1956816"/>
          </a:xfrm>
          <a:prstGeom prst="roundRect">
            <a:avLst>
              <a:gd name="adj" fmla="val 6542"/>
            </a:avLst>
          </a:prstGeom>
          <a:solidFill>
            <a:srgbClr val="FFFFFF"/>
          </a:solidFill>
          <a:ln w="12700">
            <a:solidFill>
              <a:srgbClr val="DFE7F0"/>
            </a:solidFill>
            <a:prstDash val="solid"/>
          </a:ln>
        </p:spPr>
        <p:txBody>
          <a:bodyPr/>
          <a:lstStyle/>
          <a:p>
            <a:endParaRPr lang="zh-CN" altLang="en-US"/>
          </a:p>
        </p:txBody>
      </p:sp>
      <p:sp>
        <p:nvSpPr>
          <p:cNvPr id="42" name="Shape 9">
            <a:extLst>
              <a:ext uri="{FF2B5EF4-FFF2-40B4-BE49-F238E27FC236}">
                <a16:creationId xmlns:a16="http://schemas.microsoft.com/office/drawing/2014/main" id="{11AFDB81-FE64-0C1C-506D-DC16B7E0FC28}"/>
              </a:ext>
            </a:extLst>
          </p:cNvPr>
          <p:cNvSpPr/>
          <p:nvPr/>
        </p:nvSpPr>
        <p:spPr>
          <a:xfrm>
            <a:off x="6395857" y="1714031"/>
            <a:ext cx="50292" cy="1536192"/>
          </a:xfrm>
          <a:prstGeom prst="rect">
            <a:avLst/>
          </a:prstGeom>
          <a:solidFill>
            <a:srgbClr val="DD4051"/>
          </a:solidFill>
          <a:ln w="12700">
            <a:solidFill>
              <a:srgbClr val="DD4051">
                <a:alpha val="0"/>
              </a:srgbClr>
            </a:solidFill>
            <a:prstDash val="solid"/>
          </a:ln>
        </p:spPr>
      </p:sp>
      <p:sp>
        <p:nvSpPr>
          <p:cNvPr id="43" name="Text 10">
            <a:extLst>
              <a:ext uri="{FF2B5EF4-FFF2-40B4-BE49-F238E27FC236}">
                <a16:creationId xmlns:a16="http://schemas.microsoft.com/office/drawing/2014/main" id="{5B701D53-F323-2C45-3BB7-76437529D04B}"/>
              </a:ext>
            </a:extLst>
          </p:cNvPr>
          <p:cNvSpPr/>
          <p:nvPr/>
        </p:nvSpPr>
        <p:spPr>
          <a:xfrm>
            <a:off x="6615313" y="1650023"/>
            <a:ext cx="3986784" cy="329184"/>
          </a:xfrm>
          <a:prstGeom prst="rect">
            <a:avLst/>
          </a:prstGeom>
          <a:noFill/>
          <a:ln/>
        </p:spPr>
        <p:txBody>
          <a:bodyPr wrap="square" lIns="0" tIns="0" rIns="0" bIns="0" rtlCol="0" anchor="ctr">
            <a:normAutofit/>
          </a:bodyPr>
          <a:lstStyle/>
          <a:p>
            <a:pPr marL="0" indent="0">
              <a:lnSpc>
                <a:spcPct val="102000"/>
              </a:lnSpc>
              <a:buNone/>
            </a:pPr>
            <a:r>
              <a:rPr lang="en-US" altLang="zh-CN" sz="1740" b="1" dirty="0">
                <a:solidFill>
                  <a:srgbClr val="17243A"/>
                </a:solidFill>
                <a:latin typeface="微软雅黑" panose="020B0503020204020204" pitchFamily="34" charset="-122"/>
                <a:ea typeface="微软雅黑" panose="020B0503020204020204" pitchFamily="34" charset="-122"/>
              </a:rPr>
              <a:t>Gemma-4-26B-A4B</a:t>
            </a:r>
          </a:p>
        </p:txBody>
      </p:sp>
      <p:sp>
        <p:nvSpPr>
          <p:cNvPr id="44" name="Text 13">
            <a:extLst>
              <a:ext uri="{FF2B5EF4-FFF2-40B4-BE49-F238E27FC236}">
                <a16:creationId xmlns:a16="http://schemas.microsoft.com/office/drawing/2014/main" id="{51939FF7-38E0-7841-8BC0-012ECBB5E351}"/>
              </a:ext>
            </a:extLst>
          </p:cNvPr>
          <p:cNvSpPr/>
          <p:nvPr/>
        </p:nvSpPr>
        <p:spPr>
          <a:xfrm>
            <a:off x="6624457" y="2043215"/>
            <a:ext cx="2468880" cy="256032"/>
          </a:xfrm>
          <a:prstGeom prst="rect">
            <a:avLst/>
          </a:prstGeom>
          <a:noFill/>
          <a:ln/>
        </p:spPr>
        <p:txBody>
          <a:bodyPr wrap="square" lIns="0" tIns="0" rIns="0" bIns="0" rtlCol="0" anchor="ctr">
            <a:normAutofit/>
          </a:bodyPr>
          <a:lstStyle/>
          <a:p>
            <a:pPr marL="0" indent="0" algn="l">
              <a:lnSpc>
                <a:spcPct val="102000"/>
              </a:lnSpc>
              <a:buNone/>
            </a:pPr>
            <a:r>
              <a:rPr lang="en-US" sz="1140" b="1" dirty="0" err="1">
                <a:solidFill>
                  <a:srgbClr val="697C95"/>
                </a:solidFill>
                <a:latin typeface="微软雅黑" panose="020B0503020204020204" pitchFamily="34" charset="-122"/>
                <a:ea typeface="微软雅黑" panose="020B0503020204020204" pitchFamily="34" charset="-122"/>
              </a:rPr>
              <a:t>数据集</a:t>
            </a:r>
            <a:endParaRPr lang="en-US" sz="1140" b="1" dirty="0">
              <a:solidFill>
                <a:srgbClr val="697C95"/>
              </a:solidFill>
              <a:latin typeface="微软雅黑" panose="020B0503020204020204" pitchFamily="34" charset="-122"/>
              <a:ea typeface="微软雅黑" panose="020B0503020204020204" pitchFamily="34" charset="-122"/>
            </a:endParaRPr>
          </a:p>
        </p:txBody>
      </p:sp>
      <p:sp>
        <p:nvSpPr>
          <p:cNvPr id="45" name="Text 14">
            <a:extLst>
              <a:ext uri="{FF2B5EF4-FFF2-40B4-BE49-F238E27FC236}">
                <a16:creationId xmlns:a16="http://schemas.microsoft.com/office/drawing/2014/main" id="{D9BA8316-FF22-B6AC-B104-FCDDCB2BBC86}"/>
              </a:ext>
            </a:extLst>
          </p:cNvPr>
          <p:cNvSpPr/>
          <p:nvPr/>
        </p:nvSpPr>
        <p:spPr>
          <a:xfrm>
            <a:off x="8570265" y="2061350"/>
            <a:ext cx="645479" cy="256032"/>
          </a:xfrm>
          <a:prstGeom prst="rect">
            <a:avLst/>
          </a:prstGeom>
          <a:noFill/>
          <a:ln/>
        </p:spPr>
        <p:txBody>
          <a:bodyPr wrap="square" lIns="0" tIns="0" rIns="0" bIns="0" rtlCol="0" anchor="ctr">
            <a:normAutofit/>
          </a:bodyPr>
          <a:lstStyle/>
          <a:p>
            <a:pPr>
              <a:lnSpc>
                <a:spcPct val="102000"/>
              </a:lnSpc>
            </a:pPr>
            <a:r>
              <a:rPr lang="en-US" sz="1140" b="1" dirty="0">
                <a:solidFill>
                  <a:srgbClr val="697C95"/>
                </a:solidFill>
                <a:latin typeface="微软雅黑" panose="020B0503020204020204" pitchFamily="34" charset="-122"/>
                <a:ea typeface="微软雅黑" panose="020B0503020204020204" pitchFamily="34" charset="-122"/>
              </a:rPr>
              <a:t>H20 </a:t>
            </a:r>
            <a:r>
              <a:rPr lang="en-US" sz="1140" b="1" dirty="0" err="1">
                <a:solidFill>
                  <a:srgbClr val="697C95"/>
                </a:solidFill>
                <a:latin typeface="微软雅黑" panose="020B0503020204020204" pitchFamily="34" charset="-122"/>
                <a:ea typeface="微软雅黑" panose="020B0503020204020204" pitchFamily="34" charset="-122"/>
              </a:rPr>
              <a:t>浮点</a:t>
            </a:r>
            <a:endParaRPr lang="en-US" sz="1140" b="1" dirty="0">
              <a:solidFill>
                <a:srgbClr val="697C95"/>
              </a:solidFill>
              <a:latin typeface="微软雅黑" panose="020B0503020204020204" pitchFamily="34" charset="-122"/>
              <a:ea typeface="微软雅黑" panose="020B0503020204020204" pitchFamily="34" charset="-122"/>
            </a:endParaRPr>
          </a:p>
        </p:txBody>
      </p:sp>
      <p:sp>
        <p:nvSpPr>
          <p:cNvPr id="46" name="Text 15">
            <a:extLst>
              <a:ext uri="{FF2B5EF4-FFF2-40B4-BE49-F238E27FC236}">
                <a16:creationId xmlns:a16="http://schemas.microsoft.com/office/drawing/2014/main" id="{965EC4AC-C2FE-8B8C-15FB-027D7564FD4E}"/>
              </a:ext>
            </a:extLst>
          </p:cNvPr>
          <p:cNvSpPr/>
          <p:nvPr/>
        </p:nvSpPr>
        <p:spPr>
          <a:xfrm>
            <a:off x="9409313" y="2061350"/>
            <a:ext cx="1344168" cy="256032"/>
          </a:xfrm>
          <a:prstGeom prst="rect">
            <a:avLst/>
          </a:prstGeom>
          <a:noFill/>
          <a:ln/>
        </p:spPr>
        <p:txBody>
          <a:bodyPr wrap="square" lIns="0" tIns="0" rIns="0" bIns="0" rtlCol="0" anchor="ctr">
            <a:normAutofit/>
          </a:bodyPr>
          <a:lstStyle/>
          <a:p>
            <a:pPr marL="0" indent="0" algn="ctr">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A5</a:t>
            </a:r>
            <a:r>
              <a:rPr lang="zh-CN" altLang="en-US" sz="1140" b="1" dirty="0">
                <a:solidFill>
                  <a:srgbClr val="697C95"/>
                </a:solidFill>
                <a:latin typeface="微软雅黑" panose="020B0503020204020204" pitchFamily="34" charset="-122"/>
                <a:ea typeface="微软雅黑" panose="020B0503020204020204" pitchFamily="34" charset="-122"/>
              </a:rPr>
              <a:t>量化</a:t>
            </a:r>
            <a:endParaRPr lang="en-US" sz="1140" b="1" dirty="0">
              <a:solidFill>
                <a:srgbClr val="697C95"/>
              </a:solidFill>
              <a:latin typeface="微软雅黑" panose="020B0503020204020204" pitchFamily="34" charset="-122"/>
              <a:ea typeface="微软雅黑" panose="020B0503020204020204" pitchFamily="34" charset="-122"/>
            </a:endParaRPr>
          </a:p>
        </p:txBody>
      </p:sp>
      <p:sp>
        <p:nvSpPr>
          <p:cNvPr id="47" name="Text 17">
            <a:extLst>
              <a:ext uri="{FF2B5EF4-FFF2-40B4-BE49-F238E27FC236}">
                <a16:creationId xmlns:a16="http://schemas.microsoft.com/office/drawing/2014/main" id="{CDC3CCC3-1EC3-AABA-D900-7711F977EDE8}"/>
              </a:ext>
            </a:extLst>
          </p:cNvPr>
          <p:cNvSpPr/>
          <p:nvPr/>
        </p:nvSpPr>
        <p:spPr>
          <a:xfrm>
            <a:off x="10816303" y="2046873"/>
            <a:ext cx="792141" cy="256032"/>
          </a:xfrm>
          <a:prstGeom prst="rect">
            <a:avLst/>
          </a:prstGeom>
          <a:noFill/>
          <a:ln/>
        </p:spPr>
        <p:txBody>
          <a:bodyPr wrap="square" lIns="0" tIns="0" rIns="0" bIns="0" rtlCol="0" anchor="ctr">
            <a:normAutofit/>
          </a:bodyPr>
          <a:lstStyle/>
          <a:p>
            <a:pPr>
              <a:lnSpc>
                <a:spcPct val="102000"/>
              </a:lnSpc>
            </a:pPr>
            <a:r>
              <a:rPr lang="en-US" sz="1140" b="1" dirty="0">
                <a:solidFill>
                  <a:srgbClr val="697C95"/>
                </a:solidFill>
                <a:latin typeface="微软雅黑" panose="020B0503020204020204" pitchFamily="34" charset="-122"/>
                <a:ea typeface="微软雅黑" panose="020B0503020204020204" pitchFamily="34" charset="-122"/>
              </a:rPr>
              <a:t>A5 − H20</a:t>
            </a:r>
          </a:p>
        </p:txBody>
      </p:sp>
      <p:sp>
        <p:nvSpPr>
          <p:cNvPr id="48" name="Shape 18">
            <a:extLst>
              <a:ext uri="{FF2B5EF4-FFF2-40B4-BE49-F238E27FC236}">
                <a16:creationId xmlns:a16="http://schemas.microsoft.com/office/drawing/2014/main" id="{20324EBB-52AE-8592-38F9-9728C692BD0B}"/>
              </a:ext>
            </a:extLst>
          </p:cNvPr>
          <p:cNvSpPr/>
          <p:nvPr/>
        </p:nvSpPr>
        <p:spPr>
          <a:xfrm>
            <a:off x="6606170" y="2363255"/>
            <a:ext cx="5190744" cy="13144"/>
          </a:xfrm>
          <a:prstGeom prst="line">
            <a:avLst/>
          </a:prstGeom>
          <a:noFill/>
          <a:ln w="8890">
            <a:solidFill>
              <a:srgbClr val="DFE7F0"/>
            </a:solidFill>
            <a:prstDash val="solid"/>
          </a:ln>
        </p:spPr>
      </p:sp>
      <p:sp>
        <p:nvSpPr>
          <p:cNvPr id="49" name="Text 19">
            <a:extLst>
              <a:ext uri="{FF2B5EF4-FFF2-40B4-BE49-F238E27FC236}">
                <a16:creationId xmlns:a16="http://schemas.microsoft.com/office/drawing/2014/main" id="{3F8C5CB5-DB75-16B0-5E76-2B1CB3D300D6}"/>
              </a:ext>
            </a:extLst>
          </p:cNvPr>
          <p:cNvSpPr/>
          <p:nvPr/>
        </p:nvSpPr>
        <p:spPr>
          <a:xfrm>
            <a:off x="6624457" y="2445551"/>
            <a:ext cx="2468880" cy="256032"/>
          </a:xfrm>
          <a:prstGeom prst="rect">
            <a:avLst/>
          </a:prstGeom>
          <a:noFill/>
          <a:ln/>
        </p:spPr>
        <p:txBody>
          <a:bodyPr wrap="square" lIns="0" tIns="0" rIns="0" bIns="0" rtlCol="0" anchor="ctr">
            <a:normAutofit/>
          </a:bodyPr>
          <a:lstStyle/>
          <a:p>
            <a:pPr marL="0" indent="0" algn="l">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AIME2026</a:t>
            </a:r>
          </a:p>
        </p:txBody>
      </p:sp>
      <p:sp>
        <p:nvSpPr>
          <p:cNvPr id="50" name="Text 20">
            <a:extLst>
              <a:ext uri="{FF2B5EF4-FFF2-40B4-BE49-F238E27FC236}">
                <a16:creationId xmlns:a16="http://schemas.microsoft.com/office/drawing/2014/main" id="{59D85FE5-F46A-A190-4E0C-41588D89611C}"/>
              </a:ext>
            </a:extLst>
          </p:cNvPr>
          <p:cNvSpPr/>
          <p:nvPr/>
        </p:nvSpPr>
        <p:spPr>
          <a:xfrm>
            <a:off x="8132201" y="2463686"/>
            <a:ext cx="1408176" cy="256032"/>
          </a:xfrm>
          <a:prstGeom prst="rect">
            <a:avLst/>
          </a:prstGeom>
          <a:noFill/>
          <a:ln/>
        </p:spPr>
        <p:txBody>
          <a:bodyPr wrap="square" lIns="0" tIns="0" rIns="0" bIns="0" rtlCol="0" anchor="ctr">
            <a:normAutofit/>
          </a:bodyPr>
          <a:lstStyle/>
          <a:p>
            <a:pPr algn="ctr">
              <a:lnSpc>
                <a:spcPct val="102000"/>
              </a:lnSpc>
            </a:pPr>
            <a:r>
              <a:rPr lang="en-US" altLang="zh-CN" sz="1060" b="1">
                <a:solidFill>
                  <a:srgbClr val="2868B8"/>
                </a:solidFill>
                <a:latin typeface="Times New Roman" panose="02020603050405020304" pitchFamily="18" charset="0"/>
                <a:ea typeface="Noto Sans CJK SC" pitchFamily="34" charset="-122"/>
                <a:cs typeface="Times New Roman" panose="02020603050405020304" pitchFamily="18" charset="0"/>
              </a:rPr>
              <a:t>70.00%</a:t>
            </a:r>
            <a:endParaRPr lang="en-US" altLang="zh-CN" sz="106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51" name="Text 21">
            <a:extLst>
              <a:ext uri="{FF2B5EF4-FFF2-40B4-BE49-F238E27FC236}">
                <a16:creationId xmlns:a16="http://schemas.microsoft.com/office/drawing/2014/main" id="{732D3506-01EB-A11C-D890-91091B1B97ED}"/>
              </a:ext>
            </a:extLst>
          </p:cNvPr>
          <p:cNvSpPr/>
          <p:nvPr/>
        </p:nvSpPr>
        <p:spPr>
          <a:xfrm>
            <a:off x="9409313" y="2463686"/>
            <a:ext cx="1344168" cy="256032"/>
          </a:xfrm>
          <a:prstGeom prst="rect">
            <a:avLst/>
          </a:prstGeom>
          <a:noFill/>
          <a:ln/>
        </p:spPr>
        <p:txBody>
          <a:bodyPr wrap="square" lIns="0" tIns="0" rIns="0" bIns="0" rtlCol="0" anchor="ctr">
            <a:normAutofit/>
          </a:bodyPr>
          <a:lstStyle/>
          <a:p>
            <a:pPr algn="ctr">
              <a:lnSpc>
                <a:spcPct val="102000"/>
              </a:lnSpc>
            </a:pPr>
            <a:r>
              <a:rPr lang="en-US" altLang="zh-CN" sz="1235" b="1">
                <a:solidFill>
                  <a:srgbClr val="DD4051"/>
                </a:solidFill>
                <a:latin typeface="Times New Roman" panose="02020603050405020304" pitchFamily="18" charset="0"/>
                <a:ea typeface="Noto Sans CJK SC" pitchFamily="34" charset="-122"/>
                <a:cs typeface="Times New Roman" panose="02020603050405020304" pitchFamily="18" charset="0"/>
              </a:rPr>
              <a:t>70.00%</a:t>
            </a:r>
            <a:endParaRPr lang="en-US" altLang="zh-CN" sz="1235" b="1" dirty="0">
              <a:solidFill>
                <a:srgbClr val="DD4051"/>
              </a:solidFill>
              <a:latin typeface="Times New Roman" panose="02020603050405020304" pitchFamily="18" charset="0"/>
              <a:ea typeface="Noto Sans CJK SC" pitchFamily="34" charset="-122"/>
              <a:cs typeface="Times New Roman" panose="02020603050405020304" pitchFamily="18" charset="0"/>
            </a:endParaRPr>
          </a:p>
        </p:txBody>
      </p:sp>
      <p:sp>
        <p:nvSpPr>
          <p:cNvPr id="52" name="Text 23">
            <a:extLst>
              <a:ext uri="{FF2B5EF4-FFF2-40B4-BE49-F238E27FC236}">
                <a16:creationId xmlns:a16="http://schemas.microsoft.com/office/drawing/2014/main" id="{B20E005A-81EB-A7FC-B0C1-C124906597BB}"/>
              </a:ext>
            </a:extLst>
          </p:cNvPr>
          <p:cNvSpPr/>
          <p:nvPr/>
        </p:nvSpPr>
        <p:spPr>
          <a:xfrm>
            <a:off x="10344407" y="2463686"/>
            <a:ext cx="1562248" cy="256032"/>
          </a:xfrm>
          <a:prstGeom prst="rect">
            <a:avLst/>
          </a:prstGeom>
          <a:noFill/>
          <a:ln/>
        </p:spPr>
        <p:txBody>
          <a:bodyPr wrap="square" lIns="0" tIns="0" rIns="0" bIns="0" rtlCol="0" anchor="ctr">
            <a:normAutofit/>
          </a:bodyPr>
          <a:lstStyle/>
          <a:p>
            <a:pPr marL="0" indent="0" algn="ctr">
              <a:lnSpc>
                <a:spcPct val="102000"/>
              </a:lnSpc>
              <a:buNone/>
            </a:pPr>
            <a:r>
              <a:rPr lang="en-US" altLang="zh-CN" sz="1235" b="1" dirty="0">
                <a:solidFill>
                  <a:srgbClr val="19856D"/>
                </a:solidFill>
                <a:latin typeface="Noto Sans CJK SC" pitchFamily="34" charset="0"/>
                <a:ea typeface="Noto Sans CJK SC" pitchFamily="34" charset="-122"/>
                <a:cs typeface="Noto Sans CJK SC" pitchFamily="34" charset="-120"/>
              </a:rPr>
              <a:t>+</a:t>
            </a:r>
            <a:r>
              <a:rPr lang="en-US" altLang="zh-CN" sz="1235" b="1" dirty="0">
                <a:solidFill>
                  <a:srgbClr val="19856D"/>
                </a:solidFill>
                <a:latin typeface="微软雅黑" panose="020B0503020204020204" pitchFamily="34" charset="-122"/>
                <a:ea typeface="微软雅黑" panose="020B0503020204020204" pitchFamily="34" charset="-122"/>
              </a:rPr>
              <a:t>0.00</a:t>
            </a:r>
            <a:r>
              <a:rPr lang="en-US" altLang="zh-CN" sz="1235" b="1" dirty="0">
                <a:solidFill>
                  <a:srgbClr val="19856D"/>
                </a:solidFill>
                <a:latin typeface="Noto Sans CJK SC" pitchFamily="34" charset="0"/>
                <a:ea typeface="Noto Sans CJK SC" pitchFamily="34" charset="-122"/>
                <a:cs typeface="Noto Sans CJK SC" pitchFamily="34" charset="-120"/>
              </a:rPr>
              <a:t> </a:t>
            </a:r>
            <a:r>
              <a:rPr lang="en-US" altLang="zh-CN" sz="1235" b="1" dirty="0">
                <a:solidFill>
                  <a:srgbClr val="19856D"/>
                </a:solidFill>
                <a:latin typeface="微软雅黑" panose="020B0503020204020204" pitchFamily="34" charset="-122"/>
                <a:ea typeface="微软雅黑" panose="020B0503020204020204" pitchFamily="34" charset="-122"/>
              </a:rPr>
              <a:t>pp</a:t>
            </a:r>
          </a:p>
        </p:txBody>
      </p:sp>
      <p:sp>
        <p:nvSpPr>
          <p:cNvPr id="53" name="Shape 24">
            <a:extLst>
              <a:ext uri="{FF2B5EF4-FFF2-40B4-BE49-F238E27FC236}">
                <a16:creationId xmlns:a16="http://schemas.microsoft.com/office/drawing/2014/main" id="{0C31BF70-8899-B3C0-4A44-48D262498423}"/>
              </a:ext>
            </a:extLst>
          </p:cNvPr>
          <p:cNvSpPr/>
          <p:nvPr/>
        </p:nvSpPr>
        <p:spPr>
          <a:xfrm>
            <a:off x="6606170" y="2753704"/>
            <a:ext cx="4403344" cy="256032"/>
          </a:xfrm>
          <a:prstGeom prst="roundRect">
            <a:avLst>
              <a:gd name="adj" fmla="val 12308"/>
            </a:avLst>
          </a:prstGeom>
          <a:solidFill>
            <a:srgbClr val="F7F9FC"/>
          </a:solidFill>
          <a:ln w="12700">
            <a:solidFill>
              <a:srgbClr val="F7F9FC"/>
            </a:solidFill>
            <a:prstDash val="solid"/>
          </a:ln>
        </p:spPr>
        <p:txBody>
          <a:bodyPr/>
          <a:lstStyle/>
          <a:p>
            <a:endParaRPr lang="zh-CN" altLang="en-US" dirty="0"/>
          </a:p>
        </p:txBody>
      </p:sp>
      <p:sp>
        <p:nvSpPr>
          <p:cNvPr id="54" name="Text 25">
            <a:extLst>
              <a:ext uri="{FF2B5EF4-FFF2-40B4-BE49-F238E27FC236}">
                <a16:creationId xmlns:a16="http://schemas.microsoft.com/office/drawing/2014/main" id="{DDF88C06-E72F-AF6E-802F-4FA235A5EB32}"/>
              </a:ext>
            </a:extLst>
          </p:cNvPr>
          <p:cNvSpPr/>
          <p:nvPr/>
        </p:nvSpPr>
        <p:spPr>
          <a:xfrm>
            <a:off x="6624457" y="2753704"/>
            <a:ext cx="2468880" cy="256032"/>
          </a:xfrm>
          <a:prstGeom prst="rect">
            <a:avLst/>
          </a:prstGeom>
          <a:noFill/>
          <a:ln/>
        </p:spPr>
        <p:txBody>
          <a:bodyPr wrap="square" lIns="0" tIns="0" rIns="0" bIns="0" rtlCol="0" anchor="ctr">
            <a:normAutofit/>
          </a:bodyPr>
          <a:lstStyle/>
          <a:p>
            <a:pPr marL="0" indent="0" algn="l">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GPQA</a:t>
            </a:r>
            <a:r>
              <a:rPr lang="en-US" sz="1200" dirty="0">
                <a:solidFill>
                  <a:srgbClr val="263850"/>
                </a:solidFill>
                <a:latin typeface="Noto Sans CJK SC" pitchFamily="34" charset="0"/>
                <a:ea typeface="Noto Sans CJK SC" pitchFamily="34" charset="-122"/>
                <a:cs typeface="Noto Sans CJK SC" pitchFamily="34" charset="-120"/>
              </a:rPr>
              <a:t> </a:t>
            </a:r>
            <a:r>
              <a:rPr lang="en-US" sz="1140" b="1" dirty="0">
                <a:solidFill>
                  <a:srgbClr val="697C95"/>
                </a:solidFill>
                <a:latin typeface="微软雅黑" panose="020B0503020204020204" pitchFamily="34" charset="-122"/>
                <a:ea typeface="微软雅黑" panose="020B0503020204020204" pitchFamily="34" charset="-122"/>
              </a:rPr>
              <a:t>Diamond</a:t>
            </a:r>
          </a:p>
        </p:txBody>
      </p:sp>
      <p:sp>
        <p:nvSpPr>
          <p:cNvPr id="55" name="Text 26">
            <a:extLst>
              <a:ext uri="{FF2B5EF4-FFF2-40B4-BE49-F238E27FC236}">
                <a16:creationId xmlns:a16="http://schemas.microsoft.com/office/drawing/2014/main" id="{443783A7-E5BB-22FD-AE33-FB613051D59B}"/>
              </a:ext>
            </a:extLst>
          </p:cNvPr>
          <p:cNvSpPr/>
          <p:nvPr/>
        </p:nvSpPr>
        <p:spPr>
          <a:xfrm>
            <a:off x="8132201" y="2763961"/>
            <a:ext cx="1408176" cy="256032"/>
          </a:xfrm>
          <a:prstGeom prst="rect">
            <a:avLst/>
          </a:prstGeom>
          <a:noFill/>
          <a:ln/>
        </p:spPr>
        <p:txBody>
          <a:bodyPr wrap="square" lIns="0" tIns="0" rIns="0" bIns="0" rtlCol="0" anchor="ctr">
            <a:normAutofit/>
          </a:bodyPr>
          <a:lstStyle/>
          <a:p>
            <a:pPr algn="ctr">
              <a:lnSpc>
                <a:spcPct val="102000"/>
              </a:lnSpc>
            </a:pPr>
            <a:r>
              <a:rPr lang="en-US" altLang="zh-CN" sz="1060" b="1">
                <a:solidFill>
                  <a:srgbClr val="2868B8"/>
                </a:solidFill>
                <a:latin typeface="Times New Roman" panose="02020603050405020304" pitchFamily="18" charset="0"/>
                <a:ea typeface="Noto Sans CJK SC" pitchFamily="34" charset="-122"/>
                <a:cs typeface="Times New Roman" panose="02020603050405020304" pitchFamily="18" charset="0"/>
              </a:rPr>
              <a:t>71.70%</a:t>
            </a:r>
            <a:endParaRPr lang="en-US" altLang="zh-CN" sz="106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56" name="Text 27">
            <a:extLst>
              <a:ext uri="{FF2B5EF4-FFF2-40B4-BE49-F238E27FC236}">
                <a16:creationId xmlns:a16="http://schemas.microsoft.com/office/drawing/2014/main" id="{A975800D-AD95-3D9E-CE55-5D8F997F0B30}"/>
              </a:ext>
            </a:extLst>
          </p:cNvPr>
          <p:cNvSpPr/>
          <p:nvPr/>
        </p:nvSpPr>
        <p:spPr>
          <a:xfrm>
            <a:off x="9409313" y="2771839"/>
            <a:ext cx="1344168" cy="256032"/>
          </a:xfrm>
          <a:prstGeom prst="rect">
            <a:avLst/>
          </a:prstGeom>
          <a:noFill/>
          <a:ln/>
        </p:spPr>
        <p:txBody>
          <a:bodyPr wrap="square" lIns="0" tIns="0" rIns="0" bIns="0" rtlCol="0" anchor="ctr">
            <a:normAutofit/>
          </a:bodyPr>
          <a:lstStyle/>
          <a:p>
            <a:pPr algn="ctr">
              <a:lnSpc>
                <a:spcPct val="102000"/>
              </a:lnSpc>
            </a:pPr>
            <a:r>
              <a:rPr lang="en-US" altLang="zh-CN" sz="1235" b="1">
                <a:solidFill>
                  <a:srgbClr val="DD4051"/>
                </a:solidFill>
                <a:latin typeface="Times New Roman" panose="02020603050405020304" pitchFamily="18" charset="0"/>
                <a:ea typeface="Noto Sans CJK SC" pitchFamily="34" charset="-122"/>
                <a:cs typeface="Times New Roman" panose="02020603050405020304" pitchFamily="18" charset="0"/>
              </a:rPr>
              <a:t>71.72%</a:t>
            </a:r>
            <a:endParaRPr lang="en-US" altLang="zh-CN" sz="1235" b="1" dirty="0">
              <a:solidFill>
                <a:srgbClr val="DD4051"/>
              </a:solidFill>
              <a:latin typeface="Times New Roman" panose="02020603050405020304" pitchFamily="18" charset="0"/>
              <a:ea typeface="Noto Sans CJK SC" pitchFamily="34" charset="-122"/>
              <a:cs typeface="Times New Roman" panose="02020603050405020304" pitchFamily="18" charset="0"/>
            </a:endParaRPr>
          </a:p>
        </p:txBody>
      </p:sp>
      <p:sp>
        <p:nvSpPr>
          <p:cNvPr id="57" name="Text 29">
            <a:extLst>
              <a:ext uri="{FF2B5EF4-FFF2-40B4-BE49-F238E27FC236}">
                <a16:creationId xmlns:a16="http://schemas.microsoft.com/office/drawing/2014/main" id="{A8A993A3-3C19-509F-E977-1380C202CB80}"/>
              </a:ext>
            </a:extLst>
          </p:cNvPr>
          <p:cNvSpPr/>
          <p:nvPr/>
        </p:nvSpPr>
        <p:spPr>
          <a:xfrm>
            <a:off x="10344407" y="2740850"/>
            <a:ext cx="1562248" cy="256032"/>
          </a:xfrm>
          <a:prstGeom prst="rect">
            <a:avLst/>
          </a:prstGeom>
          <a:noFill/>
          <a:ln/>
        </p:spPr>
        <p:txBody>
          <a:bodyPr wrap="square" lIns="0" tIns="0" rIns="0" bIns="0" rtlCol="0" anchor="ctr">
            <a:normAutofit/>
          </a:bodyPr>
          <a:lstStyle/>
          <a:p>
            <a:pPr marL="0" indent="0" algn="ctr">
              <a:lnSpc>
                <a:spcPct val="102000"/>
              </a:lnSpc>
              <a:buNone/>
            </a:pPr>
            <a:r>
              <a:rPr lang="en-US" altLang="zh-CN" sz="1235" b="1" dirty="0">
                <a:solidFill>
                  <a:srgbClr val="19856D"/>
                </a:solidFill>
                <a:latin typeface="Noto Sans CJK SC" pitchFamily="34" charset="0"/>
                <a:ea typeface="Noto Sans CJK SC" pitchFamily="34" charset="-122"/>
                <a:cs typeface="Noto Sans CJK SC" pitchFamily="34" charset="-120"/>
              </a:rPr>
              <a:t>+</a:t>
            </a:r>
            <a:r>
              <a:rPr lang="en-US" altLang="zh-CN" sz="1235" b="1" dirty="0">
                <a:solidFill>
                  <a:srgbClr val="19856D"/>
                </a:solidFill>
                <a:latin typeface="微软雅黑" panose="020B0503020204020204" pitchFamily="34" charset="-122"/>
                <a:ea typeface="微软雅黑" panose="020B0503020204020204" pitchFamily="34" charset="-122"/>
              </a:rPr>
              <a:t>0.02</a:t>
            </a:r>
            <a:r>
              <a:rPr lang="en-US" altLang="zh-CN" sz="1235" b="1" dirty="0">
                <a:solidFill>
                  <a:srgbClr val="19856D"/>
                </a:solidFill>
                <a:latin typeface="Noto Sans CJK SC" pitchFamily="34" charset="0"/>
                <a:ea typeface="Noto Sans CJK SC" pitchFamily="34" charset="-122"/>
                <a:cs typeface="Noto Sans CJK SC" pitchFamily="34" charset="-120"/>
              </a:rPr>
              <a:t> </a:t>
            </a:r>
            <a:r>
              <a:rPr lang="en-US" altLang="zh-CN" sz="1235" b="1" dirty="0">
                <a:solidFill>
                  <a:srgbClr val="19856D"/>
                </a:solidFill>
                <a:latin typeface="微软雅黑" panose="020B0503020204020204" pitchFamily="34" charset="-122"/>
                <a:ea typeface="微软雅黑" panose="020B0503020204020204" pitchFamily="34" charset="-122"/>
              </a:rPr>
              <a:t>pp</a:t>
            </a:r>
          </a:p>
        </p:txBody>
      </p:sp>
      <p:sp>
        <p:nvSpPr>
          <p:cNvPr id="58" name="Text 30">
            <a:extLst>
              <a:ext uri="{FF2B5EF4-FFF2-40B4-BE49-F238E27FC236}">
                <a16:creationId xmlns:a16="http://schemas.microsoft.com/office/drawing/2014/main" id="{B3C00FC4-A2F4-B9EB-ED32-667AAD16F549}"/>
              </a:ext>
            </a:extLst>
          </p:cNvPr>
          <p:cNvSpPr/>
          <p:nvPr/>
        </p:nvSpPr>
        <p:spPr>
          <a:xfrm>
            <a:off x="6624457" y="3061857"/>
            <a:ext cx="2468880" cy="256032"/>
          </a:xfrm>
          <a:prstGeom prst="rect">
            <a:avLst/>
          </a:prstGeom>
          <a:noFill/>
          <a:ln/>
        </p:spPr>
        <p:txBody>
          <a:bodyPr wrap="square" lIns="0" tIns="0" rIns="0" bIns="0" rtlCol="0" anchor="ctr">
            <a:normAutofit/>
          </a:bodyPr>
          <a:lstStyle/>
          <a:p>
            <a:pPr marL="0" indent="0" algn="l">
              <a:lnSpc>
                <a:spcPct val="102000"/>
              </a:lnSpc>
              <a:buNone/>
            </a:pPr>
            <a:r>
              <a:rPr lang="en-US" sz="1140" b="1" dirty="0">
                <a:solidFill>
                  <a:srgbClr val="697C95"/>
                </a:solidFill>
                <a:latin typeface="微软雅黑" panose="020B0503020204020204" pitchFamily="34" charset="-122"/>
                <a:ea typeface="微软雅黑" panose="020B0503020204020204" pitchFamily="34" charset="-122"/>
              </a:rPr>
              <a:t>MMMU-Pro</a:t>
            </a:r>
          </a:p>
        </p:txBody>
      </p:sp>
      <p:sp>
        <p:nvSpPr>
          <p:cNvPr id="59" name="Text 31">
            <a:extLst>
              <a:ext uri="{FF2B5EF4-FFF2-40B4-BE49-F238E27FC236}">
                <a16:creationId xmlns:a16="http://schemas.microsoft.com/office/drawing/2014/main" id="{C9372594-2E62-3DF6-4D02-542712ADB10A}"/>
              </a:ext>
            </a:extLst>
          </p:cNvPr>
          <p:cNvSpPr/>
          <p:nvPr/>
        </p:nvSpPr>
        <p:spPr>
          <a:xfrm>
            <a:off x="8132201" y="3072114"/>
            <a:ext cx="1408176" cy="256032"/>
          </a:xfrm>
          <a:prstGeom prst="rect">
            <a:avLst/>
          </a:prstGeom>
          <a:noFill/>
          <a:ln/>
        </p:spPr>
        <p:txBody>
          <a:bodyPr wrap="square" lIns="0" tIns="0" rIns="0" bIns="0" rtlCol="0" anchor="ctr">
            <a:normAutofit/>
          </a:bodyPr>
          <a:lstStyle/>
          <a:p>
            <a:pPr algn="ctr">
              <a:lnSpc>
                <a:spcPct val="102000"/>
              </a:lnSpc>
            </a:pPr>
            <a:r>
              <a:rPr lang="en-US" sz="1060" b="1">
                <a:solidFill>
                  <a:srgbClr val="2868B8"/>
                </a:solidFill>
                <a:latin typeface="Times New Roman" panose="02020603050405020304" pitchFamily="18" charset="0"/>
                <a:ea typeface="Noto Sans CJK SC" pitchFamily="34" charset="-122"/>
                <a:cs typeface="Times New Roman" panose="02020603050405020304" pitchFamily="18" charset="0"/>
              </a:rPr>
              <a:t>76.20%</a:t>
            </a:r>
            <a:endParaRPr lang="en-US" sz="106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60" name="Text 32">
            <a:extLst>
              <a:ext uri="{FF2B5EF4-FFF2-40B4-BE49-F238E27FC236}">
                <a16:creationId xmlns:a16="http://schemas.microsoft.com/office/drawing/2014/main" id="{B0D618B8-AA79-A375-E1C5-8244A1EDF779}"/>
              </a:ext>
            </a:extLst>
          </p:cNvPr>
          <p:cNvSpPr/>
          <p:nvPr/>
        </p:nvSpPr>
        <p:spPr>
          <a:xfrm>
            <a:off x="9409313" y="3079992"/>
            <a:ext cx="1344168" cy="256032"/>
          </a:xfrm>
          <a:prstGeom prst="rect">
            <a:avLst/>
          </a:prstGeom>
          <a:noFill/>
          <a:ln/>
        </p:spPr>
        <p:txBody>
          <a:bodyPr wrap="square" lIns="0" tIns="0" rIns="0" bIns="0" rtlCol="0" anchor="ctr">
            <a:normAutofit/>
          </a:bodyPr>
          <a:lstStyle/>
          <a:p>
            <a:pPr algn="ctr">
              <a:lnSpc>
                <a:spcPct val="102000"/>
              </a:lnSpc>
            </a:pPr>
            <a:r>
              <a:rPr lang="en-US" altLang="zh-CN" sz="1235" b="1">
                <a:solidFill>
                  <a:srgbClr val="DD4051"/>
                </a:solidFill>
                <a:latin typeface="Times New Roman" panose="02020603050405020304" pitchFamily="18" charset="0"/>
                <a:ea typeface="Noto Sans CJK SC" pitchFamily="34" charset="-122"/>
                <a:cs typeface="Times New Roman" panose="02020603050405020304" pitchFamily="18" charset="0"/>
              </a:rPr>
              <a:t>77.17%</a:t>
            </a:r>
            <a:endParaRPr lang="en-US" altLang="zh-CN" sz="1235" b="1" dirty="0">
              <a:solidFill>
                <a:srgbClr val="DD4051"/>
              </a:solidFill>
              <a:latin typeface="Times New Roman" panose="02020603050405020304" pitchFamily="18" charset="0"/>
              <a:ea typeface="Noto Sans CJK SC" pitchFamily="34" charset="-122"/>
              <a:cs typeface="Times New Roman" panose="02020603050405020304" pitchFamily="18" charset="0"/>
            </a:endParaRPr>
          </a:p>
        </p:txBody>
      </p:sp>
      <p:sp>
        <p:nvSpPr>
          <p:cNvPr id="61" name="Text 34">
            <a:extLst>
              <a:ext uri="{FF2B5EF4-FFF2-40B4-BE49-F238E27FC236}">
                <a16:creationId xmlns:a16="http://schemas.microsoft.com/office/drawing/2014/main" id="{A41C0675-B4A4-55DE-1220-ACDE9D984C05}"/>
              </a:ext>
            </a:extLst>
          </p:cNvPr>
          <p:cNvSpPr/>
          <p:nvPr/>
        </p:nvSpPr>
        <p:spPr>
          <a:xfrm>
            <a:off x="10370448" y="3049003"/>
            <a:ext cx="1477841" cy="256032"/>
          </a:xfrm>
          <a:prstGeom prst="rect">
            <a:avLst/>
          </a:prstGeom>
          <a:noFill/>
          <a:ln/>
        </p:spPr>
        <p:txBody>
          <a:bodyPr wrap="square" lIns="0" tIns="0" rIns="0" bIns="0" rtlCol="0" anchor="ctr">
            <a:normAutofit/>
          </a:bodyPr>
          <a:lstStyle/>
          <a:p>
            <a:pPr marL="0" indent="0" algn="ctr">
              <a:lnSpc>
                <a:spcPct val="102000"/>
              </a:lnSpc>
              <a:buNone/>
            </a:pPr>
            <a:r>
              <a:rPr lang="en-US" sz="1235" b="1" dirty="0">
                <a:solidFill>
                  <a:srgbClr val="19856D"/>
                </a:solidFill>
                <a:latin typeface="Noto Sans CJK SC" pitchFamily="34" charset="0"/>
                <a:ea typeface="Noto Sans CJK SC" pitchFamily="34" charset="-122"/>
                <a:cs typeface="Noto Sans CJK SC" pitchFamily="34" charset="-120"/>
              </a:rPr>
              <a:t>+</a:t>
            </a:r>
            <a:r>
              <a:rPr lang="en-US" sz="1235" b="1" dirty="0">
                <a:solidFill>
                  <a:srgbClr val="19856D"/>
                </a:solidFill>
                <a:latin typeface="微软雅黑" panose="020B0503020204020204" pitchFamily="34" charset="-122"/>
                <a:ea typeface="微软雅黑" panose="020B0503020204020204" pitchFamily="34" charset="-122"/>
              </a:rPr>
              <a:t>0.97 pp</a:t>
            </a:r>
          </a:p>
        </p:txBody>
      </p:sp>
      <p:sp>
        <p:nvSpPr>
          <p:cNvPr id="62" name="Shape 38">
            <a:extLst>
              <a:ext uri="{FF2B5EF4-FFF2-40B4-BE49-F238E27FC236}">
                <a16:creationId xmlns:a16="http://schemas.microsoft.com/office/drawing/2014/main" id="{90BC8EED-AC17-F579-2DB0-E2D7DDAB9861}"/>
              </a:ext>
            </a:extLst>
          </p:cNvPr>
          <p:cNvSpPr/>
          <p:nvPr/>
        </p:nvSpPr>
        <p:spPr>
          <a:xfrm>
            <a:off x="9213589" y="1630668"/>
            <a:ext cx="950976" cy="292608"/>
          </a:xfrm>
          <a:prstGeom prst="roundRect">
            <a:avLst>
              <a:gd name="adj" fmla="val 37500"/>
            </a:avLst>
          </a:prstGeom>
          <a:solidFill>
            <a:srgbClr val="EAF2FC"/>
          </a:solidFill>
          <a:ln w="12700">
            <a:solidFill>
              <a:srgbClr val="EAF2FC"/>
            </a:solidFill>
            <a:prstDash val="solid"/>
          </a:ln>
        </p:spPr>
      </p:sp>
      <p:sp>
        <p:nvSpPr>
          <p:cNvPr id="63" name="Text 39">
            <a:extLst>
              <a:ext uri="{FF2B5EF4-FFF2-40B4-BE49-F238E27FC236}">
                <a16:creationId xmlns:a16="http://schemas.microsoft.com/office/drawing/2014/main" id="{40AA3D66-D0A5-BEED-43A4-DD8A4E97818C}"/>
              </a:ext>
            </a:extLst>
          </p:cNvPr>
          <p:cNvSpPr/>
          <p:nvPr/>
        </p:nvSpPr>
        <p:spPr>
          <a:xfrm>
            <a:off x="9295885" y="1639812"/>
            <a:ext cx="786384" cy="274320"/>
          </a:xfrm>
          <a:prstGeom prst="rect">
            <a:avLst/>
          </a:prstGeom>
          <a:noFill/>
          <a:ln/>
        </p:spPr>
        <p:txBody>
          <a:bodyPr wrap="square" lIns="0" tIns="0" rIns="0" bIns="0" rtlCol="0" anchor="ctr">
            <a:normAutofit/>
          </a:bodyPr>
          <a:lstStyle/>
          <a:p>
            <a:pPr marL="0" indent="0" algn="ctr">
              <a:lnSpc>
                <a:spcPct val="102000"/>
              </a:lnSpc>
              <a:buNone/>
            </a:pPr>
            <a:r>
              <a:rPr lang="en-US" sz="1100" b="1" dirty="0">
                <a:solidFill>
                  <a:srgbClr val="2868B8"/>
                </a:solidFill>
                <a:latin typeface="Noto Sans CJK SC" pitchFamily="34" charset="0"/>
                <a:ea typeface="Noto Sans CJK SC" pitchFamily="34" charset="-122"/>
                <a:cs typeface="Noto Sans CJK SC" pitchFamily="34" charset="-120"/>
              </a:rPr>
              <a:t>MoE</a:t>
            </a:r>
            <a:endParaRPr lang="en-US" sz="1100" dirty="0"/>
          </a:p>
        </p:txBody>
      </p:sp>
      <p:sp>
        <p:nvSpPr>
          <p:cNvPr id="64" name="灯片编号占位符 3">
            <a:extLst>
              <a:ext uri="{FF2B5EF4-FFF2-40B4-BE49-F238E27FC236}">
                <a16:creationId xmlns:a16="http://schemas.microsoft.com/office/drawing/2014/main" id="{7083ADD6-20AC-9112-9FB2-94A6163B4F8D}"/>
              </a:ext>
            </a:extLst>
          </p:cNvPr>
          <p:cNvSpPr txBox="1">
            <a:spLocks/>
          </p:cNvSpPr>
          <p:nvPr/>
        </p:nvSpPr>
        <p:spPr>
          <a:xfrm>
            <a:off x="8877600" y="6314400"/>
            <a:ext cx="2700000" cy="3168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AE70B2-8BF9-45C0-BB95-33D1B9D3A854}" type="slidenum">
              <a:rPr lang="zh-CN" altLang="en-US" smtClean="0"/>
              <a:pPr/>
              <a:t>6</a:t>
            </a:fld>
            <a:endParaRPr lang="zh-CN" altLang="en-US" dirty="0"/>
          </a:p>
        </p:txBody>
      </p:sp>
      <p:sp>
        <p:nvSpPr>
          <p:cNvPr id="65" name="Text 37">
            <a:extLst>
              <a:ext uri="{FF2B5EF4-FFF2-40B4-BE49-F238E27FC236}">
                <a16:creationId xmlns:a16="http://schemas.microsoft.com/office/drawing/2014/main" id="{93715550-BAC0-F7DA-74AB-10093195DC5A}"/>
              </a:ext>
            </a:extLst>
          </p:cNvPr>
          <p:cNvSpPr/>
          <p:nvPr/>
        </p:nvSpPr>
        <p:spPr>
          <a:xfrm>
            <a:off x="932136" y="4979889"/>
            <a:ext cx="1298448" cy="347472"/>
          </a:xfrm>
          <a:prstGeom prst="rect">
            <a:avLst/>
          </a:prstGeom>
          <a:noFill/>
          <a:ln/>
        </p:spPr>
        <p:txBody>
          <a:bodyPr wrap="square" lIns="0" tIns="0" rIns="0" bIns="0" rtlCol="0" anchor="ctr">
            <a:normAutofit/>
          </a:bodyPr>
          <a:lstStyle/>
          <a:p>
            <a:pPr marL="0" indent="0">
              <a:lnSpc>
                <a:spcPct val="102000"/>
              </a:lnSpc>
              <a:buNone/>
            </a:pPr>
            <a:r>
              <a:rPr lang="en-US" sz="1190" b="1" dirty="0">
                <a:solidFill>
                  <a:srgbClr val="263850"/>
                </a:solidFill>
                <a:latin typeface="Noto Sans CJK SC" pitchFamily="34" charset="0"/>
                <a:ea typeface="Noto Sans CJK SC" pitchFamily="34" charset="-122"/>
                <a:cs typeface="Noto Sans CJK SC" pitchFamily="34" charset="-120"/>
              </a:rPr>
              <a:t>TTFT (ms)</a:t>
            </a:r>
            <a:endParaRPr lang="en-US" sz="1190" dirty="0"/>
          </a:p>
        </p:txBody>
      </p:sp>
      <p:sp>
        <p:nvSpPr>
          <p:cNvPr id="66" name="Shape 38">
            <a:extLst>
              <a:ext uri="{FF2B5EF4-FFF2-40B4-BE49-F238E27FC236}">
                <a16:creationId xmlns:a16="http://schemas.microsoft.com/office/drawing/2014/main" id="{8D968D7E-2E3F-EA72-6D2E-48560A2DCAA4}"/>
              </a:ext>
            </a:extLst>
          </p:cNvPr>
          <p:cNvSpPr/>
          <p:nvPr/>
        </p:nvSpPr>
        <p:spPr>
          <a:xfrm>
            <a:off x="1702564" y="4961798"/>
            <a:ext cx="2962656" cy="155448"/>
          </a:xfrm>
          <a:prstGeom prst="rect">
            <a:avLst/>
          </a:prstGeom>
          <a:solidFill>
            <a:srgbClr val="EDF2F7"/>
          </a:solidFill>
          <a:ln w="12700">
            <a:solidFill>
              <a:srgbClr val="EDF2F7">
                <a:alpha val="0"/>
              </a:srgbClr>
            </a:solidFill>
            <a:prstDash val="solid"/>
          </a:ln>
        </p:spPr>
      </p:sp>
      <p:sp>
        <p:nvSpPr>
          <p:cNvPr id="67" name="Shape 39">
            <a:extLst>
              <a:ext uri="{FF2B5EF4-FFF2-40B4-BE49-F238E27FC236}">
                <a16:creationId xmlns:a16="http://schemas.microsoft.com/office/drawing/2014/main" id="{8329616C-B063-E4F7-720A-0EFDC90C13CE}"/>
              </a:ext>
            </a:extLst>
          </p:cNvPr>
          <p:cNvSpPr/>
          <p:nvPr/>
        </p:nvSpPr>
        <p:spPr>
          <a:xfrm>
            <a:off x="1702564" y="5208686"/>
            <a:ext cx="2962656" cy="155448"/>
          </a:xfrm>
          <a:prstGeom prst="rect">
            <a:avLst/>
          </a:prstGeom>
          <a:solidFill>
            <a:srgbClr val="EDF2F7"/>
          </a:solidFill>
          <a:ln w="12700">
            <a:solidFill>
              <a:srgbClr val="EDF2F7">
                <a:alpha val="0"/>
              </a:srgbClr>
            </a:solidFill>
            <a:prstDash val="solid"/>
          </a:ln>
        </p:spPr>
      </p:sp>
      <p:sp>
        <p:nvSpPr>
          <p:cNvPr id="68" name="Shape 40">
            <a:extLst>
              <a:ext uri="{FF2B5EF4-FFF2-40B4-BE49-F238E27FC236}">
                <a16:creationId xmlns:a16="http://schemas.microsoft.com/office/drawing/2014/main" id="{014E744D-244C-0DB0-1204-9C6F140E67B6}"/>
              </a:ext>
            </a:extLst>
          </p:cNvPr>
          <p:cNvSpPr/>
          <p:nvPr/>
        </p:nvSpPr>
        <p:spPr>
          <a:xfrm>
            <a:off x="1702564" y="4961798"/>
            <a:ext cx="2821577" cy="155448"/>
          </a:xfrm>
          <a:prstGeom prst="rect">
            <a:avLst/>
          </a:prstGeom>
          <a:solidFill>
            <a:srgbClr val="2868B8"/>
          </a:solidFill>
          <a:ln w="12700">
            <a:solidFill>
              <a:srgbClr val="2868B8">
                <a:alpha val="0"/>
              </a:srgbClr>
            </a:solidFill>
            <a:prstDash val="solid"/>
          </a:ln>
        </p:spPr>
      </p:sp>
      <p:sp>
        <p:nvSpPr>
          <p:cNvPr id="69" name="Shape 41">
            <a:extLst>
              <a:ext uri="{FF2B5EF4-FFF2-40B4-BE49-F238E27FC236}">
                <a16:creationId xmlns:a16="http://schemas.microsoft.com/office/drawing/2014/main" id="{325530D2-46F8-6E60-AE9B-963D947563D8}"/>
              </a:ext>
            </a:extLst>
          </p:cNvPr>
          <p:cNvSpPr/>
          <p:nvPr/>
        </p:nvSpPr>
        <p:spPr>
          <a:xfrm>
            <a:off x="1702564" y="5208686"/>
            <a:ext cx="1221733" cy="155448"/>
          </a:xfrm>
          <a:prstGeom prst="rect">
            <a:avLst/>
          </a:prstGeom>
          <a:solidFill>
            <a:srgbClr val="DD4051"/>
          </a:solidFill>
          <a:ln w="12700">
            <a:solidFill>
              <a:srgbClr val="DD4051">
                <a:alpha val="0"/>
              </a:srgbClr>
            </a:solidFill>
            <a:prstDash val="solid"/>
          </a:ln>
        </p:spPr>
      </p:sp>
      <p:sp>
        <p:nvSpPr>
          <p:cNvPr id="70" name="Text 42">
            <a:extLst>
              <a:ext uri="{FF2B5EF4-FFF2-40B4-BE49-F238E27FC236}">
                <a16:creationId xmlns:a16="http://schemas.microsoft.com/office/drawing/2014/main" id="{FDCE2776-FA20-EFD6-783B-8B30E6855D2B}"/>
              </a:ext>
            </a:extLst>
          </p:cNvPr>
          <p:cNvSpPr/>
          <p:nvPr/>
        </p:nvSpPr>
        <p:spPr>
          <a:xfrm>
            <a:off x="4178808" y="4919667"/>
            <a:ext cx="1444752" cy="237744"/>
          </a:xfrm>
          <a:prstGeom prst="rect">
            <a:avLst/>
          </a:prstGeom>
          <a:noFill/>
          <a:ln/>
        </p:spPr>
        <p:txBody>
          <a:bodyPr wrap="square" lIns="0" tIns="0" rIns="0" bIns="0" rtlCol="0" anchor="ctr">
            <a:normAutofit/>
          </a:bodyPr>
          <a:lstStyle/>
          <a:p>
            <a:pPr marL="0" indent="0" algn="r">
              <a:lnSpc>
                <a:spcPct val="102000"/>
              </a:lnSpc>
              <a:buNone/>
            </a:pPr>
            <a:r>
              <a:rPr lang="en-US" sz="1190" b="1" dirty="0">
                <a:solidFill>
                  <a:srgbClr val="2868B8"/>
                </a:solidFill>
                <a:latin typeface="Times New Roman" panose="02020603050405020304" pitchFamily="18" charset="0"/>
                <a:ea typeface="Noto Sans CJK SC" pitchFamily="34" charset="-122"/>
                <a:cs typeface="Times New Roman" panose="02020603050405020304" pitchFamily="18" charset="0"/>
              </a:rPr>
              <a:t>3,861</a:t>
            </a:r>
            <a:endParaRPr lang="en-US" sz="1190" dirty="0">
              <a:latin typeface="Times New Roman" panose="02020603050405020304" pitchFamily="18" charset="0"/>
              <a:cs typeface="Times New Roman" panose="02020603050405020304" pitchFamily="18" charset="0"/>
            </a:endParaRPr>
          </a:p>
        </p:txBody>
      </p:sp>
      <p:sp>
        <p:nvSpPr>
          <p:cNvPr id="71" name="Text 43">
            <a:extLst>
              <a:ext uri="{FF2B5EF4-FFF2-40B4-BE49-F238E27FC236}">
                <a16:creationId xmlns:a16="http://schemas.microsoft.com/office/drawing/2014/main" id="{87130002-74FE-58CD-9E42-58A6F14ED234}"/>
              </a:ext>
            </a:extLst>
          </p:cNvPr>
          <p:cNvSpPr/>
          <p:nvPr/>
        </p:nvSpPr>
        <p:spPr>
          <a:xfrm>
            <a:off x="4178808" y="5166555"/>
            <a:ext cx="1444752" cy="237744"/>
          </a:xfrm>
          <a:prstGeom prst="rect">
            <a:avLst/>
          </a:prstGeom>
          <a:noFill/>
          <a:ln/>
        </p:spPr>
        <p:txBody>
          <a:bodyPr wrap="square" lIns="0" tIns="0" rIns="0" bIns="0" rtlCol="0" anchor="ctr">
            <a:normAutofit/>
          </a:bodyPr>
          <a:lstStyle/>
          <a:p>
            <a:pPr marL="0" indent="0" algn="r">
              <a:lnSpc>
                <a:spcPct val="102000"/>
              </a:lnSpc>
              <a:buNone/>
            </a:pPr>
            <a:r>
              <a:rPr lang="en-US" sz="1190" b="1" dirty="0">
                <a:solidFill>
                  <a:srgbClr val="DD4051"/>
                </a:solidFill>
                <a:latin typeface="Times New Roman" panose="02020603050405020304" pitchFamily="18" charset="0"/>
                <a:ea typeface="Noto Sans CJK SC" pitchFamily="34" charset="-122"/>
                <a:cs typeface="Times New Roman" panose="02020603050405020304" pitchFamily="18" charset="0"/>
              </a:rPr>
              <a:t>1,671.8</a:t>
            </a:r>
            <a:endParaRPr lang="en-US" sz="1190" dirty="0">
              <a:latin typeface="Times New Roman" panose="02020603050405020304" pitchFamily="18" charset="0"/>
              <a:cs typeface="Times New Roman" panose="02020603050405020304" pitchFamily="18" charset="0"/>
            </a:endParaRPr>
          </a:p>
        </p:txBody>
      </p:sp>
      <p:sp>
        <p:nvSpPr>
          <p:cNvPr id="72" name="Shape 44">
            <a:extLst>
              <a:ext uri="{FF2B5EF4-FFF2-40B4-BE49-F238E27FC236}">
                <a16:creationId xmlns:a16="http://schemas.microsoft.com/office/drawing/2014/main" id="{3464309C-A95A-6A36-861A-DCD6A65481C6}"/>
              </a:ext>
            </a:extLst>
          </p:cNvPr>
          <p:cNvSpPr/>
          <p:nvPr/>
        </p:nvSpPr>
        <p:spPr>
          <a:xfrm>
            <a:off x="922992" y="5473664"/>
            <a:ext cx="5166671" cy="16633"/>
          </a:xfrm>
          <a:prstGeom prst="line">
            <a:avLst/>
          </a:prstGeom>
          <a:noFill/>
          <a:ln w="6350">
            <a:solidFill>
              <a:srgbClr val="DFE7F0"/>
            </a:solidFill>
            <a:prstDash val="solid"/>
          </a:ln>
        </p:spPr>
      </p:sp>
      <p:sp>
        <p:nvSpPr>
          <p:cNvPr id="73" name="Text 45">
            <a:extLst>
              <a:ext uri="{FF2B5EF4-FFF2-40B4-BE49-F238E27FC236}">
                <a16:creationId xmlns:a16="http://schemas.microsoft.com/office/drawing/2014/main" id="{0F768AE2-9F57-C1B1-00BB-567CEB3FC5EC}"/>
              </a:ext>
            </a:extLst>
          </p:cNvPr>
          <p:cNvSpPr/>
          <p:nvPr/>
        </p:nvSpPr>
        <p:spPr>
          <a:xfrm>
            <a:off x="932136" y="5610825"/>
            <a:ext cx="1298448" cy="347472"/>
          </a:xfrm>
          <a:prstGeom prst="rect">
            <a:avLst/>
          </a:prstGeom>
          <a:noFill/>
          <a:ln/>
        </p:spPr>
        <p:txBody>
          <a:bodyPr wrap="square" lIns="0" tIns="0" rIns="0" bIns="0" rtlCol="0" anchor="ctr">
            <a:normAutofit/>
          </a:bodyPr>
          <a:lstStyle/>
          <a:p>
            <a:pPr marL="0" indent="0">
              <a:lnSpc>
                <a:spcPct val="102000"/>
              </a:lnSpc>
              <a:buNone/>
            </a:pPr>
            <a:r>
              <a:rPr lang="en-US" sz="1190" b="1" dirty="0">
                <a:solidFill>
                  <a:srgbClr val="263850"/>
                </a:solidFill>
                <a:latin typeface="Noto Sans CJK SC" pitchFamily="34" charset="0"/>
                <a:ea typeface="Noto Sans CJK SC" pitchFamily="34" charset="-122"/>
                <a:cs typeface="Noto Sans CJK SC" pitchFamily="34" charset="-120"/>
              </a:rPr>
              <a:t>TPOT (ms)</a:t>
            </a:r>
            <a:endParaRPr lang="en-US" sz="1190" dirty="0"/>
          </a:p>
        </p:txBody>
      </p:sp>
      <p:sp>
        <p:nvSpPr>
          <p:cNvPr id="74" name="Shape 46">
            <a:extLst>
              <a:ext uri="{FF2B5EF4-FFF2-40B4-BE49-F238E27FC236}">
                <a16:creationId xmlns:a16="http://schemas.microsoft.com/office/drawing/2014/main" id="{91A68FE1-C053-69AB-3B41-6129DCB7C37C}"/>
              </a:ext>
            </a:extLst>
          </p:cNvPr>
          <p:cNvSpPr/>
          <p:nvPr/>
        </p:nvSpPr>
        <p:spPr>
          <a:xfrm>
            <a:off x="1702564" y="5592734"/>
            <a:ext cx="2962656" cy="155448"/>
          </a:xfrm>
          <a:prstGeom prst="rect">
            <a:avLst/>
          </a:prstGeom>
          <a:solidFill>
            <a:srgbClr val="EDF2F7"/>
          </a:solidFill>
          <a:ln w="12700">
            <a:solidFill>
              <a:srgbClr val="EDF2F7">
                <a:alpha val="0"/>
              </a:srgbClr>
            </a:solidFill>
            <a:prstDash val="solid"/>
          </a:ln>
        </p:spPr>
      </p:sp>
      <p:sp>
        <p:nvSpPr>
          <p:cNvPr id="75" name="Shape 47">
            <a:extLst>
              <a:ext uri="{FF2B5EF4-FFF2-40B4-BE49-F238E27FC236}">
                <a16:creationId xmlns:a16="http://schemas.microsoft.com/office/drawing/2014/main" id="{54F79F46-858D-3741-17E6-7B8FFEAB4086}"/>
              </a:ext>
            </a:extLst>
          </p:cNvPr>
          <p:cNvSpPr/>
          <p:nvPr/>
        </p:nvSpPr>
        <p:spPr>
          <a:xfrm>
            <a:off x="1702564" y="5839622"/>
            <a:ext cx="2962656" cy="155448"/>
          </a:xfrm>
          <a:prstGeom prst="rect">
            <a:avLst/>
          </a:prstGeom>
          <a:solidFill>
            <a:srgbClr val="EDF2F7"/>
          </a:solidFill>
          <a:ln w="12700">
            <a:solidFill>
              <a:srgbClr val="EDF2F7">
                <a:alpha val="0"/>
              </a:srgbClr>
            </a:solidFill>
            <a:prstDash val="solid"/>
          </a:ln>
        </p:spPr>
      </p:sp>
      <p:sp>
        <p:nvSpPr>
          <p:cNvPr id="76" name="Shape 48">
            <a:extLst>
              <a:ext uri="{FF2B5EF4-FFF2-40B4-BE49-F238E27FC236}">
                <a16:creationId xmlns:a16="http://schemas.microsoft.com/office/drawing/2014/main" id="{B0D03CA6-4D92-AB77-B0AA-E859C6641836}"/>
              </a:ext>
            </a:extLst>
          </p:cNvPr>
          <p:cNvSpPr/>
          <p:nvPr/>
        </p:nvSpPr>
        <p:spPr>
          <a:xfrm>
            <a:off x="1702564" y="5592734"/>
            <a:ext cx="2821577" cy="155448"/>
          </a:xfrm>
          <a:prstGeom prst="rect">
            <a:avLst/>
          </a:prstGeom>
          <a:solidFill>
            <a:srgbClr val="2868B8"/>
          </a:solidFill>
          <a:ln w="12700">
            <a:solidFill>
              <a:srgbClr val="2868B8">
                <a:alpha val="0"/>
              </a:srgbClr>
            </a:solidFill>
            <a:prstDash val="solid"/>
          </a:ln>
        </p:spPr>
      </p:sp>
      <p:sp>
        <p:nvSpPr>
          <p:cNvPr id="77" name="Shape 49">
            <a:extLst>
              <a:ext uri="{FF2B5EF4-FFF2-40B4-BE49-F238E27FC236}">
                <a16:creationId xmlns:a16="http://schemas.microsoft.com/office/drawing/2014/main" id="{BC5E5256-F3ED-47EA-2E79-A71C34F79485}"/>
              </a:ext>
            </a:extLst>
          </p:cNvPr>
          <p:cNvSpPr/>
          <p:nvPr/>
        </p:nvSpPr>
        <p:spPr>
          <a:xfrm>
            <a:off x="1702564" y="5839622"/>
            <a:ext cx="2461623" cy="155448"/>
          </a:xfrm>
          <a:prstGeom prst="rect">
            <a:avLst/>
          </a:prstGeom>
          <a:solidFill>
            <a:srgbClr val="DD4051"/>
          </a:solidFill>
          <a:ln w="12700">
            <a:solidFill>
              <a:srgbClr val="DD4051">
                <a:alpha val="0"/>
              </a:srgbClr>
            </a:solidFill>
            <a:prstDash val="solid"/>
          </a:ln>
        </p:spPr>
      </p:sp>
      <p:sp>
        <p:nvSpPr>
          <p:cNvPr id="78" name="Text 50">
            <a:extLst>
              <a:ext uri="{FF2B5EF4-FFF2-40B4-BE49-F238E27FC236}">
                <a16:creationId xmlns:a16="http://schemas.microsoft.com/office/drawing/2014/main" id="{02864A72-FA1E-8C74-34AA-0E813B5B8BCD}"/>
              </a:ext>
            </a:extLst>
          </p:cNvPr>
          <p:cNvSpPr/>
          <p:nvPr/>
        </p:nvSpPr>
        <p:spPr>
          <a:xfrm>
            <a:off x="4178808" y="5550603"/>
            <a:ext cx="1444752" cy="237744"/>
          </a:xfrm>
          <a:prstGeom prst="rect">
            <a:avLst/>
          </a:prstGeom>
          <a:noFill/>
          <a:ln/>
        </p:spPr>
        <p:txBody>
          <a:bodyPr wrap="square" lIns="0" tIns="0" rIns="0" bIns="0" rtlCol="0" anchor="ctr">
            <a:normAutofit/>
          </a:bodyPr>
          <a:lstStyle/>
          <a:p>
            <a:pPr algn="r">
              <a:lnSpc>
                <a:spcPct val="102000"/>
              </a:lnSpc>
            </a:pPr>
            <a:r>
              <a:rPr lang="en-US" sz="1190" b="1">
                <a:solidFill>
                  <a:srgbClr val="2868B8"/>
                </a:solidFill>
                <a:latin typeface="Times New Roman" panose="02020603050405020304" pitchFamily="18" charset="0"/>
                <a:ea typeface="Noto Sans CJK SC" pitchFamily="34" charset="-122"/>
                <a:cs typeface="Times New Roman" panose="02020603050405020304" pitchFamily="18" charset="0"/>
              </a:rPr>
              <a:t>24.3</a:t>
            </a:r>
            <a:endParaRPr lang="en-US" sz="119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79" name="Text 51">
            <a:extLst>
              <a:ext uri="{FF2B5EF4-FFF2-40B4-BE49-F238E27FC236}">
                <a16:creationId xmlns:a16="http://schemas.microsoft.com/office/drawing/2014/main" id="{59873509-27B6-2F64-607B-273A9AACDD0E}"/>
              </a:ext>
            </a:extLst>
          </p:cNvPr>
          <p:cNvSpPr/>
          <p:nvPr/>
        </p:nvSpPr>
        <p:spPr>
          <a:xfrm>
            <a:off x="4178808" y="5797491"/>
            <a:ext cx="1444752" cy="237744"/>
          </a:xfrm>
          <a:prstGeom prst="rect">
            <a:avLst/>
          </a:prstGeom>
          <a:noFill/>
          <a:ln/>
        </p:spPr>
        <p:txBody>
          <a:bodyPr wrap="square" lIns="0" tIns="0" rIns="0" bIns="0" rtlCol="0" anchor="ctr">
            <a:normAutofit/>
          </a:bodyPr>
          <a:lstStyle/>
          <a:p>
            <a:pPr algn="r">
              <a:lnSpc>
                <a:spcPct val="102000"/>
              </a:lnSpc>
            </a:pPr>
            <a:r>
              <a:rPr lang="en-US" sz="1190" b="1">
                <a:solidFill>
                  <a:srgbClr val="DD4051"/>
                </a:solidFill>
                <a:latin typeface="Times New Roman" panose="02020603050405020304" pitchFamily="18" charset="0"/>
                <a:ea typeface="Noto Sans CJK SC" pitchFamily="34" charset="-122"/>
                <a:cs typeface="Times New Roman" panose="02020603050405020304" pitchFamily="18" charset="0"/>
              </a:rPr>
              <a:t>21.2</a:t>
            </a:r>
            <a:endParaRPr lang="en-US" sz="1190" b="1" dirty="0">
              <a:solidFill>
                <a:srgbClr val="DD4051"/>
              </a:solidFill>
              <a:latin typeface="Times New Roman" panose="02020603050405020304" pitchFamily="18" charset="0"/>
              <a:ea typeface="Noto Sans CJK SC" pitchFamily="34" charset="-122"/>
              <a:cs typeface="Times New Roman" panose="02020603050405020304" pitchFamily="18" charset="0"/>
            </a:endParaRPr>
          </a:p>
        </p:txBody>
      </p:sp>
      <p:sp>
        <p:nvSpPr>
          <p:cNvPr id="80" name="Shape 52">
            <a:extLst>
              <a:ext uri="{FF2B5EF4-FFF2-40B4-BE49-F238E27FC236}">
                <a16:creationId xmlns:a16="http://schemas.microsoft.com/office/drawing/2014/main" id="{6DF7CE1D-F1F2-C049-4304-F4004D81D9D6}"/>
              </a:ext>
            </a:extLst>
          </p:cNvPr>
          <p:cNvSpPr/>
          <p:nvPr/>
        </p:nvSpPr>
        <p:spPr>
          <a:xfrm>
            <a:off x="922992" y="6104601"/>
            <a:ext cx="5166671" cy="16632"/>
          </a:xfrm>
          <a:prstGeom prst="line">
            <a:avLst/>
          </a:prstGeom>
          <a:noFill/>
          <a:ln w="6350">
            <a:solidFill>
              <a:srgbClr val="DFE7F0"/>
            </a:solidFill>
            <a:prstDash val="solid"/>
          </a:ln>
        </p:spPr>
      </p:sp>
      <p:sp>
        <p:nvSpPr>
          <p:cNvPr id="81" name="Shape 33">
            <a:extLst>
              <a:ext uri="{FF2B5EF4-FFF2-40B4-BE49-F238E27FC236}">
                <a16:creationId xmlns:a16="http://schemas.microsoft.com/office/drawing/2014/main" id="{05DA91F3-EAD7-6B01-5472-C952543A4FD7}"/>
              </a:ext>
            </a:extLst>
          </p:cNvPr>
          <p:cNvSpPr/>
          <p:nvPr/>
        </p:nvSpPr>
        <p:spPr>
          <a:xfrm>
            <a:off x="1253235" y="4263583"/>
            <a:ext cx="2377440" cy="392360"/>
          </a:xfrm>
          <a:prstGeom prst="roundRect">
            <a:avLst>
              <a:gd name="adj" fmla="val 35294"/>
            </a:avLst>
          </a:prstGeom>
          <a:solidFill>
            <a:srgbClr val="FFF0F2"/>
          </a:solidFill>
          <a:ln w="12700">
            <a:solidFill>
              <a:srgbClr val="FFF0F2"/>
            </a:solidFill>
            <a:prstDash val="solid"/>
          </a:ln>
        </p:spPr>
      </p:sp>
      <p:sp>
        <p:nvSpPr>
          <p:cNvPr id="82" name="Text 34">
            <a:extLst>
              <a:ext uri="{FF2B5EF4-FFF2-40B4-BE49-F238E27FC236}">
                <a16:creationId xmlns:a16="http://schemas.microsoft.com/office/drawing/2014/main" id="{D00DD871-D7B5-AB2F-077A-C9B70D17943D}"/>
              </a:ext>
            </a:extLst>
          </p:cNvPr>
          <p:cNvSpPr/>
          <p:nvPr/>
        </p:nvSpPr>
        <p:spPr>
          <a:xfrm>
            <a:off x="1335531" y="4272727"/>
            <a:ext cx="2212848" cy="369280"/>
          </a:xfrm>
          <a:prstGeom prst="rect">
            <a:avLst/>
          </a:prstGeom>
          <a:noFill/>
          <a:ln/>
        </p:spPr>
        <p:txBody>
          <a:bodyPr wrap="square" lIns="0" tIns="0" rIns="0" bIns="0" rtlCol="0" anchor="ctr">
            <a:normAutofit/>
          </a:bodyPr>
          <a:lstStyle/>
          <a:p>
            <a:pPr algn="ctr">
              <a:lnSpc>
                <a:spcPct val="102000"/>
              </a:lnSpc>
            </a:pPr>
            <a:r>
              <a:rPr lang="en-US" sz="1060" b="1">
                <a:solidFill>
                  <a:srgbClr val="DD4051"/>
                </a:solidFill>
                <a:latin typeface="Times New Roman" panose="02020603050405020304" pitchFamily="18" charset="0"/>
                <a:ea typeface="Noto Sans CJK SC" pitchFamily="34" charset="-122"/>
                <a:cs typeface="Times New Roman" panose="02020603050405020304" pitchFamily="18" charset="0"/>
              </a:rPr>
              <a:t>A5 </a:t>
            </a:r>
            <a:r>
              <a:rPr lang="en-US" altLang="zh-CN" sz="1060" b="1">
                <a:solidFill>
                  <a:srgbClr val="DD4051"/>
                </a:solidFill>
                <a:latin typeface="Times New Roman" panose="02020603050405020304" pitchFamily="18" charset="0"/>
                <a:ea typeface="Noto Sans CJK SC" pitchFamily="34" charset="-122"/>
                <a:cs typeface="Times New Roman" panose="02020603050405020304" pitchFamily="18" charset="0"/>
              </a:rPr>
              <a:t>输出吞吐 </a:t>
            </a:r>
            <a:r>
              <a:rPr lang="en-US" sz="1060" b="1">
                <a:solidFill>
                  <a:srgbClr val="DD4051"/>
                </a:solidFill>
                <a:latin typeface="Times New Roman" panose="02020603050405020304" pitchFamily="18" charset="0"/>
                <a:ea typeface="Noto Sans CJK SC" pitchFamily="34" charset="-122"/>
                <a:cs typeface="Times New Roman" panose="02020603050405020304" pitchFamily="18" charset="0"/>
              </a:rPr>
              <a:t>1400.42 tok/</a:t>
            </a:r>
            <a:r>
              <a:rPr lang="en-US" sz="1060" b="1" dirty="0">
                <a:solidFill>
                  <a:srgbClr val="DD4051"/>
                </a:solidFill>
                <a:latin typeface="Times New Roman" panose="02020603050405020304" pitchFamily="18" charset="0"/>
                <a:ea typeface="Noto Sans CJK SC" pitchFamily="34" charset="-122"/>
                <a:cs typeface="Times New Roman" panose="02020603050405020304" pitchFamily="18" charset="0"/>
              </a:rPr>
              <a:t>s</a:t>
            </a:r>
            <a:endParaRPr lang="en-US" sz="1060" dirty="0">
              <a:latin typeface="Times New Roman" panose="02020603050405020304" pitchFamily="18" charset="0"/>
              <a:cs typeface="Times New Roman" panose="02020603050405020304" pitchFamily="18" charset="0"/>
            </a:endParaRPr>
          </a:p>
        </p:txBody>
      </p:sp>
      <p:sp>
        <p:nvSpPr>
          <p:cNvPr id="83" name="Shape 35">
            <a:extLst>
              <a:ext uri="{FF2B5EF4-FFF2-40B4-BE49-F238E27FC236}">
                <a16:creationId xmlns:a16="http://schemas.microsoft.com/office/drawing/2014/main" id="{C19D3DF8-F899-2921-B5E5-CB68FD3E7A11}"/>
              </a:ext>
            </a:extLst>
          </p:cNvPr>
          <p:cNvSpPr/>
          <p:nvPr/>
        </p:nvSpPr>
        <p:spPr>
          <a:xfrm>
            <a:off x="3731259" y="4263583"/>
            <a:ext cx="2258568" cy="392360"/>
          </a:xfrm>
          <a:prstGeom prst="roundRect">
            <a:avLst>
              <a:gd name="adj" fmla="val 35294"/>
            </a:avLst>
          </a:prstGeom>
          <a:solidFill>
            <a:srgbClr val="EAF2FC"/>
          </a:solidFill>
          <a:ln w="12700">
            <a:solidFill>
              <a:srgbClr val="EAF2FC"/>
            </a:solidFill>
            <a:prstDash val="solid"/>
          </a:ln>
        </p:spPr>
      </p:sp>
      <p:sp>
        <p:nvSpPr>
          <p:cNvPr id="84" name="Text 36">
            <a:extLst>
              <a:ext uri="{FF2B5EF4-FFF2-40B4-BE49-F238E27FC236}">
                <a16:creationId xmlns:a16="http://schemas.microsoft.com/office/drawing/2014/main" id="{E882BDE8-62DB-2F7F-63F1-FDF3BC29CA80}"/>
              </a:ext>
            </a:extLst>
          </p:cNvPr>
          <p:cNvSpPr/>
          <p:nvPr/>
        </p:nvSpPr>
        <p:spPr>
          <a:xfrm>
            <a:off x="3813555" y="4272727"/>
            <a:ext cx="2093976" cy="369280"/>
          </a:xfrm>
          <a:prstGeom prst="rect">
            <a:avLst/>
          </a:prstGeom>
          <a:noFill/>
          <a:ln/>
        </p:spPr>
        <p:txBody>
          <a:bodyPr wrap="square" lIns="0" tIns="0" rIns="0" bIns="0" rtlCol="0" anchor="ctr">
            <a:normAutofit/>
          </a:bodyPr>
          <a:lstStyle/>
          <a:p>
            <a:pPr algn="ctr">
              <a:lnSpc>
                <a:spcPct val="102000"/>
              </a:lnSpc>
            </a:pPr>
            <a:r>
              <a:rPr lang="en-US" sz="1060" b="1">
                <a:solidFill>
                  <a:srgbClr val="2868B8"/>
                </a:solidFill>
                <a:latin typeface="Times New Roman" panose="02020603050405020304" pitchFamily="18" charset="0"/>
                <a:ea typeface="Noto Sans CJK SC" pitchFamily="34" charset="-122"/>
                <a:cs typeface="Times New Roman" panose="02020603050405020304" pitchFamily="18" charset="0"/>
              </a:rPr>
              <a:t>H20 </a:t>
            </a:r>
            <a:r>
              <a:rPr lang="en-US" altLang="zh-CN" sz="1060" b="1">
                <a:solidFill>
                  <a:srgbClr val="2868B8"/>
                </a:solidFill>
                <a:latin typeface="Times New Roman" panose="02020603050405020304" pitchFamily="18" charset="0"/>
                <a:ea typeface="Noto Sans CJK SC" pitchFamily="34" charset="-122"/>
                <a:cs typeface="Times New Roman" panose="02020603050405020304" pitchFamily="18" charset="0"/>
              </a:rPr>
              <a:t>输出吞吐</a:t>
            </a:r>
            <a:r>
              <a:rPr lang="en-US" sz="1060" b="1">
                <a:solidFill>
                  <a:srgbClr val="2868B8"/>
                </a:solidFill>
                <a:latin typeface="Times New Roman" panose="02020603050405020304" pitchFamily="18" charset="0"/>
                <a:ea typeface="Noto Sans CJK SC" pitchFamily="34" charset="-122"/>
                <a:cs typeface="Times New Roman" panose="02020603050405020304" pitchFamily="18" charset="0"/>
              </a:rPr>
              <a:t> </a:t>
            </a:r>
            <a:r>
              <a:rPr lang="en-US" sz="1060" b="1" dirty="0">
                <a:solidFill>
                  <a:srgbClr val="2868B8"/>
                </a:solidFill>
                <a:latin typeface="Times New Roman" panose="02020603050405020304" pitchFamily="18" charset="0"/>
                <a:ea typeface="Noto Sans CJK SC" pitchFamily="34" charset="-122"/>
                <a:cs typeface="Times New Roman" panose="02020603050405020304" pitchFamily="18" charset="0"/>
              </a:rPr>
              <a:t>684 tok/s</a:t>
            </a:r>
            <a:endParaRPr lang="en-US" sz="1060" dirty="0">
              <a:latin typeface="Times New Roman" panose="02020603050405020304" pitchFamily="18" charset="0"/>
              <a:cs typeface="Times New Roman" panose="02020603050405020304" pitchFamily="18" charset="0"/>
            </a:endParaRPr>
          </a:p>
        </p:txBody>
      </p:sp>
      <p:sp>
        <p:nvSpPr>
          <p:cNvPr id="85" name="Text 17">
            <a:extLst>
              <a:ext uri="{FF2B5EF4-FFF2-40B4-BE49-F238E27FC236}">
                <a16:creationId xmlns:a16="http://schemas.microsoft.com/office/drawing/2014/main" id="{38A45097-7674-D8C3-3D0C-49D924892B51}"/>
              </a:ext>
            </a:extLst>
          </p:cNvPr>
          <p:cNvSpPr/>
          <p:nvPr/>
        </p:nvSpPr>
        <p:spPr>
          <a:xfrm>
            <a:off x="3608592" y="3842622"/>
            <a:ext cx="2455293" cy="281081"/>
          </a:xfrm>
          <a:prstGeom prst="rect">
            <a:avLst/>
          </a:prstGeom>
          <a:noFill/>
          <a:ln/>
        </p:spPr>
        <p:txBody>
          <a:bodyPr wrap="square" lIns="0" tIns="0" rIns="0" bIns="0" rtlCol="0" anchor="ctr">
            <a:normAutofit/>
          </a:bodyPr>
          <a:lstStyle/>
          <a:p>
            <a:pPr marL="0" indent="0">
              <a:lnSpc>
                <a:spcPct val="102000"/>
              </a:lnSpc>
              <a:buNone/>
            </a:pPr>
            <a:r>
              <a:rPr lang="en-US" sz="1110" dirty="0">
                <a:solidFill>
                  <a:srgbClr val="697C95"/>
                </a:solidFill>
                <a:latin typeface="Times New Roman" panose="02020603050405020304" pitchFamily="18" charset="0"/>
                <a:ea typeface="Noto Sans CJK SC" pitchFamily="34" charset="-122"/>
                <a:cs typeface="Times New Roman" panose="02020603050405020304" pitchFamily="18" charset="0"/>
              </a:rPr>
              <a:t>TP=4   |   batch_size=</a:t>
            </a:r>
            <a:r>
              <a:rPr lang="en-US" sz="1110">
                <a:solidFill>
                  <a:srgbClr val="697C95"/>
                </a:solidFill>
                <a:latin typeface="Times New Roman" panose="02020603050405020304" pitchFamily="18" charset="0"/>
                <a:ea typeface="Noto Sans CJK SC" pitchFamily="34" charset="-122"/>
                <a:cs typeface="Times New Roman" panose="02020603050405020304" pitchFamily="18" charset="0"/>
              </a:rPr>
              <a:t>32   |   Requests=128</a:t>
            </a:r>
            <a:endParaRPr lang="en-US" sz="1110" dirty="0">
              <a:latin typeface="Times New Roman" panose="02020603050405020304" pitchFamily="18" charset="0"/>
              <a:cs typeface="Times New Roman" panose="02020603050405020304" pitchFamily="18" charset="0"/>
            </a:endParaRPr>
          </a:p>
        </p:txBody>
      </p:sp>
      <p:sp>
        <p:nvSpPr>
          <p:cNvPr id="86" name="Text 17">
            <a:extLst>
              <a:ext uri="{FF2B5EF4-FFF2-40B4-BE49-F238E27FC236}">
                <a16:creationId xmlns:a16="http://schemas.microsoft.com/office/drawing/2014/main" id="{91F0CDBE-05EC-EA5E-8501-16467BD533E9}"/>
              </a:ext>
            </a:extLst>
          </p:cNvPr>
          <p:cNvSpPr/>
          <p:nvPr/>
        </p:nvSpPr>
        <p:spPr>
          <a:xfrm>
            <a:off x="8930835" y="3849624"/>
            <a:ext cx="4937760" cy="256032"/>
          </a:xfrm>
          <a:prstGeom prst="rect">
            <a:avLst/>
          </a:prstGeom>
          <a:noFill/>
          <a:ln/>
        </p:spPr>
        <p:txBody>
          <a:bodyPr wrap="square" lIns="0" tIns="0" rIns="0" bIns="0" rtlCol="0" anchor="ctr">
            <a:normAutofit/>
          </a:bodyPr>
          <a:lstStyle/>
          <a:p>
            <a:pPr>
              <a:lnSpc>
                <a:spcPct val="102000"/>
              </a:lnSpc>
            </a:pPr>
            <a:r>
              <a:rPr lang="en-US" sz="1110" dirty="0">
                <a:solidFill>
                  <a:srgbClr val="697C95"/>
                </a:solidFill>
                <a:latin typeface="Times New Roman" panose="02020603050405020304" pitchFamily="18" charset="0"/>
                <a:ea typeface="Noto Sans CJK SC" pitchFamily="34" charset="-122"/>
                <a:cs typeface="Times New Roman" panose="02020603050405020304" pitchFamily="18" charset="0"/>
              </a:rPr>
              <a:t>TP=1 / DP=4 / </a:t>
            </a:r>
            <a:r>
              <a:rPr lang="en-US" sz="1110">
                <a:solidFill>
                  <a:srgbClr val="697C95"/>
                </a:solidFill>
                <a:latin typeface="Times New Roman" panose="02020603050405020304" pitchFamily="18" charset="0"/>
                <a:ea typeface="Noto Sans CJK SC" pitchFamily="34" charset="-122"/>
                <a:cs typeface="Times New Roman" panose="02020603050405020304" pitchFamily="18" charset="0"/>
              </a:rPr>
              <a:t>EP  |  batch_size=</a:t>
            </a:r>
            <a:r>
              <a:rPr lang="en-US" sz="1110" dirty="0">
                <a:solidFill>
                  <a:srgbClr val="697C95"/>
                </a:solidFill>
                <a:latin typeface="Times New Roman" panose="02020603050405020304" pitchFamily="18" charset="0"/>
                <a:ea typeface="Noto Sans CJK SC" pitchFamily="34" charset="-122"/>
                <a:cs typeface="Times New Roman" panose="02020603050405020304" pitchFamily="18" charset="0"/>
              </a:rPr>
              <a:t>512 |  Requests</a:t>
            </a:r>
            <a:r>
              <a:rPr lang="en-US" sz="1110">
                <a:solidFill>
                  <a:srgbClr val="697C95"/>
                </a:solidFill>
                <a:latin typeface="Times New Roman" panose="02020603050405020304" pitchFamily="18" charset="0"/>
                <a:ea typeface="Noto Sans CJK SC" pitchFamily="34" charset="-122"/>
                <a:cs typeface="Times New Roman" panose="02020603050405020304" pitchFamily="18" charset="0"/>
              </a:rPr>
              <a:t>=1024</a:t>
            </a:r>
            <a:endParaRPr lang="en-US" sz="1110" dirty="0">
              <a:solidFill>
                <a:srgbClr val="697C95"/>
              </a:solidFill>
              <a:latin typeface="Times New Roman" panose="02020603050405020304" pitchFamily="18" charset="0"/>
              <a:ea typeface="Noto Sans CJK SC" pitchFamily="34" charset="-122"/>
              <a:cs typeface="Times New Roman" panose="02020603050405020304" pitchFamily="18" charset="0"/>
            </a:endParaRPr>
          </a:p>
        </p:txBody>
      </p:sp>
      <p:sp>
        <p:nvSpPr>
          <p:cNvPr id="87" name="Shape 23">
            <a:extLst>
              <a:ext uri="{FF2B5EF4-FFF2-40B4-BE49-F238E27FC236}">
                <a16:creationId xmlns:a16="http://schemas.microsoft.com/office/drawing/2014/main" id="{39B859E4-5FC0-FD74-378A-8C5F1BA25B3C}"/>
              </a:ext>
            </a:extLst>
          </p:cNvPr>
          <p:cNvSpPr/>
          <p:nvPr/>
        </p:nvSpPr>
        <p:spPr>
          <a:xfrm>
            <a:off x="2796286" y="6305201"/>
            <a:ext cx="109728" cy="109728"/>
          </a:xfrm>
          <a:prstGeom prst="rect">
            <a:avLst/>
          </a:prstGeom>
          <a:solidFill>
            <a:srgbClr val="2868B8"/>
          </a:solidFill>
          <a:ln w="12700">
            <a:solidFill>
              <a:srgbClr val="2868B8">
                <a:alpha val="0"/>
              </a:srgbClr>
            </a:solidFill>
            <a:prstDash val="solid"/>
          </a:ln>
        </p:spPr>
      </p:sp>
      <p:sp>
        <p:nvSpPr>
          <p:cNvPr id="88" name="Text 24">
            <a:extLst>
              <a:ext uri="{FF2B5EF4-FFF2-40B4-BE49-F238E27FC236}">
                <a16:creationId xmlns:a16="http://schemas.microsoft.com/office/drawing/2014/main" id="{F681F6C2-BF12-1CDA-CA58-0A165BDC7F0D}"/>
              </a:ext>
            </a:extLst>
          </p:cNvPr>
          <p:cNvSpPr/>
          <p:nvPr/>
        </p:nvSpPr>
        <p:spPr>
          <a:xfrm>
            <a:off x="2960878" y="6195473"/>
            <a:ext cx="685800" cy="256032"/>
          </a:xfrm>
          <a:prstGeom prst="rect">
            <a:avLst/>
          </a:prstGeom>
          <a:noFill/>
          <a:ln/>
        </p:spPr>
        <p:txBody>
          <a:bodyPr wrap="square" lIns="0" tIns="0" rIns="0" bIns="0" rtlCol="0" anchor="ctr">
            <a:normAutofit/>
          </a:bodyPr>
          <a:lstStyle/>
          <a:p>
            <a:pPr marL="0" indent="0">
              <a:lnSpc>
                <a:spcPct val="102000"/>
              </a:lnSpc>
              <a:buNone/>
            </a:pPr>
            <a:r>
              <a:rPr lang="en-US" sz="1040" dirty="0">
                <a:solidFill>
                  <a:srgbClr val="697C95"/>
                </a:solidFill>
                <a:latin typeface="Times New Roman" panose="02020603050405020304" pitchFamily="18" charset="0"/>
                <a:ea typeface="Noto Sans CJK SC" pitchFamily="34" charset="-122"/>
                <a:cs typeface="Times New Roman" panose="02020603050405020304" pitchFamily="18" charset="0"/>
              </a:rPr>
              <a:t>H20</a:t>
            </a:r>
            <a:endParaRPr lang="en-US" sz="1040" dirty="0">
              <a:latin typeface="Times New Roman" panose="02020603050405020304" pitchFamily="18" charset="0"/>
              <a:cs typeface="Times New Roman" panose="02020603050405020304" pitchFamily="18" charset="0"/>
            </a:endParaRPr>
          </a:p>
        </p:txBody>
      </p:sp>
      <p:sp>
        <p:nvSpPr>
          <p:cNvPr id="89" name="Shape 25">
            <a:extLst>
              <a:ext uri="{FF2B5EF4-FFF2-40B4-BE49-F238E27FC236}">
                <a16:creationId xmlns:a16="http://schemas.microsoft.com/office/drawing/2014/main" id="{1E492BE4-95CD-3655-3D3F-9EDA81CD41A8}"/>
              </a:ext>
            </a:extLst>
          </p:cNvPr>
          <p:cNvSpPr/>
          <p:nvPr/>
        </p:nvSpPr>
        <p:spPr>
          <a:xfrm>
            <a:off x="3802126" y="6305201"/>
            <a:ext cx="109728" cy="109728"/>
          </a:xfrm>
          <a:prstGeom prst="rect">
            <a:avLst/>
          </a:prstGeom>
          <a:solidFill>
            <a:srgbClr val="DD4051"/>
          </a:solidFill>
          <a:ln w="12700">
            <a:solidFill>
              <a:srgbClr val="DD4051">
                <a:alpha val="0"/>
              </a:srgbClr>
            </a:solidFill>
            <a:prstDash val="solid"/>
          </a:ln>
        </p:spPr>
      </p:sp>
      <p:sp>
        <p:nvSpPr>
          <p:cNvPr id="90" name="Text 26">
            <a:extLst>
              <a:ext uri="{FF2B5EF4-FFF2-40B4-BE49-F238E27FC236}">
                <a16:creationId xmlns:a16="http://schemas.microsoft.com/office/drawing/2014/main" id="{FAAA3649-4F85-1E73-3F01-3F361EB9AD3A}"/>
              </a:ext>
            </a:extLst>
          </p:cNvPr>
          <p:cNvSpPr/>
          <p:nvPr/>
        </p:nvSpPr>
        <p:spPr>
          <a:xfrm>
            <a:off x="3975862" y="6195473"/>
            <a:ext cx="493776" cy="256032"/>
          </a:xfrm>
          <a:prstGeom prst="rect">
            <a:avLst/>
          </a:prstGeom>
          <a:noFill/>
          <a:ln/>
        </p:spPr>
        <p:txBody>
          <a:bodyPr wrap="square" lIns="0" tIns="0" rIns="0" bIns="0" rtlCol="0" anchor="ctr">
            <a:normAutofit/>
          </a:bodyPr>
          <a:lstStyle/>
          <a:p>
            <a:pPr marL="0" indent="0">
              <a:lnSpc>
                <a:spcPct val="102000"/>
              </a:lnSpc>
              <a:buNone/>
            </a:pPr>
            <a:r>
              <a:rPr lang="en-US" sz="1040" dirty="0">
                <a:solidFill>
                  <a:srgbClr val="697C95"/>
                </a:solidFill>
                <a:latin typeface="Noto Sans CJK SC" pitchFamily="34" charset="0"/>
                <a:ea typeface="Noto Sans CJK SC" pitchFamily="34" charset="-122"/>
                <a:cs typeface="Noto Sans CJK SC" pitchFamily="34" charset="-120"/>
              </a:rPr>
              <a:t>A5</a:t>
            </a:r>
            <a:endParaRPr lang="en-US" sz="1040" dirty="0"/>
          </a:p>
        </p:txBody>
      </p:sp>
      <p:sp>
        <p:nvSpPr>
          <p:cNvPr id="91" name="Text 45">
            <a:extLst>
              <a:ext uri="{FF2B5EF4-FFF2-40B4-BE49-F238E27FC236}">
                <a16:creationId xmlns:a16="http://schemas.microsoft.com/office/drawing/2014/main" id="{B17D8DAD-F509-DFE4-8A98-CCA5EF336E79}"/>
              </a:ext>
            </a:extLst>
          </p:cNvPr>
          <p:cNvSpPr/>
          <p:nvPr/>
        </p:nvSpPr>
        <p:spPr>
          <a:xfrm>
            <a:off x="6745329" y="4991220"/>
            <a:ext cx="1298448" cy="347472"/>
          </a:xfrm>
          <a:prstGeom prst="rect">
            <a:avLst/>
          </a:prstGeom>
          <a:noFill/>
          <a:ln/>
        </p:spPr>
        <p:txBody>
          <a:bodyPr wrap="square" lIns="0" tIns="0" rIns="0" bIns="0" rtlCol="0" anchor="ctr">
            <a:normAutofit/>
          </a:bodyPr>
          <a:lstStyle/>
          <a:p>
            <a:pPr marL="0" indent="0">
              <a:lnSpc>
                <a:spcPct val="102000"/>
              </a:lnSpc>
              <a:buNone/>
            </a:pPr>
            <a:r>
              <a:rPr lang="en-US" altLang="zh-CN" sz="1190" b="1" dirty="0">
                <a:solidFill>
                  <a:srgbClr val="263850"/>
                </a:solidFill>
                <a:latin typeface="Noto Sans CJK SC" pitchFamily="34" charset="0"/>
                <a:ea typeface="Noto Sans CJK SC" pitchFamily="34" charset="-122"/>
                <a:cs typeface="Noto Sans CJK SC" pitchFamily="34" charset="-120"/>
              </a:rPr>
              <a:t>TTFT(</a:t>
            </a:r>
            <a:r>
              <a:rPr lang="en-US" altLang="zh-CN" sz="1190" b="1" dirty="0" err="1">
                <a:solidFill>
                  <a:srgbClr val="263850"/>
                </a:solidFill>
                <a:latin typeface="Noto Sans CJK SC" pitchFamily="34" charset="0"/>
                <a:ea typeface="Noto Sans CJK SC" pitchFamily="34" charset="-122"/>
                <a:cs typeface="Noto Sans CJK SC" pitchFamily="34" charset="-120"/>
              </a:rPr>
              <a:t>ms</a:t>
            </a:r>
            <a:r>
              <a:rPr lang="en-US" altLang="zh-CN" sz="1190" b="1" dirty="0">
                <a:solidFill>
                  <a:srgbClr val="263850"/>
                </a:solidFill>
                <a:latin typeface="Noto Sans CJK SC" pitchFamily="34" charset="0"/>
                <a:ea typeface="Noto Sans CJK SC" pitchFamily="34" charset="-122"/>
                <a:cs typeface="Noto Sans CJK SC" pitchFamily="34" charset="-120"/>
              </a:rPr>
              <a:t>)</a:t>
            </a:r>
            <a:endParaRPr lang="en-US" altLang="zh-CN" sz="1190" dirty="0"/>
          </a:p>
        </p:txBody>
      </p:sp>
      <p:sp>
        <p:nvSpPr>
          <p:cNvPr id="92" name="Shape 46">
            <a:extLst>
              <a:ext uri="{FF2B5EF4-FFF2-40B4-BE49-F238E27FC236}">
                <a16:creationId xmlns:a16="http://schemas.microsoft.com/office/drawing/2014/main" id="{F5F895A3-0F06-55BC-4783-2D6B59CF4004}"/>
              </a:ext>
            </a:extLst>
          </p:cNvPr>
          <p:cNvSpPr/>
          <p:nvPr/>
        </p:nvSpPr>
        <p:spPr>
          <a:xfrm>
            <a:off x="7538564" y="4956048"/>
            <a:ext cx="2962656" cy="155448"/>
          </a:xfrm>
          <a:prstGeom prst="rect">
            <a:avLst/>
          </a:prstGeom>
          <a:solidFill>
            <a:srgbClr val="EDF2F7"/>
          </a:solidFill>
          <a:ln w="12700">
            <a:solidFill>
              <a:srgbClr val="EDF2F7">
                <a:alpha val="0"/>
              </a:srgbClr>
            </a:solidFill>
            <a:prstDash val="solid"/>
          </a:ln>
        </p:spPr>
      </p:sp>
      <p:sp>
        <p:nvSpPr>
          <p:cNvPr id="93" name="Shape 47">
            <a:extLst>
              <a:ext uri="{FF2B5EF4-FFF2-40B4-BE49-F238E27FC236}">
                <a16:creationId xmlns:a16="http://schemas.microsoft.com/office/drawing/2014/main" id="{0762E22B-48A7-66AE-819C-97BAABB6EEBE}"/>
              </a:ext>
            </a:extLst>
          </p:cNvPr>
          <p:cNvSpPr/>
          <p:nvPr/>
        </p:nvSpPr>
        <p:spPr>
          <a:xfrm>
            <a:off x="7538564" y="5202936"/>
            <a:ext cx="2962656" cy="155448"/>
          </a:xfrm>
          <a:prstGeom prst="rect">
            <a:avLst/>
          </a:prstGeom>
          <a:solidFill>
            <a:srgbClr val="EDF2F7"/>
          </a:solidFill>
          <a:ln w="12700">
            <a:solidFill>
              <a:srgbClr val="EDF2F7">
                <a:alpha val="0"/>
              </a:srgbClr>
            </a:solidFill>
            <a:prstDash val="solid"/>
          </a:ln>
        </p:spPr>
      </p:sp>
      <p:sp>
        <p:nvSpPr>
          <p:cNvPr id="94" name="Shape 48">
            <a:extLst>
              <a:ext uri="{FF2B5EF4-FFF2-40B4-BE49-F238E27FC236}">
                <a16:creationId xmlns:a16="http://schemas.microsoft.com/office/drawing/2014/main" id="{49935435-F22E-D602-A328-9BCE751EF5F8}"/>
              </a:ext>
            </a:extLst>
          </p:cNvPr>
          <p:cNvSpPr/>
          <p:nvPr/>
        </p:nvSpPr>
        <p:spPr>
          <a:xfrm>
            <a:off x="7538565" y="4956048"/>
            <a:ext cx="2149874" cy="161198"/>
          </a:xfrm>
          <a:prstGeom prst="rect">
            <a:avLst/>
          </a:prstGeom>
          <a:solidFill>
            <a:srgbClr val="2868B8"/>
          </a:solidFill>
          <a:ln w="12700">
            <a:solidFill>
              <a:srgbClr val="2868B8">
                <a:alpha val="0"/>
              </a:srgbClr>
            </a:solidFill>
            <a:prstDash val="solid"/>
          </a:ln>
        </p:spPr>
      </p:sp>
      <p:sp>
        <p:nvSpPr>
          <p:cNvPr id="95" name="Shape 49">
            <a:extLst>
              <a:ext uri="{FF2B5EF4-FFF2-40B4-BE49-F238E27FC236}">
                <a16:creationId xmlns:a16="http://schemas.microsoft.com/office/drawing/2014/main" id="{DCF8E50C-A1F8-B60A-306D-79D71E8ACE14}"/>
              </a:ext>
            </a:extLst>
          </p:cNvPr>
          <p:cNvSpPr/>
          <p:nvPr/>
        </p:nvSpPr>
        <p:spPr>
          <a:xfrm>
            <a:off x="7538564" y="5202936"/>
            <a:ext cx="2821577" cy="155448"/>
          </a:xfrm>
          <a:prstGeom prst="rect">
            <a:avLst/>
          </a:prstGeom>
          <a:solidFill>
            <a:srgbClr val="DD4051"/>
          </a:solidFill>
          <a:ln w="12700">
            <a:solidFill>
              <a:srgbClr val="DD4051">
                <a:alpha val="0"/>
              </a:srgbClr>
            </a:solidFill>
            <a:prstDash val="solid"/>
          </a:ln>
        </p:spPr>
      </p:sp>
      <p:sp>
        <p:nvSpPr>
          <p:cNvPr id="96" name="Text 50">
            <a:extLst>
              <a:ext uri="{FF2B5EF4-FFF2-40B4-BE49-F238E27FC236}">
                <a16:creationId xmlns:a16="http://schemas.microsoft.com/office/drawing/2014/main" id="{935EEB9A-CF1E-8EF9-B48E-1EB47D6ABAFC}"/>
              </a:ext>
            </a:extLst>
          </p:cNvPr>
          <p:cNvSpPr/>
          <p:nvPr/>
        </p:nvSpPr>
        <p:spPr>
          <a:xfrm>
            <a:off x="9967214" y="4911748"/>
            <a:ext cx="1444752" cy="237744"/>
          </a:xfrm>
          <a:prstGeom prst="rect">
            <a:avLst/>
          </a:prstGeom>
          <a:noFill/>
          <a:ln/>
        </p:spPr>
        <p:txBody>
          <a:bodyPr wrap="square" lIns="0" tIns="0" rIns="0" bIns="0" rtlCol="0" anchor="ctr">
            <a:normAutofit/>
          </a:bodyPr>
          <a:lstStyle/>
          <a:p>
            <a:pPr algn="r">
              <a:lnSpc>
                <a:spcPct val="102000"/>
              </a:lnSpc>
            </a:pPr>
            <a:r>
              <a:rPr lang="en-US" altLang="zh-CN" sz="1190" b="1">
                <a:solidFill>
                  <a:srgbClr val="2868B8"/>
                </a:solidFill>
                <a:latin typeface="Times New Roman" panose="02020603050405020304" pitchFamily="18" charset="0"/>
                <a:ea typeface="Noto Sans CJK SC" pitchFamily="34" charset="-122"/>
                <a:cs typeface="Times New Roman" panose="02020603050405020304" pitchFamily="18" charset="0"/>
              </a:rPr>
              <a:t>1,663.2</a:t>
            </a:r>
            <a:endParaRPr lang="en-US" altLang="zh-CN" sz="119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97" name="Text 51">
            <a:extLst>
              <a:ext uri="{FF2B5EF4-FFF2-40B4-BE49-F238E27FC236}">
                <a16:creationId xmlns:a16="http://schemas.microsoft.com/office/drawing/2014/main" id="{47198AB3-7BC5-92C2-725F-E18B2E31F943}"/>
              </a:ext>
            </a:extLst>
          </p:cNvPr>
          <p:cNvSpPr/>
          <p:nvPr/>
        </p:nvSpPr>
        <p:spPr>
          <a:xfrm>
            <a:off x="9967214" y="5158636"/>
            <a:ext cx="1444752" cy="237744"/>
          </a:xfrm>
          <a:prstGeom prst="rect">
            <a:avLst/>
          </a:prstGeom>
          <a:noFill/>
          <a:ln/>
        </p:spPr>
        <p:txBody>
          <a:bodyPr wrap="square" lIns="0" tIns="0" rIns="0" bIns="0" rtlCol="0" anchor="ctr">
            <a:normAutofit/>
          </a:bodyPr>
          <a:lstStyle/>
          <a:p>
            <a:pPr algn="r">
              <a:lnSpc>
                <a:spcPct val="102000"/>
              </a:lnSpc>
            </a:pPr>
            <a:r>
              <a:rPr lang="en-US" altLang="zh-CN" sz="1190" b="1">
                <a:solidFill>
                  <a:srgbClr val="DD4051"/>
                </a:solidFill>
                <a:latin typeface="Times New Roman" panose="02020603050405020304" pitchFamily="18" charset="0"/>
                <a:ea typeface="Noto Sans CJK SC" pitchFamily="34" charset="-122"/>
                <a:cs typeface="Times New Roman" panose="02020603050405020304" pitchFamily="18" charset="0"/>
              </a:rPr>
              <a:t>2707</a:t>
            </a:r>
            <a:endParaRPr lang="en-US" sz="1190" b="1" dirty="0">
              <a:solidFill>
                <a:srgbClr val="DD4051"/>
              </a:solidFill>
              <a:latin typeface="Times New Roman" panose="02020603050405020304" pitchFamily="18" charset="0"/>
              <a:ea typeface="Noto Sans CJK SC" pitchFamily="34" charset="-122"/>
              <a:cs typeface="Times New Roman" panose="02020603050405020304" pitchFamily="18" charset="0"/>
            </a:endParaRPr>
          </a:p>
        </p:txBody>
      </p:sp>
      <p:sp>
        <p:nvSpPr>
          <p:cNvPr id="98" name="Text 53">
            <a:extLst>
              <a:ext uri="{FF2B5EF4-FFF2-40B4-BE49-F238E27FC236}">
                <a16:creationId xmlns:a16="http://schemas.microsoft.com/office/drawing/2014/main" id="{EE0E81D5-AABF-12B5-66D2-17CC46E81B88}"/>
              </a:ext>
            </a:extLst>
          </p:cNvPr>
          <p:cNvSpPr/>
          <p:nvPr/>
        </p:nvSpPr>
        <p:spPr>
          <a:xfrm>
            <a:off x="6745329" y="5622156"/>
            <a:ext cx="1298448" cy="347472"/>
          </a:xfrm>
          <a:prstGeom prst="rect">
            <a:avLst/>
          </a:prstGeom>
          <a:noFill/>
          <a:ln/>
        </p:spPr>
        <p:txBody>
          <a:bodyPr wrap="square" lIns="0" tIns="0" rIns="0" bIns="0" rtlCol="0" anchor="ctr">
            <a:normAutofit/>
          </a:bodyPr>
          <a:lstStyle/>
          <a:p>
            <a:pPr marL="0" indent="0">
              <a:lnSpc>
                <a:spcPct val="102000"/>
              </a:lnSpc>
              <a:buNone/>
            </a:pPr>
            <a:r>
              <a:rPr lang="en-US" altLang="zh-CN" sz="1190" b="1" dirty="0">
                <a:solidFill>
                  <a:srgbClr val="263850"/>
                </a:solidFill>
                <a:latin typeface="Noto Sans CJK SC" pitchFamily="34" charset="0"/>
                <a:ea typeface="Noto Sans CJK SC" pitchFamily="34" charset="-122"/>
                <a:cs typeface="Noto Sans CJK SC" pitchFamily="34" charset="-120"/>
              </a:rPr>
              <a:t>TPOT(</a:t>
            </a:r>
            <a:r>
              <a:rPr lang="en-US" altLang="zh-CN" sz="1190" b="1" dirty="0" err="1">
                <a:solidFill>
                  <a:srgbClr val="263850"/>
                </a:solidFill>
                <a:latin typeface="Noto Sans CJK SC" pitchFamily="34" charset="0"/>
                <a:ea typeface="Noto Sans CJK SC" pitchFamily="34" charset="-122"/>
                <a:cs typeface="Noto Sans CJK SC" pitchFamily="34" charset="-120"/>
              </a:rPr>
              <a:t>ms</a:t>
            </a:r>
            <a:r>
              <a:rPr lang="en-US" altLang="zh-CN" sz="1190" b="1" dirty="0">
                <a:solidFill>
                  <a:srgbClr val="263850"/>
                </a:solidFill>
                <a:latin typeface="Noto Sans CJK SC" pitchFamily="34" charset="0"/>
                <a:ea typeface="Noto Sans CJK SC" pitchFamily="34" charset="-122"/>
                <a:cs typeface="Noto Sans CJK SC" pitchFamily="34" charset="-120"/>
              </a:rPr>
              <a:t>)</a:t>
            </a:r>
            <a:endParaRPr lang="en-US" altLang="zh-CN" sz="1190" dirty="0"/>
          </a:p>
        </p:txBody>
      </p:sp>
      <p:sp>
        <p:nvSpPr>
          <p:cNvPr id="99" name="Shape 54">
            <a:extLst>
              <a:ext uri="{FF2B5EF4-FFF2-40B4-BE49-F238E27FC236}">
                <a16:creationId xmlns:a16="http://schemas.microsoft.com/office/drawing/2014/main" id="{E4CCDE2B-59EA-0307-F882-E8F64947FDA2}"/>
              </a:ext>
            </a:extLst>
          </p:cNvPr>
          <p:cNvSpPr/>
          <p:nvPr/>
        </p:nvSpPr>
        <p:spPr>
          <a:xfrm>
            <a:off x="7538564" y="5586984"/>
            <a:ext cx="2962656" cy="155448"/>
          </a:xfrm>
          <a:prstGeom prst="rect">
            <a:avLst/>
          </a:prstGeom>
          <a:solidFill>
            <a:srgbClr val="EDF2F7"/>
          </a:solidFill>
          <a:ln w="12700">
            <a:solidFill>
              <a:srgbClr val="EDF2F7">
                <a:alpha val="0"/>
              </a:srgbClr>
            </a:solidFill>
            <a:prstDash val="solid"/>
          </a:ln>
        </p:spPr>
      </p:sp>
      <p:sp>
        <p:nvSpPr>
          <p:cNvPr id="100" name="Shape 55">
            <a:extLst>
              <a:ext uri="{FF2B5EF4-FFF2-40B4-BE49-F238E27FC236}">
                <a16:creationId xmlns:a16="http://schemas.microsoft.com/office/drawing/2014/main" id="{2DD95F95-AA8B-6848-41BE-0F83C3FA499D}"/>
              </a:ext>
            </a:extLst>
          </p:cNvPr>
          <p:cNvSpPr/>
          <p:nvPr/>
        </p:nvSpPr>
        <p:spPr>
          <a:xfrm>
            <a:off x="7538564" y="5833872"/>
            <a:ext cx="2962656" cy="155448"/>
          </a:xfrm>
          <a:prstGeom prst="rect">
            <a:avLst/>
          </a:prstGeom>
          <a:solidFill>
            <a:srgbClr val="EDF2F7"/>
          </a:solidFill>
          <a:ln w="12700">
            <a:solidFill>
              <a:srgbClr val="EDF2F7">
                <a:alpha val="0"/>
              </a:srgbClr>
            </a:solidFill>
            <a:prstDash val="solid"/>
          </a:ln>
        </p:spPr>
      </p:sp>
      <p:sp>
        <p:nvSpPr>
          <p:cNvPr id="101" name="Shape 56">
            <a:extLst>
              <a:ext uri="{FF2B5EF4-FFF2-40B4-BE49-F238E27FC236}">
                <a16:creationId xmlns:a16="http://schemas.microsoft.com/office/drawing/2014/main" id="{DC555324-2ECA-C885-5604-CEF1B12A674F}"/>
              </a:ext>
            </a:extLst>
          </p:cNvPr>
          <p:cNvSpPr/>
          <p:nvPr/>
        </p:nvSpPr>
        <p:spPr>
          <a:xfrm>
            <a:off x="7538564" y="5586984"/>
            <a:ext cx="2491393" cy="155448"/>
          </a:xfrm>
          <a:prstGeom prst="rect">
            <a:avLst/>
          </a:prstGeom>
          <a:solidFill>
            <a:srgbClr val="2868B8"/>
          </a:solidFill>
          <a:ln w="12700">
            <a:solidFill>
              <a:srgbClr val="2868B8">
                <a:alpha val="0"/>
              </a:srgbClr>
            </a:solidFill>
            <a:prstDash val="solid"/>
          </a:ln>
        </p:spPr>
      </p:sp>
      <p:sp>
        <p:nvSpPr>
          <p:cNvPr id="102" name="Shape 57">
            <a:extLst>
              <a:ext uri="{FF2B5EF4-FFF2-40B4-BE49-F238E27FC236}">
                <a16:creationId xmlns:a16="http://schemas.microsoft.com/office/drawing/2014/main" id="{9610809D-4C9A-2EDF-2FEF-D07D439FE8CA}"/>
              </a:ext>
            </a:extLst>
          </p:cNvPr>
          <p:cNvSpPr/>
          <p:nvPr/>
        </p:nvSpPr>
        <p:spPr>
          <a:xfrm>
            <a:off x="7538564" y="5833872"/>
            <a:ext cx="2821577" cy="155448"/>
          </a:xfrm>
          <a:prstGeom prst="rect">
            <a:avLst/>
          </a:prstGeom>
          <a:solidFill>
            <a:srgbClr val="DD4051"/>
          </a:solidFill>
          <a:ln w="12700">
            <a:solidFill>
              <a:srgbClr val="DD4051">
                <a:alpha val="0"/>
              </a:srgbClr>
            </a:solidFill>
            <a:prstDash val="solid"/>
          </a:ln>
        </p:spPr>
      </p:sp>
      <p:sp>
        <p:nvSpPr>
          <p:cNvPr id="103" name="Text 58">
            <a:extLst>
              <a:ext uri="{FF2B5EF4-FFF2-40B4-BE49-F238E27FC236}">
                <a16:creationId xmlns:a16="http://schemas.microsoft.com/office/drawing/2014/main" id="{EA9D2FCB-F23E-CD7A-422F-6ECC7BB16E7C}"/>
              </a:ext>
            </a:extLst>
          </p:cNvPr>
          <p:cNvSpPr/>
          <p:nvPr/>
        </p:nvSpPr>
        <p:spPr>
          <a:xfrm>
            <a:off x="9967214" y="5542684"/>
            <a:ext cx="1444752" cy="237744"/>
          </a:xfrm>
          <a:prstGeom prst="rect">
            <a:avLst/>
          </a:prstGeom>
          <a:noFill/>
          <a:ln/>
        </p:spPr>
        <p:txBody>
          <a:bodyPr wrap="square" lIns="0" tIns="0" rIns="0" bIns="0" rtlCol="0" anchor="ctr">
            <a:normAutofit/>
          </a:bodyPr>
          <a:lstStyle/>
          <a:p>
            <a:pPr algn="r">
              <a:lnSpc>
                <a:spcPct val="102000"/>
              </a:lnSpc>
            </a:pPr>
            <a:r>
              <a:rPr lang="en-US" sz="1190" b="1">
                <a:solidFill>
                  <a:srgbClr val="2868B8"/>
                </a:solidFill>
                <a:latin typeface="Times New Roman" panose="02020603050405020304" pitchFamily="18" charset="0"/>
                <a:ea typeface="Noto Sans CJK SC" pitchFamily="34" charset="-122"/>
                <a:cs typeface="Times New Roman" panose="02020603050405020304" pitchFamily="18" charset="0"/>
              </a:rPr>
              <a:t>16.6</a:t>
            </a:r>
            <a:endParaRPr lang="en-US" sz="1190" b="1" dirty="0">
              <a:solidFill>
                <a:srgbClr val="2868B8"/>
              </a:solidFill>
              <a:latin typeface="Times New Roman" panose="02020603050405020304" pitchFamily="18" charset="0"/>
              <a:ea typeface="Noto Sans CJK SC" pitchFamily="34" charset="-122"/>
              <a:cs typeface="Times New Roman" panose="02020603050405020304" pitchFamily="18" charset="0"/>
            </a:endParaRPr>
          </a:p>
        </p:txBody>
      </p:sp>
      <p:sp>
        <p:nvSpPr>
          <p:cNvPr id="104" name="Text 59">
            <a:extLst>
              <a:ext uri="{FF2B5EF4-FFF2-40B4-BE49-F238E27FC236}">
                <a16:creationId xmlns:a16="http://schemas.microsoft.com/office/drawing/2014/main" id="{1F87C4A7-4049-39C1-1BE0-459226664CC5}"/>
              </a:ext>
            </a:extLst>
          </p:cNvPr>
          <p:cNvSpPr/>
          <p:nvPr/>
        </p:nvSpPr>
        <p:spPr>
          <a:xfrm>
            <a:off x="9967214" y="5789572"/>
            <a:ext cx="1444752" cy="237744"/>
          </a:xfrm>
          <a:prstGeom prst="rect">
            <a:avLst/>
          </a:prstGeom>
          <a:noFill/>
          <a:ln/>
        </p:spPr>
        <p:txBody>
          <a:bodyPr wrap="square" lIns="0" tIns="0" rIns="0" bIns="0" rtlCol="0" anchor="ctr">
            <a:normAutofit/>
          </a:bodyPr>
          <a:lstStyle/>
          <a:p>
            <a:pPr algn="r">
              <a:lnSpc>
                <a:spcPct val="102000"/>
              </a:lnSpc>
            </a:pPr>
            <a:r>
              <a:rPr lang="en-US" sz="1190" b="1">
                <a:solidFill>
                  <a:srgbClr val="DD4051"/>
                </a:solidFill>
                <a:latin typeface="Times New Roman" panose="02020603050405020304" pitchFamily="18" charset="0"/>
                <a:ea typeface="Noto Sans CJK SC" pitchFamily="34" charset="-122"/>
                <a:cs typeface="Times New Roman" panose="02020603050405020304" pitchFamily="18" charset="0"/>
              </a:rPr>
              <a:t>18.8</a:t>
            </a:r>
            <a:endParaRPr lang="en-US" sz="1190" b="1" dirty="0">
              <a:solidFill>
                <a:srgbClr val="DD4051"/>
              </a:solidFill>
              <a:latin typeface="Times New Roman" panose="02020603050405020304" pitchFamily="18" charset="0"/>
              <a:ea typeface="Noto Sans CJK SC" pitchFamily="34" charset="-122"/>
              <a:cs typeface="Times New Roman" panose="02020603050405020304" pitchFamily="18" charset="0"/>
            </a:endParaRPr>
          </a:p>
        </p:txBody>
      </p:sp>
      <p:sp>
        <p:nvSpPr>
          <p:cNvPr id="105" name="Shape 23">
            <a:extLst>
              <a:ext uri="{FF2B5EF4-FFF2-40B4-BE49-F238E27FC236}">
                <a16:creationId xmlns:a16="http://schemas.microsoft.com/office/drawing/2014/main" id="{D76B625B-572A-433D-B163-30117DF2FA43}"/>
              </a:ext>
            </a:extLst>
          </p:cNvPr>
          <p:cNvSpPr/>
          <p:nvPr/>
        </p:nvSpPr>
        <p:spPr>
          <a:xfrm>
            <a:off x="8737225" y="6296711"/>
            <a:ext cx="109728" cy="109728"/>
          </a:xfrm>
          <a:prstGeom prst="rect">
            <a:avLst/>
          </a:prstGeom>
          <a:solidFill>
            <a:srgbClr val="2868B8"/>
          </a:solidFill>
          <a:ln w="12700">
            <a:solidFill>
              <a:srgbClr val="2868B8">
                <a:alpha val="0"/>
              </a:srgbClr>
            </a:solidFill>
            <a:prstDash val="solid"/>
          </a:ln>
        </p:spPr>
      </p:sp>
      <p:sp>
        <p:nvSpPr>
          <p:cNvPr id="106" name="Text 24">
            <a:extLst>
              <a:ext uri="{FF2B5EF4-FFF2-40B4-BE49-F238E27FC236}">
                <a16:creationId xmlns:a16="http://schemas.microsoft.com/office/drawing/2014/main" id="{038A21F9-182C-3EB8-BBE2-2A15352A53A7}"/>
              </a:ext>
            </a:extLst>
          </p:cNvPr>
          <p:cNvSpPr/>
          <p:nvPr/>
        </p:nvSpPr>
        <p:spPr>
          <a:xfrm>
            <a:off x="8901817" y="6186983"/>
            <a:ext cx="685800" cy="256032"/>
          </a:xfrm>
          <a:prstGeom prst="rect">
            <a:avLst/>
          </a:prstGeom>
          <a:noFill/>
          <a:ln/>
        </p:spPr>
        <p:txBody>
          <a:bodyPr wrap="square" lIns="0" tIns="0" rIns="0" bIns="0" rtlCol="0" anchor="ctr">
            <a:normAutofit/>
          </a:bodyPr>
          <a:lstStyle/>
          <a:p>
            <a:pPr marL="0" indent="0">
              <a:lnSpc>
                <a:spcPct val="102000"/>
              </a:lnSpc>
              <a:buNone/>
            </a:pPr>
            <a:r>
              <a:rPr lang="en-US" sz="1040">
                <a:solidFill>
                  <a:srgbClr val="697C95"/>
                </a:solidFill>
                <a:latin typeface="Times New Roman" panose="02020603050405020304" pitchFamily="18" charset="0"/>
                <a:ea typeface="Noto Sans CJK SC" pitchFamily="34" charset="-122"/>
                <a:cs typeface="Times New Roman" panose="02020603050405020304" pitchFamily="18" charset="0"/>
              </a:rPr>
              <a:t>H20</a:t>
            </a:r>
            <a:endParaRPr lang="en-US" sz="1040" dirty="0">
              <a:solidFill>
                <a:srgbClr val="697C95"/>
              </a:solidFill>
              <a:latin typeface="Times New Roman" panose="02020603050405020304" pitchFamily="18" charset="0"/>
              <a:ea typeface="Noto Sans CJK SC" pitchFamily="34" charset="-122"/>
              <a:cs typeface="Times New Roman" panose="02020603050405020304" pitchFamily="18" charset="0"/>
            </a:endParaRPr>
          </a:p>
        </p:txBody>
      </p:sp>
      <p:sp>
        <p:nvSpPr>
          <p:cNvPr id="107" name="Shape 25">
            <a:extLst>
              <a:ext uri="{FF2B5EF4-FFF2-40B4-BE49-F238E27FC236}">
                <a16:creationId xmlns:a16="http://schemas.microsoft.com/office/drawing/2014/main" id="{66B3A8C3-CDA1-2525-65AE-D5BE006B3929}"/>
              </a:ext>
            </a:extLst>
          </p:cNvPr>
          <p:cNvSpPr/>
          <p:nvPr/>
        </p:nvSpPr>
        <p:spPr>
          <a:xfrm>
            <a:off x="9743065" y="6296711"/>
            <a:ext cx="109728" cy="109728"/>
          </a:xfrm>
          <a:prstGeom prst="rect">
            <a:avLst/>
          </a:prstGeom>
          <a:solidFill>
            <a:srgbClr val="DD4051"/>
          </a:solidFill>
          <a:ln w="12700">
            <a:solidFill>
              <a:srgbClr val="DD4051">
                <a:alpha val="0"/>
              </a:srgbClr>
            </a:solidFill>
            <a:prstDash val="solid"/>
          </a:ln>
        </p:spPr>
      </p:sp>
      <p:sp>
        <p:nvSpPr>
          <p:cNvPr id="108" name="Text 26">
            <a:extLst>
              <a:ext uri="{FF2B5EF4-FFF2-40B4-BE49-F238E27FC236}">
                <a16:creationId xmlns:a16="http://schemas.microsoft.com/office/drawing/2014/main" id="{C95DE251-0337-85CD-ABBD-15116CEC261E}"/>
              </a:ext>
            </a:extLst>
          </p:cNvPr>
          <p:cNvSpPr/>
          <p:nvPr/>
        </p:nvSpPr>
        <p:spPr>
          <a:xfrm>
            <a:off x="9916801" y="6186983"/>
            <a:ext cx="493776" cy="256032"/>
          </a:xfrm>
          <a:prstGeom prst="rect">
            <a:avLst/>
          </a:prstGeom>
          <a:noFill/>
          <a:ln/>
        </p:spPr>
        <p:txBody>
          <a:bodyPr wrap="square" lIns="0" tIns="0" rIns="0" bIns="0" rtlCol="0" anchor="ctr">
            <a:normAutofit/>
          </a:bodyPr>
          <a:lstStyle/>
          <a:p>
            <a:pPr marL="0" indent="0">
              <a:lnSpc>
                <a:spcPct val="102000"/>
              </a:lnSpc>
              <a:buNone/>
            </a:pPr>
            <a:r>
              <a:rPr lang="en-US" sz="1040" dirty="0">
                <a:solidFill>
                  <a:srgbClr val="697C95"/>
                </a:solidFill>
                <a:latin typeface="Noto Sans CJK SC" pitchFamily="34" charset="0"/>
                <a:ea typeface="Noto Sans CJK SC" pitchFamily="34" charset="-122"/>
                <a:cs typeface="Noto Sans CJK SC" pitchFamily="34" charset="-120"/>
              </a:rPr>
              <a:t>A5</a:t>
            </a:r>
            <a:endParaRPr lang="en-US" sz="1040" dirty="0"/>
          </a:p>
        </p:txBody>
      </p:sp>
      <p:sp>
        <p:nvSpPr>
          <p:cNvPr id="109" name="Shape 44">
            <a:extLst>
              <a:ext uri="{FF2B5EF4-FFF2-40B4-BE49-F238E27FC236}">
                <a16:creationId xmlns:a16="http://schemas.microsoft.com/office/drawing/2014/main" id="{1553B9AD-9CEC-15E3-8FAD-FF8E97748AA9}"/>
              </a:ext>
            </a:extLst>
          </p:cNvPr>
          <p:cNvSpPr/>
          <p:nvPr/>
        </p:nvSpPr>
        <p:spPr>
          <a:xfrm>
            <a:off x="6784191" y="5481980"/>
            <a:ext cx="5166671" cy="16633"/>
          </a:xfrm>
          <a:prstGeom prst="line">
            <a:avLst/>
          </a:prstGeom>
          <a:noFill/>
          <a:ln w="6350">
            <a:solidFill>
              <a:srgbClr val="DFE7F0"/>
            </a:solidFill>
            <a:prstDash val="solid"/>
          </a:ln>
        </p:spPr>
      </p:sp>
      <p:sp>
        <p:nvSpPr>
          <p:cNvPr id="110" name="Shape 44">
            <a:extLst>
              <a:ext uri="{FF2B5EF4-FFF2-40B4-BE49-F238E27FC236}">
                <a16:creationId xmlns:a16="http://schemas.microsoft.com/office/drawing/2014/main" id="{0AEED455-9BD8-6465-F62C-48D8A971DC40}"/>
              </a:ext>
            </a:extLst>
          </p:cNvPr>
          <p:cNvSpPr/>
          <p:nvPr/>
        </p:nvSpPr>
        <p:spPr>
          <a:xfrm>
            <a:off x="6784191" y="6093258"/>
            <a:ext cx="5166671" cy="16633"/>
          </a:xfrm>
          <a:prstGeom prst="line">
            <a:avLst/>
          </a:prstGeom>
          <a:noFill/>
          <a:ln w="6350">
            <a:solidFill>
              <a:srgbClr val="DFE7F0"/>
            </a:solidFill>
            <a:prstDash val="solid"/>
          </a:ln>
        </p:spPr>
      </p:sp>
      <p:sp>
        <p:nvSpPr>
          <p:cNvPr id="111" name="文本框 110">
            <a:extLst>
              <a:ext uri="{FF2B5EF4-FFF2-40B4-BE49-F238E27FC236}">
                <a16:creationId xmlns:a16="http://schemas.microsoft.com/office/drawing/2014/main" id="{FD9894D5-F133-797B-A75B-67265F77306F}"/>
              </a:ext>
            </a:extLst>
          </p:cNvPr>
          <p:cNvSpPr txBox="1"/>
          <p:nvPr/>
        </p:nvSpPr>
        <p:spPr>
          <a:xfrm>
            <a:off x="77058" y="2374845"/>
            <a:ext cx="1181887" cy="307777"/>
          </a:xfrm>
          <a:prstGeom prst="rect">
            <a:avLst/>
          </a:prstGeom>
          <a:noFill/>
        </p:spPr>
        <p:txBody>
          <a:bodyPr wrap="square">
            <a:spAutoFit/>
          </a:bodyPr>
          <a:lstStyle/>
          <a:p>
            <a:r>
              <a:rPr lang="zh-CN" altLang="en-US" sz="1400" b="1">
                <a:solidFill>
                  <a:srgbClr val="263850"/>
                </a:solidFill>
                <a:latin typeface="Noto Sans CJK SC" pitchFamily="34" charset="0"/>
                <a:ea typeface="Noto Sans CJK SC" pitchFamily="34" charset="-122"/>
                <a:cs typeface="Noto Sans CJK SC" pitchFamily="34" charset="-120"/>
              </a:rPr>
              <a:t>精度</a:t>
            </a:r>
            <a:endParaRPr lang="zh-CN" altLang="en-US" sz="1400" dirty="0"/>
          </a:p>
        </p:txBody>
      </p:sp>
      <p:sp>
        <p:nvSpPr>
          <p:cNvPr id="112" name="文本框 111">
            <a:extLst>
              <a:ext uri="{FF2B5EF4-FFF2-40B4-BE49-F238E27FC236}">
                <a16:creationId xmlns:a16="http://schemas.microsoft.com/office/drawing/2014/main" id="{2D3E1BF1-4118-EA3C-AE25-2299FD6B6AA4}"/>
              </a:ext>
            </a:extLst>
          </p:cNvPr>
          <p:cNvSpPr txBox="1"/>
          <p:nvPr/>
        </p:nvSpPr>
        <p:spPr>
          <a:xfrm>
            <a:off x="6537175" y="4197417"/>
            <a:ext cx="1181887" cy="523220"/>
          </a:xfrm>
          <a:prstGeom prst="rect">
            <a:avLst/>
          </a:prstGeom>
          <a:noFill/>
        </p:spPr>
        <p:txBody>
          <a:bodyPr wrap="square">
            <a:spAutoFit/>
          </a:bodyPr>
          <a:lstStyle/>
          <a:p>
            <a:r>
              <a:rPr lang="en-US" altLang="zh-CN" sz="1400" b="1" dirty="0" err="1">
                <a:solidFill>
                  <a:srgbClr val="263850"/>
                </a:solidFill>
                <a:latin typeface="Noto Sans CJK SC" pitchFamily="34" charset="0"/>
                <a:ea typeface="Noto Sans CJK SC" pitchFamily="34" charset="-122"/>
                <a:cs typeface="Noto Sans CJK SC" pitchFamily="34" charset="-120"/>
              </a:rPr>
              <a:t>输出</a:t>
            </a:r>
            <a:endParaRPr lang="en-US" altLang="zh-CN" sz="1400" b="1" dirty="0">
              <a:solidFill>
                <a:srgbClr val="263850"/>
              </a:solidFill>
              <a:latin typeface="Noto Sans CJK SC" pitchFamily="34" charset="0"/>
              <a:ea typeface="Noto Sans CJK SC" pitchFamily="34" charset="-122"/>
              <a:cs typeface="Noto Sans CJK SC" pitchFamily="34" charset="-120"/>
            </a:endParaRPr>
          </a:p>
          <a:p>
            <a:r>
              <a:rPr lang="en-US" altLang="zh-CN" sz="1400" b="1" dirty="0" err="1">
                <a:solidFill>
                  <a:srgbClr val="263850"/>
                </a:solidFill>
                <a:latin typeface="Noto Sans CJK SC" pitchFamily="34" charset="0"/>
                <a:ea typeface="Noto Sans CJK SC" pitchFamily="34" charset="-122"/>
                <a:cs typeface="Noto Sans CJK SC" pitchFamily="34" charset="-120"/>
              </a:rPr>
              <a:t>吞吐</a:t>
            </a:r>
            <a:endParaRPr lang="zh-CN" altLang="en-US" sz="1400" dirty="0"/>
          </a:p>
        </p:txBody>
      </p:sp>
      <p:sp>
        <p:nvSpPr>
          <p:cNvPr id="113" name="Rectangle 1">
            <a:extLst>
              <a:ext uri="{FF2B5EF4-FFF2-40B4-BE49-F238E27FC236}">
                <a16:creationId xmlns:a16="http://schemas.microsoft.com/office/drawing/2014/main" id="{23DD1441-F44B-E54F-380B-E875DFE8F1C8}"/>
              </a:ext>
            </a:extLst>
          </p:cNvPr>
          <p:cNvSpPr>
            <a:spLocks noChangeArrowheads="1"/>
          </p:cNvSpPr>
          <p:nvPr/>
        </p:nvSpPr>
        <p:spPr bwMode="auto">
          <a:xfrm>
            <a:off x="6446149" y="512017"/>
            <a:ext cx="5658139" cy="8540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7132" rIns="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【输入输出】典型输入4k/输出1</a:t>
            </a:r>
            <a:r>
              <a:rPr kumimoji="0" lang="zh-CN" altLang="zh-CN" sz="12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t>k </a:t>
            </a:r>
            <a:br>
              <a:rPr kumimoji="0" lang="en-US" altLang="zh-CN" sz="12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br>
            <a:r>
              <a:rPr kumimoji="0" lang="zh-CN" altLang="zh-CN" sz="12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t>【SLO】</a:t>
            </a:r>
            <a:r>
              <a:rPr kumimoji="0" lang="zh-CN"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TPOT&lt;25ms, 最大吞吐 </a:t>
            </a:r>
            <a:endParaRPr kumimoji="0" lang="en-US"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【精度】mxFP8/mxFP4 </a:t>
            </a:r>
            <a:endParaRPr kumimoji="0" lang="en-US"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【性能目标】Fp4量化下符合版本精度标准，性能达成2x H20，或0.7x H200</a:t>
            </a:r>
            <a:r>
              <a:rPr kumimoji="0" lang="zh-CN" altLang="zh-CN" sz="1200" b="0" i="0" u="none" strike="noStrike" cap="none" normalizeH="0" baseline="0" dirty="0">
                <a:ln>
                  <a:noFill/>
                </a:ln>
                <a:solidFill>
                  <a:schemeClr val="tx1"/>
                </a:solidFill>
                <a:effectLst/>
              </a:rPr>
              <a:t> </a:t>
            </a: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sp>
        <p:nvSpPr>
          <p:cNvPr id="3" name="文本框 2">
            <a:extLst>
              <a:ext uri="{FF2B5EF4-FFF2-40B4-BE49-F238E27FC236}">
                <a16:creationId xmlns:a16="http://schemas.microsoft.com/office/drawing/2014/main" id="{FCF2CCD4-178A-9885-E2DF-CC47DEB16ABA}"/>
              </a:ext>
            </a:extLst>
          </p:cNvPr>
          <p:cNvSpPr txBox="1"/>
          <p:nvPr/>
        </p:nvSpPr>
        <p:spPr>
          <a:xfrm>
            <a:off x="87712" y="4379376"/>
            <a:ext cx="1181887" cy="307777"/>
          </a:xfrm>
          <a:prstGeom prst="rect">
            <a:avLst/>
          </a:prstGeom>
          <a:noFill/>
        </p:spPr>
        <p:txBody>
          <a:bodyPr wrap="square">
            <a:spAutoFit/>
          </a:bodyPr>
          <a:lstStyle/>
          <a:p>
            <a:r>
              <a:rPr lang="zh-CN" altLang="en-US" sz="1400" b="1">
                <a:solidFill>
                  <a:srgbClr val="263850"/>
                </a:solidFill>
                <a:latin typeface="Noto Sans CJK SC" pitchFamily="34" charset="0"/>
                <a:ea typeface="Noto Sans CJK SC" pitchFamily="34" charset="-122"/>
                <a:cs typeface="Noto Sans CJK SC" pitchFamily="34" charset="-120"/>
              </a:rPr>
              <a:t>性能</a:t>
            </a:r>
            <a:endParaRPr lang="zh-CN" altLang="en-US" sz="1400" dirty="0"/>
          </a:p>
        </p:txBody>
      </p:sp>
      <p:pic>
        <p:nvPicPr>
          <p:cNvPr id="114" name="图片 113" descr="竖版华为公司标志 Vertical Version of Huawei Corporate Logo_2018">
            <a:extLst>
              <a:ext uri="{FF2B5EF4-FFF2-40B4-BE49-F238E27FC236}">
                <a16:creationId xmlns:a16="http://schemas.microsoft.com/office/drawing/2014/main" id="{E68BA14F-6AA8-A45A-E2DB-83CE44E2E45D}"/>
              </a:ext>
            </a:extLst>
          </p:cNvPr>
          <p:cNvPicPr>
            <a:picLocks noChangeAspect="1"/>
          </p:cNvPicPr>
          <p:nvPr/>
        </p:nvPicPr>
        <p:blipFill>
          <a:blip r:embed="rId3"/>
          <a:stretch>
            <a:fillRect/>
          </a:stretch>
        </p:blipFill>
        <p:spPr>
          <a:xfrm>
            <a:off x="10780956" y="87585"/>
            <a:ext cx="810588" cy="802246"/>
          </a:xfrm>
          <a:prstGeom prst="rect">
            <a:avLst/>
          </a:prstGeom>
        </p:spPr>
      </p:pic>
    </p:spTree>
    <p:extLst>
      <p:ext uri="{BB962C8B-B14F-4D97-AF65-F5344CB8AC3E}">
        <p14:creationId xmlns:p14="http://schemas.microsoft.com/office/powerpoint/2010/main" val="2007798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C0D32C1-E4AD-C05C-C719-DC49C2B2F5DF}"/>
              </a:ext>
            </a:extLst>
          </p:cNvPr>
          <p:cNvSpPr>
            <a:spLocks noGrp="1"/>
          </p:cNvSpPr>
          <p:nvPr>
            <p:ph type="sldNum" sz="quarter" idx="12"/>
          </p:nvPr>
        </p:nvSpPr>
        <p:spPr/>
        <p:txBody>
          <a:bodyPr/>
          <a:lstStyle/>
          <a:p>
            <a:fld id="{49AE70B2-8BF9-45C0-BB95-33D1B9D3A854}" type="slidenum">
              <a:rPr lang="zh-CN" altLang="en-US" smtClean="0"/>
              <a:t>7</a:t>
            </a:fld>
            <a:endParaRPr lang="zh-CN" altLang="en-US" dirty="0"/>
          </a:p>
        </p:txBody>
      </p:sp>
      <p:sp>
        <p:nvSpPr>
          <p:cNvPr id="6" name="Rectangle 2">
            <a:extLst>
              <a:ext uri="{FF2B5EF4-FFF2-40B4-BE49-F238E27FC236}">
                <a16:creationId xmlns:a16="http://schemas.microsoft.com/office/drawing/2014/main" id="{040DC442-28AA-3E22-671F-D973D6056A39}"/>
              </a:ext>
            </a:extLst>
          </p:cNvPr>
          <p:cNvSpPr/>
          <p:nvPr/>
        </p:nvSpPr>
        <p:spPr>
          <a:xfrm>
            <a:off x="566928" y="438912"/>
            <a:ext cx="68580" cy="585216"/>
          </a:xfrm>
          <a:prstGeom prst="rect">
            <a:avLst/>
          </a:prstGeom>
          <a:solidFill>
            <a:srgbClr val="E8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3">
            <a:extLst>
              <a:ext uri="{FF2B5EF4-FFF2-40B4-BE49-F238E27FC236}">
                <a16:creationId xmlns:a16="http://schemas.microsoft.com/office/drawing/2014/main" id="{97296701-12D2-79AD-5DB5-ED946B09B86B}"/>
              </a:ext>
            </a:extLst>
          </p:cNvPr>
          <p:cNvSpPr txBox="1"/>
          <p:nvPr/>
        </p:nvSpPr>
        <p:spPr>
          <a:xfrm>
            <a:off x="832104" y="365760"/>
            <a:ext cx="9052560" cy="603504"/>
          </a:xfrm>
          <a:prstGeom prst="rect">
            <a:avLst/>
          </a:prstGeom>
          <a:noFill/>
        </p:spPr>
        <p:txBody>
          <a:bodyPr wrap="square" lIns="0" tIns="0" rIns="0" bIns="0" anchor="ctr">
            <a:spAutoFit/>
          </a:bodyPr>
          <a:lstStyle/>
          <a:p>
            <a:pPr>
              <a:spcBef>
                <a:spcPts val="0"/>
              </a:spcBef>
              <a:spcAft>
                <a:spcPts val="0"/>
              </a:spcAft>
            </a:pPr>
            <a:r>
              <a:rPr sz="2750" b="1">
                <a:solidFill>
                  <a:srgbClr val="1D293F"/>
                </a:solidFill>
                <a:latin typeface="微软雅黑"/>
                <a:ea typeface="微软雅黑"/>
              </a:rPr>
              <a:t>Gemma4 推理性能优化实践</a:t>
            </a:r>
          </a:p>
        </p:txBody>
      </p:sp>
      <p:sp>
        <p:nvSpPr>
          <p:cNvPr id="8" name="TextBox 4">
            <a:extLst>
              <a:ext uri="{FF2B5EF4-FFF2-40B4-BE49-F238E27FC236}">
                <a16:creationId xmlns:a16="http://schemas.microsoft.com/office/drawing/2014/main" id="{0300BA66-228A-51B2-F583-3F9E4A68860D}"/>
              </a:ext>
            </a:extLst>
          </p:cNvPr>
          <p:cNvSpPr txBox="1"/>
          <p:nvPr/>
        </p:nvSpPr>
        <p:spPr>
          <a:xfrm>
            <a:off x="841248" y="1014984"/>
            <a:ext cx="8732520" cy="256032"/>
          </a:xfrm>
          <a:prstGeom prst="rect">
            <a:avLst/>
          </a:prstGeom>
          <a:noFill/>
        </p:spPr>
        <p:txBody>
          <a:bodyPr wrap="square" lIns="0" tIns="0" rIns="0" bIns="0" anchor="ctr">
            <a:spAutoFit/>
          </a:bodyPr>
          <a:lstStyle/>
          <a:p>
            <a:pPr>
              <a:spcBef>
                <a:spcPts val="0"/>
              </a:spcBef>
              <a:spcAft>
                <a:spcPts val="0"/>
              </a:spcAft>
            </a:pPr>
            <a:r>
              <a:rPr sz="1260" b="0">
                <a:solidFill>
                  <a:srgbClr val="6F829D"/>
                </a:solidFill>
                <a:latin typeface="微软雅黑"/>
                <a:ea typeface="微软雅黑"/>
              </a:rPr>
              <a:t>面向 A5 950DT | 31B Dense / 26B-A4B MoE | vLLM-Ascend</a:t>
            </a:r>
          </a:p>
        </p:txBody>
      </p:sp>
      <p:sp>
        <p:nvSpPr>
          <p:cNvPr id="11" name="Rounded Rectangle 7">
            <a:extLst>
              <a:ext uri="{FF2B5EF4-FFF2-40B4-BE49-F238E27FC236}">
                <a16:creationId xmlns:a16="http://schemas.microsoft.com/office/drawing/2014/main" id="{429D988F-2AD1-92C0-EB0F-F5EAA6FA579B}"/>
              </a:ext>
            </a:extLst>
          </p:cNvPr>
          <p:cNvSpPr/>
          <p:nvPr/>
        </p:nvSpPr>
        <p:spPr>
          <a:xfrm>
            <a:off x="685800" y="1490472"/>
            <a:ext cx="5294376" cy="1664208"/>
          </a:xfrm>
          <a:prstGeom prst="roundRect">
            <a:avLst>
              <a:gd name="adj" fmla="val 10000"/>
            </a:avLst>
          </a:prstGeom>
          <a:solidFill>
            <a:srgbClr val="FFFFFF"/>
          </a:solidFill>
          <a:ln w="12700">
            <a:solidFill>
              <a:srgbClr val="DC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8">
            <a:extLst>
              <a:ext uri="{FF2B5EF4-FFF2-40B4-BE49-F238E27FC236}">
                <a16:creationId xmlns:a16="http://schemas.microsoft.com/office/drawing/2014/main" id="{1072DB48-CF4F-A756-2209-D315292FACA1}"/>
              </a:ext>
            </a:extLst>
          </p:cNvPr>
          <p:cNvSpPr/>
          <p:nvPr/>
        </p:nvSpPr>
        <p:spPr>
          <a:xfrm>
            <a:off x="685800" y="1645919"/>
            <a:ext cx="50292" cy="1353312"/>
          </a:xfrm>
          <a:prstGeom prst="rect">
            <a:avLst/>
          </a:prstGeom>
          <a:solidFill>
            <a:srgbClr val="3178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9">
            <a:extLst>
              <a:ext uri="{FF2B5EF4-FFF2-40B4-BE49-F238E27FC236}">
                <a16:creationId xmlns:a16="http://schemas.microsoft.com/office/drawing/2014/main" id="{7108AACC-EDBD-7F8F-DA3B-1DCA8E1BBA93}"/>
              </a:ext>
            </a:extLst>
          </p:cNvPr>
          <p:cNvSpPr/>
          <p:nvPr/>
        </p:nvSpPr>
        <p:spPr>
          <a:xfrm>
            <a:off x="932688" y="1691639"/>
            <a:ext cx="457200" cy="329184"/>
          </a:xfrm>
          <a:prstGeom prst="roundRect">
            <a:avLst>
              <a:gd name="adj" fmla="val 10000"/>
            </a:avLst>
          </a:prstGeom>
          <a:solidFill>
            <a:srgbClr val="E9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0">
            <a:extLst>
              <a:ext uri="{FF2B5EF4-FFF2-40B4-BE49-F238E27FC236}">
                <a16:creationId xmlns:a16="http://schemas.microsoft.com/office/drawing/2014/main" id="{FC2678DD-A699-020F-1D99-47BFD05D5410}"/>
              </a:ext>
            </a:extLst>
          </p:cNvPr>
          <p:cNvSpPr txBox="1"/>
          <p:nvPr/>
        </p:nvSpPr>
        <p:spPr>
          <a:xfrm>
            <a:off x="937259" y="1700784"/>
            <a:ext cx="448056" cy="292608"/>
          </a:xfrm>
          <a:prstGeom prst="rect">
            <a:avLst/>
          </a:prstGeom>
          <a:noFill/>
        </p:spPr>
        <p:txBody>
          <a:bodyPr wrap="square" lIns="0" tIns="0" rIns="0" bIns="0" anchor="ctr">
            <a:spAutoFit/>
          </a:bodyPr>
          <a:lstStyle/>
          <a:p>
            <a:pPr algn="ctr">
              <a:spcBef>
                <a:spcPts val="0"/>
              </a:spcBef>
              <a:spcAft>
                <a:spcPts val="0"/>
              </a:spcAft>
            </a:pPr>
            <a:r>
              <a:rPr sz="1240" b="1">
                <a:solidFill>
                  <a:srgbClr val="3178C6"/>
                </a:solidFill>
                <a:latin typeface="微软雅黑"/>
                <a:ea typeface="微软雅黑"/>
              </a:rPr>
              <a:t>01</a:t>
            </a:r>
          </a:p>
        </p:txBody>
      </p:sp>
      <p:sp>
        <p:nvSpPr>
          <p:cNvPr id="15" name="TextBox 11">
            <a:extLst>
              <a:ext uri="{FF2B5EF4-FFF2-40B4-BE49-F238E27FC236}">
                <a16:creationId xmlns:a16="http://schemas.microsoft.com/office/drawing/2014/main" id="{0DED73D4-B608-E9EA-BE12-78C092D37445}"/>
              </a:ext>
            </a:extLst>
          </p:cNvPr>
          <p:cNvSpPr txBox="1"/>
          <p:nvPr/>
        </p:nvSpPr>
        <p:spPr>
          <a:xfrm>
            <a:off x="1508760" y="1682495"/>
            <a:ext cx="4224528" cy="347472"/>
          </a:xfrm>
          <a:prstGeom prst="rect">
            <a:avLst/>
          </a:prstGeom>
          <a:noFill/>
        </p:spPr>
        <p:txBody>
          <a:bodyPr wrap="square" lIns="0" tIns="0" rIns="0" bIns="0" anchor="ctr">
            <a:spAutoFit/>
          </a:bodyPr>
          <a:lstStyle/>
          <a:p>
            <a:pPr>
              <a:spcBef>
                <a:spcPts val="0"/>
              </a:spcBef>
              <a:spcAft>
                <a:spcPts val="0"/>
              </a:spcAft>
            </a:pPr>
            <a:r>
              <a:rPr sz="1710" b="1">
                <a:solidFill>
                  <a:srgbClr val="1D293F"/>
                </a:solidFill>
                <a:latin typeface="微软雅黑"/>
                <a:ea typeface="微软雅黑"/>
              </a:rPr>
              <a:t>量化与权重布局</a:t>
            </a:r>
          </a:p>
        </p:txBody>
      </p:sp>
      <p:sp>
        <p:nvSpPr>
          <p:cNvPr id="16" name="Rectangle 12">
            <a:extLst>
              <a:ext uri="{FF2B5EF4-FFF2-40B4-BE49-F238E27FC236}">
                <a16:creationId xmlns:a16="http://schemas.microsoft.com/office/drawing/2014/main" id="{8D17AB39-8D76-E1DB-9069-7252ADA9BEA0}"/>
              </a:ext>
            </a:extLst>
          </p:cNvPr>
          <p:cNvSpPr/>
          <p:nvPr/>
        </p:nvSpPr>
        <p:spPr>
          <a:xfrm>
            <a:off x="941832" y="2112264"/>
            <a:ext cx="4782312" cy="8229"/>
          </a:xfrm>
          <a:prstGeom prst="rect">
            <a:avLst/>
          </a:prstGeom>
          <a:solidFill>
            <a:srgbClr val="E9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3">
            <a:extLst>
              <a:ext uri="{FF2B5EF4-FFF2-40B4-BE49-F238E27FC236}">
                <a16:creationId xmlns:a16="http://schemas.microsoft.com/office/drawing/2014/main" id="{946F5A8B-3DE9-A534-D329-94E797641E34}"/>
              </a:ext>
            </a:extLst>
          </p:cNvPr>
          <p:cNvSpPr txBox="1"/>
          <p:nvPr/>
        </p:nvSpPr>
        <p:spPr>
          <a:xfrm>
            <a:off x="969264" y="2231136"/>
            <a:ext cx="4690872" cy="265176"/>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MXFP4 / W4A4C16 量化适配，降低权重访存压力</a:t>
            </a:r>
          </a:p>
        </p:txBody>
      </p:sp>
      <p:sp>
        <p:nvSpPr>
          <p:cNvPr id="18" name="TextBox 14">
            <a:extLst>
              <a:ext uri="{FF2B5EF4-FFF2-40B4-BE49-F238E27FC236}">
                <a16:creationId xmlns:a16="http://schemas.microsoft.com/office/drawing/2014/main" id="{C4AF17CE-FF7D-4CD3-822E-095AC7CCD5BD}"/>
              </a:ext>
            </a:extLst>
          </p:cNvPr>
          <p:cNvSpPr txBox="1"/>
          <p:nvPr/>
        </p:nvSpPr>
        <p:spPr>
          <a:xfrm>
            <a:off x="969264" y="2558273"/>
            <a:ext cx="4690872" cy="186974"/>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权重 NZ 布局（weight_nz_mode）及量化执行</a:t>
            </a:r>
          </a:p>
        </p:txBody>
      </p:sp>
      <p:sp>
        <p:nvSpPr>
          <p:cNvPr id="19" name="TextBox 15">
            <a:extLst>
              <a:ext uri="{FF2B5EF4-FFF2-40B4-BE49-F238E27FC236}">
                <a16:creationId xmlns:a16="http://schemas.microsoft.com/office/drawing/2014/main" id="{65AD9038-9D4B-B2A6-0E57-50E9503F9734}"/>
              </a:ext>
            </a:extLst>
          </p:cNvPr>
          <p:cNvSpPr txBox="1"/>
          <p:nvPr/>
        </p:nvSpPr>
        <p:spPr>
          <a:xfrm>
            <a:off x="969264" y="2807208"/>
            <a:ext cx="4690872" cy="265176"/>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修复 MoE TP 场景 scale 分片和权重加载问题</a:t>
            </a:r>
          </a:p>
        </p:txBody>
      </p:sp>
      <p:sp>
        <p:nvSpPr>
          <p:cNvPr id="20" name="Rounded Rectangle 16">
            <a:extLst>
              <a:ext uri="{FF2B5EF4-FFF2-40B4-BE49-F238E27FC236}">
                <a16:creationId xmlns:a16="http://schemas.microsoft.com/office/drawing/2014/main" id="{694C7AA1-9DDA-CB10-CA1D-007092ABBCA1}"/>
              </a:ext>
            </a:extLst>
          </p:cNvPr>
          <p:cNvSpPr/>
          <p:nvPr/>
        </p:nvSpPr>
        <p:spPr>
          <a:xfrm>
            <a:off x="6208776" y="1490472"/>
            <a:ext cx="5294376" cy="1664208"/>
          </a:xfrm>
          <a:prstGeom prst="roundRect">
            <a:avLst>
              <a:gd name="adj" fmla="val 10000"/>
            </a:avLst>
          </a:prstGeom>
          <a:solidFill>
            <a:srgbClr val="FFFFFF"/>
          </a:solidFill>
          <a:ln w="12700">
            <a:solidFill>
              <a:srgbClr val="DC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17">
            <a:extLst>
              <a:ext uri="{FF2B5EF4-FFF2-40B4-BE49-F238E27FC236}">
                <a16:creationId xmlns:a16="http://schemas.microsoft.com/office/drawing/2014/main" id="{35A8A0D3-8A22-5369-6C9D-A2687E432257}"/>
              </a:ext>
            </a:extLst>
          </p:cNvPr>
          <p:cNvSpPr/>
          <p:nvPr/>
        </p:nvSpPr>
        <p:spPr>
          <a:xfrm>
            <a:off x="6208776" y="1645919"/>
            <a:ext cx="50292" cy="1353312"/>
          </a:xfrm>
          <a:prstGeom prst="rect">
            <a:avLst/>
          </a:prstGeom>
          <a:solidFill>
            <a:srgbClr val="E842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8">
            <a:extLst>
              <a:ext uri="{FF2B5EF4-FFF2-40B4-BE49-F238E27FC236}">
                <a16:creationId xmlns:a16="http://schemas.microsoft.com/office/drawing/2014/main" id="{6F82FD70-B551-00D5-3148-22CC60F7A63C}"/>
              </a:ext>
            </a:extLst>
          </p:cNvPr>
          <p:cNvSpPr/>
          <p:nvPr/>
        </p:nvSpPr>
        <p:spPr>
          <a:xfrm>
            <a:off x="6455664" y="1691639"/>
            <a:ext cx="457200" cy="329184"/>
          </a:xfrm>
          <a:prstGeom prst="roundRect">
            <a:avLst>
              <a:gd name="adj" fmla="val 10000"/>
            </a:avLst>
          </a:prstGeom>
          <a:solidFill>
            <a:srgbClr val="FE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19">
            <a:extLst>
              <a:ext uri="{FF2B5EF4-FFF2-40B4-BE49-F238E27FC236}">
                <a16:creationId xmlns:a16="http://schemas.microsoft.com/office/drawing/2014/main" id="{25F331F8-6B02-5438-6E9B-668BF0C99521}"/>
              </a:ext>
            </a:extLst>
          </p:cNvPr>
          <p:cNvSpPr txBox="1"/>
          <p:nvPr/>
        </p:nvSpPr>
        <p:spPr>
          <a:xfrm>
            <a:off x="6460236" y="1700784"/>
            <a:ext cx="448056" cy="292608"/>
          </a:xfrm>
          <a:prstGeom prst="rect">
            <a:avLst/>
          </a:prstGeom>
          <a:noFill/>
        </p:spPr>
        <p:txBody>
          <a:bodyPr wrap="square" lIns="0" tIns="0" rIns="0" bIns="0" anchor="ctr">
            <a:spAutoFit/>
          </a:bodyPr>
          <a:lstStyle/>
          <a:p>
            <a:pPr algn="ctr">
              <a:spcBef>
                <a:spcPts val="0"/>
              </a:spcBef>
              <a:spcAft>
                <a:spcPts val="0"/>
              </a:spcAft>
            </a:pPr>
            <a:r>
              <a:rPr sz="1240" b="1">
                <a:solidFill>
                  <a:srgbClr val="E84255"/>
                </a:solidFill>
                <a:latin typeface="微软雅黑"/>
                <a:ea typeface="微软雅黑"/>
              </a:rPr>
              <a:t>02</a:t>
            </a:r>
          </a:p>
        </p:txBody>
      </p:sp>
      <p:sp>
        <p:nvSpPr>
          <p:cNvPr id="24" name="TextBox 20">
            <a:extLst>
              <a:ext uri="{FF2B5EF4-FFF2-40B4-BE49-F238E27FC236}">
                <a16:creationId xmlns:a16="http://schemas.microsoft.com/office/drawing/2014/main" id="{B08CFD32-0AFB-131D-D204-B6FFC696B4E2}"/>
              </a:ext>
            </a:extLst>
          </p:cNvPr>
          <p:cNvSpPr txBox="1"/>
          <p:nvPr/>
        </p:nvSpPr>
        <p:spPr>
          <a:xfrm>
            <a:off x="7031736" y="1682495"/>
            <a:ext cx="4224528" cy="347472"/>
          </a:xfrm>
          <a:prstGeom prst="rect">
            <a:avLst/>
          </a:prstGeom>
          <a:noFill/>
        </p:spPr>
        <p:txBody>
          <a:bodyPr wrap="square" lIns="0" tIns="0" rIns="0" bIns="0" anchor="ctr">
            <a:spAutoFit/>
          </a:bodyPr>
          <a:lstStyle/>
          <a:p>
            <a:pPr>
              <a:spcBef>
                <a:spcPts val="0"/>
              </a:spcBef>
              <a:spcAft>
                <a:spcPts val="0"/>
              </a:spcAft>
            </a:pPr>
            <a:r>
              <a:rPr sz="1710" b="1">
                <a:solidFill>
                  <a:srgbClr val="1D293F"/>
                </a:solidFill>
                <a:latin typeface="微软雅黑"/>
                <a:ea typeface="微软雅黑"/>
              </a:rPr>
              <a:t>推理执行与调度</a:t>
            </a:r>
          </a:p>
        </p:txBody>
      </p:sp>
      <p:sp>
        <p:nvSpPr>
          <p:cNvPr id="25" name="Rectangle 21">
            <a:extLst>
              <a:ext uri="{FF2B5EF4-FFF2-40B4-BE49-F238E27FC236}">
                <a16:creationId xmlns:a16="http://schemas.microsoft.com/office/drawing/2014/main" id="{61358F62-8B63-33D9-0EBB-563CE8FC6DEE}"/>
              </a:ext>
            </a:extLst>
          </p:cNvPr>
          <p:cNvSpPr/>
          <p:nvPr/>
        </p:nvSpPr>
        <p:spPr>
          <a:xfrm>
            <a:off x="6464808" y="2112264"/>
            <a:ext cx="4782312" cy="8229"/>
          </a:xfrm>
          <a:prstGeom prst="rect">
            <a:avLst/>
          </a:prstGeom>
          <a:solidFill>
            <a:srgbClr val="E9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2">
            <a:extLst>
              <a:ext uri="{FF2B5EF4-FFF2-40B4-BE49-F238E27FC236}">
                <a16:creationId xmlns:a16="http://schemas.microsoft.com/office/drawing/2014/main" id="{CCB97602-06BC-7512-9BBD-2F54C526A12E}"/>
              </a:ext>
            </a:extLst>
          </p:cNvPr>
          <p:cNvSpPr txBox="1"/>
          <p:nvPr/>
        </p:nvSpPr>
        <p:spPr>
          <a:xfrm>
            <a:off x="6492240" y="2270237"/>
            <a:ext cx="4945380" cy="186974"/>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ModelRunner V1</a:t>
            </a:r>
            <a:r>
              <a:rPr lang="en-US" sz="1215" b="0">
                <a:solidFill>
                  <a:srgbClr val="34435C"/>
                </a:solidFill>
                <a:latin typeface="微软雅黑"/>
                <a:ea typeface="微软雅黑"/>
              </a:rPr>
              <a:t> </a:t>
            </a:r>
            <a:r>
              <a:rPr lang="zh-CN" altLang="en-US" sz="1215">
                <a:solidFill>
                  <a:srgbClr val="34435C"/>
                </a:solidFill>
                <a:latin typeface="微软雅黑"/>
                <a:ea typeface="微软雅黑"/>
              </a:rPr>
              <a:t>向 </a:t>
            </a:r>
            <a:r>
              <a:rPr lang="en-US" altLang="zh-CN" sz="1215">
                <a:solidFill>
                  <a:srgbClr val="34435C"/>
                </a:solidFill>
                <a:latin typeface="微软雅黑"/>
                <a:ea typeface="微软雅黑"/>
              </a:rPr>
              <a:t>ModelRunner </a:t>
            </a:r>
            <a:r>
              <a:rPr sz="1215" b="0">
                <a:solidFill>
                  <a:srgbClr val="34435C"/>
                </a:solidFill>
                <a:latin typeface="微软雅黑"/>
                <a:ea typeface="微软雅黑"/>
              </a:rPr>
              <a:t>V2</a:t>
            </a:r>
            <a:r>
              <a:rPr lang="zh-CN" altLang="en-US" sz="1215" b="0">
                <a:solidFill>
                  <a:srgbClr val="34435C"/>
                </a:solidFill>
                <a:latin typeface="微软雅黑"/>
                <a:ea typeface="微软雅黑"/>
              </a:rPr>
              <a:t>迁移</a:t>
            </a:r>
            <a:r>
              <a:rPr sz="1215" b="0">
                <a:solidFill>
                  <a:srgbClr val="34435C"/>
                </a:solidFill>
                <a:latin typeface="微软雅黑"/>
                <a:ea typeface="微软雅黑"/>
              </a:rPr>
              <a:t>、异步调度</a:t>
            </a:r>
          </a:p>
        </p:txBody>
      </p:sp>
      <p:sp>
        <p:nvSpPr>
          <p:cNvPr id="27" name="TextBox 23">
            <a:extLst>
              <a:ext uri="{FF2B5EF4-FFF2-40B4-BE49-F238E27FC236}">
                <a16:creationId xmlns:a16="http://schemas.microsoft.com/office/drawing/2014/main" id="{C009AD87-FE01-30D4-BFBB-BB40EB81B0E9}"/>
              </a:ext>
            </a:extLst>
          </p:cNvPr>
          <p:cNvSpPr txBox="1"/>
          <p:nvPr/>
        </p:nvSpPr>
        <p:spPr>
          <a:xfrm>
            <a:off x="6492240" y="2558273"/>
            <a:ext cx="4690872" cy="186974"/>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Decode CUDA Graph、NPU Graph</a:t>
            </a:r>
          </a:p>
        </p:txBody>
      </p:sp>
      <p:sp>
        <p:nvSpPr>
          <p:cNvPr id="28" name="TextBox 24">
            <a:extLst>
              <a:ext uri="{FF2B5EF4-FFF2-40B4-BE49-F238E27FC236}">
                <a16:creationId xmlns:a16="http://schemas.microsoft.com/office/drawing/2014/main" id="{8487499C-5BDA-A774-6769-D11E9F1D1440}"/>
              </a:ext>
            </a:extLst>
          </p:cNvPr>
          <p:cNvSpPr txBox="1"/>
          <p:nvPr/>
        </p:nvSpPr>
        <p:spPr>
          <a:xfrm>
            <a:off x="6492240" y="2807208"/>
            <a:ext cx="4690872" cy="265176"/>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Task Queue、CPU 亲和绑定，优化执行开销</a:t>
            </a:r>
          </a:p>
        </p:txBody>
      </p:sp>
      <p:sp>
        <p:nvSpPr>
          <p:cNvPr id="29" name="Rounded Rectangle 25">
            <a:extLst>
              <a:ext uri="{FF2B5EF4-FFF2-40B4-BE49-F238E27FC236}">
                <a16:creationId xmlns:a16="http://schemas.microsoft.com/office/drawing/2014/main" id="{D7F16525-62C0-D0F9-36EF-02CC42A6C756}"/>
              </a:ext>
            </a:extLst>
          </p:cNvPr>
          <p:cNvSpPr/>
          <p:nvPr/>
        </p:nvSpPr>
        <p:spPr>
          <a:xfrm>
            <a:off x="685800" y="3337560"/>
            <a:ext cx="5294376" cy="1664208"/>
          </a:xfrm>
          <a:prstGeom prst="roundRect">
            <a:avLst>
              <a:gd name="adj" fmla="val 10000"/>
            </a:avLst>
          </a:prstGeom>
          <a:solidFill>
            <a:srgbClr val="FFFFFF"/>
          </a:solidFill>
          <a:ln w="12700">
            <a:solidFill>
              <a:srgbClr val="DC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6">
            <a:extLst>
              <a:ext uri="{FF2B5EF4-FFF2-40B4-BE49-F238E27FC236}">
                <a16:creationId xmlns:a16="http://schemas.microsoft.com/office/drawing/2014/main" id="{8CE1B077-5F25-1B4F-4867-2C64CF017AE1}"/>
              </a:ext>
            </a:extLst>
          </p:cNvPr>
          <p:cNvSpPr/>
          <p:nvPr/>
        </p:nvSpPr>
        <p:spPr>
          <a:xfrm>
            <a:off x="685800" y="3493008"/>
            <a:ext cx="50292" cy="1353312"/>
          </a:xfrm>
          <a:prstGeom prst="rect">
            <a:avLst/>
          </a:prstGeom>
          <a:solidFill>
            <a:srgbClr val="159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27">
            <a:extLst>
              <a:ext uri="{FF2B5EF4-FFF2-40B4-BE49-F238E27FC236}">
                <a16:creationId xmlns:a16="http://schemas.microsoft.com/office/drawing/2014/main" id="{D4631FBF-5C83-0C91-AAC5-16CFD463C47D}"/>
              </a:ext>
            </a:extLst>
          </p:cNvPr>
          <p:cNvSpPr/>
          <p:nvPr/>
        </p:nvSpPr>
        <p:spPr>
          <a:xfrm>
            <a:off x="932688" y="3538728"/>
            <a:ext cx="457200" cy="329184"/>
          </a:xfrm>
          <a:prstGeom prst="roundRect">
            <a:avLst>
              <a:gd name="adj" fmla="val 10000"/>
            </a:avLst>
          </a:prstGeom>
          <a:solidFill>
            <a:srgbClr val="E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28">
            <a:extLst>
              <a:ext uri="{FF2B5EF4-FFF2-40B4-BE49-F238E27FC236}">
                <a16:creationId xmlns:a16="http://schemas.microsoft.com/office/drawing/2014/main" id="{A666C393-8D0A-BA99-B49D-BF529E9FDFF6}"/>
              </a:ext>
            </a:extLst>
          </p:cNvPr>
          <p:cNvSpPr txBox="1"/>
          <p:nvPr/>
        </p:nvSpPr>
        <p:spPr>
          <a:xfrm>
            <a:off x="937259" y="3547872"/>
            <a:ext cx="448056" cy="292608"/>
          </a:xfrm>
          <a:prstGeom prst="rect">
            <a:avLst/>
          </a:prstGeom>
          <a:noFill/>
        </p:spPr>
        <p:txBody>
          <a:bodyPr wrap="square" lIns="0" tIns="0" rIns="0" bIns="0" anchor="ctr">
            <a:spAutoFit/>
          </a:bodyPr>
          <a:lstStyle/>
          <a:p>
            <a:pPr algn="ctr">
              <a:spcBef>
                <a:spcPts val="0"/>
              </a:spcBef>
              <a:spcAft>
                <a:spcPts val="0"/>
              </a:spcAft>
            </a:pPr>
            <a:r>
              <a:rPr sz="1240" b="1">
                <a:solidFill>
                  <a:srgbClr val="159578"/>
                </a:solidFill>
                <a:latin typeface="微软雅黑"/>
                <a:ea typeface="微软雅黑"/>
              </a:rPr>
              <a:t>03</a:t>
            </a:r>
          </a:p>
        </p:txBody>
      </p:sp>
      <p:sp>
        <p:nvSpPr>
          <p:cNvPr id="33" name="TextBox 29">
            <a:extLst>
              <a:ext uri="{FF2B5EF4-FFF2-40B4-BE49-F238E27FC236}">
                <a16:creationId xmlns:a16="http://schemas.microsoft.com/office/drawing/2014/main" id="{B978D0FA-11E3-DA20-E0EA-02AFC127558A}"/>
              </a:ext>
            </a:extLst>
          </p:cNvPr>
          <p:cNvSpPr txBox="1"/>
          <p:nvPr/>
        </p:nvSpPr>
        <p:spPr>
          <a:xfrm>
            <a:off x="1508760" y="3529584"/>
            <a:ext cx="4224528" cy="347472"/>
          </a:xfrm>
          <a:prstGeom prst="rect">
            <a:avLst/>
          </a:prstGeom>
          <a:noFill/>
        </p:spPr>
        <p:txBody>
          <a:bodyPr wrap="square" lIns="0" tIns="0" rIns="0" bIns="0" anchor="ctr">
            <a:spAutoFit/>
          </a:bodyPr>
          <a:lstStyle/>
          <a:p>
            <a:pPr>
              <a:spcBef>
                <a:spcPts val="0"/>
              </a:spcBef>
              <a:spcAft>
                <a:spcPts val="0"/>
              </a:spcAft>
            </a:pPr>
            <a:r>
              <a:rPr sz="1710" b="1">
                <a:solidFill>
                  <a:srgbClr val="1D293F"/>
                </a:solidFill>
                <a:latin typeface="微软雅黑"/>
                <a:ea typeface="微软雅黑"/>
              </a:rPr>
              <a:t>并行与通信优化</a:t>
            </a:r>
          </a:p>
        </p:txBody>
      </p:sp>
      <p:sp>
        <p:nvSpPr>
          <p:cNvPr id="34" name="Rectangle 30">
            <a:extLst>
              <a:ext uri="{FF2B5EF4-FFF2-40B4-BE49-F238E27FC236}">
                <a16:creationId xmlns:a16="http://schemas.microsoft.com/office/drawing/2014/main" id="{BDBF5CC2-0CA6-89F1-EF39-1F383246DCA5}"/>
              </a:ext>
            </a:extLst>
          </p:cNvPr>
          <p:cNvSpPr/>
          <p:nvPr/>
        </p:nvSpPr>
        <p:spPr>
          <a:xfrm>
            <a:off x="941832" y="3959352"/>
            <a:ext cx="4782312" cy="8229"/>
          </a:xfrm>
          <a:prstGeom prst="rect">
            <a:avLst/>
          </a:prstGeom>
          <a:solidFill>
            <a:srgbClr val="E9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1">
            <a:extLst>
              <a:ext uri="{FF2B5EF4-FFF2-40B4-BE49-F238E27FC236}">
                <a16:creationId xmlns:a16="http://schemas.microsoft.com/office/drawing/2014/main" id="{8ABCA7C2-F403-BBAB-E64F-5BDADFFE3A04}"/>
              </a:ext>
            </a:extLst>
          </p:cNvPr>
          <p:cNvSpPr txBox="1"/>
          <p:nvPr/>
        </p:nvSpPr>
        <p:spPr>
          <a:xfrm>
            <a:off x="969264" y="4078224"/>
            <a:ext cx="4690872" cy="265176"/>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针对 Dense / MoE 摸测 TP、DP、EP 并行配置</a:t>
            </a:r>
          </a:p>
        </p:txBody>
      </p:sp>
      <p:sp>
        <p:nvSpPr>
          <p:cNvPr id="36" name="TextBox 32">
            <a:extLst>
              <a:ext uri="{FF2B5EF4-FFF2-40B4-BE49-F238E27FC236}">
                <a16:creationId xmlns:a16="http://schemas.microsoft.com/office/drawing/2014/main" id="{9E33B1DD-8C4A-3E2E-EB7A-F27AB581A214}"/>
              </a:ext>
            </a:extLst>
          </p:cNvPr>
          <p:cNvSpPr txBox="1"/>
          <p:nvPr/>
        </p:nvSpPr>
        <p:spPr>
          <a:xfrm>
            <a:off x="969264" y="4405361"/>
            <a:ext cx="4690872" cy="186974"/>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MoE 侧</a:t>
            </a:r>
            <a:r>
              <a:rPr lang="zh-CN" altLang="en-US" sz="1215" b="0">
                <a:solidFill>
                  <a:srgbClr val="34435C"/>
                </a:solidFill>
                <a:latin typeface="微软雅黑"/>
                <a:ea typeface="微软雅黑"/>
              </a:rPr>
              <a:t>进行</a:t>
            </a:r>
            <a:r>
              <a:rPr sz="1215" b="0">
                <a:solidFill>
                  <a:srgbClr val="34435C"/>
                </a:solidFill>
                <a:latin typeface="微软雅黑"/>
                <a:ea typeface="微软雅黑"/>
              </a:rPr>
              <a:t> EPLB 专家负载均衡、Prefill MC2</a:t>
            </a:r>
          </a:p>
        </p:txBody>
      </p:sp>
      <p:sp>
        <p:nvSpPr>
          <p:cNvPr id="37" name="TextBox 33">
            <a:extLst>
              <a:ext uri="{FF2B5EF4-FFF2-40B4-BE49-F238E27FC236}">
                <a16:creationId xmlns:a16="http://schemas.microsoft.com/office/drawing/2014/main" id="{7F1FCB58-15B7-388A-525E-B29BD3D817AD}"/>
              </a:ext>
            </a:extLst>
          </p:cNvPr>
          <p:cNvSpPr txBox="1"/>
          <p:nvPr/>
        </p:nvSpPr>
        <p:spPr>
          <a:xfrm>
            <a:off x="969264" y="4654296"/>
            <a:ext cx="4690872" cy="265176"/>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HCCL AIV 通信与缓冲参数优化，结合 Profiling 分析</a:t>
            </a:r>
          </a:p>
        </p:txBody>
      </p:sp>
      <p:sp>
        <p:nvSpPr>
          <p:cNvPr id="38" name="Rounded Rectangle 34">
            <a:extLst>
              <a:ext uri="{FF2B5EF4-FFF2-40B4-BE49-F238E27FC236}">
                <a16:creationId xmlns:a16="http://schemas.microsoft.com/office/drawing/2014/main" id="{7FC79AEF-A49D-AA2B-CEF9-A70CAD6F0DFE}"/>
              </a:ext>
            </a:extLst>
          </p:cNvPr>
          <p:cNvSpPr/>
          <p:nvPr/>
        </p:nvSpPr>
        <p:spPr>
          <a:xfrm>
            <a:off x="6208776" y="3337560"/>
            <a:ext cx="5294376" cy="1664208"/>
          </a:xfrm>
          <a:prstGeom prst="roundRect">
            <a:avLst>
              <a:gd name="adj" fmla="val 10000"/>
            </a:avLst>
          </a:prstGeom>
          <a:solidFill>
            <a:srgbClr val="FFFFFF"/>
          </a:solidFill>
          <a:ln w="12700">
            <a:solidFill>
              <a:srgbClr val="DCE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5">
            <a:extLst>
              <a:ext uri="{FF2B5EF4-FFF2-40B4-BE49-F238E27FC236}">
                <a16:creationId xmlns:a16="http://schemas.microsoft.com/office/drawing/2014/main" id="{C405957F-DE56-6019-FD7B-D9E7D6D4C48C}"/>
              </a:ext>
            </a:extLst>
          </p:cNvPr>
          <p:cNvSpPr/>
          <p:nvPr/>
        </p:nvSpPr>
        <p:spPr>
          <a:xfrm>
            <a:off x="6208776" y="3493008"/>
            <a:ext cx="50292" cy="1353312"/>
          </a:xfrm>
          <a:prstGeom prst="rect">
            <a:avLst/>
          </a:prstGeom>
          <a:solidFill>
            <a:srgbClr val="B66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6">
            <a:extLst>
              <a:ext uri="{FF2B5EF4-FFF2-40B4-BE49-F238E27FC236}">
                <a16:creationId xmlns:a16="http://schemas.microsoft.com/office/drawing/2014/main" id="{FAD679FE-2499-6931-1F6B-825D3353F5D5}"/>
              </a:ext>
            </a:extLst>
          </p:cNvPr>
          <p:cNvSpPr/>
          <p:nvPr/>
        </p:nvSpPr>
        <p:spPr>
          <a:xfrm>
            <a:off x="6455664" y="3538728"/>
            <a:ext cx="457200" cy="329184"/>
          </a:xfrm>
          <a:prstGeom prst="roundRect">
            <a:avLst>
              <a:gd name="adj" fmla="val 10000"/>
            </a:avLst>
          </a:prstGeom>
          <a:solidFill>
            <a:srgbClr val="FA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37">
            <a:extLst>
              <a:ext uri="{FF2B5EF4-FFF2-40B4-BE49-F238E27FC236}">
                <a16:creationId xmlns:a16="http://schemas.microsoft.com/office/drawing/2014/main" id="{B4BADA13-78B2-45A5-69F4-207FF1EBCCCA}"/>
              </a:ext>
            </a:extLst>
          </p:cNvPr>
          <p:cNvSpPr txBox="1"/>
          <p:nvPr/>
        </p:nvSpPr>
        <p:spPr>
          <a:xfrm>
            <a:off x="6460236" y="3547872"/>
            <a:ext cx="448056" cy="292608"/>
          </a:xfrm>
          <a:prstGeom prst="rect">
            <a:avLst/>
          </a:prstGeom>
          <a:noFill/>
        </p:spPr>
        <p:txBody>
          <a:bodyPr wrap="square" lIns="0" tIns="0" rIns="0" bIns="0" anchor="ctr">
            <a:spAutoFit/>
          </a:bodyPr>
          <a:lstStyle/>
          <a:p>
            <a:pPr algn="ctr">
              <a:spcBef>
                <a:spcPts val="0"/>
              </a:spcBef>
              <a:spcAft>
                <a:spcPts val="0"/>
              </a:spcAft>
            </a:pPr>
            <a:r>
              <a:rPr sz="1240" b="1">
                <a:solidFill>
                  <a:srgbClr val="B66C27"/>
                </a:solidFill>
                <a:latin typeface="微软雅黑"/>
                <a:ea typeface="微软雅黑"/>
              </a:rPr>
              <a:t>04</a:t>
            </a:r>
          </a:p>
        </p:txBody>
      </p:sp>
      <p:sp>
        <p:nvSpPr>
          <p:cNvPr id="42" name="TextBox 38">
            <a:extLst>
              <a:ext uri="{FF2B5EF4-FFF2-40B4-BE49-F238E27FC236}">
                <a16:creationId xmlns:a16="http://schemas.microsoft.com/office/drawing/2014/main" id="{8D8E6F52-F25B-2BFC-47C9-1B86B4A84AAB}"/>
              </a:ext>
            </a:extLst>
          </p:cNvPr>
          <p:cNvSpPr txBox="1"/>
          <p:nvPr/>
        </p:nvSpPr>
        <p:spPr>
          <a:xfrm>
            <a:off x="7031736" y="3529584"/>
            <a:ext cx="4224528" cy="347472"/>
          </a:xfrm>
          <a:prstGeom prst="rect">
            <a:avLst/>
          </a:prstGeom>
          <a:noFill/>
        </p:spPr>
        <p:txBody>
          <a:bodyPr wrap="square" lIns="0" tIns="0" rIns="0" bIns="0" anchor="ctr">
            <a:spAutoFit/>
          </a:bodyPr>
          <a:lstStyle/>
          <a:p>
            <a:pPr>
              <a:spcBef>
                <a:spcPts val="0"/>
              </a:spcBef>
              <a:spcAft>
                <a:spcPts val="0"/>
              </a:spcAft>
            </a:pPr>
            <a:r>
              <a:rPr sz="1710" b="1">
                <a:solidFill>
                  <a:srgbClr val="1D293F"/>
                </a:solidFill>
                <a:latin typeface="微软雅黑"/>
                <a:ea typeface="微软雅黑"/>
              </a:rPr>
              <a:t>MTP 投机解码</a:t>
            </a:r>
          </a:p>
        </p:txBody>
      </p:sp>
      <p:sp>
        <p:nvSpPr>
          <p:cNvPr id="43" name="Rectangle 39">
            <a:extLst>
              <a:ext uri="{FF2B5EF4-FFF2-40B4-BE49-F238E27FC236}">
                <a16:creationId xmlns:a16="http://schemas.microsoft.com/office/drawing/2014/main" id="{E68ACD05-2602-E0D5-CBDC-01F45E41AF85}"/>
              </a:ext>
            </a:extLst>
          </p:cNvPr>
          <p:cNvSpPr/>
          <p:nvPr/>
        </p:nvSpPr>
        <p:spPr>
          <a:xfrm>
            <a:off x="6464808" y="3959352"/>
            <a:ext cx="4782312" cy="8229"/>
          </a:xfrm>
          <a:prstGeom prst="rect">
            <a:avLst/>
          </a:prstGeom>
          <a:solidFill>
            <a:srgbClr val="E9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0">
            <a:extLst>
              <a:ext uri="{FF2B5EF4-FFF2-40B4-BE49-F238E27FC236}">
                <a16:creationId xmlns:a16="http://schemas.microsoft.com/office/drawing/2014/main" id="{B1B2D4CC-05B1-EEB9-CA20-81467EF71BC1}"/>
              </a:ext>
            </a:extLst>
          </p:cNvPr>
          <p:cNvSpPr txBox="1"/>
          <p:nvPr/>
        </p:nvSpPr>
        <p:spPr>
          <a:xfrm>
            <a:off x="6492240" y="4117325"/>
            <a:ext cx="4690872" cy="186974"/>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a:t>
            </a:r>
            <a:r>
              <a:rPr lang="zh-CN" altLang="en-US" sz="1215">
                <a:solidFill>
                  <a:srgbClr val="34435C"/>
                </a:solidFill>
                <a:latin typeface="微软雅黑"/>
                <a:ea typeface="微软雅黑"/>
              </a:rPr>
              <a:t>使用</a:t>
            </a:r>
            <a:r>
              <a:rPr sz="1215" b="0">
                <a:solidFill>
                  <a:srgbClr val="34435C"/>
                </a:solidFill>
                <a:latin typeface="微软雅黑"/>
                <a:ea typeface="微软雅黑"/>
              </a:rPr>
              <a:t> Gemma4 31B + MTP</a:t>
            </a:r>
            <a:r>
              <a:rPr lang="en-US" sz="1215" b="0">
                <a:solidFill>
                  <a:srgbClr val="34435C"/>
                </a:solidFill>
                <a:latin typeface="微软雅黑"/>
                <a:ea typeface="微软雅黑"/>
              </a:rPr>
              <a:t> </a:t>
            </a:r>
            <a:r>
              <a:rPr lang="zh-CN" altLang="en-US" sz="1215" b="0">
                <a:solidFill>
                  <a:srgbClr val="34435C"/>
                </a:solidFill>
                <a:latin typeface="微软雅黑"/>
                <a:ea typeface="微软雅黑"/>
              </a:rPr>
              <a:t>（</a:t>
            </a:r>
            <a:r>
              <a:rPr lang="en-US" altLang="zh-CN" sz="1215" b="0">
                <a:solidFill>
                  <a:srgbClr val="34435C"/>
                </a:solidFill>
                <a:latin typeface="微软雅黑"/>
                <a:ea typeface="微软雅黑"/>
              </a:rPr>
              <a:t>eager</a:t>
            </a:r>
            <a:r>
              <a:rPr lang="zh-CN" altLang="en-US" sz="1215" b="0">
                <a:solidFill>
                  <a:srgbClr val="34435C"/>
                </a:solidFill>
                <a:latin typeface="微软雅黑"/>
                <a:ea typeface="微软雅黑"/>
              </a:rPr>
              <a:t>）</a:t>
            </a:r>
            <a:endParaRPr sz="1215" b="0">
              <a:solidFill>
                <a:srgbClr val="34435C"/>
              </a:solidFill>
              <a:latin typeface="微软雅黑"/>
              <a:ea typeface="微软雅黑"/>
            </a:endParaRPr>
          </a:p>
        </p:txBody>
      </p:sp>
      <p:sp>
        <p:nvSpPr>
          <p:cNvPr id="45" name="TextBox 41">
            <a:extLst>
              <a:ext uri="{FF2B5EF4-FFF2-40B4-BE49-F238E27FC236}">
                <a16:creationId xmlns:a16="http://schemas.microsoft.com/office/drawing/2014/main" id="{39330862-6012-31B2-73F5-5CEA250E7C38}"/>
              </a:ext>
            </a:extLst>
          </p:cNvPr>
          <p:cNvSpPr txBox="1"/>
          <p:nvPr/>
        </p:nvSpPr>
        <p:spPr>
          <a:xfrm>
            <a:off x="6492240" y="4405361"/>
            <a:ext cx="4690872" cy="186974"/>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a:t>
            </a:r>
            <a:r>
              <a:rPr lang="en-US" altLang="zh-CN" sz="1215" b="0">
                <a:solidFill>
                  <a:srgbClr val="34435C"/>
                </a:solidFill>
                <a:latin typeface="微软雅黑"/>
                <a:ea typeface="微软雅黑"/>
              </a:rPr>
              <a:t>draft</a:t>
            </a:r>
            <a:r>
              <a:rPr sz="1215" b="0">
                <a:solidFill>
                  <a:srgbClr val="34435C"/>
                </a:solidFill>
                <a:latin typeface="微软雅黑"/>
                <a:ea typeface="微软雅黑"/>
              </a:rPr>
              <a:t>模型多 Token 预测，主模型并行</a:t>
            </a:r>
            <a:r>
              <a:rPr lang="en-US" sz="1215" b="0">
                <a:solidFill>
                  <a:srgbClr val="34435C"/>
                </a:solidFill>
                <a:latin typeface="微软雅黑"/>
                <a:ea typeface="微软雅黑"/>
              </a:rPr>
              <a:t>verify</a:t>
            </a:r>
            <a:endParaRPr sz="1215" b="0">
              <a:solidFill>
                <a:srgbClr val="34435C"/>
              </a:solidFill>
              <a:latin typeface="微软雅黑"/>
              <a:ea typeface="微软雅黑"/>
            </a:endParaRPr>
          </a:p>
        </p:txBody>
      </p:sp>
      <p:sp>
        <p:nvSpPr>
          <p:cNvPr id="46" name="TextBox 42">
            <a:extLst>
              <a:ext uri="{FF2B5EF4-FFF2-40B4-BE49-F238E27FC236}">
                <a16:creationId xmlns:a16="http://schemas.microsoft.com/office/drawing/2014/main" id="{C2B17B11-60A1-BAD1-518C-C59F9D272A69}"/>
              </a:ext>
            </a:extLst>
          </p:cNvPr>
          <p:cNvSpPr txBox="1"/>
          <p:nvPr/>
        </p:nvSpPr>
        <p:spPr>
          <a:xfrm>
            <a:off x="6492240" y="4654296"/>
            <a:ext cx="4690872" cy="265176"/>
          </a:xfrm>
          <a:prstGeom prst="rect">
            <a:avLst/>
          </a:prstGeom>
          <a:noFill/>
        </p:spPr>
        <p:txBody>
          <a:bodyPr wrap="square" lIns="0" tIns="0" rIns="0" bIns="0" anchor="ctr">
            <a:spAutoFit/>
          </a:bodyPr>
          <a:lstStyle/>
          <a:p>
            <a:pPr>
              <a:spcBef>
                <a:spcPts val="0"/>
              </a:spcBef>
              <a:spcAft>
                <a:spcPts val="0"/>
              </a:spcAft>
            </a:pPr>
            <a:r>
              <a:rPr sz="1215" b="0">
                <a:solidFill>
                  <a:srgbClr val="34435C"/>
                </a:solidFill>
                <a:latin typeface="微软雅黑"/>
                <a:ea typeface="微软雅黑"/>
              </a:rPr>
              <a:t>•  评估接受率、Decode 步数及 TPOT / 吞吐收益</a:t>
            </a:r>
          </a:p>
        </p:txBody>
      </p:sp>
      <p:sp>
        <p:nvSpPr>
          <p:cNvPr id="47" name="Rounded Rectangle 43">
            <a:extLst>
              <a:ext uri="{FF2B5EF4-FFF2-40B4-BE49-F238E27FC236}">
                <a16:creationId xmlns:a16="http://schemas.microsoft.com/office/drawing/2014/main" id="{3EA8609B-1E26-3514-2FEA-B1D7D5559877}"/>
              </a:ext>
            </a:extLst>
          </p:cNvPr>
          <p:cNvSpPr/>
          <p:nvPr/>
        </p:nvSpPr>
        <p:spPr>
          <a:xfrm>
            <a:off x="685800" y="5221224"/>
            <a:ext cx="10817352" cy="996696"/>
          </a:xfrm>
          <a:prstGeom prst="roundRect">
            <a:avLst>
              <a:gd name="adj" fmla="val 10000"/>
            </a:avLst>
          </a:prstGeom>
          <a:solidFill>
            <a:srgbClr val="E8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4">
            <a:extLst>
              <a:ext uri="{FF2B5EF4-FFF2-40B4-BE49-F238E27FC236}">
                <a16:creationId xmlns:a16="http://schemas.microsoft.com/office/drawing/2014/main" id="{6AB7DE26-F617-B2D7-606A-83E3FE853DC6}"/>
              </a:ext>
            </a:extLst>
          </p:cNvPr>
          <p:cNvSpPr txBox="1"/>
          <p:nvPr/>
        </p:nvSpPr>
        <p:spPr>
          <a:xfrm>
            <a:off x="914400" y="5294376"/>
            <a:ext cx="3017520" cy="201168"/>
          </a:xfrm>
          <a:prstGeom prst="rect">
            <a:avLst/>
          </a:prstGeom>
          <a:noFill/>
        </p:spPr>
        <p:txBody>
          <a:bodyPr wrap="square" lIns="0" tIns="0" rIns="0" bIns="0" anchor="ctr">
            <a:spAutoFit/>
          </a:bodyPr>
          <a:lstStyle/>
          <a:p>
            <a:pPr>
              <a:spcBef>
                <a:spcPts val="0"/>
              </a:spcBef>
              <a:spcAft>
                <a:spcPts val="0"/>
              </a:spcAft>
            </a:pPr>
            <a:r>
              <a:rPr sz="1140" b="1">
                <a:solidFill>
                  <a:srgbClr val="3178C6"/>
                </a:solidFill>
                <a:latin typeface="微软雅黑"/>
                <a:ea typeface="微软雅黑"/>
              </a:rPr>
              <a:t>A5 量化版本 · 压测配置下的输出吞吐</a:t>
            </a:r>
          </a:p>
        </p:txBody>
      </p:sp>
      <p:sp>
        <p:nvSpPr>
          <p:cNvPr id="49" name="TextBox 45">
            <a:extLst>
              <a:ext uri="{FF2B5EF4-FFF2-40B4-BE49-F238E27FC236}">
                <a16:creationId xmlns:a16="http://schemas.microsoft.com/office/drawing/2014/main" id="{341F57E3-71CB-6BE7-F6BA-06C6D43076B7}"/>
              </a:ext>
            </a:extLst>
          </p:cNvPr>
          <p:cNvSpPr txBox="1"/>
          <p:nvPr/>
        </p:nvSpPr>
        <p:spPr>
          <a:xfrm>
            <a:off x="923544" y="5596128"/>
            <a:ext cx="1307592" cy="192024"/>
          </a:xfrm>
          <a:prstGeom prst="rect">
            <a:avLst/>
          </a:prstGeom>
          <a:noFill/>
        </p:spPr>
        <p:txBody>
          <a:bodyPr wrap="square" lIns="0" tIns="0" rIns="0" bIns="0" anchor="ctr">
            <a:spAutoFit/>
          </a:bodyPr>
          <a:lstStyle/>
          <a:p>
            <a:pPr>
              <a:spcBef>
                <a:spcPts val="0"/>
              </a:spcBef>
              <a:spcAft>
                <a:spcPts val="0"/>
              </a:spcAft>
            </a:pPr>
            <a:r>
              <a:rPr sz="1130" b="1">
                <a:solidFill>
                  <a:srgbClr val="34435C"/>
                </a:solidFill>
                <a:latin typeface="微软雅黑"/>
                <a:ea typeface="微软雅黑"/>
              </a:rPr>
              <a:t>31B Dense</a:t>
            </a:r>
          </a:p>
        </p:txBody>
      </p:sp>
      <p:sp>
        <p:nvSpPr>
          <p:cNvPr id="50" name="TextBox 46">
            <a:extLst>
              <a:ext uri="{FF2B5EF4-FFF2-40B4-BE49-F238E27FC236}">
                <a16:creationId xmlns:a16="http://schemas.microsoft.com/office/drawing/2014/main" id="{A6718D7E-A080-17B2-3FAC-3CD684B6DEB2}"/>
              </a:ext>
            </a:extLst>
          </p:cNvPr>
          <p:cNvSpPr txBox="1"/>
          <p:nvPr/>
        </p:nvSpPr>
        <p:spPr>
          <a:xfrm>
            <a:off x="2295144" y="5536692"/>
            <a:ext cx="1828800" cy="310896"/>
          </a:xfrm>
          <a:prstGeom prst="rect">
            <a:avLst/>
          </a:prstGeom>
          <a:noFill/>
        </p:spPr>
        <p:txBody>
          <a:bodyPr wrap="square" lIns="0" tIns="0" rIns="0" bIns="0" anchor="ctr">
            <a:spAutoFit/>
          </a:bodyPr>
          <a:lstStyle/>
          <a:p>
            <a:pPr>
              <a:spcBef>
                <a:spcPts val="0"/>
              </a:spcBef>
              <a:spcAft>
                <a:spcPts val="0"/>
              </a:spcAft>
            </a:pPr>
            <a:r>
              <a:rPr sz="1889" b="1">
                <a:solidFill>
                  <a:srgbClr val="1D293F"/>
                </a:solidFill>
                <a:latin typeface="微软雅黑"/>
                <a:ea typeface="微软雅黑"/>
              </a:rPr>
              <a:t>1,554 tok/s</a:t>
            </a:r>
          </a:p>
        </p:txBody>
      </p:sp>
      <p:sp>
        <p:nvSpPr>
          <p:cNvPr id="51" name="TextBox 47">
            <a:extLst>
              <a:ext uri="{FF2B5EF4-FFF2-40B4-BE49-F238E27FC236}">
                <a16:creationId xmlns:a16="http://schemas.microsoft.com/office/drawing/2014/main" id="{9A51D7D7-865F-0B9B-C50F-B1D9DD9E629B}"/>
              </a:ext>
            </a:extLst>
          </p:cNvPr>
          <p:cNvSpPr txBox="1"/>
          <p:nvPr/>
        </p:nvSpPr>
        <p:spPr>
          <a:xfrm>
            <a:off x="4069080" y="5614416"/>
            <a:ext cx="1664208" cy="182880"/>
          </a:xfrm>
          <a:prstGeom prst="rect">
            <a:avLst/>
          </a:prstGeom>
          <a:noFill/>
        </p:spPr>
        <p:txBody>
          <a:bodyPr wrap="square" lIns="0" tIns="0" rIns="0" bIns="0" anchor="ctr">
            <a:spAutoFit/>
          </a:bodyPr>
          <a:lstStyle/>
          <a:p>
            <a:pPr>
              <a:spcBef>
                <a:spcPts val="0"/>
              </a:spcBef>
              <a:spcAft>
                <a:spcPts val="0"/>
              </a:spcAft>
            </a:pPr>
            <a:r>
              <a:rPr sz="1080" b="0">
                <a:solidFill>
                  <a:srgbClr val="6F829D"/>
                </a:solidFill>
                <a:latin typeface="微软雅黑"/>
                <a:ea typeface="微软雅黑"/>
              </a:rPr>
              <a:t>TP4 · 并发 40</a:t>
            </a:r>
          </a:p>
        </p:txBody>
      </p:sp>
      <p:sp>
        <p:nvSpPr>
          <p:cNvPr id="52" name="Rectangle 48">
            <a:extLst>
              <a:ext uri="{FF2B5EF4-FFF2-40B4-BE49-F238E27FC236}">
                <a16:creationId xmlns:a16="http://schemas.microsoft.com/office/drawing/2014/main" id="{F1EAEE23-D3F6-CE3B-3B93-F6B362601E8F}"/>
              </a:ext>
            </a:extLst>
          </p:cNvPr>
          <p:cNvSpPr/>
          <p:nvPr/>
        </p:nvSpPr>
        <p:spPr>
          <a:xfrm>
            <a:off x="5980176" y="5449824"/>
            <a:ext cx="10058" cy="576072"/>
          </a:xfrm>
          <a:prstGeom prst="rect">
            <a:avLst/>
          </a:prstGeom>
          <a:solidFill>
            <a:srgbClr val="C8D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49">
            <a:extLst>
              <a:ext uri="{FF2B5EF4-FFF2-40B4-BE49-F238E27FC236}">
                <a16:creationId xmlns:a16="http://schemas.microsoft.com/office/drawing/2014/main" id="{01BB9A82-EF48-90A0-92D2-B21A5F4DDEFE}"/>
              </a:ext>
            </a:extLst>
          </p:cNvPr>
          <p:cNvSpPr txBox="1"/>
          <p:nvPr/>
        </p:nvSpPr>
        <p:spPr>
          <a:xfrm>
            <a:off x="6217920" y="5596128"/>
            <a:ext cx="1152144" cy="201168"/>
          </a:xfrm>
          <a:prstGeom prst="rect">
            <a:avLst/>
          </a:prstGeom>
          <a:noFill/>
        </p:spPr>
        <p:txBody>
          <a:bodyPr wrap="square" lIns="0" tIns="0" rIns="0" bIns="0" anchor="ctr">
            <a:spAutoFit/>
          </a:bodyPr>
          <a:lstStyle/>
          <a:p>
            <a:pPr>
              <a:spcBef>
                <a:spcPts val="0"/>
              </a:spcBef>
              <a:spcAft>
                <a:spcPts val="0"/>
              </a:spcAft>
            </a:pPr>
            <a:r>
              <a:rPr sz="1130" b="1">
                <a:solidFill>
                  <a:srgbClr val="34435C"/>
                </a:solidFill>
                <a:latin typeface="微软雅黑"/>
                <a:ea typeface="微软雅黑"/>
              </a:rPr>
              <a:t>26B MoE</a:t>
            </a:r>
          </a:p>
        </p:txBody>
      </p:sp>
      <p:sp>
        <p:nvSpPr>
          <p:cNvPr id="54" name="TextBox 50">
            <a:extLst>
              <a:ext uri="{FF2B5EF4-FFF2-40B4-BE49-F238E27FC236}">
                <a16:creationId xmlns:a16="http://schemas.microsoft.com/office/drawing/2014/main" id="{BFC557F2-13FB-9991-1F19-DC0F6E9C0DD5}"/>
              </a:ext>
            </a:extLst>
          </p:cNvPr>
          <p:cNvSpPr txBox="1"/>
          <p:nvPr/>
        </p:nvSpPr>
        <p:spPr>
          <a:xfrm>
            <a:off x="7479792" y="5536692"/>
            <a:ext cx="1828800" cy="310896"/>
          </a:xfrm>
          <a:prstGeom prst="rect">
            <a:avLst/>
          </a:prstGeom>
          <a:noFill/>
        </p:spPr>
        <p:txBody>
          <a:bodyPr wrap="square" lIns="0" tIns="0" rIns="0" bIns="0" anchor="ctr">
            <a:spAutoFit/>
          </a:bodyPr>
          <a:lstStyle/>
          <a:p>
            <a:pPr>
              <a:spcBef>
                <a:spcPts val="0"/>
              </a:spcBef>
              <a:spcAft>
                <a:spcPts val="0"/>
              </a:spcAft>
            </a:pPr>
            <a:r>
              <a:rPr sz="1889" b="1">
                <a:solidFill>
                  <a:srgbClr val="1D293F"/>
                </a:solidFill>
                <a:latin typeface="微软雅黑"/>
                <a:ea typeface="微软雅黑"/>
              </a:rPr>
              <a:t>4,497 tok/s</a:t>
            </a:r>
          </a:p>
        </p:txBody>
      </p:sp>
      <p:sp>
        <p:nvSpPr>
          <p:cNvPr id="55" name="TextBox 51">
            <a:extLst>
              <a:ext uri="{FF2B5EF4-FFF2-40B4-BE49-F238E27FC236}">
                <a16:creationId xmlns:a16="http://schemas.microsoft.com/office/drawing/2014/main" id="{D65694CC-36CE-B495-C946-21C86384520B}"/>
              </a:ext>
            </a:extLst>
          </p:cNvPr>
          <p:cNvSpPr txBox="1"/>
          <p:nvPr/>
        </p:nvSpPr>
        <p:spPr>
          <a:xfrm>
            <a:off x="9409176" y="5624680"/>
            <a:ext cx="1810512" cy="162352"/>
          </a:xfrm>
          <a:prstGeom prst="rect">
            <a:avLst/>
          </a:prstGeom>
          <a:noFill/>
        </p:spPr>
        <p:txBody>
          <a:bodyPr wrap="square" lIns="0" tIns="0" rIns="0" bIns="0" anchor="ctr">
            <a:spAutoFit/>
          </a:bodyPr>
          <a:lstStyle/>
          <a:p>
            <a:pPr>
              <a:spcBef>
                <a:spcPts val="0"/>
              </a:spcBef>
              <a:spcAft>
                <a:spcPts val="0"/>
              </a:spcAft>
            </a:pPr>
            <a:r>
              <a:rPr sz="1055" b="0">
                <a:solidFill>
                  <a:srgbClr val="6F829D"/>
                </a:solidFill>
                <a:latin typeface="微软雅黑"/>
                <a:ea typeface="微软雅黑"/>
              </a:rPr>
              <a:t>TP1 + DP4 · 并发 1</a:t>
            </a:r>
            <a:r>
              <a:rPr lang="en-US" sz="1055" b="0">
                <a:solidFill>
                  <a:srgbClr val="6F829D"/>
                </a:solidFill>
                <a:latin typeface="微软雅黑"/>
                <a:ea typeface="微软雅黑"/>
              </a:rPr>
              <a:t>0</a:t>
            </a:r>
            <a:r>
              <a:rPr sz="1055" b="0">
                <a:solidFill>
                  <a:srgbClr val="6F829D"/>
                </a:solidFill>
                <a:latin typeface="微软雅黑"/>
                <a:ea typeface="微软雅黑"/>
              </a:rPr>
              <a:t>0</a:t>
            </a:r>
          </a:p>
        </p:txBody>
      </p:sp>
      <p:sp>
        <p:nvSpPr>
          <p:cNvPr id="3" name="Rectangle 1">
            <a:extLst>
              <a:ext uri="{FF2B5EF4-FFF2-40B4-BE49-F238E27FC236}">
                <a16:creationId xmlns:a16="http://schemas.microsoft.com/office/drawing/2014/main" id="{59485653-04E3-7952-8523-E790D201AA19}"/>
              </a:ext>
            </a:extLst>
          </p:cNvPr>
          <p:cNvSpPr>
            <a:spLocks noChangeArrowheads="1"/>
          </p:cNvSpPr>
          <p:nvPr/>
        </p:nvSpPr>
        <p:spPr bwMode="auto">
          <a:xfrm>
            <a:off x="6446149" y="512017"/>
            <a:ext cx="5658139" cy="8540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7132" rIns="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【输入输出】典型输入4k/输出1</a:t>
            </a:r>
            <a:r>
              <a:rPr kumimoji="0" lang="zh-CN" altLang="zh-CN" sz="12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t>k </a:t>
            </a:r>
            <a:br>
              <a:rPr kumimoji="0" lang="en-US" altLang="zh-CN" sz="12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br>
            <a:r>
              <a:rPr kumimoji="0" lang="zh-CN" altLang="zh-CN" sz="1200" b="0" i="0" u="none" strike="noStrike" cap="none" normalizeH="0" baseline="0">
                <a:ln>
                  <a:noFill/>
                </a:ln>
                <a:solidFill>
                  <a:srgbClr val="333333"/>
                </a:solidFill>
                <a:effectLst/>
                <a:latin typeface="微软雅黑" panose="020B0503020204020204" pitchFamily="34" charset="-122"/>
                <a:ea typeface="微软雅黑" panose="020B0503020204020204" pitchFamily="34" charset="-122"/>
              </a:rPr>
              <a:t>【SLO】</a:t>
            </a:r>
            <a:r>
              <a:rPr kumimoji="0" lang="zh-CN"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TPOT&lt;25ms, 最大吞吐 </a:t>
            </a:r>
            <a:endParaRPr kumimoji="0" lang="en-US"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【精度】mxFP8/mxFP4 </a:t>
            </a:r>
            <a:endParaRPr kumimoji="0" lang="en-US"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【性能目标】Fp4量化下符合版本精度标准，性能达成2x H20，或0.7x H200</a:t>
            </a:r>
            <a:r>
              <a:rPr kumimoji="0" lang="zh-CN" altLang="zh-CN" sz="1200" b="0" i="0" u="none" strike="noStrike" cap="none" normalizeH="0" baseline="0" dirty="0">
                <a:ln>
                  <a:noFill/>
                </a:ln>
                <a:solidFill>
                  <a:schemeClr val="tx1"/>
                </a:solidFill>
                <a:effectLst/>
              </a:rPr>
              <a:t> </a:t>
            </a:r>
            <a:endParaRPr kumimoji="0" lang="zh-CN" altLang="zh-CN" sz="1200" b="0" i="0" u="none" strike="noStrike" cap="none" normalizeH="0" baseline="0" dirty="0">
              <a:ln>
                <a:noFill/>
              </a:ln>
              <a:solidFill>
                <a:schemeClr val="tx1"/>
              </a:solidFill>
              <a:effectLst/>
              <a:latin typeface="Arial" panose="020B0604020202020204" pitchFamily="34" charset="0"/>
            </a:endParaRPr>
          </a:p>
        </p:txBody>
      </p:sp>
      <p:pic>
        <p:nvPicPr>
          <p:cNvPr id="5" name="图片 4" descr="竖版华为公司标志 Vertical Version of Huawei Corporate Logo_2018">
            <a:extLst>
              <a:ext uri="{FF2B5EF4-FFF2-40B4-BE49-F238E27FC236}">
                <a16:creationId xmlns:a16="http://schemas.microsoft.com/office/drawing/2014/main" id="{5D7CC78A-F981-69DA-0CFD-030CBAAF9166}"/>
              </a:ext>
            </a:extLst>
          </p:cNvPr>
          <p:cNvPicPr>
            <a:picLocks noChangeAspect="1"/>
          </p:cNvPicPr>
          <p:nvPr/>
        </p:nvPicPr>
        <p:blipFill>
          <a:blip r:embed="rId2"/>
          <a:stretch>
            <a:fillRect/>
          </a:stretch>
        </p:blipFill>
        <p:spPr>
          <a:xfrm>
            <a:off x="10780956" y="87585"/>
            <a:ext cx="810588" cy="802246"/>
          </a:xfrm>
          <a:prstGeom prst="rect">
            <a:avLst/>
          </a:prstGeom>
        </p:spPr>
      </p:pic>
    </p:spTree>
    <p:extLst>
      <p:ext uri="{BB962C8B-B14F-4D97-AF65-F5344CB8AC3E}">
        <p14:creationId xmlns:p14="http://schemas.microsoft.com/office/powerpoint/2010/main" val="3716928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8BC9E4-A017-CECE-03F0-3373C67FD980}"/>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70CF2B2C-ACC3-3AAE-B399-F18F4CB9B542}"/>
              </a:ext>
            </a:extLst>
          </p:cNvPr>
          <p:cNvSpPr>
            <a:spLocks noGrp="1"/>
          </p:cNvSpPr>
          <p:nvPr>
            <p:ph type="subTitle" idx="1"/>
          </p:nvPr>
        </p:nvSpPr>
        <p:spPr/>
        <p:txBody>
          <a:bodyPr/>
          <a:lstStyle/>
          <a:p>
            <a:endParaRPr lang="zh-CN" altLang="en-US"/>
          </a:p>
        </p:txBody>
      </p:sp>
      <p:sp>
        <p:nvSpPr>
          <p:cNvPr id="4" name="灯片编号占位符 3">
            <a:extLst>
              <a:ext uri="{FF2B5EF4-FFF2-40B4-BE49-F238E27FC236}">
                <a16:creationId xmlns:a16="http://schemas.microsoft.com/office/drawing/2014/main" id="{43D8D583-BEEB-F45A-C863-F6BA63F1F63F}"/>
              </a:ext>
            </a:extLst>
          </p:cNvPr>
          <p:cNvSpPr>
            <a:spLocks noGrp="1"/>
          </p:cNvSpPr>
          <p:nvPr>
            <p:ph type="sldNum" sz="quarter" idx="12"/>
          </p:nvPr>
        </p:nvSpPr>
        <p:spPr/>
        <p:txBody>
          <a:bodyPr/>
          <a:lstStyle/>
          <a:p>
            <a:fld id="{49AE70B2-8BF9-45C0-BB95-33D1B9D3A854}" type="slidenum">
              <a:rPr lang="zh-CN" altLang="en-US" smtClean="0"/>
              <a:t>8</a:t>
            </a:fld>
            <a:endParaRPr lang="zh-CN" altLang="en-US" dirty="0"/>
          </a:p>
        </p:txBody>
      </p:sp>
      <p:pic>
        <p:nvPicPr>
          <p:cNvPr id="13" name="图片 12">
            <a:extLst>
              <a:ext uri="{FF2B5EF4-FFF2-40B4-BE49-F238E27FC236}">
                <a16:creationId xmlns:a16="http://schemas.microsoft.com/office/drawing/2014/main" id="{977CD4F4-F8F7-2826-D456-D4CBE8681C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9" y="0"/>
            <a:ext cx="12185521" cy="6858000"/>
          </a:xfrm>
          <a:prstGeom prst="rect">
            <a:avLst/>
          </a:prstGeom>
        </p:spPr>
      </p:pic>
      <p:sp>
        <p:nvSpPr>
          <p:cNvPr id="6" name="灯片编号占位符 1">
            <a:extLst>
              <a:ext uri="{FF2B5EF4-FFF2-40B4-BE49-F238E27FC236}">
                <a16:creationId xmlns:a16="http://schemas.microsoft.com/office/drawing/2014/main" id="{5B149DB9-9386-1D66-DFFC-531B3FE67826}"/>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62B6538A-33AE-45EB-868C-14B9E34ED961}" type="slidenum">
              <a:rPr lang="zh-CN" altLang="en-US" smtClean="0">
                <a:solidFill>
                  <a:prstClr val="black">
                    <a:tint val="75000"/>
                  </a:prstClr>
                </a:solidFill>
                <a:latin typeface="Calibri" panose="020F0502020204030204"/>
                <a:ea typeface="宋体" panose="02010600030101010101" pitchFamily="2" charset="-122"/>
              </a:rPr>
              <a:pPr>
                <a:defRPr/>
              </a:pPr>
              <a:t>8</a:t>
            </a:fld>
            <a:endParaRPr lang="zh-CN" altLang="en-US">
              <a:solidFill>
                <a:prstClr val="black">
                  <a:tint val="75000"/>
                </a:prstClr>
              </a:solidFill>
              <a:latin typeface="Calibri" panose="020F0502020204030204"/>
              <a:ea typeface="宋体" panose="02010600030101010101" pitchFamily="2" charset="-122"/>
            </a:endParaRPr>
          </a:p>
        </p:txBody>
      </p:sp>
      <p:pic>
        <p:nvPicPr>
          <p:cNvPr id="5" name="图片 4" descr="竖版华为公司标志 Vertical Version of Huawei Corporate Logo_2018">
            <a:extLst>
              <a:ext uri="{FF2B5EF4-FFF2-40B4-BE49-F238E27FC236}">
                <a16:creationId xmlns:a16="http://schemas.microsoft.com/office/drawing/2014/main" id="{E972BB8E-C687-E83E-DBC9-D77A59CCB74E}"/>
              </a:ext>
            </a:extLst>
          </p:cNvPr>
          <p:cNvPicPr>
            <a:picLocks noChangeAspect="1"/>
          </p:cNvPicPr>
          <p:nvPr/>
        </p:nvPicPr>
        <p:blipFill>
          <a:blip r:embed="rId3"/>
          <a:stretch>
            <a:fillRect/>
          </a:stretch>
        </p:blipFill>
        <p:spPr>
          <a:xfrm>
            <a:off x="10780956" y="87585"/>
            <a:ext cx="810588" cy="802246"/>
          </a:xfrm>
          <a:prstGeom prst="rect">
            <a:avLst/>
          </a:prstGeom>
        </p:spPr>
      </p:pic>
    </p:spTree>
    <p:extLst>
      <p:ext uri="{BB962C8B-B14F-4D97-AF65-F5344CB8AC3E}">
        <p14:creationId xmlns:p14="http://schemas.microsoft.com/office/powerpoint/2010/main" val="646971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6115C56-6A6F-AC64-9128-6DE490FD61DA}"/>
              </a:ext>
            </a:extLst>
          </p:cNvPr>
          <p:cNvSpPr>
            <a:spLocks noGrp="1"/>
          </p:cNvSpPr>
          <p:nvPr>
            <p:ph type="sldNum" sz="quarter" idx="12"/>
          </p:nvPr>
        </p:nvSpPr>
        <p:spPr/>
        <p:txBody>
          <a:bodyPr/>
          <a:lstStyle/>
          <a:p>
            <a:fld id="{49AE70B2-8BF9-45C0-BB95-33D1B9D3A854}" type="slidenum">
              <a:rPr lang="zh-CN" altLang="en-US" smtClean="0"/>
              <a:t>9</a:t>
            </a:fld>
            <a:endParaRPr lang="zh-CN" altLang="en-US" dirty="0"/>
          </a:p>
        </p:txBody>
      </p:sp>
      <p:sp>
        <p:nvSpPr>
          <p:cNvPr id="136" name="Text 9">
            <a:extLst>
              <a:ext uri="{FF2B5EF4-FFF2-40B4-BE49-F238E27FC236}">
                <a16:creationId xmlns:a16="http://schemas.microsoft.com/office/drawing/2014/main" id="{9B137F36-E781-42E6-8422-AADA269084EF}"/>
              </a:ext>
            </a:extLst>
          </p:cNvPr>
          <p:cNvSpPr/>
          <p:nvPr/>
        </p:nvSpPr>
        <p:spPr>
          <a:xfrm>
            <a:off x="724516" y="237053"/>
            <a:ext cx="10104120" cy="466344"/>
          </a:xfrm>
          <a:prstGeom prst="rect">
            <a:avLst/>
          </a:prstGeom>
          <a:noFill/>
          <a:ln/>
        </p:spPr>
        <p:txBody>
          <a:bodyPr wrap="square" lIns="0" tIns="0" rIns="0" bIns="0" rtlCol="0" anchor="ctr">
            <a:normAutofit/>
          </a:bodyPr>
          <a:lstStyle/>
          <a:p>
            <a:r>
              <a:rPr lang="en-US" altLang="zh-CN" sz="2400" b="1">
                <a:solidFill>
                  <a:srgbClr val="172C49"/>
                </a:solidFill>
                <a:latin typeface="Microsoft YaHei" pitchFamily="34" charset="0"/>
                <a:ea typeface="Microsoft YaHei" pitchFamily="34" charset="-122"/>
                <a:cs typeface="Microsoft YaHei" pitchFamily="34" charset="-120"/>
              </a:rPr>
              <a:t>Gemma4 </a:t>
            </a:r>
            <a:r>
              <a:rPr lang="zh-CN" altLang="en-US" sz="2400" b="1">
                <a:solidFill>
                  <a:srgbClr val="172C49"/>
                </a:solidFill>
                <a:latin typeface="Microsoft YaHei" pitchFamily="34" charset="0"/>
                <a:ea typeface="Microsoft YaHei" pitchFamily="34" charset="-122"/>
                <a:cs typeface="Microsoft YaHei" pitchFamily="34" charset="-120"/>
              </a:rPr>
              <a:t>混合 </a:t>
            </a:r>
            <a:r>
              <a:rPr lang="en-US" altLang="zh-CN" sz="2400" b="1">
                <a:solidFill>
                  <a:srgbClr val="172C49"/>
                </a:solidFill>
                <a:latin typeface="Microsoft YaHei" pitchFamily="34" charset="0"/>
                <a:ea typeface="Microsoft YaHei" pitchFamily="34" charset="-122"/>
                <a:cs typeface="Microsoft YaHei" pitchFamily="34" charset="-120"/>
              </a:rPr>
              <a:t>MXFP4</a:t>
            </a:r>
            <a:r>
              <a:rPr lang="en-US" sz="2500" b="1">
                <a:solidFill>
                  <a:srgbClr val="102F5E"/>
                </a:solidFill>
                <a:latin typeface="Microsoft YaHei" pitchFamily="34" charset="0"/>
                <a:ea typeface="Microsoft YaHei" pitchFamily="34" charset="-122"/>
                <a:cs typeface="Microsoft YaHei" pitchFamily="34" charset="-120"/>
              </a:rPr>
              <a:t>：</a:t>
            </a:r>
            <a:r>
              <a:rPr lang="en-US" sz="2500" b="1" dirty="0">
                <a:solidFill>
                  <a:srgbClr val="102F5E"/>
                </a:solidFill>
                <a:latin typeface="Microsoft YaHei" pitchFamily="34" charset="0"/>
                <a:ea typeface="Microsoft YaHei" pitchFamily="34" charset="-122"/>
                <a:cs typeface="Microsoft YaHei" pitchFamily="34" charset="-120"/>
              </a:rPr>
              <a:t>MXFP4 量化分组与 TP 边界修复</a:t>
            </a:r>
            <a:endParaRPr lang="en-US" sz="2500" dirty="0"/>
          </a:p>
        </p:txBody>
      </p:sp>
      <p:sp>
        <p:nvSpPr>
          <p:cNvPr id="138" name="Shape 11">
            <a:extLst>
              <a:ext uri="{FF2B5EF4-FFF2-40B4-BE49-F238E27FC236}">
                <a16:creationId xmlns:a16="http://schemas.microsoft.com/office/drawing/2014/main" id="{9632CDFC-EEFB-0070-7E58-6784E6E27537}"/>
              </a:ext>
            </a:extLst>
          </p:cNvPr>
          <p:cNvSpPr/>
          <p:nvPr/>
        </p:nvSpPr>
        <p:spPr>
          <a:xfrm>
            <a:off x="484632" y="1060014"/>
            <a:ext cx="11320272" cy="0"/>
          </a:xfrm>
          <a:prstGeom prst="line">
            <a:avLst/>
          </a:prstGeom>
          <a:noFill/>
          <a:ln w="15240">
            <a:solidFill>
              <a:srgbClr val="6CA3E1"/>
            </a:solidFill>
            <a:prstDash val="solid"/>
          </a:ln>
        </p:spPr>
        <p:txBody>
          <a:bodyPr/>
          <a:lstStyle/>
          <a:p>
            <a:endParaRPr lang="zh-CN" altLang="en-US"/>
          </a:p>
        </p:txBody>
      </p:sp>
      <p:sp>
        <p:nvSpPr>
          <p:cNvPr id="139" name="Shape 12">
            <a:extLst>
              <a:ext uri="{FF2B5EF4-FFF2-40B4-BE49-F238E27FC236}">
                <a16:creationId xmlns:a16="http://schemas.microsoft.com/office/drawing/2014/main" id="{EA660923-60A0-4C06-82B9-581AD6E7C1D0}"/>
              </a:ext>
            </a:extLst>
          </p:cNvPr>
          <p:cNvSpPr/>
          <p:nvPr/>
        </p:nvSpPr>
        <p:spPr>
          <a:xfrm>
            <a:off x="484632" y="1165169"/>
            <a:ext cx="11201400" cy="402336"/>
          </a:xfrm>
          <a:prstGeom prst="roundRect">
            <a:avLst/>
          </a:prstGeom>
          <a:solidFill>
            <a:srgbClr val="F4F8FE"/>
          </a:solidFill>
          <a:ln w="10160">
            <a:solidFill>
              <a:srgbClr val="CCDDF0"/>
            </a:solidFill>
            <a:prstDash val="solid"/>
          </a:ln>
        </p:spPr>
        <p:txBody>
          <a:bodyPr/>
          <a:lstStyle/>
          <a:p>
            <a:endParaRPr lang="zh-CN" altLang="en-US"/>
          </a:p>
        </p:txBody>
      </p:sp>
      <p:sp>
        <p:nvSpPr>
          <p:cNvPr id="140" name="Shape 13">
            <a:extLst>
              <a:ext uri="{FF2B5EF4-FFF2-40B4-BE49-F238E27FC236}">
                <a16:creationId xmlns:a16="http://schemas.microsoft.com/office/drawing/2014/main" id="{C294D01C-BD35-B8BC-F9C8-AAFAFAA1CFCF}"/>
              </a:ext>
            </a:extLst>
          </p:cNvPr>
          <p:cNvSpPr/>
          <p:nvPr/>
        </p:nvSpPr>
        <p:spPr>
          <a:xfrm>
            <a:off x="621792" y="1224605"/>
            <a:ext cx="1051560" cy="274320"/>
          </a:xfrm>
          <a:prstGeom prst="roundRect">
            <a:avLst/>
          </a:prstGeom>
          <a:solidFill>
            <a:srgbClr val="1674C8"/>
          </a:solidFill>
          <a:ln w="10160">
            <a:solidFill>
              <a:srgbClr val="1674C8"/>
            </a:solidFill>
            <a:prstDash val="solid"/>
          </a:ln>
        </p:spPr>
      </p:sp>
      <p:sp>
        <p:nvSpPr>
          <p:cNvPr id="141" name="Text 14">
            <a:extLst>
              <a:ext uri="{FF2B5EF4-FFF2-40B4-BE49-F238E27FC236}">
                <a16:creationId xmlns:a16="http://schemas.microsoft.com/office/drawing/2014/main" id="{9D41C947-9E77-2714-39CE-AB1ED28109AB}"/>
              </a:ext>
            </a:extLst>
          </p:cNvPr>
          <p:cNvSpPr/>
          <p:nvPr/>
        </p:nvSpPr>
        <p:spPr>
          <a:xfrm>
            <a:off x="676656" y="1233749"/>
            <a:ext cx="941832" cy="246888"/>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Microsoft YaHei" pitchFamily="34" charset="0"/>
                <a:ea typeface="Microsoft YaHei" pitchFamily="34" charset="-122"/>
                <a:cs typeface="Microsoft YaHei" pitchFamily="34" charset="-120"/>
              </a:rPr>
              <a:t>三项核心 PR</a:t>
            </a:r>
            <a:endParaRPr lang="en-US" sz="920" dirty="0"/>
          </a:p>
        </p:txBody>
      </p:sp>
      <p:sp>
        <p:nvSpPr>
          <p:cNvPr id="142" name="Text 15">
            <a:extLst>
              <a:ext uri="{FF2B5EF4-FFF2-40B4-BE49-F238E27FC236}">
                <a16:creationId xmlns:a16="http://schemas.microsoft.com/office/drawing/2014/main" id="{22EDE0F7-7E74-2B15-00FD-0941EBBCA0D8}"/>
              </a:ext>
            </a:extLst>
          </p:cNvPr>
          <p:cNvSpPr/>
          <p:nvPr/>
        </p:nvSpPr>
        <p:spPr>
          <a:xfrm>
            <a:off x="7699248" y="1231920"/>
            <a:ext cx="2907792" cy="210312"/>
          </a:xfrm>
          <a:prstGeom prst="rect">
            <a:avLst/>
          </a:prstGeom>
          <a:noFill/>
          <a:ln/>
        </p:spPr>
        <p:txBody>
          <a:bodyPr wrap="square" lIns="0" tIns="0" rIns="0" bIns="0" rtlCol="0" anchor="ctr">
            <a:normAutofit/>
          </a:bodyPr>
          <a:lstStyle/>
          <a:p>
            <a:pPr marL="0" indent="0" algn="l">
              <a:buNone/>
            </a:pPr>
            <a:r>
              <a:rPr lang="en-US" sz="1010" dirty="0">
                <a:latin typeface="Microsoft YaHei" pitchFamily="34" charset="0"/>
                <a:ea typeface="Microsoft YaHei" pitchFamily="34" charset="-122"/>
                <a:cs typeface="Microsoft YaHei" pitchFamily="34" charset="-120"/>
              </a:rPr>
              <a:t>#14607  Gemma4 多模态 MXFP4 适配</a:t>
            </a:r>
            <a:endParaRPr lang="en-US" sz="1010" dirty="0"/>
          </a:p>
        </p:txBody>
      </p:sp>
      <p:sp>
        <p:nvSpPr>
          <p:cNvPr id="143" name="Shape 16">
            <a:extLst>
              <a:ext uri="{FF2B5EF4-FFF2-40B4-BE49-F238E27FC236}">
                <a16:creationId xmlns:a16="http://schemas.microsoft.com/office/drawing/2014/main" id="{B7C4035D-44CB-8577-CA18-A94BC00D845F}"/>
              </a:ext>
            </a:extLst>
          </p:cNvPr>
          <p:cNvSpPr/>
          <p:nvPr/>
        </p:nvSpPr>
        <p:spPr>
          <a:xfrm>
            <a:off x="4700016" y="1220033"/>
            <a:ext cx="0" cy="274320"/>
          </a:xfrm>
          <a:prstGeom prst="line">
            <a:avLst/>
          </a:prstGeom>
          <a:noFill/>
          <a:ln w="11430">
            <a:solidFill>
              <a:srgbClr val="CCDDF0"/>
            </a:solidFill>
            <a:prstDash val="solid"/>
          </a:ln>
        </p:spPr>
      </p:sp>
      <p:sp>
        <p:nvSpPr>
          <p:cNvPr id="144" name="Text 17">
            <a:extLst>
              <a:ext uri="{FF2B5EF4-FFF2-40B4-BE49-F238E27FC236}">
                <a16:creationId xmlns:a16="http://schemas.microsoft.com/office/drawing/2014/main" id="{63943060-5C59-8BCF-7368-234F6B448AB2}"/>
              </a:ext>
            </a:extLst>
          </p:cNvPr>
          <p:cNvSpPr/>
          <p:nvPr/>
        </p:nvSpPr>
        <p:spPr>
          <a:xfrm>
            <a:off x="4892040" y="1231920"/>
            <a:ext cx="2642616" cy="210312"/>
          </a:xfrm>
          <a:prstGeom prst="rect">
            <a:avLst/>
          </a:prstGeom>
          <a:noFill/>
          <a:ln/>
        </p:spPr>
        <p:txBody>
          <a:bodyPr wrap="square" lIns="0" tIns="0" rIns="0" bIns="0" rtlCol="0" anchor="ctr">
            <a:normAutofit/>
          </a:bodyPr>
          <a:lstStyle/>
          <a:p>
            <a:pPr marL="0" indent="0" algn="l">
              <a:buNone/>
            </a:pPr>
            <a:r>
              <a:rPr lang="en-US" sz="1010">
                <a:solidFill>
                  <a:srgbClr val="102F5E"/>
                </a:solidFill>
                <a:latin typeface="Microsoft YaHei" pitchFamily="34" charset="0"/>
                <a:ea typeface="Microsoft YaHei" pitchFamily="34" charset="-122"/>
                <a:cs typeface="Microsoft YaHei" pitchFamily="34" charset="-120"/>
              </a:rPr>
              <a:t>#15806  MM LoRA 初始化修复</a:t>
            </a:r>
            <a:endParaRPr lang="en-US" sz="1010" dirty="0"/>
          </a:p>
        </p:txBody>
      </p:sp>
      <p:sp>
        <p:nvSpPr>
          <p:cNvPr id="145" name="Shape 18">
            <a:extLst>
              <a:ext uri="{FF2B5EF4-FFF2-40B4-BE49-F238E27FC236}">
                <a16:creationId xmlns:a16="http://schemas.microsoft.com/office/drawing/2014/main" id="{89985BDD-0142-41F8-C424-4F24BFD3B7CF}"/>
              </a:ext>
            </a:extLst>
          </p:cNvPr>
          <p:cNvSpPr/>
          <p:nvPr/>
        </p:nvSpPr>
        <p:spPr>
          <a:xfrm>
            <a:off x="7598664" y="1220033"/>
            <a:ext cx="0" cy="274320"/>
          </a:xfrm>
          <a:prstGeom prst="line">
            <a:avLst/>
          </a:prstGeom>
          <a:noFill/>
          <a:ln w="11430">
            <a:solidFill>
              <a:srgbClr val="CCDDF0"/>
            </a:solidFill>
            <a:prstDash val="solid"/>
          </a:ln>
        </p:spPr>
      </p:sp>
      <p:sp>
        <p:nvSpPr>
          <p:cNvPr id="146" name="Text 19">
            <a:extLst>
              <a:ext uri="{FF2B5EF4-FFF2-40B4-BE49-F238E27FC236}">
                <a16:creationId xmlns:a16="http://schemas.microsoft.com/office/drawing/2014/main" id="{E8BFA0B5-66E4-E49D-89AF-27D2CFF9EC5C}"/>
              </a:ext>
            </a:extLst>
          </p:cNvPr>
          <p:cNvSpPr/>
          <p:nvPr/>
        </p:nvSpPr>
        <p:spPr>
          <a:xfrm>
            <a:off x="1837690" y="1224879"/>
            <a:ext cx="3685032" cy="210312"/>
          </a:xfrm>
          <a:prstGeom prst="rect">
            <a:avLst/>
          </a:prstGeom>
          <a:noFill/>
          <a:ln/>
        </p:spPr>
        <p:txBody>
          <a:bodyPr wrap="square" lIns="0" tIns="0" rIns="0" bIns="0" rtlCol="0" anchor="ctr">
            <a:normAutofit/>
          </a:bodyPr>
          <a:lstStyle/>
          <a:p>
            <a:pPr marL="0" indent="0" algn="l">
              <a:buNone/>
            </a:pPr>
            <a:r>
              <a:rPr lang="en-US" sz="1010" b="1" dirty="0">
                <a:solidFill>
                  <a:srgbClr val="FF0000"/>
                </a:solidFill>
                <a:latin typeface="Microsoft YaHei" pitchFamily="34" charset="0"/>
                <a:ea typeface="Microsoft YaHei" pitchFamily="34" charset="-122"/>
                <a:cs typeface="Microsoft YaHei" pitchFamily="34" charset="-120"/>
              </a:rPr>
              <a:t>#16110  MoE MXFP4 TP Scale 修复</a:t>
            </a:r>
            <a:endParaRPr lang="en-US" sz="1010" dirty="0">
              <a:solidFill>
                <a:srgbClr val="FF0000"/>
              </a:solidFill>
            </a:endParaRPr>
          </a:p>
        </p:txBody>
      </p:sp>
      <p:sp>
        <p:nvSpPr>
          <p:cNvPr id="147" name="Shape 20">
            <a:extLst>
              <a:ext uri="{FF2B5EF4-FFF2-40B4-BE49-F238E27FC236}">
                <a16:creationId xmlns:a16="http://schemas.microsoft.com/office/drawing/2014/main" id="{941EFB99-A4F0-2811-4A8D-84AC7CD3F9EE}"/>
              </a:ext>
            </a:extLst>
          </p:cNvPr>
          <p:cNvSpPr/>
          <p:nvPr/>
        </p:nvSpPr>
        <p:spPr>
          <a:xfrm>
            <a:off x="484632" y="1627632"/>
            <a:ext cx="5550408" cy="1709928"/>
          </a:xfrm>
          <a:prstGeom prst="roundRect">
            <a:avLst/>
          </a:prstGeom>
          <a:solidFill>
            <a:srgbClr val="FFFFFF"/>
          </a:solidFill>
          <a:ln w="10160">
            <a:solidFill>
              <a:srgbClr val="CCDDF0"/>
            </a:solidFill>
            <a:prstDash val="solid"/>
          </a:ln>
        </p:spPr>
        <p:txBody>
          <a:bodyPr/>
          <a:lstStyle/>
          <a:p>
            <a:endParaRPr lang="zh-CN" altLang="en-US"/>
          </a:p>
        </p:txBody>
      </p:sp>
      <p:sp>
        <p:nvSpPr>
          <p:cNvPr id="148" name="Shape 21">
            <a:extLst>
              <a:ext uri="{FF2B5EF4-FFF2-40B4-BE49-F238E27FC236}">
                <a16:creationId xmlns:a16="http://schemas.microsoft.com/office/drawing/2014/main" id="{4415DAD4-5829-9AA2-C185-25710FBA65F8}"/>
              </a:ext>
            </a:extLst>
          </p:cNvPr>
          <p:cNvSpPr/>
          <p:nvPr/>
        </p:nvSpPr>
        <p:spPr>
          <a:xfrm>
            <a:off x="640080" y="1773936"/>
            <a:ext cx="356616" cy="301752"/>
          </a:xfrm>
          <a:prstGeom prst="roundRect">
            <a:avLst/>
          </a:prstGeom>
          <a:solidFill>
            <a:srgbClr val="1674C8"/>
          </a:solidFill>
          <a:ln w="10160">
            <a:solidFill>
              <a:srgbClr val="1674C8"/>
            </a:solidFill>
            <a:prstDash val="solid"/>
          </a:ln>
        </p:spPr>
      </p:sp>
      <p:sp>
        <p:nvSpPr>
          <p:cNvPr id="149" name="Text 22">
            <a:extLst>
              <a:ext uri="{FF2B5EF4-FFF2-40B4-BE49-F238E27FC236}">
                <a16:creationId xmlns:a16="http://schemas.microsoft.com/office/drawing/2014/main" id="{6C8C8492-B550-03D1-F54F-64D0444C1A3B}"/>
              </a:ext>
            </a:extLst>
          </p:cNvPr>
          <p:cNvSpPr/>
          <p:nvPr/>
        </p:nvSpPr>
        <p:spPr>
          <a:xfrm>
            <a:off x="658368" y="1783080"/>
            <a:ext cx="320040" cy="27432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01</a:t>
            </a:r>
            <a:endParaRPr lang="en-US" sz="1200" dirty="0"/>
          </a:p>
        </p:txBody>
      </p:sp>
      <p:sp>
        <p:nvSpPr>
          <p:cNvPr id="150" name="Text 23">
            <a:extLst>
              <a:ext uri="{FF2B5EF4-FFF2-40B4-BE49-F238E27FC236}">
                <a16:creationId xmlns:a16="http://schemas.microsoft.com/office/drawing/2014/main" id="{9F9E85D1-17C3-0710-8538-3D81F3155F72}"/>
              </a:ext>
            </a:extLst>
          </p:cNvPr>
          <p:cNvSpPr/>
          <p:nvPr/>
        </p:nvSpPr>
        <p:spPr>
          <a:xfrm>
            <a:off x="1088136" y="1755648"/>
            <a:ext cx="4773168" cy="338328"/>
          </a:xfrm>
          <a:prstGeom prst="rect">
            <a:avLst/>
          </a:prstGeom>
          <a:noFill/>
          <a:ln/>
        </p:spPr>
        <p:txBody>
          <a:bodyPr wrap="square" lIns="0" tIns="0" rIns="0" bIns="0" rtlCol="0" anchor="ctr">
            <a:normAutofit/>
          </a:bodyPr>
          <a:lstStyle/>
          <a:p>
            <a:pPr marL="0" indent="0" algn="l">
              <a:buNone/>
            </a:pPr>
            <a:r>
              <a:rPr lang="en-US" sz="1600" b="1" dirty="0">
                <a:solidFill>
                  <a:srgbClr val="102F5E"/>
                </a:solidFill>
                <a:latin typeface="Microsoft YaHei" pitchFamily="34" charset="0"/>
                <a:ea typeface="Microsoft YaHei" pitchFamily="34" charset="-122"/>
                <a:cs typeface="Microsoft YaHei" pitchFamily="34" charset="-120"/>
              </a:rPr>
              <a:t>问题背景</a:t>
            </a:r>
            <a:endParaRPr lang="en-US" sz="1600" dirty="0"/>
          </a:p>
        </p:txBody>
      </p:sp>
      <p:sp>
        <p:nvSpPr>
          <p:cNvPr id="151" name="Shape 24">
            <a:extLst>
              <a:ext uri="{FF2B5EF4-FFF2-40B4-BE49-F238E27FC236}">
                <a16:creationId xmlns:a16="http://schemas.microsoft.com/office/drawing/2014/main" id="{3CCD07DC-5DE2-84A7-FA0D-4C3A2992B5E6}"/>
              </a:ext>
            </a:extLst>
          </p:cNvPr>
          <p:cNvSpPr/>
          <p:nvPr/>
        </p:nvSpPr>
        <p:spPr>
          <a:xfrm>
            <a:off x="649224" y="2167128"/>
            <a:ext cx="5221224" cy="0"/>
          </a:xfrm>
          <a:prstGeom prst="line">
            <a:avLst/>
          </a:prstGeom>
          <a:noFill/>
          <a:ln w="10160">
            <a:solidFill>
              <a:srgbClr val="CCDDF0"/>
            </a:solidFill>
            <a:prstDash val="solid"/>
          </a:ln>
        </p:spPr>
      </p:sp>
      <p:sp>
        <p:nvSpPr>
          <p:cNvPr id="152" name="Shape 25">
            <a:extLst>
              <a:ext uri="{FF2B5EF4-FFF2-40B4-BE49-F238E27FC236}">
                <a16:creationId xmlns:a16="http://schemas.microsoft.com/office/drawing/2014/main" id="{D0829FA7-029D-882F-45CB-8264A43413D3}"/>
              </a:ext>
            </a:extLst>
          </p:cNvPr>
          <p:cNvSpPr/>
          <p:nvPr/>
        </p:nvSpPr>
        <p:spPr>
          <a:xfrm>
            <a:off x="6153912" y="1627632"/>
            <a:ext cx="5532120" cy="1709928"/>
          </a:xfrm>
          <a:prstGeom prst="roundRect">
            <a:avLst/>
          </a:prstGeom>
          <a:solidFill>
            <a:srgbClr val="FFFDFC"/>
          </a:solidFill>
          <a:ln w="10160">
            <a:solidFill>
              <a:srgbClr val="F5C8C7"/>
            </a:solidFill>
            <a:prstDash val="solid"/>
          </a:ln>
        </p:spPr>
      </p:sp>
      <p:sp>
        <p:nvSpPr>
          <p:cNvPr id="153" name="Shape 26">
            <a:extLst>
              <a:ext uri="{FF2B5EF4-FFF2-40B4-BE49-F238E27FC236}">
                <a16:creationId xmlns:a16="http://schemas.microsoft.com/office/drawing/2014/main" id="{F4B882F6-CC5D-3946-66DF-8ED6F147823B}"/>
              </a:ext>
            </a:extLst>
          </p:cNvPr>
          <p:cNvSpPr/>
          <p:nvPr/>
        </p:nvSpPr>
        <p:spPr>
          <a:xfrm>
            <a:off x="6309360" y="1773936"/>
            <a:ext cx="356616" cy="301752"/>
          </a:xfrm>
          <a:prstGeom prst="roundRect">
            <a:avLst/>
          </a:prstGeom>
          <a:solidFill>
            <a:srgbClr val="D94747"/>
          </a:solidFill>
          <a:ln w="10160">
            <a:solidFill>
              <a:srgbClr val="D94747"/>
            </a:solidFill>
            <a:prstDash val="solid"/>
          </a:ln>
        </p:spPr>
      </p:sp>
      <p:sp>
        <p:nvSpPr>
          <p:cNvPr id="154" name="Text 27">
            <a:extLst>
              <a:ext uri="{FF2B5EF4-FFF2-40B4-BE49-F238E27FC236}">
                <a16:creationId xmlns:a16="http://schemas.microsoft.com/office/drawing/2014/main" id="{B038EA38-62CE-9554-1610-03052AA3C712}"/>
              </a:ext>
            </a:extLst>
          </p:cNvPr>
          <p:cNvSpPr/>
          <p:nvPr/>
        </p:nvSpPr>
        <p:spPr>
          <a:xfrm>
            <a:off x="6327648" y="1783080"/>
            <a:ext cx="320040" cy="27432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02</a:t>
            </a:r>
            <a:endParaRPr lang="en-US" sz="1200" dirty="0"/>
          </a:p>
        </p:txBody>
      </p:sp>
      <p:sp>
        <p:nvSpPr>
          <p:cNvPr id="155" name="Text 28">
            <a:extLst>
              <a:ext uri="{FF2B5EF4-FFF2-40B4-BE49-F238E27FC236}">
                <a16:creationId xmlns:a16="http://schemas.microsoft.com/office/drawing/2014/main" id="{C24FA614-A438-1236-30FC-FD14610DD836}"/>
              </a:ext>
            </a:extLst>
          </p:cNvPr>
          <p:cNvSpPr/>
          <p:nvPr/>
        </p:nvSpPr>
        <p:spPr>
          <a:xfrm>
            <a:off x="6757416" y="1755648"/>
            <a:ext cx="4754880" cy="338328"/>
          </a:xfrm>
          <a:prstGeom prst="rect">
            <a:avLst/>
          </a:prstGeom>
          <a:noFill/>
          <a:ln/>
        </p:spPr>
        <p:txBody>
          <a:bodyPr wrap="square" lIns="0" tIns="0" rIns="0" bIns="0" rtlCol="0" anchor="ctr">
            <a:normAutofit/>
          </a:bodyPr>
          <a:lstStyle/>
          <a:p>
            <a:pPr marL="0" indent="0" algn="l">
              <a:buNone/>
            </a:pPr>
            <a:r>
              <a:rPr lang="en-US" sz="1600" b="1" dirty="0">
                <a:solidFill>
                  <a:srgbClr val="D94747"/>
                </a:solidFill>
                <a:latin typeface="Microsoft YaHei" pitchFamily="34" charset="0"/>
                <a:ea typeface="Microsoft YaHei" pitchFamily="34" charset="-122"/>
                <a:cs typeface="Microsoft YaHei" pitchFamily="34" charset="-120"/>
              </a:rPr>
              <a:t>根因分析</a:t>
            </a:r>
            <a:endParaRPr lang="en-US" sz="1600" dirty="0"/>
          </a:p>
        </p:txBody>
      </p:sp>
      <p:sp>
        <p:nvSpPr>
          <p:cNvPr id="156" name="Shape 29">
            <a:extLst>
              <a:ext uri="{FF2B5EF4-FFF2-40B4-BE49-F238E27FC236}">
                <a16:creationId xmlns:a16="http://schemas.microsoft.com/office/drawing/2014/main" id="{523CD52F-215D-2E72-FACF-67E0639FAAE4}"/>
              </a:ext>
            </a:extLst>
          </p:cNvPr>
          <p:cNvSpPr/>
          <p:nvPr/>
        </p:nvSpPr>
        <p:spPr>
          <a:xfrm>
            <a:off x="6318504" y="2167128"/>
            <a:ext cx="5202936" cy="0"/>
          </a:xfrm>
          <a:prstGeom prst="line">
            <a:avLst/>
          </a:prstGeom>
          <a:noFill/>
          <a:ln w="10160">
            <a:solidFill>
              <a:srgbClr val="F5C8C7"/>
            </a:solidFill>
            <a:prstDash val="solid"/>
          </a:ln>
        </p:spPr>
      </p:sp>
      <p:sp>
        <p:nvSpPr>
          <p:cNvPr id="157" name="Shape 30">
            <a:extLst>
              <a:ext uri="{FF2B5EF4-FFF2-40B4-BE49-F238E27FC236}">
                <a16:creationId xmlns:a16="http://schemas.microsoft.com/office/drawing/2014/main" id="{E0FA9E55-104C-4495-5C1E-0D6EAFFC02BB}"/>
              </a:ext>
            </a:extLst>
          </p:cNvPr>
          <p:cNvSpPr/>
          <p:nvPr/>
        </p:nvSpPr>
        <p:spPr>
          <a:xfrm>
            <a:off x="484632" y="3456432"/>
            <a:ext cx="6931152" cy="2633472"/>
          </a:xfrm>
          <a:prstGeom prst="roundRect">
            <a:avLst/>
          </a:prstGeom>
          <a:solidFill>
            <a:srgbClr val="FFFFFF"/>
          </a:solidFill>
          <a:ln w="10160">
            <a:solidFill>
              <a:srgbClr val="CCDDF0"/>
            </a:solidFill>
            <a:prstDash val="solid"/>
          </a:ln>
        </p:spPr>
        <p:txBody>
          <a:bodyPr/>
          <a:lstStyle/>
          <a:p>
            <a:endParaRPr lang="zh-CN" altLang="en-US"/>
          </a:p>
        </p:txBody>
      </p:sp>
      <p:sp>
        <p:nvSpPr>
          <p:cNvPr id="158" name="Shape 31">
            <a:extLst>
              <a:ext uri="{FF2B5EF4-FFF2-40B4-BE49-F238E27FC236}">
                <a16:creationId xmlns:a16="http://schemas.microsoft.com/office/drawing/2014/main" id="{BD9D9F7B-C6F3-2125-3669-B45C56437D07}"/>
              </a:ext>
            </a:extLst>
          </p:cNvPr>
          <p:cNvSpPr/>
          <p:nvPr/>
        </p:nvSpPr>
        <p:spPr>
          <a:xfrm>
            <a:off x="640080" y="3602736"/>
            <a:ext cx="356616" cy="301752"/>
          </a:xfrm>
          <a:prstGeom prst="roundRect">
            <a:avLst/>
          </a:prstGeom>
          <a:solidFill>
            <a:srgbClr val="1674C8"/>
          </a:solidFill>
          <a:ln w="10160">
            <a:solidFill>
              <a:srgbClr val="1674C8"/>
            </a:solidFill>
            <a:prstDash val="solid"/>
          </a:ln>
        </p:spPr>
      </p:sp>
      <p:sp>
        <p:nvSpPr>
          <p:cNvPr id="159" name="Text 32">
            <a:extLst>
              <a:ext uri="{FF2B5EF4-FFF2-40B4-BE49-F238E27FC236}">
                <a16:creationId xmlns:a16="http://schemas.microsoft.com/office/drawing/2014/main" id="{44965BB5-AA5A-6FEF-DE22-3E86BF065C24}"/>
              </a:ext>
            </a:extLst>
          </p:cNvPr>
          <p:cNvSpPr/>
          <p:nvPr/>
        </p:nvSpPr>
        <p:spPr>
          <a:xfrm>
            <a:off x="658368" y="3611880"/>
            <a:ext cx="320040" cy="27432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03</a:t>
            </a:r>
            <a:endParaRPr lang="en-US" sz="1200" dirty="0"/>
          </a:p>
        </p:txBody>
      </p:sp>
      <p:sp>
        <p:nvSpPr>
          <p:cNvPr id="160" name="Text 33">
            <a:extLst>
              <a:ext uri="{FF2B5EF4-FFF2-40B4-BE49-F238E27FC236}">
                <a16:creationId xmlns:a16="http://schemas.microsoft.com/office/drawing/2014/main" id="{176C4D39-0FEA-676F-A58C-408FD886D81C}"/>
              </a:ext>
            </a:extLst>
          </p:cNvPr>
          <p:cNvSpPr/>
          <p:nvPr/>
        </p:nvSpPr>
        <p:spPr>
          <a:xfrm>
            <a:off x="1088136" y="3584448"/>
            <a:ext cx="6153912" cy="338328"/>
          </a:xfrm>
          <a:prstGeom prst="rect">
            <a:avLst/>
          </a:prstGeom>
          <a:noFill/>
          <a:ln/>
        </p:spPr>
        <p:txBody>
          <a:bodyPr wrap="square" lIns="0" tIns="0" rIns="0" bIns="0" rtlCol="0" anchor="ctr">
            <a:normAutofit/>
          </a:bodyPr>
          <a:lstStyle/>
          <a:p>
            <a:pPr marL="0" indent="0" algn="l">
              <a:buNone/>
            </a:pPr>
            <a:r>
              <a:rPr lang="en-US" sz="1600" b="1" dirty="0">
                <a:solidFill>
                  <a:srgbClr val="102F5E"/>
                </a:solidFill>
                <a:latin typeface="Microsoft YaHei" pitchFamily="34" charset="0"/>
                <a:ea typeface="Microsoft YaHei" pitchFamily="34" charset="-122"/>
                <a:cs typeface="Microsoft YaHei" pitchFamily="34" charset="-120"/>
              </a:rPr>
              <a:t>修复方案</a:t>
            </a:r>
            <a:endParaRPr lang="en-US" sz="1600" dirty="0"/>
          </a:p>
        </p:txBody>
      </p:sp>
      <p:sp>
        <p:nvSpPr>
          <p:cNvPr id="161" name="Shape 34">
            <a:extLst>
              <a:ext uri="{FF2B5EF4-FFF2-40B4-BE49-F238E27FC236}">
                <a16:creationId xmlns:a16="http://schemas.microsoft.com/office/drawing/2014/main" id="{5CEF6941-BBA7-D6AB-1A0C-FF8B7BC983C8}"/>
              </a:ext>
            </a:extLst>
          </p:cNvPr>
          <p:cNvSpPr/>
          <p:nvPr/>
        </p:nvSpPr>
        <p:spPr>
          <a:xfrm>
            <a:off x="797052" y="3998976"/>
            <a:ext cx="6318504" cy="0"/>
          </a:xfrm>
          <a:prstGeom prst="line">
            <a:avLst/>
          </a:prstGeom>
          <a:noFill/>
          <a:ln w="10160">
            <a:solidFill>
              <a:srgbClr val="CCDDF0"/>
            </a:solidFill>
            <a:prstDash val="solid"/>
          </a:ln>
        </p:spPr>
        <p:txBody>
          <a:bodyPr/>
          <a:lstStyle/>
          <a:p>
            <a:endParaRPr lang="zh-CN" altLang="en-US"/>
          </a:p>
        </p:txBody>
      </p:sp>
      <p:sp>
        <p:nvSpPr>
          <p:cNvPr id="162" name="Shape 35">
            <a:extLst>
              <a:ext uri="{FF2B5EF4-FFF2-40B4-BE49-F238E27FC236}">
                <a16:creationId xmlns:a16="http://schemas.microsoft.com/office/drawing/2014/main" id="{D9A74A7D-F3F4-0DB0-3E4F-7AC914C2C76A}"/>
              </a:ext>
            </a:extLst>
          </p:cNvPr>
          <p:cNvSpPr/>
          <p:nvPr/>
        </p:nvSpPr>
        <p:spPr>
          <a:xfrm>
            <a:off x="7543800" y="3456432"/>
            <a:ext cx="4142232" cy="2633472"/>
          </a:xfrm>
          <a:prstGeom prst="roundRect">
            <a:avLst/>
          </a:prstGeom>
          <a:solidFill>
            <a:srgbClr val="FDFFFE"/>
          </a:solidFill>
          <a:ln w="10160">
            <a:solidFill>
              <a:srgbClr val="BFDEC8"/>
            </a:solidFill>
            <a:prstDash val="solid"/>
          </a:ln>
        </p:spPr>
      </p:sp>
      <p:sp>
        <p:nvSpPr>
          <p:cNvPr id="163" name="Shape 36">
            <a:extLst>
              <a:ext uri="{FF2B5EF4-FFF2-40B4-BE49-F238E27FC236}">
                <a16:creationId xmlns:a16="http://schemas.microsoft.com/office/drawing/2014/main" id="{AC81B6B3-8FAC-3D35-D173-3D8DD01770C5}"/>
              </a:ext>
            </a:extLst>
          </p:cNvPr>
          <p:cNvSpPr/>
          <p:nvPr/>
        </p:nvSpPr>
        <p:spPr>
          <a:xfrm>
            <a:off x="7699248" y="3602736"/>
            <a:ext cx="356616" cy="301752"/>
          </a:xfrm>
          <a:prstGeom prst="roundRect">
            <a:avLst/>
          </a:prstGeom>
          <a:solidFill>
            <a:srgbClr val="16855A"/>
          </a:solidFill>
          <a:ln w="10160">
            <a:solidFill>
              <a:srgbClr val="16855A"/>
            </a:solidFill>
            <a:prstDash val="solid"/>
          </a:ln>
        </p:spPr>
      </p:sp>
      <p:sp>
        <p:nvSpPr>
          <p:cNvPr id="164" name="Text 37">
            <a:extLst>
              <a:ext uri="{FF2B5EF4-FFF2-40B4-BE49-F238E27FC236}">
                <a16:creationId xmlns:a16="http://schemas.microsoft.com/office/drawing/2014/main" id="{B15B0313-8996-8E68-F742-FE66B45A9B0B}"/>
              </a:ext>
            </a:extLst>
          </p:cNvPr>
          <p:cNvSpPr/>
          <p:nvPr/>
        </p:nvSpPr>
        <p:spPr>
          <a:xfrm>
            <a:off x="7717536" y="3611880"/>
            <a:ext cx="320040" cy="27432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Microsoft YaHei" pitchFamily="34" charset="0"/>
                <a:ea typeface="Microsoft YaHei" pitchFamily="34" charset="-122"/>
                <a:cs typeface="Microsoft YaHei" pitchFamily="34" charset="-120"/>
              </a:rPr>
              <a:t>04</a:t>
            </a:r>
            <a:endParaRPr lang="en-US" sz="1200" dirty="0"/>
          </a:p>
        </p:txBody>
      </p:sp>
      <p:sp>
        <p:nvSpPr>
          <p:cNvPr id="165" name="Text 38">
            <a:extLst>
              <a:ext uri="{FF2B5EF4-FFF2-40B4-BE49-F238E27FC236}">
                <a16:creationId xmlns:a16="http://schemas.microsoft.com/office/drawing/2014/main" id="{1A6696E8-22DB-5963-979E-C6F7F7832E9D}"/>
              </a:ext>
            </a:extLst>
          </p:cNvPr>
          <p:cNvSpPr/>
          <p:nvPr/>
        </p:nvSpPr>
        <p:spPr>
          <a:xfrm>
            <a:off x="8147304" y="3584448"/>
            <a:ext cx="3364992" cy="338328"/>
          </a:xfrm>
          <a:prstGeom prst="rect">
            <a:avLst/>
          </a:prstGeom>
          <a:noFill/>
          <a:ln/>
        </p:spPr>
        <p:txBody>
          <a:bodyPr wrap="square" lIns="0" tIns="0" rIns="0" bIns="0" rtlCol="0" anchor="ctr">
            <a:normAutofit/>
          </a:bodyPr>
          <a:lstStyle/>
          <a:p>
            <a:pPr marL="0" indent="0" algn="l">
              <a:buNone/>
            </a:pPr>
            <a:r>
              <a:rPr lang="en-US" sz="1600" b="1" dirty="0">
                <a:solidFill>
                  <a:srgbClr val="16855A"/>
                </a:solidFill>
                <a:latin typeface="Microsoft YaHei" pitchFamily="34" charset="0"/>
                <a:ea typeface="Microsoft YaHei" pitchFamily="34" charset="-122"/>
                <a:cs typeface="Microsoft YaHei" pitchFamily="34" charset="-120"/>
              </a:rPr>
              <a:t>修复后效果</a:t>
            </a:r>
            <a:endParaRPr lang="en-US" sz="1600" dirty="0"/>
          </a:p>
        </p:txBody>
      </p:sp>
      <p:sp>
        <p:nvSpPr>
          <p:cNvPr id="166" name="Shape 39">
            <a:extLst>
              <a:ext uri="{FF2B5EF4-FFF2-40B4-BE49-F238E27FC236}">
                <a16:creationId xmlns:a16="http://schemas.microsoft.com/office/drawing/2014/main" id="{D11E0428-4291-6945-3B2E-E749E282FF4A}"/>
              </a:ext>
            </a:extLst>
          </p:cNvPr>
          <p:cNvSpPr/>
          <p:nvPr/>
        </p:nvSpPr>
        <p:spPr>
          <a:xfrm>
            <a:off x="7708392" y="3995928"/>
            <a:ext cx="3813048" cy="0"/>
          </a:xfrm>
          <a:prstGeom prst="line">
            <a:avLst/>
          </a:prstGeom>
          <a:noFill/>
          <a:ln w="10160">
            <a:solidFill>
              <a:srgbClr val="BFDEC8"/>
            </a:solidFill>
            <a:prstDash val="solid"/>
          </a:ln>
        </p:spPr>
      </p:sp>
      <p:sp>
        <p:nvSpPr>
          <p:cNvPr id="167" name="Shape 40">
            <a:extLst>
              <a:ext uri="{FF2B5EF4-FFF2-40B4-BE49-F238E27FC236}">
                <a16:creationId xmlns:a16="http://schemas.microsoft.com/office/drawing/2014/main" id="{168DABCD-143B-8C12-3DDF-F5BB026C7698}"/>
              </a:ext>
            </a:extLst>
          </p:cNvPr>
          <p:cNvSpPr/>
          <p:nvPr/>
        </p:nvSpPr>
        <p:spPr>
          <a:xfrm>
            <a:off x="722376" y="2359152"/>
            <a:ext cx="68580" cy="68580"/>
          </a:xfrm>
          <a:prstGeom prst="ellipse">
            <a:avLst/>
          </a:prstGeom>
          <a:solidFill>
            <a:srgbClr val="1674C8"/>
          </a:solidFill>
          <a:ln w="10160">
            <a:solidFill>
              <a:srgbClr val="1674C8"/>
            </a:solidFill>
            <a:prstDash val="solid"/>
          </a:ln>
        </p:spPr>
      </p:sp>
      <p:sp>
        <p:nvSpPr>
          <p:cNvPr id="168" name="Text 41">
            <a:extLst>
              <a:ext uri="{FF2B5EF4-FFF2-40B4-BE49-F238E27FC236}">
                <a16:creationId xmlns:a16="http://schemas.microsoft.com/office/drawing/2014/main" id="{489B6B2E-5C87-69D0-8FC5-E9903BD2DA2B}"/>
              </a:ext>
            </a:extLst>
          </p:cNvPr>
          <p:cNvSpPr/>
          <p:nvPr/>
        </p:nvSpPr>
        <p:spPr>
          <a:xfrm>
            <a:off x="859536" y="2276856"/>
            <a:ext cx="4864608" cy="219456"/>
          </a:xfrm>
          <a:prstGeom prst="rect">
            <a:avLst/>
          </a:prstGeom>
          <a:noFill/>
          <a:ln/>
        </p:spPr>
        <p:txBody>
          <a:bodyPr wrap="square" lIns="0" tIns="0" rIns="0" bIns="0" rtlCol="0" anchor="t">
            <a:normAutofit/>
          </a:bodyPr>
          <a:lstStyle/>
          <a:p>
            <a:pPr marL="0" indent="0" algn="l">
              <a:buNone/>
            </a:pPr>
            <a:r>
              <a:rPr lang="en-US" sz="1090" dirty="0">
                <a:solidFill>
                  <a:srgbClr val="102F5E"/>
                </a:solidFill>
                <a:latin typeface="Microsoft YaHei" pitchFamily="34" charset="0"/>
                <a:ea typeface="Microsoft YaHei" pitchFamily="34" charset="-122"/>
                <a:cs typeface="Microsoft YaHei" pitchFamily="34" charset="-120"/>
              </a:rPr>
              <a:t>Gemma4 MoE 部分 MXFP4 权重沿 </a:t>
            </a:r>
            <a:r>
              <a:rPr lang="en-US" sz="1090">
                <a:solidFill>
                  <a:srgbClr val="102F5E"/>
                </a:solidFill>
                <a:latin typeface="Microsoft YaHei" pitchFamily="34" charset="0"/>
                <a:ea typeface="Microsoft YaHei" pitchFamily="34" charset="-122"/>
                <a:cs typeface="Microsoft YaHei" pitchFamily="34" charset="-120"/>
              </a:rPr>
              <a:t>K 维进行TP4</a:t>
            </a:r>
            <a:r>
              <a:rPr lang="zh-CN" altLang="en-US" sz="1090">
                <a:solidFill>
                  <a:srgbClr val="102F5E"/>
                </a:solidFill>
                <a:latin typeface="Microsoft YaHei" pitchFamily="34" charset="0"/>
                <a:ea typeface="Microsoft YaHei" pitchFamily="34" charset="-122"/>
                <a:cs typeface="Microsoft YaHei" pitchFamily="34" charset="-120"/>
              </a:rPr>
              <a:t>的</a:t>
            </a:r>
            <a:r>
              <a:rPr lang="en-US" sz="1090">
                <a:solidFill>
                  <a:srgbClr val="102F5E"/>
                </a:solidFill>
                <a:latin typeface="Microsoft YaHei" pitchFamily="34" charset="0"/>
                <a:ea typeface="Microsoft YaHei" pitchFamily="34" charset="-122"/>
                <a:cs typeface="Microsoft YaHei" pitchFamily="34" charset="-120"/>
              </a:rPr>
              <a:t>切分</a:t>
            </a:r>
            <a:endParaRPr lang="en-US" sz="1090" dirty="0"/>
          </a:p>
        </p:txBody>
      </p:sp>
      <p:sp>
        <p:nvSpPr>
          <p:cNvPr id="169" name="Shape 42">
            <a:extLst>
              <a:ext uri="{FF2B5EF4-FFF2-40B4-BE49-F238E27FC236}">
                <a16:creationId xmlns:a16="http://schemas.microsoft.com/office/drawing/2014/main" id="{F0DA3AEE-CC5A-9E86-635C-5C975F278698}"/>
              </a:ext>
            </a:extLst>
          </p:cNvPr>
          <p:cNvSpPr/>
          <p:nvPr/>
        </p:nvSpPr>
        <p:spPr>
          <a:xfrm>
            <a:off x="722376" y="2587752"/>
            <a:ext cx="1133856" cy="466344"/>
          </a:xfrm>
          <a:prstGeom prst="roundRect">
            <a:avLst/>
          </a:prstGeom>
          <a:solidFill>
            <a:srgbClr val="F5F8FC"/>
          </a:solidFill>
          <a:ln w="10160">
            <a:solidFill>
              <a:srgbClr val="DCE7F4"/>
            </a:solidFill>
            <a:prstDash val="solid"/>
          </a:ln>
        </p:spPr>
      </p:sp>
      <p:sp>
        <p:nvSpPr>
          <p:cNvPr id="170" name="Text 43">
            <a:extLst>
              <a:ext uri="{FF2B5EF4-FFF2-40B4-BE49-F238E27FC236}">
                <a16:creationId xmlns:a16="http://schemas.microsoft.com/office/drawing/2014/main" id="{1A0D34E2-2627-62AF-8BBE-42773273384D}"/>
              </a:ext>
            </a:extLst>
          </p:cNvPr>
          <p:cNvSpPr/>
          <p:nvPr/>
        </p:nvSpPr>
        <p:spPr>
          <a:xfrm>
            <a:off x="749808" y="2624328"/>
            <a:ext cx="1078992" cy="137160"/>
          </a:xfrm>
          <a:prstGeom prst="rect">
            <a:avLst/>
          </a:prstGeom>
          <a:noFill/>
          <a:ln/>
        </p:spPr>
        <p:txBody>
          <a:bodyPr wrap="square" lIns="0" tIns="0" rIns="0" bIns="0" rtlCol="0" anchor="ctr">
            <a:normAutofit/>
          </a:bodyPr>
          <a:lstStyle/>
          <a:p>
            <a:pPr marL="0" indent="0" algn="ctr">
              <a:buNone/>
            </a:pPr>
            <a:r>
              <a:rPr lang="en-US" sz="825" dirty="0">
                <a:solidFill>
                  <a:srgbClr val="627794"/>
                </a:solidFill>
                <a:latin typeface="Microsoft YaHei" pitchFamily="34" charset="0"/>
                <a:ea typeface="Microsoft YaHei" pitchFamily="34" charset="-122"/>
                <a:cs typeface="Microsoft YaHei" pitchFamily="34" charset="-120"/>
              </a:rPr>
              <a:t>K 维</a:t>
            </a:r>
            <a:endParaRPr lang="en-US" sz="825" dirty="0"/>
          </a:p>
        </p:txBody>
      </p:sp>
      <p:sp>
        <p:nvSpPr>
          <p:cNvPr id="171" name="Text 44">
            <a:extLst>
              <a:ext uri="{FF2B5EF4-FFF2-40B4-BE49-F238E27FC236}">
                <a16:creationId xmlns:a16="http://schemas.microsoft.com/office/drawing/2014/main" id="{164B0564-1AAF-0344-772B-78E78BC9225F}"/>
              </a:ext>
            </a:extLst>
          </p:cNvPr>
          <p:cNvSpPr/>
          <p:nvPr/>
        </p:nvSpPr>
        <p:spPr>
          <a:xfrm>
            <a:off x="749808" y="2798064"/>
            <a:ext cx="1078992" cy="182880"/>
          </a:xfrm>
          <a:prstGeom prst="rect">
            <a:avLst/>
          </a:prstGeom>
          <a:noFill/>
          <a:ln/>
        </p:spPr>
        <p:txBody>
          <a:bodyPr wrap="square" lIns="0" tIns="0" rIns="0" bIns="0" rtlCol="0" anchor="ctr">
            <a:normAutofit fontScale="92500" lnSpcReduction="20000"/>
          </a:bodyPr>
          <a:lstStyle/>
          <a:p>
            <a:pPr marL="0" indent="0" algn="ctr">
              <a:buNone/>
            </a:pPr>
            <a:r>
              <a:rPr lang="en-US" sz="1560" b="1" dirty="0">
                <a:solidFill>
                  <a:srgbClr val="102F5E"/>
                </a:solidFill>
                <a:latin typeface="Microsoft YaHei" pitchFamily="34" charset="0"/>
                <a:ea typeface="Microsoft YaHei" pitchFamily="34" charset="-122"/>
                <a:cs typeface="Microsoft YaHei" pitchFamily="34" charset="-120"/>
              </a:rPr>
              <a:t>2112</a:t>
            </a:r>
            <a:endParaRPr lang="en-US" sz="1560" dirty="0"/>
          </a:p>
        </p:txBody>
      </p:sp>
      <p:sp>
        <p:nvSpPr>
          <p:cNvPr id="172" name="Shape 45">
            <a:extLst>
              <a:ext uri="{FF2B5EF4-FFF2-40B4-BE49-F238E27FC236}">
                <a16:creationId xmlns:a16="http://schemas.microsoft.com/office/drawing/2014/main" id="{B3626243-680C-8609-DE49-665FE92CF595}"/>
              </a:ext>
            </a:extLst>
          </p:cNvPr>
          <p:cNvSpPr/>
          <p:nvPr/>
        </p:nvSpPr>
        <p:spPr>
          <a:xfrm>
            <a:off x="1993392" y="2587752"/>
            <a:ext cx="1133856" cy="466344"/>
          </a:xfrm>
          <a:prstGeom prst="roundRect">
            <a:avLst/>
          </a:prstGeom>
          <a:solidFill>
            <a:srgbClr val="F5F8FC"/>
          </a:solidFill>
          <a:ln w="10160">
            <a:solidFill>
              <a:srgbClr val="DCE7F4"/>
            </a:solidFill>
            <a:prstDash val="solid"/>
          </a:ln>
        </p:spPr>
      </p:sp>
      <p:sp>
        <p:nvSpPr>
          <p:cNvPr id="173" name="Text 46">
            <a:extLst>
              <a:ext uri="{FF2B5EF4-FFF2-40B4-BE49-F238E27FC236}">
                <a16:creationId xmlns:a16="http://schemas.microsoft.com/office/drawing/2014/main" id="{4C9447B9-1EAD-647C-459A-805E8AFF10BD}"/>
              </a:ext>
            </a:extLst>
          </p:cNvPr>
          <p:cNvSpPr/>
          <p:nvPr/>
        </p:nvSpPr>
        <p:spPr>
          <a:xfrm>
            <a:off x="2020824" y="2624328"/>
            <a:ext cx="1078992" cy="137160"/>
          </a:xfrm>
          <a:prstGeom prst="rect">
            <a:avLst/>
          </a:prstGeom>
          <a:noFill/>
          <a:ln/>
        </p:spPr>
        <p:txBody>
          <a:bodyPr wrap="square" lIns="0" tIns="0" rIns="0" bIns="0" rtlCol="0" anchor="ctr">
            <a:normAutofit/>
          </a:bodyPr>
          <a:lstStyle/>
          <a:p>
            <a:pPr marL="0" indent="0" algn="ctr">
              <a:buNone/>
            </a:pPr>
            <a:r>
              <a:rPr lang="en-US" sz="825" dirty="0">
                <a:solidFill>
                  <a:srgbClr val="627794"/>
                </a:solidFill>
                <a:latin typeface="Microsoft YaHei" pitchFamily="34" charset="0"/>
                <a:ea typeface="Microsoft YaHei" pitchFamily="34" charset="-122"/>
                <a:cs typeface="Microsoft YaHei" pitchFamily="34" charset="-120"/>
              </a:rPr>
              <a:t>TP</a:t>
            </a:r>
            <a:endParaRPr lang="en-US" sz="825" dirty="0"/>
          </a:p>
        </p:txBody>
      </p:sp>
      <p:sp>
        <p:nvSpPr>
          <p:cNvPr id="174" name="Text 47">
            <a:extLst>
              <a:ext uri="{FF2B5EF4-FFF2-40B4-BE49-F238E27FC236}">
                <a16:creationId xmlns:a16="http://schemas.microsoft.com/office/drawing/2014/main" id="{B6D7EE15-0F86-BCA1-06EB-BA5F91E8553B}"/>
              </a:ext>
            </a:extLst>
          </p:cNvPr>
          <p:cNvSpPr/>
          <p:nvPr/>
        </p:nvSpPr>
        <p:spPr>
          <a:xfrm>
            <a:off x="2020824" y="2798064"/>
            <a:ext cx="1078992" cy="182880"/>
          </a:xfrm>
          <a:prstGeom prst="rect">
            <a:avLst/>
          </a:prstGeom>
          <a:noFill/>
          <a:ln/>
        </p:spPr>
        <p:txBody>
          <a:bodyPr wrap="square" lIns="0" tIns="0" rIns="0" bIns="0" rtlCol="0" anchor="ctr">
            <a:normAutofit fontScale="92500" lnSpcReduction="20000"/>
          </a:bodyPr>
          <a:lstStyle/>
          <a:p>
            <a:pPr marL="0" indent="0" algn="ctr">
              <a:buNone/>
            </a:pPr>
            <a:r>
              <a:rPr lang="en-US" sz="1560" b="1" dirty="0">
                <a:solidFill>
                  <a:srgbClr val="102F5E"/>
                </a:solidFill>
                <a:latin typeface="Microsoft YaHei" pitchFamily="34" charset="0"/>
                <a:ea typeface="Microsoft YaHei" pitchFamily="34" charset="-122"/>
                <a:cs typeface="Microsoft YaHei" pitchFamily="34" charset="-120"/>
              </a:rPr>
              <a:t>4</a:t>
            </a:r>
            <a:endParaRPr lang="en-US" sz="1560" dirty="0"/>
          </a:p>
        </p:txBody>
      </p:sp>
      <p:sp>
        <p:nvSpPr>
          <p:cNvPr id="175" name="Shape 48">
            <a:extLst>
              <a:ext uri="{FF2B5EF4-FFF2-40B4-BE49-F238E27FC236}">
                <a16:creationId xmlns:a16="http://schemas.microsoft.com/office/drawing/2014/main" id="{86CD4DA9-52A6-8EA0-C690-6B9626934F84}"/>
              </a:ext>
            </a:extLst>
          </p:cNvPr>
          <p:cNvSpPr/>
          <p:nvPr/>
        </p:nvSpPr>
        <p:spPr>
          <a:xfrm>
            <a:off x="3264408" y="2587752"/>
            <a:ext cx="1133856" cy="466344"/>
          </a:xfrm>
          <a:prstGeom prst="roundRect">
            <a:avLst/>
          </a:prstGeom>
          <a:solidFill>
            <a:srgbClr val="E8F3FF"/>
          </a:solidFill>
          <a:ln w="10160">
            <a:solidFill>
              <a:srgbClr val="DCE7F4"/>
            </a:solidFill>
            <a:prstDash val="solid"/>
          </a:ln>
        </p:spPr>
      </p:sp>
      <p:sp>
        <p:nvSpPr>
          <p:cNvPr id="176" name="Text 49">
            <a:extLst>
              <a:ext uri="{FF2B5EF4-FFF2-40B4-BE49-F238E27FC236}">
                <a16:creationId xmlns:a16="http://schemas.microsoft.com/office/drawing/2014/main" id="{B960D20C-2CBE-1175-4351-997EEC5A1888}"/>
              </a:ext>
            </a:extLst>
          </p:cNvPr>
          <p:cNvSpPr/>
          <p:nvPr/>
        </p:nvSpPr>
        <p:spPr>
          <a:xfrm>
            <a:off x="3291840" y="2624328"/>
            <a:ext cx="1078992" cy="137160"/>
          </a:xfrm>
          <a:prstGeom prst="rect">
            <a:avLst/>
          </a:prstGeom>
          <a:noFill/>
          <a:ln/>
        </p:spPr>
        <p:txBody>
          <a:bodyPr wrap="square" lIns="0" tIns="0" rIns="0" bIns="0" rtlCol="0" anchor="ctr">
            <a:normAutofit/>
          </a:bodyPr>
          <a:lstStyle/>
          <a:p>
            <a:pPr marL="0" indent="0" algn="ctr">
              <a:buNone/>
            </a:pPr>
            <a:r>
              <a:rPr lang="en-US" sz="825" dirty="0">
                <a:solidFill>
                  <a:srgbClr val="627794"/>
                </a:solidFill>
                <a:latin typeface="Microsoft YaHei" pitchFamily="34" charset="0"/>
                <a:ea typeface="Microsoft YaHei" pitchFamily="34" charset="-122"/>
                <a:cs typeface="Microsoft YaHei" pitchFamily="34" charset="-120"/>
              </a:rPr>
              <a:t>每卡权重</a:t>
            </a:r>
            <a:endParaRPr lang="en-US" sz="825" dirty="0"/>
          </a:p>
        </p:txBody>
      </p:sp>
      <p:sp>
        <p:nvSpPr>
          <p:cNvPr id="177" name="Text 50">
            <a:extLst>
              <a:ext uri="{FF2B5EF4-FFF2-40B4-BE49-F238E27FC236}">
                <a16:creationId xmlns:a16="http://schemas.microsoft.com/office/drawing/2014/main" id="{46E515D7-9496-D54C-C0E1-1DF03D75FE0A}"/>
              </a:ext>
            </a:extLst>
          </p:cNvPr>
          <p:cNvSpPr/>
          <p:nvPr/>
        </p:nvSpPr>
        <p:spPr>
          <a:xfrm>
            <a:off x="3291840" y="2798064"/>
            <a:ext cx="1078992" cy="182880"/>
          </a:xfrm>
          <a:prstGeom prst="rect">
            <a:avLst/>
          </a:prstGeom>
          <a:noFill/>
          <a:ln/>
        </p:spPr>
        <p:txBody>
          <a:bodyPr wrap="square" lIns="0" tIns="0" rIns="0" bIns="0" rtlCol="0" anchor="ctr">
            <a:normAutofit fontScale="92500" lnSpcReduction="20000"/>
          </a:bodyPr>
          <a:lstStyle/>
          <a:p>
            <a:pPr marL="0" indent="0" algn="ctr">
              <a:buNone/>
            </a:pPr>
            <a:r>
              <a:rPr lang="en-US" sz="1560" b="1" dirty="0">
                <a:solidFill>
                  <a:srgbClr val="0B59AE"/>
                </a:solidFill>
                <a:latin typeface="Microsoft YaHei" pitchFamily="34" charset="0"/>
                <a:ea typeface="Microsoft YaHei" pitchFamily="34" charset="-122"/>
                <a:cs typeface="Microsoft YaHei" pitchFamily="34" charset="-120"/>
              </a:rPr>
              <a:t>528</a:t>
            </a:r>
            <a:endParaRPr lang="en-US" sz="1560" dirty="0"/>
          </a:p>
        </p:txBody>
      </p:sp>
      <p:sp>
        <p:nvSpPr>
          <p:cNvPr id="178" name="Shape 51">
            <a:extLst>
              <a:ext uri="{FF2B5EF4-FFF2-40B4-BE49-F238E27FC236}">
                <a16:creationId xmlns:a16="http://schemas.microsoft.com/office/drawing/2014/main" id="{1D4B4D4F-077A-7A28-F958-7DC71D7328FC}"/>
              </a:ext>
            </a:extLst>
          </p:cNvPr>
          <p:cNvSpPr/>
          <p:nvPr/>
        </p:nvSpPr>
        <p:spPr>
          <a:xfrm>
            <a:off x="4535424" y="2587752"/>
            <a:ext cx="1133856" cy="466344"/>
          </a:xfrm>
          <a:prstGeom prst="roundRect">
            <a:avLst/>
          </a:prstGeom>
          <a:solidFill>
            <a:srgbClr val="F5F8FC"/>
          </a:solidFill>
          <a:ln w="10160">
            <a:solidFill>
              <a:srgbClr val="DCE7F4"/>
            </a:solidFill>
            <a:prstDash val="solid"/>
          </a:ln>
        </p:spPr>
      </p:sp>
      <p:sp>
        <p:nvSpPr>
          <p:cNvPr id="179" name="Text 52">
            <a:extLst>
              <a:ext uri="{FF2B5EF4-FFF2-40B4-BE49-F238E27FC236}">
                <a16:creationId xmlns:a16="http://schemas.microsoft.com/office/drawing/2014/main" id="{7C7F6C65-F904-8BD0-9634-7A38C576FDFC}"/>
              </a:ext>
            </a:extLst>
          </p:cNvPr>
          <p:cNvSpPr/>
          <p:nvPr/>
        </p:nvSpPr>
        <p:spPr>
          <a:xfrm>
            <a:off x="4562856" y="2624328"/>
            <a:ext cx="1078992" cy="137160"/>
          </a:xfrm>
          <a:prstGeom prst="rect">
            <a:avLst/>
          </a:prstGeom>
          <a:noFill/>
          <a:ln/>
        </p:spPr>
        <p:txBody>
          <a:bodyPr wrap="square" lIns="0" tIns="0" rIns="0" bIns="0" rtlCol="0" anchor="ctr">
            <a:normAutofit/>
          </a:bodyPr>
          <a:lstStyle/>
          <a:p>
            <a:pPr marL="0" indent="0" algn="ctr">
              <a:buNone/>
            </a:pPr>
            <a:r>
              <a:rPr lang="en-US" sz="825" dirty="0">
                <a:solidFill>
                  <a:srgbClr val="627794"/>
                </a:solidFill>
                <a:latin typeface="Microsoft YaHei" pitchFamily="34" charset="0"/>
                <a:ea typeface="Microsoft YaHei" pitchFamily="34" charset="-122"/>
                <a:cs typeface="Microsoft YaHei" pitchFamily="34" charset="-120"/>
              </a:rPr>
              <a:t>group_size</a:t>
            </a:r>
            <a:endParaRPr lang="en-US" sz="825" dirty="0"/>
          </a:p>
        </p:txBody>
      </p:sp>
      <p:sp>
        <p:nvSpPr>
          <p:cNvPr id="180" name="Text 53">
            <a:extLst>
              <a:ext uri="{FF2B5EF4-FFF2-40B4-BE49-F238E27FC236}">
                <a16:creationId xmlns:a16="http://schemas.microsoft.com/office/drawing/2014/main" id="{24D6B842-B5BA-DFEF-1585-0004D5E61516}"/>
              </a:ext>
            </a:extLst>
          </p:cNvPr>
          <p:cNvSpPr/>
          <p:nvPr/>
        </p:nvSpPr>
        <p:spPr>
          <a:xfrm>
            <a:off x="4562856" y="2798064"/>
            <a:ext cx="1078992" cy="182880"/>
          </a:xfrm>
          <a:prstGeom prst="rect">
            <a:avLst/>
          </a:prstGeom>
          <a:noFill/>
          <a:ln/>
        </p:spPr>
        <p:txBody>
          <a:bodyPr wrap="square" lIns="0" tIns="0" rIns="0" bIns="0" rtlCol="0" anchor="ctr">
            <a:normAutofit fontScale="92500" lnSpcReduction="20000"/>
          </a:bodyPr>
          <a:lstStyle/>
          <a:p>
            <a:pPr marL="0" indent="0" algn="ctr">
              <a:buNone/>
            </a:pPr>
            <a:r>
              <a:rPr lang="en-US" sz="1560" b="1" dirty="0">
                <a:solidFill>
                  <a:srgbClr val="102F5E"/>
                </a:solidFill>
                <a:latin typeface="Microsoft YaHei" pitchFamily="34" charset="0"/>
                <a:ea typeface="Microsoft YaHei" pitchFamily="34" charset="-122"/>
                <a:cs typeface="Microsoft YaHei" pitchFamily="34" charset="-120"/>
              </a:rPr>
              <a:t>32</a:t>
            </a:r>
            <a:endParaRPr lang="en-US" sz="1560" dirty="0"/>
          </a:p>
        </p:txBody>
      </p:sp>
      <p:sp>
        <p:nvSpPr>
          <p:cNvPr id="181" name="Text 54">
            <a:extLst>
              <a:ext uri="{FF2B5EF4-FFF2-40B4-BE49-F238E27FC236}">
                <a16:creationId xmlns:a16="http://schemas.microsoft.com/office/drawing/2014/main" id="{EEB06BCB-9C6A-EC65-F30A-A5B31490BDF9}"/>
              </a:ext>
            </a:extLst>
          </p:cNvPr>
          <p:cNvSpPr/>
          <p:nvPr/>
        </p:nvSpPr>
        <p:spPr>
          <a:xfrm>
            <a:off x="722376" y="3108960"/>
            <a:ext cx="5184648" cy="182880"/>
          </a:xfrm>
          <a:prstGeom prst="rect">
            <a:avLst/>
          </a:prstGeom>
          <a:noFill/>
          <a:ln/>
        </p:spPr>
        <p:txBody>
          <a:bodyPr wrap="square" lIns="0" tIns="0" rIns="0" bIns="0" rtlCol="0" anchor="ctr">
            <a:normAutofit/>
          </a:bodyPr>
          <a:lstStyle/>
          <a:p>
            <a:pPr marL="0" indent="0" algn="l">
              <a:buNone/>
            </a:pPr>
            <a:r>
              <a:rPr lang="en-US" sz="1030" dirty="0">
                <a:solidFill>
                  <a:srgbClr val="142E52"/>
                </a:solidFill>
                <a:latin typeface="Microsoft YaHei" pitchFamily="34" charset="0"/>
                <a:ea typeface="Microsoft YaHei" pitchFamily="34" charset="-122"/>
                <a:cs typeface="Microsoft YaHei" pitchFamily="34" charset="-120"/>
              </a:rPr>
              <a:t>量化规则：每 32 个权重共享 1 个 scale，全局共有 66 </a:t>
            </a:r>
            <a:r>
              <a:rPr lang="en-US" sz="1030">
                <a:solidFill>
                  <a:srgbClr val="142E52"/>
                </a:solidFill>
                <a:latin typeface="Microsoft YaHei" pitchFamily="34" charset="0"/>
                <a:ea typeface="Microsoft YaHei" pitchFamily="34" charset="-122"/>
                <a:cs typeface="Microsoft YaHei" pitchFamily="34" charset="-120"/>
              </a:rPr>
              <a:t>个 scale。</a:t>
            </a:r>
            <a:endParaRPr lang="en-US" sz="1030" dirty="0"/>
          </a:p>
        </p:txBody>
      </p:sp>
      <p:sp>
        <p:nvSpPr>
          <p:cNvPr id="182" name="Shape 55">
            <a:extLst>
              <a:ext uri="{FF2B5EF4-FFF2-40B4-BE49-F238E27FC236}">
                <a16:creationId xmlns:a16="http://schemas.microsoft.com/office/drawing/2014/main" id="{2380664A-A763-EB54-F495-170F7AE25BCE}"/>
              </a:ext>
            </a:extLst>
          </p:cNvPr>
          <p:cNvSpPr/>
          <p:nvPr/>
        </p:nvSpPr>
        <p:spPr>
          <a:xfrm>
            <a:off x="6364224" y="2249424"/>
            <a:ext cx="5084064" cy="338328"/>
          </a:xfrm>
          <a:prstGeom prst="roundRect">
            <a:avLst/>
          </a:prstGeom>
          <a:solidFill>
            <a:srgbClr val="FFF1F0"/>
          </a:solidFill>
          <a:ln w="10160">
            <a:solidFill>
              <a:srgbClr val="F5C8C7"/>
            </a:solidFill>
            <a:prstDash val="solid"/>
          </a:ln>
        </p:spPr>
      </p:sp>
      <p:sp>
        <p:nvSpPr>
          <p:cNvPr id="183" name="Text 56">
            <a:extLst>
              <a:ext uri="{FF2B5EF4-FFF2-40B4-BE49-F238E27FC236}">
                <a16:creationId xmlns:a16="http://schemas.microsoft.com/office/drawing/2014/main" id="{FF57F40C-E576-A4E9-8EB5-7E01393922C4}"/>
              </a:ext>
            </a:extLst>
          </p:cNvPr>
          <p:cNvSpPr/>
          <p:nvPr/>
        </p:nvSpPr>
        <p:spPr>
          <a:xfrm>
            <a:off x="6464808" y="2286000"/>
            <a:ext cx="4910328" cy="265176"/>
          </a:xfrm>
          <a:prstGeom prst="rect">
            <a:avLst/>
          </a:prstGeom>
          <a:noFill/>
          <a:ln/>
        </p:spPr>
        <p:txBody>
          <a:bodyPr wrap="square" lIns="0" tIns="0" rIns="0" bIns="0" rtlCol="0" anchor="ctr">
            <a:normAutofit/>
          </a:bodyPr>
          <a:lstStyle/>
          <a:p>
            <a:pPr marL="0" indent="0" algn="l">
              <a:buNone/>
            </a:pPr>
            <a:r>
              <a:rPr lang="en-US" sz="1220" b="1" dirty="0">
                <a:solidFill>
                  <a:srgbClr val="D94747"/>
                </a:solidFill>
                <a:latin typeface="Microsoft YaHei" pitchFamily="34" charset="0"/>
                <a:ea typeface="Microsoft YaHei" pitchFamily="34" charset="-122"/>
                <a:cs typeface="Microsoft YaHei" pitchFamily="34" charset="-120"/>
              </a:rPr>
              <a:t>528 = 16 × 32 + 16   →   TP 边界落在量化组内部</a:t>
            </a:r>
            <a:endParaRPr lang="en-US" sz="1220" dirty="0"/>
          </a:p>
        </p:txBody>
      </p:sp>
      <p:sp>
        <p:nvSpPr>
          <p:cNvPr id="184" name="Shape 57">
            <a:extLst>
              <a:ext uri="{FF2B5EF4-FFF2-40B4-BE49-F238E27FC236}">
                <a16:creationId xmlns:a16="http://schemas.microsoft.com/office/drawing/2014/main" id="{0607AE5E-B833-3CF5-9F51-8985981F30B3}"/>
              </a:ext>
            </a:extLst>
          </p:cNvPr>
          <p:cNvSpPr/>
          <p:nvPr/>
        </p:nvSpPr>
        <p:spPr>
          <a:xfrm>
            <a:off x="6601968" y="2743200"/>
            <a:ext cx="1623060" cy="310896"/>
          </a:xfrm>
          <a:prstGeom prst="roundRect">
            <a:avLst/>
          </a:prstGeom>
          <a:solidFill>
            <a:srgbClr val="D8E9FF"/>
          </a:solidFill>
          <a:ln w="10160">
            <a:solidFill>
              <a:srgbClr val="8AB5E9"/>
            </a:solidFill>
            <a:prstDash val="solid"/>
          </a:ln>
        </p:spPr>
      </p:sp>
      <p:sp>
        <p:nvSpPr>
          <p:cNvPr id="185" name="Shape 58">
            <a:extLst>
              <a:ext uri="{FF2B5EF4-FFF2-40B4-BE49-F238E27FC236}">
                <a16:creationId xmlns:a16="http://schemas.microsoft.com/office/drawing/2014/main" id="{609F713C-5679-A619-D920-682A6789CEA4}"/>
              </a:ext>
            </a:extLst>
          </p:cNvPr>
          <p:cNvSpPr/>
          <p:nvPr/>
        </p:nvSpPr>
        <p:spPr>
          <a:xfrm>
            <a:off x="8225028" y="2743200"/>
            <a:ext cx="1623060" cy="310896"/>
          </a:xfrm>
          <a:prstGeom prst="roundRect">
            <a:avLst/>
          </a:prstGeom>
          <a:solidFill>
            <a:srgbClr val="DFF4E8"/>
          </a:solidFill>
          <a:ln w="10160">
            <a:solidFill>
              <a:srgbClr val="8BC8A8"/>
            </a:solidFill>
            <a:prstDash val="solid"/>
          </a:ln>
        </p:spPr>
      </p:sp>
      <p:sp>
        <p:nvSpPr>
          <p:cNvPr id="186" name="Shape 59">
            <a:extLst>
              <a:ext uri="{FF2B5EF4-FFF2-40B4-BE49-F238E27FC236}">
                <a16:creationId xmlns:a16="http://schemas.microsoft.com/office/drawing/2014/main" id="{255D40DE-6FFF-64FD-9390-7C8D7650A441}"/>
              </a:ext>
            </a:extLst>
          </p:cNvPr>
          <p:cNvSpPr/>
          <p:nvPr/>
        </p:nvSpPr>
        <p:spPr>
          <a:xfrm>
            <a:off x="8225028" y="2560320"/>
            <a:ext cx="0" cy="649224"/>
          </a:xfrm>
          <a:prstGeom prst="line">
            <a:avLst/>
          </a:prstGeom>
          <a:noFill/>
          <a:ln w="20320">
            <a:solidFill>
              <a:srgbClr val="D94747"/>
            </a:solidFill>
            <a:prstDash val="dash"/>
          </a:ln>
        </p:spPr>
      </p:sp>
      <p:sp>
        <p:nvSpPr>
          <p:cNvPr id="187" name="Shape 60">
            <a:extLst>
              <a:ext uri="{FF2B5EF4-FFF2-40B4-BE49-F238E27FC236}">
                <a16:creationId xmlns:a16="http://schemas.microsoft.com/office/drawing/2014/main" id="{2EB24E02-6CA0-1765-F109-14B1308E9AE5}"/>
              </a:ext>
            </a:extLst>
          </p:cNvPr>
          <p:cNvSpPr/>
          <p:nvPr/>
        </p:nvSpPr>
        <p:spPr>
          <a:xfrm>
            <a:off x="10030968" y="2724912"/>
            <a:ext cx="1207008" cy="384048"/>
          </a:xfrm>
          <a:prstGeom prst="roundRect">
            <a:avLst/>
          </a:prstGeom>
          <a:solidFill>
            <a:srgbClr val="FFF2F2"/>
          </a:solidFill>
          <a:ln w="10160">
            <a:solidFill>
              <a:srgbClr val="F5C8C7"/>
            </a:solidFill>
            <a:prstDash val="solid"/>
          </a:ln>
        </p:spPr>
      </p:sp>
      <p:sp>
        <p:nvSpPr>
          <p:cNvPr id="188" name="Text 61">
            <a:extLst>
              <a:ext uri="{FF2B5EF4-FFF2-40B4-BE49-F238E27FC236}">
                <a16:creationId xmlns:a16="http://schemas.microsoft.com/office/drawing/2014/main" id="{C052E2E5-696D-B3C8-A6CD-E63196F9E9B3}"/>
              </a:ext>
            </a:extLst>
          </p:cNvPr>
          <p:cNvSpPr/>
          <p:nvPr/>
        </p:nvSpPr>
        <p:spPr>
          <a:xfrm>
            <a:off x="10085832" y="2729484"/>
            <a:ext cx="1097280" cy="374904"/>
          </a:xfrm>
          <a:prstGeom prst="rect">
            <a:avLst/>
          </a:prstGeom>
          <a:noFill/>
          <a:ln/>
        </p:spPr>
        <p:txBody>
          <a:bodyPr wrap="square" lIns="0" tIns="0" rIns="0" bIns="0" rtlCol="0" anchor="ctr">
            <a:normAutofit/>
          </a:bodyPr>
          <a:lstStyle/>
          <a:p>
            <a:pPr marL="0" indent="0" algn="ctr">
              <a:buNone/>
            </a:pPr>
            <a:r>
              <a:rPr lang="en-US" sz="810" b="1" dirty="0">
                <a:solidFill>
                  <a:srgbClr val="D94747"/>
                </a:solidFill>
                <a:latin typeface="Microsoft YaHei" pitchFamily="34" charset="0"/>
                <a:ea typeface="Microsoft YaHei" pitchFamily="34" charset="-122"/>
                <a:cs typeface="Microsoft YaHei" pitchFamily="34" charset="-120"/>
              </a:rPr>
              <a:t>s16：同一量化组共享的 scale</a:t>
            </a:r>
            <a:endParaRPr lang="en-US" sz="810" dirty="0"/>
          </a:p>
        </p:txBody>
      </p:sp>
      <p:sp>
        <p:nvSpPr>
          <p:cNvPr id="189" name="Text 62">
            <a:extLst>
              <a:ext uri="{FF2B5EF4-FFF2-40B4-BE49-F238E27FC236}">
                <a16:creationId xmlns:a16="http://schemas.microsoft.com/office/drawing/2014/main" id="{45392F57-B550-AE52-BF25-5BFD51D39544}"/>
              </a:ext>
            </a:extLst>
          </p:cNvPr>
          <p:cNvSpPr/>
          <p:nvPr/>
        </p:nvSpPr>
        <p:spPr>
          <a:xfrm>
            <a:off x="6601968" y="3072384"/>
            <a:ext cx="1568196" cy="164592"/>
          </a:xfrm>
          <a:prstGeom prst="rect">
            <a:avLst/>
          </a:prstGeom>
          <a:noFill/>
          <a:ln/>
        </p:spPr>
        <p:txBody>
          <a:bodyPr wrap="square" lIns="0" tIns="0" rIns="0" bIns="0" rtlCol="0" anchor="ctr">
            <a:normAutofit/>
          </a:bodyPr>
          <a:lstStyle/>
          <a:p>
            <a:pPr marL="0" indent="0" algn="ctr">
              <a:buNone/>
            </a:pPr>
            <a:r>
              <a:rPr lang="en-US" sz="900" b="1" dirty="0">
                <a:solidFill>
                  <a:srgbClr val="0B59AE"/>
                </a:solidFill>
                <a:latin typeface="Microsoft YaHei" pitchFamily="34" charset="0"/>
                <a:ea typeface="Microsoft YaHei" pitchFamily="34" charset="-122"/>
                <a:cs typeface="Microsoft YaHei" pitchFamily="34" charset="-120"/>
              </a:rPr>
              <a:t>Rank 0 尾部 16 个</a:t>
            </a:r>
            <a:endParaRPr lang="en-US" sz="900" dirty="0"/>
          </a:p>
        </p:txBody>
      </p:sp>
      <p:sp>
        <p:nvSpPr>
          <p:cNvPr id="190" name="Text 63">
            <a:extLst>
              <a:ext uri="{FF2B5EF4-FFF2-40B4-BE49-F238E27FC236}">
                <a16:creationId xmlns:a16="http://schemas.microsoft.com/office/drawing/2014/main" id="{E189B5D3-FD19-7B44-DAC4-F8CB2DDE49A1}"/>
              </a:ext>
            </a:extLst>
          </p:cNvPr>
          <p:cNvSpPr/>
          <p:nvPr/>
        </p:nvSpPr>
        <p:spPr>
          <a:xfrm>
            <a:off x="8225028" y="3072384"/>
            <a:ext cx="1568196" cy="164592"/>
          </a:xfrm>
          <a:prstGeom prst="rect">
            <a:avLst/>
          </a:prstGeom>
          <a:noFill/>
          <a:ln/>
        </p:spPr>
        <p:txBody>
          <a:bodyPr wrap="square" lIns="0" tIns="0" rIns="0" bIns="0" rtlCol="0" anchor="ctr">
            <a:normAutofit/>
          </a:bodyPr>
          <a:lstStyle/>
          <a:p>
            <a:pPr marL="0" indent="0" algn="ctr">
              <a:buNone/>
            </a:pPr>
            <a:r>
              <a:rPr lang="en-US" sz="900" b="1" dirty="0">
                <a:solidFill>
                  <a:srgbClr val="16855A"/>
                </a:solidFill>
                <a:latin typeface="Microsoft YaHei" pitchFamily="34" charset="0"/>
                <a:ea typeface="Microsoft YaHei" pitchFamily="34" charset="-122"/>
                <a:cs typeface="Microsoft YaHei" pitchFamily="34" charset="-120"/>
              </a:rPr>
              <a:t>Rank 1 开头 16 个</a:t>
            </a:r>
            <a:endParaRPr lang="en-US" sz="900" dirty="0"/>
          </a:p>
        </p:txBody>
      </p:sp>
      <p:sp>
        <p:nvSpPr>
          <p:cNvPr id="191" name="Text 64">
            <a:extLst>
              <a:ext uri="{FF2B5EF4-FFF2-40B4-BE49-F238E27FC236}">
                <a16:creationId xmlns:a16="http://schemas.microsoft.com/office/drawing/2014/main" id="{BAA8F520-DBC2-B0C9-E132-C2DDE83B79F8}"/>
              </a:ext>
            </a:extLst>
          </p:cNvPr>
          <p:cNvSpPr/>
          <p:nvPr/>
        </p:nvSpPr>
        <p:spPr>
          <a:xfrm>
            <a:off x="10021824" y="3127248"/>
            <a:ext cx="1353312" cy="164592"/>
          </a:xfrm>
          <a:prstGeom prst="rect">
            <a:avLst/>
          </a:prstGeom>
          <a:noFill/>
          <a:ln/>
        </p:spPr>
        <p:txBody>
          <a:bodyPr wrap="square" lIns="0" tIns="0" rIns="0" bIns="0" rtlCol="0" anchor="ctr">
            <a:normAutofit/>
          </a:bodyPr>
          <a:lstStyle/>
          <a:p>
            <a:pPr marL="0" indent="0" algn="ctr">
              <a:buNone/>
            </a:pPr>
            <a:r>
              <a:rPr lang="en-US" sz="800" b="1" dirty="0">
                <a:solidFill>
                  <a:srgbClr val="D94747"/>
                </a:solidFill>
                <a:latin typeface="Microsoft YaHei" pitchFamily="34" charset="0"/>
                <a:ea typeface="Microsoft YaHei" pitchFamily="34" charset="-122"/>
                <a:cs typeface="Microsoft YaHei" pitchFamily="34" charset="-120"/>
              </a:rPr>
              <a:t>简单均分会导致 scale 错位</a:t>
            </a:r>
            <a:endParaRPr lang="en-US" sz="800" dirty="0"/>
          </a:p>
        </p:txBody>
      </p:sp>
      <p:sp>
        <p:nvSpPr>
          <p:cNvPr id="192" name="Text 65">
            <a:extLst>
              <a:ext uri="{FF2B5EF4-FFF2-40B4-BE49-F238E27FC236}">
                <a16:creationId xmlns:a16="http://schemas.microsoft.com/office/drawing/2014/main" id="{A2920ED3-1378-7E74-9999-87FE445D7165}"/>
              </a:ext>
            </a:extLst>
          </p:cNvPr>
          <p:cNvSpPr/>
          <p:nvPr/>
        </p:nvSpPr>
        <p:spPr>
          <a:xfrm>
            <a:off x="870204" y="4044696"/>
            <a:ext cx="6355080" cy="301752"/>
          </a:xfrm>
          <a:prstGeom prst="rect">
            <a:avLst/>
          </a:prstGeom>
          <a:noFill/>
          <a:ln/>
        </p:spPr>
        <p:txBody>
          <a:bodyPr wrap="square" lIns="0" tIns="0" rIns="0" bIns="0" rtlCol="0" anchor="ctr">
            <a:normAutofit/>
          </a:bodyPr>
          <a:lstStyle/>
          <a:p>
            <a:pPr marL="0" indent="0" algn="l">
              <a:buNone/>
            </a:pPr>
            <a:r>
              <a:rPr lang="en-US" sz="1100" b="1" dirty="0">
                <a:solidFill>
                  <a:srgbClr val="102F5E"/>
                </a:solidFill>
                <a:latin typeface="Microsoft YaHei" pitchFamily="34" charset="0"/>
                <a:ea typeface="Microsoft YaHei" pitchFamily="34" charset="-122"/>
                <a:cs typeface="Microsoft YaHei" pitchFamily="34" charset="-120"/>
              </a:rPr>
              <a:t>Phase-aware scale loader：根据全局 TP offset 计算 scale 范围，而不是简单按卡等分。</a:t>
            </a:r>
            <a:endParaRPr lang="en-US" sz="1100" dirty="0"/>
          </a:p>
        </p:txBody>
      </p:sp>
      <p:sp>
        <p:nvSpPr>
          <p:cNvPr id="193" name="Shape 66">
            <a:extLst>
              <a:ext uri="{FF2B5EF4-FFF2-40B4-BE49-F238E27FC236}">
                <a16:creationId xmlns:a16="http://schemas.microsoft.com/office/drawing/2014/main" id="{B9EF7680-7C89-9CB2-4AA1-F98D3CAF5BC8}"/>
              </a:ext>
            </a:extLst>
          </p:cNvPr>
          <p:cNvSpPr/>
          <p:nvPr/>
        </p:nvSpPr>
        <p:spPr>
          <a:xfrm>
            <a:off x="861060" y="4410456"/>
            <a:ext cx="3182112" cy="356616"/>
          </a:xfrm>
          <a:prstGeom prst="roundRect">
            <a:avLst/>
          </a:prstGeom>
          <a:solidFill>
            <a:srgbClr val="EDF4FD"/>
          </a:solidFill>
          <a:ln w="10160">
            <a:solidFill>
              <a:srgbClr val="CCDDF0"/>
            </a:solidFill>
            <a:prstDash val="solid"/>
          </a:ln>
        </p:spPr>
      </p:sp>
      <p:sp>
        <p:nvSpPr>
          <p:cNvPr id="194" name="Text 67">
            <a:extLst>
              <a:ext uri="{FF2B5EF4-FFF2-40B4-BE49-F238E27FC236}">
                <a16:creationId xmlns:a16="http://schemas.microsoft.com/office/drawing/2014/main" id="{1E5C4DAB-E8D0-5969-658B-F06352206C0A}"/>
              </a:ext>
            </a:extLst>
          </p:cNvPr>
          <p:cNvSpPr/>
          <p:nvPr/>
        </p:nvSpPr>
        <p:spPr>
          <a:xfrm>
            <a:off x="915924" y="4415028"/>
            <a:ext cx="3072384" cy="347472"/>
          </a:xfrm>
          <a:prstGeom prst="rect">
            <a:avLst/>
          </a:prstGeom>
          <a:noFill/>
          <a:ln/>
        </p:spPr>
        <p:txBody>
          <a:bodyPr wrap="square" lIns="0" tIns="0" rIns="0" bIns="0" rtlCol="0" anchor="ctr">
            <a:normAutofit/>
          </a:bodyPr>
          <a:lstStyle/>
          <a:p>
            <a:pPr marL="0" indent="0" algn="ctr">
              <a:buNone/>
            </a:pPr>
            <a:r>
              <a:rPr lang="en-US" sz="1010" b="1" dirty="0">
                <a:solidFill>
                  <a:srgbClr val="0B59AE"/>
                </a:solidFill>
                <a:latin typeface="Microsoft YaHei" pitchFamily="34" charset="0"/>
                <a:ea typeface="Microsoft YaHei" pitchFamily="34" charset="-122"/>
                <a:cs typeface="Microsoft YaHei" pitchFamily="34" charset="-120"/>
              </a:rPr>
              <a:t>group_start = floor(global_start / 32)</a:t>
            </a:r>
            <a:endParaRPr lang="en-US" sz="1010" dirty="0"/>
          </a:p>
        </p:txBody>
      </p:sp>
      <p:sp>
        <p:nvSpPr>
          <p:cNvPr id="195" name="Shape 68">
            <a:extLst>
              <a:ext uri="{FF2B5EF4-FFF2-40B4-BE49-F238E27FC236}">
                <a16:creationId xmlns:a16="http://schemas.microsoft.com/office/drawing/2014/main" id="{F7EEAEF6-5662-BB71-BDEC-DF4720E65BFA}"/>
              </a:ext>
            </a:extLst>
          </p:cNvPr>
          <p:cNvSpPr/>
          <p:nvPr/>
        </p:nvSpPr>
        <p:spPr>
          <a:xfrm>
            <a:off x="4134612" y="4410456"/>
            <a:ext cx="2980944" cy="356616"/>
          </a:xfrm>
          <a:prstGeom prst="roundRect">
            <a:avLst/>
          </a:prstGeom>
          <a:solidFill>
            <a:srgbClr val="EDF4FD"/>
          </a:solidFill>
          <a:ln w="10160">
            <a:solidFill>
              <a:srgbClr val="CCDDF0"/>
            </a:solidFill>
            <a:prstDash val="solid"/>
          </a:ln>
        </p:spPr>
        <p:txBody>
          <a:bodyPr/>
          <a:lstStyle/>
          <a:p>
            <a:endParaRPr lang="zh-CN" altLang="en-US"/>
          </a:p>
        </p:txBody>
      </p:sp>
      <p:sp>
        <p:nvSpPr>
          <p:cNvPr id="196" name="Text 69">
            <a:extLst>
              <a:ext uri="{FF2B5EF4-FFF2-40B4-BE49-F238E27FC236}">
                <a16:creationId xmlns:a16="http://schemas.microsoft.com/office/drawing/2014/main" id="{F6F07910-AEB3-E834-368C-6FFA4D5EF9CF}"/>
              </a:ext>
            </a:extLst>
          </p:cNvPr>
          <p:cNvSpPr/>
          <p:nvPr/>
        </p:nvSpPr>
        <p:spPr>
          <a:xfrm>
            <a:off x="4084320" y="4410456"/>
            <a:ext cx="3081528" cy="347472"/>
          </a:xfrm>
          <a:prstGeom prst="rect">
            <a:avLst/>
          </a:prstGeom>
          <a:noFill/>
          <a:ln/>
        </p:spPr>
        <p:txBody>
          <a:bodyPr wrap="square" lIns="0" tIns="0" rIns="0" bIns="0" rtlCol="0" anchor="ctr">
            <a:normAutofit/>
          </a:bodyPr>
          <a:lstStyle/>
          <a:p>
            <a:pPr marL="0" indent="0" algn="ctr">
              <a:buNone/>
            </a:pPr>
            <a:r>
              <a:rPr lang="en-US" sz="1010" b="1" dirty="0">
                <a:solidFill>
                  <a:srgbClr val="0B59AE"/>
                </a:solidFill>
                <a:latin typeface="Microsoft YaHei" pitchFamily="34" charset="0"/>
                <a:ea typeface="Microsoft YaHei" pitchFamily="34" charset="-122"/>
                <a:cs typeface="Microsoft YaHei" pitchFamily="34" charset="-120"/>
              </a:rPr>
              <a:t>group_end = ceil(global_end / 32)</a:t>
            </a:r>
            <a:endParaRPr lang="en-US" sz="1010" dirty="0"/>
          </a:p>
        </p:txBody>
      </p:sp>
      <p:sp>
        <p:nvSpPr>
          <p:cNvPr id="197" name="Shape 70">
            <a:extLst>
              <a:ext uri="{FF2B5EF4-FFF2-40B4-BE49-F238E27FC236}">
                <a16:creationId xmlns:a16="http://schemas.microsoft.com/office/drawing/2014/main" id="{CDE79F44-797C-A8D0-C1C9-8F73682FA8E7}"/>
              </a:ext>
            </a:extLst>
          </p:cNvPr>
          <p:cNvSpPr/>
          <p:nvPr/>
        </p:nvSpPr>
        <p:spPr>
          <a:xfrm>
            <a:off x="870204" y="4803648"/>
            <a:ext cx="1069848" cy="242316"/>
          </a:xfrm>
          <a:prstGeom prst="rect">
            <a:avLst/>
          </a:prstGeom>
          <a:solidFill>
            <a:srgbClr val="0B59AE"/>
          </a:solidFill>
          <a:ln w="10160">
            <a:solidFill>
              <a:srgbClr val="0B59AE"/>
            </a:solidFill>
            <a:prstDash val="solid"/>
          </a:ln>
        </p:spPr>
      </p:sp>
      <p:sp>
        <p:nvSpPr>
          <p:cNvPr id="198" name="Text 71">
            <a:extLst>
              <a:ext uri="{FF2B5EF4-FFF2-40B4-BE49-F238E27FC236}">
                <a16:creationId xmlns:a16="http://schemas.microsoft.com/office/drawing/2014/main" id="{424ED1AF-C8CD-8622-D6BA-835ECB5AA6E8}"/>
              </a:ext>
            </a:extLst>
          </p:cNvPr>
          <p:cNvSpPr/>
          <p:nvPr/>
        </p:nvSpPr>
        <p:spPr>
          <a:xfrm>
            <a:off x="934212" y="4817364"/>
            <a:ext cx="941832" cy="215798"/>
          </a:xfrm>
          <a:prstGeom prst="rect">
            <a:avLst/>
          </a:prstGeom>
          <a:noFill/>
          <a:ln/>
        </p:spPr>
        <p:txBody>
          <a:bodyPr wrap="square" lIns="0" tIns="0" rIns="0" bIns="0" rtlCol="0" anchor="ctr">
            <a:normAutofit/>
          </a:bodyPr>
          <a:lstStyle/>
          <a:p>
            <a:pPr marL="0" indent="0" algn="ctr">
              <a:buNone/>
            </a:pPr>
            <a:r>
              <a:rPr lang="en-US" sz="960" b="1" dirty="0">
                <a:solidFill>
                  <a:srgbClr val="FFFFFF"/>
                </a:solidFill>
                <a:latin typeface="Microsoft YaHei" pitchFamily="34" charset="0"/>
                <a:ea typeface="Microsoft YaHei" pitchFamily="34" charset="-122"/>
                <a:cs typeface="Microsoft YaHei" pitchFamily="34" charset="-120"/>
              </a:rPr>
              <a:t>Rank</a:t>
            </a:r>
            <a:endParaRPr lang="en-US" sz="960" dirty="0"/>
          </a:p>
        </p:txBody>
      </p:sp>
      <p:sp>
        <p:nvSpPr>
          <p:cNvPr id="199" name="Shape 72">
            <a:extLst>
              <a:ext uri="{FF2B5EF4-FFF2-40B4-BE49-F238E27FC236}">
                <a16:creationId xmlns:a16="http://schemas.microsoft.com/office/drawing/2014/main" id="{408AFF8C-D4C0-F156-016E-DE0B8587999F}"/>
              </a:ext>
            </a:extLst>
          </p:cNvPr>
          <p:cNvSpPr/>
          <p:nvPr/>
        </p:nvSpPr>
        <p:spPr>
          <a:xfrm>
            <a:off x="1940052" y="4803648"/>
            <a:ext cx="2487168" cy="242316"/>
          </a:xfrm>
          <a:prstGeom prst="rect">
            <a:avLst/>
          </a:prstGeom>
          <a:solidFill>
            <a:srgbClr val="0B59AE"/>
          </a:solidFill>
          <a:ln w="10160">
            <a:solidFill>
              <a:srgbClr val="0B59AE"/>
            </a:solidFill>
            <a:prstDash val="solid"/>
          </a:ln>
        </p:spPr>
      </p:sp>
      <p:sp>
        <p:nvSpPr>
          <p:cNvPr id="200" name="Text 73">
            <a:extLst>
              <a:ext uri="{FF2B5EF4-FFF2-40B4-BE49-F238E27FC236}">
                <a16:creationId xmlns:a16="http://schemas.microsoft.com/office/drawing/2014/main" id="{9EEEAE6B-1D7C-A499-996F-2EBED6304F1F}"/>
              </a:ext>
            </a:extLst>
          </p:cNvPr>
          <p:cNvSpPr/>
          <p:nvPr/>
        </p:nvSpPr>
        <p:spPr>
          <a:xfrm>
            <a:off x="2004060" y="4817364"/>
            <a:ext cx="2359152" cy="215798"/>
          </a:xfrm>
          <a:prstGeom prst="rect">
            <a:avLst/>
          </a:prstGeom>
          <a:noFill/>
          <a:ln/>
        </p:spPr>
        <p:txBody>
          <a:bodyPr wrap="square" lIns="0" tIns="0" rIns="0" bIns="0" rtlCol="0" anchor="ctr">
            <a:normAutofit/>
          </a:bodyPr>
          <a:lstStyle/>
          <a:p>
            <a:pPr marL="0" indent="0" algn="l">
              <a:buNone/>
            </a:pPr>
            <a:r>
              <a:rPr lang="en-US" sz="960" b="1" dirty="0">
                <a:solidFill>
                  <a:srgbClr val="FFFFFF"/>
                </a:solidFill>
                <a:latin typeface="Microsoft YaHei" pitchFamily="34" charset="0"/>
                <a:ea typeface="Microsoft YaHei" pitchFamily="34" charset="-122"/>
                <a:cs typeface="Microsoft YaHei" pitchFamily="34" charset="-120"/>
              </a:rPr>
              <a:t>全局 K 范围</a:t>
            </a:r>
            <a:endParaRPr lang="en-US" sz="960" dirty="0"/>
          </a:p>
        </p:txBody>
      </p:sp>
      <p:sp>
        <p:nvSpPr>
          <p:cNvPr id="201" name="Shape 74">
            <a:extLst>
              <a:ext uri="{FF2B5EF4-FFF2-40B4-BE49-F238E27FC236}">
                <a16:creationId xmlns:a16="http://schemas.microsoft.com/office/drawing/2014/main" id="{0D9D9472-0E83-814A-C064-5E23EE69F43F}"/>
              </a:ext>
            </a:extLst>
          </p:cNvPr>
          <p:cNvSpPr/>
          <p:nvPr/>
        </p:nvSpPr>
        <p:spPr>
          <a:xfrm>
            <a:off x="4427220" y="4803648"/>
            <a:ext cx="2688336" cy="242316"/>
          </a:xfrm>
          <a:prstGeom prst="rect">
            <a:avLst/>
          </a:prstGeom>
          <a:solidFill>
            <a:srgbClr val="0B59AE"/>
          </a:solidFill>
          <a:ln w="10160">
            <a:solidFill>
              <a:srgbClr val="0B59AE"/>
            </a:solidFill>
            <a:prstDash val="solid"/>
          </a:ln>
        </p:spPr>
      </p:sp>
      <p:sp>
        <p:nvSpPr>
          <p:cNvPr id="202" name="Text 75">
            <a:extLst>
              <a:ext uri="{FF2B5EF4-FFF2-40B4-BE49-F238E27FC236}">
                <a16:creationId xmlns:a16="http://schemas.microsoft.com/office/drawing/2014/main" id="{AE20E7C8-47D1-F12D-D183-749CEC5DE235}"/>
              </a:ext>
            </a:extLst>
          </p:cNvPr>
          <p:cNvSpPr/>
          <p:nvPr/>
        </p:nvSpPr>
        <p:spPr>
          <a:xfrm>
            <a:off x="4491228" y="4817364"/>
            <a:ext cx="2560320" cy="215798"/>
          </a:xfrm>
          <a:prstGeom prst="rect">
            <a:avLst/>
          </a:prstGeom>
          <a:noFill/>
          <a:ln/>
        </p:spPr>
        <p:txBody>
          <a:bodyPr wrap="square" lIns="0" tIns="0" rIns="0" bIns="0" rtlCol="0" anchor="ctr">
            <a:normAutofit/>
          </a:bodyPr>
          <a:lstStyle/>
          <a:p>
            <a:pPr marL="0" indent="0" algn="l">
              <a:buNone/>
            </a:pPr>
            <a:r>
              <a:rPr lang="en-US" sz="960" b="1" dirty="0">
                <a:solidFill>
                  <a:srgbClr val="FFFFFF"/>
                </a:solidFill>
                <a:latin typeface="Microsoft YaHei" pitchFamily="34" charset="0"/>
                <a:ea typeface="Microsoft YaHei" pitchFamily="34" charset="-122"/>
                <a:cs typeface="Microsoft YaHei" pitchFamily="34" charset="-120"/>
              </a:rPr>
              <a:t>Scale 切片（左闭右开）</a:t>
            </a:r>
            <a:endParaRPr lang="en-US" sz="960" dirty="0"/>
          </a:p>
        </p:txBody>
      </p:sp>
      <p:sp>
        <p:nvSpPr>
          <p:cNvPr id="203" name="Shape 76">
            <a:extLst>
              <a:ext uri="{FF2B5EF4-FFF2-40B4-BE49-F238E27FC236}">
                <a16:creationId xmlns:a16="http://schemas.microsoft.com/office/drawing/2014/main" id="{CBB78030-6FF0-71B5-5BD2-8238B3A2BB23}"/>
              </a:ext>
            </a:extLst>
          </p:cNvPr>
          <p:cNvSpPr/>
          <p:nvPr/>
        </p:nvSpPr>
        <p:spPr>
          <a:xfrm>
            <a:off x="870204" y="5045964"/>
            <a:ext cx="1069848" cy="192024"/>
          </a:xfrm>
          <a:prstGeom prst="rect">
            <a:avLst/>
          </a:prstGeom>
          <a:solidFill>
            <a:srgbClr val="EFF5FC"/>
          </a:solidFill>
          <a:ln w="10160">
            <a:solidFill>
              <a:srgbClr val="DAE5F0"/>
            </a:solidFill>
            <a:prstDash val="solid"/>
          </a:ln>
        </p:spPr>
      </p:sp>
      <p:sp>
        <p:nvSpPr>
          <p:cNvPr id="204" name="Text 77">
            <a:extLst>
              <a:ext uri="{FF2B5EF4-FFF2-40B4-BE49-F238E27FC236}">
                <a16:creationId xmlns:a16="http://schemas.microsoft.com/office/drawing/2014/main" id="{5811EA81-0B01-E0F9-4025-5AD4F0DC5CC1}"/>
              </a:ext>
            </a:extLst>
          </p:cNvPr>
          <p:cNvSpPr/>
          <p:nvPr/>
        </p:nvSpPr>
        <p:spPr>
          <a:xfrm>
            <a:off x="943356" y="5050536"/>
            <a:ext cx="923544" cy="182880"/>
          </a:xfrm>
          <a:prstGeom prst="rect">
            <a:avLst/>
          </a:prstGeom>
          <a:noFill/>
          <a:ln/>
        </p:spPr>
        <p:txBody>
          <a:bodyPr wrap="square" lIns="0" tIns="0" rIns="0" bIns="0" rtlCol="0" anchor="ctr">
            <a:normAutofit/>
          </a:bodyPr>
          <a:lstStyle/>
          <a:p>
            <a:pPr marL="0" indent="0" algn="ctr">
              <a:buNone/>
            </a:pPr>
            <a:r>
              <a:rPr lang="en-US" sz="910" b="1" dirty="0">
                <a:solidFill>
                  <a:srgbClr val="142E52"/>
                </a:solidFill>
                <a:latin typeface="Microsoft YaHei" pitchFamily="34" charset="0"/>
                <a:ea typeface="Microsoft YaHei" pitchFamily="34" charset="-122"/>
                <a:cs typeface="Microsoft YaHei" pitchFamily="34" charset="-120"/>
              </a:rPr>
              <a:t>Rank 0</a:t>
            </a:r>
            <a:endParaRPr lang="en-US" sz="910" dirty="0"/>
          </a:p>
        </p:txBody>
      </p:sp>
      <p:sp>
        <p:nvSpPr>
          <p:cNvPr id="205" name="Shape 78">
            <a:extLst>
              <a:ext uri="{FF2B5EF4-FFF2-40B4-BE49-F238E27FC236}">
                <a16:creationId xmlns:a16="http://schemas.microsoft.com/office/drawing/2014/main" id="{7373FDD2-F1BF-F386-3428-6714AD8428F5}"/>
              </a:ext>
            </a:extLst>
          </p:cNvPr>
          <p:cNvSpPr/>
          <p:nvPr/>
        </p:nvSpPr>
        <p:spPr>
          <a:xfrm>
            <a:off x="1940052" y="5045964"/>
            <a:ext cx="2487168" cy="192024"/>
          </a:xfrm>
          <a:prstGeom prst="rect">
            <a:avLst/>
          </a:prstGeom>
          <a:solidFill>
            <a:srgbClr val="EFF5FC"/>
          </a:solidFill>
          <a:ln w="10160">
            <a:solidFill>
              <a:srgbClr val="DAE5F0"/>
            </a:solidFill>
            <a:prstDash val="solid"/>
          </a:ln>
        </p:spPr>
      </p:sp>
      <p:sp>
        <p:nvSpPr>
          <p:cNvPr id="206" name="Text 79">
            <a:extLst>
              <a:ext uri="{FF2B5EF4-FFF2-40B4-BE49-F238E27FC236}">
                <a16:creationId xmlns:a16="http://schemas.microsoft.com/office/drawing/2014/main" id="{6F2D04B5-6F84-A2BC-E742-E9AD8DA1DD6E}"/>
              </a:ext>
            </a:extLst>
          </p:cNvPr>
          <p:cNvSpPr/>
          <p:nvPr/>
        </p:nvSpPr>
        <p:spPr>
          <a:xfrm>
            <a:off x="2013204" y="5050536"/>
            <a:ext cx="2340864" cy="182880"/>
          </a:xfrm>
          <a:prstGeom prst="rect">
            <a:avLst/>
          </a:prstGeom>
          <a:noFill/>
          <a:ln/>
        </p:spPr>
        <p:txBody>
          <a:bodyPr wrap="square" lIns="0" tIns="0" rIns="0" bIns="0" rtlCol="0" anchor="ctr">
            <a:normAutofit/>
          </a:bodyPr>
          <a:lstStyle/>
          <a:p>
            <a:pPr marL="0" indent="0" algn="l">
              <a:buNone/>
            </a:pPr>
            <a:r>
              <a:rPr lang="en-US" sz="910" dirty="0">
                <a:solidFill>
                  <a:srgbClr val="142E52"/>
                </a:solidFill>
                <a:latin typeface="Microsoft YaHei" pitchFamily="34" charset="0"/>
                <a:ea typeface="Microsoft YaHei" pitchFamily="34" charset="-122"/>
                <a:cs typeface="Microsoft YaHei" pitchFamily="34" charset="-120"/>
              </a:rPr>
              <a:t>[0, 528)</a:t>
            </a:r>
            <a:endParaRPr lang="en-US" sz="910" dirty="0"/>
          </a:p>
        </p:txBody>
      </p:sp>
      <p:sp>
        <p:nvSpPr>
          <p:cNvPr id="207" name="Shape 80">
            <a:extLst>
              <a:ext uri="{FF2B5EF4-FFF2-40B4-BE49-F238E27FC236}">
                <a16:creationId xmlns:a16="http://schemas.microsoft.com/office/drawing/2014/main" id="{29771C9D-0911-1F2B-CA33-58D5140DC139}"/>
              </a:ext>
            </a:extLst>
          </p:cNvPr>
          <p:cNvSpPr/>
          <p:nvPr/>
        </p:nvSpPr>
        <p:spPr>
          <a:xfrm>
            <a:off x="4427220" y="5045964"/>
            <a:ext cx="2688336" cy="192024"/>
          </a:xfrm>
          <a:prstGeom prst="rect">
            <a:avLst/>
          </a:prstGeom>
          <a:solidFill>
            <a:srgbClr val="EFF5FC"/>
          </a:solidFill>
          <a:ln w="10160">
            <a:solidFill>
              <a:srgbClr val="DAE5F0"/>
            </a:solidFill>
            <a:prstDash val="solid"/>
          </a:ln>
        </p:spPr>
      </p:sp>
      <p:sp>
        <p:nvSpPr>
          <p:cNvPr id="208" name="Text 81">
            <a:extLst>
              <a:ext uri="{FF2B5EF4-FFF2-40B4-BE49-F238E27FC236}">
                <a16:creationId xmlns:a16="http://schemas.microsoft.com/office/drawing/2014/main" id="{8AADC94E-8036-ED0C-9DF3-234C01AF9E92}"/>
              </a:ext>
            </a:extLst>
          </p:cNvPr>
          <p:cNvSpPr/>
          <p:nvPr/>
        </p:nvSpPr>
        <p:spPr>
          <a:xfrm>
            <a:off x="4500372" y="5050536"/>
            <a:ext cx="2542032" cy="182880"/>
          </a:xfrm>
          <a:prstGeom prst="rect">
            <a:avLst/>
          </a:prstGeom>
          <a:noFill/>
          <a:ln/>
        </p:spPr>
        <p:txBody>
          <a:bodyPr wrap="square" lIns="0" tIns="0" rIns="0" bIns="0" rtlCol="0" anchor="ctr">
            <a:normAutofit/>
          </a:bodyPr>
          <a:lstStyle/>
          <a:p>
            <a:pPr marL="0" indent="0" algn="l">
              <a:buNone/>
            </a:pPr>
            <a:r>
              <a:rPr lang="en-US" sz="910" dirty="0">
                <a:solidFill>
                  <a:srgbClr val="142E52"/>
                </a:solidFill>
                <a:latin typeface="Microsoft YaHei" pitchFamily="34" charset="0"/>
                <a:ea typeface="Microsoft YaHei" pitchFamily="34" charset="-122"/>
                <a:cs typeface="Microsoft YaHei" pitchFamily="34" charset="-120"/>
              </a:rPr>
              <a:t>s[0:17]</a:t>
            </a:r>
            <a:endParaRPr lang="en-US" sz="910" dirty="0"/>
          </a:p>
        </p:txBody>
      </p:sp>
      <p:sp>
        <p:nvSpPr>
          <p:cNvPr id="209" name="Shape 82">
            <a:extLst>
              <a:ext uri="{FF2B5EF4-FFF2-40B4-BE49-F238E27FC236}">
                <a16:creationId xmlns:a16="http://schemas.microsoft.com/office/drawing/2014/main" id="{2FFB41F0-CE35-EBE8-B76F-0D3E4F300947}"/>
              </a:ext>
            </a:extLst>
          </p:cNvPr>
          <p:cNvSpPr/>
          <p:nvPr/>
        </p:nvSpPr>
        <p:spPr>
          <a:xfrm>
            <a:off x="870204" y="5237988"/>
            <a:ext cx="1069848" cy="192024"/>
          </a:xfrm>
          <a:prstGeom prst="rect">
            <a:avLst/>
          </a:prstGeom>
          <a:solidFill>
            <a:srgbClr val="F8FAFC"/>
          </a:solidFill>
          <a:ln w="10160">
            <a:solidFill>
              <a:srgbClr val="DAE5F0"/>
            </a:solidFill>
            <a:prstDash val="solid"/>
          </a:ln>
        </p:spPr>
      </p:sp>
      <p:sp>
        <p:nvSpPr>
          <p:cNvPr id="210" name="Text 83">
            <a:extLst>
              <a:ext uri="{FF2B5EF4-FFF2-40B4-BE49-F238E27FC236}">
                <a16:creationId xmlns:a16="http://schemas.microsoft.com/office/drawing/2014/main" id="{6FE152EA-357E-F7C5-2D1F-705F8E5A7F88}"/>
              </a:ext>
            </a:extLst>
          </p:cNvPr>
          <p:cNvSpPr/>
          <p:nvPr/>
        </p:nvSpPr>
        <p:spPr>
          <a:xfrm>
            <a:off x="943356" y="5242560"/>
            <a:ext cx="923544" cy="182880"/>
          </a:xfrm>
          <a:prstGeom prst="rect">
            <a:avLst/>
          </a:prstGeom>
          <a:noFill/>
          <a:ln/>
        </p:spPr>
        <p:txBody>
          <a:bodyPr wrap="square" lIns="0" tIns="0" rIns="0" bIns="0" rtlCol="0" anchor="ctr">
            <a:normAutofit/>
          </a:bodyPr>
          <a:lstStyle/>
          <a:p>
            <a:pPr marL="0" indent="0" algn="ctr">
              <a:buNone/>
            </a:pPr>
            <a:r>
              <a:rPr lang="en-US" sz="910" b="1" dirty="0">
                <a:solidFill>
                  <a:srgbClr val="142E52"/>
                </a:solidFill>
                <a:latin typeface="Microsoft YaHei" pitchFamily="34" charset="0"/>
                <a:ea typeface="Microsoft YaHei" pitchFamily="34" charset="-122"/>
                <a:cs typeface="Microsoft YaHei" pitchFamily="34" charset="-120"/>
              </a:rPr>
              <a:t>Rank 1</a:t>
            </a:r>
            <a:endParaRPr lang="en-US" sz="910" dirty="0"/>
          </a:p>
        </p:txBody>
      </p:sp>
      <p:sp>
        <p:nvSpPr>
          <p:cNvPr id="211" name="Shape 84">
            <a:extLst>
              <a:ext uri="{FF2B5EF4-FFF2-40B4-BE49-F238E27FC236}">
                <a16:creationId xmlns:a16="http://schemas.microsoft.com/office/drawing/2014/main" id="{3EC52BD3-EA3A-B670-226C-80147CE0D3A0}"/>
              </a:ext>
            </a:extLst>
          </p:cNvPr>
          <p:cNvSpPr/>
          <p:nvPr/>
        </p:nvSpPr>
        <p:spPr>
          <a:xfrm>
            <a:off x="1940052" y="5237988"/>
            <a:ext cx="2487168" cy="192024"/>
          </a:xfrm>
          <a:prstGeom prst="rect">
            <a:avLst/>
          </a:prstGeom>
          <a:solidFill>
            <a:srgbClr val="F8FAFC"/>
          </a:solidFill>
          <a:ln w="10160">
            <a:solidFill>
              <a:srgbClr val="DAE5F0"/>
            </a:solidFill>
            <a:prstDash val="solid"/>
          </a:ln>
        </p:spPr>
      </p:sp>
      <p:sp>
        <p:nvSpPr>
          <p:cNvPr id="212" name="Text 85">
            <a:extLst>
              <a:ext uri="{FF2B5EF4-FFF2-40B4-BE49-F238E27FC236}">
                <a16:creationId xmlns:a16="http://schemas.microsoft.com/office/drawing/2014/main" id="{9E40BAE7-AD3A-D8B8-9922-8A6AAAD6D0A3}"/>
              </a:ext>
            </a:extLst>
          </p:cNvPr>
          <p:cNvSpPr/>
          <p:nvPr/>
        </p:nvSpPr>
        <p:spPr>
          <a:xfrm>
            <a:off x="2013204" y="5242560"/>
            <a:ext cx="2340864" cy="182880"/>
          </a:xfrm>
          <a:prstGeom prst="rect">
            <a:avLst/>
          </a:prstGeom>
          <a:noFill/>
          <a:ln/>
        </p:spPr>
        <p:txBody>
          <a:bodyPr wrap="square" lIns="0" tIns="0" rIns="0" bIns="0" rtlCol="0" anchor="ctr">
            <a:normAutofit/>
          </a:bodyPr>
          <a:lstStyle/>
          <a:p>
            <a:pPr marL="0" indent="0" algn="l">
              <a:buNone/>
            </a:pPr>
            <a:r>
              <a:rPr lang="en-US" sz="910" dirty="0">
                <a:solidFill>
                  <a:srgbClr val="142E52"/>
                </a:solidFill>
                <a:latin typeface="Microsoft YaHei" pitchFamily="34" charset="0"/>
                <a:ea typeface="Microsoft YaHei" pitchFamily="34" charset="-122"/>
                <a:cs typeface="Microsoft YaHei" pitchFamily="34" charset="-120"/>
              </a:rPr>
              <a:t>[528, 1056)</a:t>
            </a:r>
            <a:endParaRPr lang="en-US" sz="910" dirty="0"/>
          </a:p>
        </p:txBody>
      </p:sp>
      <p:sp>
        <p:nvSpPr>
          <p:cNvPr id="213" name="Shape 86">
            <a:extLst>
              <a:ext uri="{FF2B5EF4-FFF2-40B4-BE49-F238E27FC236}">
                <a16:creationId xmlns:a16="http://schemas.microsoft.com/office/drawing/2014/main" id="{5B50A71D-2548-F8E3-77E9-17EBD79EDC40}"/>
              </a:ext>
            </a:extLst>
          </p:cNvPr>
          <p:cNvSpPr/>
          <p:nvPr/>
        </p:nvSpPr>
        <p:spPr>
          <a:xfrm>
            <a:off x="4427220" y="5237988"/>
            <a:ext cx="2688336" cy="192024"/>
          </a:xfrm>
          <a:prstGeom prst="rect">
            <a:avLst/>
          </a:prstGeom>
          <a:solidFill>
            <a:srgbClr val="E7F7F0"/>
          </a:solidFill>
          <a:ln w="10160">
            <a:solidFill>
              <a:srgbClr val="DAE5F0"/>
            </a:solidFill>
            <a:prstDash val="solid"/>
          </a:ln>
        </p:spPr>
      </p:sp>
      <p:sp>
        <p:nvSpPr>
          <p:cNvPr id="214" name="Text 87">
            <a:extLst>
              <a:ext uri="{FF2B5EF4-FFF2-40B4-BE49-F238E27FC236}">
                <a16:creationId xmlns:a16="http://schemas.microsoft.com/office/drawing/2014/main" id="{F0EBA314-9D44-892D-C171-0F3570023A7B}"/>
              </a:ext>
            </a:extLst>
          </p:cNvPr>
          <p:cNvSpPr/>
          <p:nvPr/>
        </p:nvSpPr>
        <p:spPr>
          <a:xfrm>
            <a:off x="4500372" y="5242560"/>
            <a:ext cx="2542032" cy="182880"/>
          </a:xfrm>
          <a:prstGeom prst="rect">
            <a:avLst/>
          </a:prstGeom>
          <a:noFill/>
          <a:ln/>
        </p:spPr>
        <p:txBody>
          <a:bodyPr wrap="square" lIns="0" tIns="0" rIns="0" bIns="0" rtlCol="0" anchor="ctr">
            <a:normAutofit/>
          </a:bodyPr>
          <a:lstStyle/>
          <a:p>
            <a:pPr marL="0" indent="0" algn="l">
              <a:buNone/>
            </a:pPr>
            <a:r>
              <a:rPr lang="en-US" sz="910" b="1" dirty="0">
                <a:solidFill>
                  <a:srgbClr val="16855A"/>
                </a:solidFill>
                <a:latin typeface="Microsoft YaHei" pitchFamily="34" charset="0"/>
                <a:ea typeface="Microsoft YaHei" pitchFamily="34" charset="-122"/>
                <a:cs typeface="Microsoft YaHei" pitchFamily="34" charset="-120"/>
              </a:rPr>
              <a:t>s[16:33]  ← 共享 s16</a:t>
            </a:r>
            <a:endParaRPr lang="en-US" sz="910" dirty="0"/>
          </a:p>
        </p:txBody>
      </p:sp>
      <p:sp>
        <p:nvSpPr>
          <p:cNvPr id="215" name="Shape 88">
            <a:extLst>
              <a:ext uri="{FF2B5EF4-FFF2-40B4-BE49-F238E27FC236}">
                <a16:creationId xmlns:a16="http://schemas.microsoft.com/office/drawing/2014/main" id="{F029806F-E4B3-ED7A-5A69-66CBD4C65F4D}"/>
              </a:ext>
            </a:extLst>
          </p:cNvPr>
          <p:cNvSpPr/>
          <p:nvPr/>
        </p:nvSpPr>
        <p:spPr>
          <a:xfrm>
            <a:off x="870204" y="5430012"/>
            <a:ext cx="1069848" cy="192024"/>
          </a:xfrm>
          <a:prstGeom prst="rect">
            <a:avLst/>
          </a:prstGeom>
          <a:solidFill>
            <a:srgbClr val="EFF5FC"/>
          </a:solidFill>
          <a:ln w="10160">
            <a:solidFill>
              <a:srgbClr val="DAE5F0"/>
            </a:solidFill>
            <a:prstDash val="solid"/>
          </a:ln>
        </p:spPr>
      </p:sp>
      <p:sp>
        <p:nvSpPr>
          <p:cNvPr id="216" name="Text 89">
            <a:extLst>
              <a:ext uri="{FF2B5EF4-FFF2-40B4-BE49-F238E27FC236}">
                <a16:creationId xmlns:a16="http://schemas.microsoft.com/office/drawing/2014/main" id="{C0F4C2E2-14C3-3F12-1E63-6E5EA903B68B}"/>
              </a:ext>
            </a:extLst>
          </p:cNvPr>
          <p:cNvSpPr/>
          <p:nvPr/>
        </p:nvSpPr>
        <p:spPr>
          <a:xfrm>
            <a:off x="943356" y="5434584"/>
            <a:ext cx="923544" cy="182880"/>
          </a:xfrm>
          <a:prstGeom prst="rect">
            <a:avLst/>
          </a:prstGeom>
          <a:noFill/>
          <a:ln/>
        </p:spPr>
        <p:txBody>
          <a:bodyPr wrap="square" lIns="0" tIns="0" rIns="0" bIns="0" rtlCol="0" anchor="ctr">
            <a:normAutofit/>
          </a:bodyPr>
          <a:lstStyle/>
          <a:p>
            <a:pPr marL="0" indent="0" algn="ctr">
              <a:buNone/>
            </a:pPr>
            <a:r>
              <a:rPr lang="en-US" sz="910" b="1" dirty="0">
                <a:solidFill>
                  <a:srgbClr val="142E52"/>
                </a:solidFill>
                <a:latin typeface="Microsoft YaHei" pitchFamily="34" charset="0"/>
                <a:ea typeface="Microsoft YaHei" pitchFamily="34" charset="-122"/>
                <a:cs typeface="Microsoft YaHei" pitchFamily="34" charset="-120"/>
              </a:rPr>
              <a:t>Rank 2</a:t>
            </a:r>
            <a:endParaRPr lang="en-US" sz="910" dirty="0"/>
          </a:p>
        </p:txBody>
      </p:sp>
      <p:sp>
        <p:nvSpPr>
          <p:cNvPr id="217" name="Shape 90">
            <a:extLst>
              <a:ext uri="{FF2B5EF4-FFF2-40B4-BE49-F238E27FC236}">
                <a16:creationId xmlns:a16="http://schemas.microsoft.com/office/drawing/2014/main" id="{6A4F24F5-08D6-73FE-5931-D47F7CEBFB53}"/>
              </a:ext>
            </a:extLst>
          </p:cNvPr>
          <p:cNvSpPr/>
          <p:nvPr/>
        </p:nvSpPr>
        <p:spPr>
          <a:xfrm>
            <a:off x="1940052" y="5430012"/>
            <a:ext cx="2487168" cy="192024"/>
          </a:xfrm>
          <a:prstGeom prst="rect">
            <a:avLst/>
          </a:prstGeom>
          <a:solidFill>
            <a:srgbClr val="EFF5FC"/>
          </a:solidFill>
          <a:ln w="10160">
            <a:solidFill>
              <a:srgbClr val="DAE5F0"/>
            </a:solidFill>
            <a:prstDash val="solid"/>
          </a:ln>
        </p:spPr>
      </p:sp>
      <p:sp>
        <p:nvSpPr>
          <p:cNvPr id="218" name="Text 91">
            <a:extLst>
              <a:ext uri="{FF2B5EF4-FFF2-40B4-BE49-F238E27FC236}">
                <a16:creationId xmlns:a16="http://schemas.microsoft.com/office/drawing/2014/main" id="{0A0F2DA1-0020-49F9-82CB-553D02948C6E}"/>
              </a:ext>
            </a:extLst>
          </p:cNvPr>
          <p:cNvSpPr/>
          <p:nvPr/>
        </p:nvSpPr>
        <p:spPr>
          <a:xfrm>
            <a:off x="2013204" y="5434584"/>
            <a:ext cx="2340864" cy="182880"/>
          </a:xfrm>
          <a:prstGeom prst="rect">
            <a:avLst/>
          </a:prstGeom>
          <a:noFill/>
          <a:ln/>
        </p:spPr>
        <p:txBody>
          <a:bodyPr wrap="square" lIns="0" tIns="0" rIns="0" bIns="0" rtlCol="0" anchor="ctr">
            <a:normAutofit/>
          </a:bodyPr>
          <a:lstStyle/>
          <a:p>
            <a:pPr marL="0" indent="0" algn="l">
              <a:buNone/>
            </a:pPr>
            <a:r>
              <a:rPr lang="en-US" sz="910" dirty="0">
                <a:solidFill>
                  <a:srgbClr val="142E52"/>
                </a:solidFill>
                <a:latin typeface="Microsoft YaHei" pitchFamily="34" charset="0"/>
                <a:ea typeface="Microsoft YaHei" pitchFamily="34" charset="-122"/>
                <a:cs typeface="Microsoft YaHei" pitchFamily="34" charset="-120"/>
              </a:rPr>
              <a:t>[1056, 1584)</a:t>
            </a:r>
            <a:endParaRPr lang="en-US" sz="910" dirty="0"/>
          </a:p>
        </p:txBody>
      </p:sp>
      <p:sp>
        <p:nvSpPr>
          <p:cNvPr id="219" name="Shape 92">
            <a:extLst>
              <a:ext uri="{FF2B5EF4-FFF2-40B4-BE49-F238E27FC236}">
                <a16:creationId xmlns:a16="http://schemas.microsoft.com/office/drawing/2014/main" id="{7D035BAA-E3B2-78F7-829D-39E1414C705C}"/>
              </a:ext>
            </a:extLst>
          </p:cNvPr>
          <p:cNvSpPr/>
          <p:nvPr/>
        </p:nvSpPr>
        <p:spPr>
          <a:xfrm>
            <a:off x="4427220" y="5430012"/>
            <a:ext cx="2688336" cy="192024"/>
          </a:xfrm>
          <a:prstGeom prst="rect">
            <a:avLst/>
          </a:prstGeom>
          <a:solidFill>
            <a:srgbClr val="EFF5FC"/>
          </a:solidFill>
          <a:ln w="10160">
            <a:solidFill>
              <a:srgbClr val="DAE5F0"/>
            </a:solidFill>
            <a:prstDash val="solid"/>
          </a:ln>
        </p:spPr>
      </p:sp>
      <p:sp>
        <p:nvSpPr>
          <p:cNvPr id="220" name="Text 93">
            <a:extLst>
              <a:ext uri="{FF2B5EF4-FFF2-40B4-BE49-F238E27FC236}">
                <a16:creationId xmlns:a16="http://schemas.microsoft.com/office/drawing/2014/main" id="{A3EF857B-2E84-DD71-CDF6-51C69F6D15A0}"/>
              </a:ext>
            </a:extLst>
          </p:cNvPr>
          <p:cNvSpPr/>
          <p:nvPr/>
        </p:nvSpPr>
        <p:spPr>
          <a:xfrm>
            <a:off x="4500372" y="5434584"/>
            <a:ext cx="2542032" cy="182880"/>
          </a:xfrm>
          <a:prstGeom prst="rect">
            <a:avLst/>
          </a:prstGeom>
          <a:noFill/>
          <a:ln/>
        </p:spPr>
        <p:txBody>
          <a:bodyPr wrap="square" lIns="0" tIns="0" rIns="0" bIns="0" rtlCol="0" anchor="ctr">
            <a:normAutofit/>
          </a:bodyPr>
          <a:lstStyle/>
          <a:p>
            <a:pPr marL="0" indent="0" algn="l">
              <a:buNone/>
            </a:pPr>
            <a:r>
              <a:rPr lang="en-US" sz="910" dirty="0">
                <a:solidFill>
                  <a:srgbClr val="142E52"/>
                </a:solidFill>
                <a:latin typeface="Microsoft YaHei" pitchFamily="34" charset="0"/>
                <a:ea typeface="Microsoft YaHei" pitchFamily="34" charset="-122"/>
                <a:cs typeface="Microsoft YaHei" pitchFamily="34" charset="-120"/>
              </a:rPr>
              <a:t>s[33:50]</a:t>
            </a:r>
            <a:endParaRPr lang="en-US" sz="910" dirty="0"/>
          </a:p>
        </p:txBody>
      </p:sp>
      <p:sp>
        <p:nvSpPr>
          <p:cNvPr id="221" name="Shape 94">
            <a:extLst>
              <a:ext uri="{FF2B5EF4-FFF2-40B4-BE49-F238E27FC236}">
                <a16:creationId xmlns:a16="http://schemas.microsoft.com/office/drawing/2014/main" id="{657927B1-3746-43E1-4662-0BAC42F50974}"/>
              </a:ext>
            </a:extLst>
          </p:cNvPr>
          <p:cNvSpPr/>
          <p:nvPr/>
        </p:nvSpPr>
        <p:spPr>
          <a:xfrm>
            <a:off x="870204" y="5622036"/>
            <a:ext cx="1069848" cy="192024"/>
          </a:xfrm>
          <a:prstGeom prst="rect">
            <a:avLst/>
          </a:prstGeom>
          <a:solidFill>
            <a:srgbClr val="F8FAFC"/>
          </a:solidFill>
          <a:ln w="10160">
            <a:solidFill>
              <a:srgbClr val="DAE5F0"/>
            </a:solidFill>
            <a:prstDash val="solid"/>
          </a:ln>
        </p:spPr>
      </p:sp>
      <p:sp>
        <p:nvSpPr>
          <p:cNvPr id="222" name="Text 95">
            <a:extLst>
              <a:ext uri="{FF2B5EF4-FFF2-40B4-BE49-F238E27FC236}">
                <a16:creationId xmlns:a16="http://schemas.microsoft.com/office/drawing/2014/main" id="{01EBDAD3-5D1A-B5DB-F849-49DDF8E95AC4}"/>
              </a:ext>
            </a:extLst>
          </p:cNvPr>
          <p:cNvSpPr/>
          <p:nvPr/>
        </p:nvSpPr>
        <p:spPr>
          <a:xfrm>
            <a:off x="943356" y="5626608"/>
            <a:ext cx="923544" cy="182880"/>
          </a:xfrm>
          <a:prstGeom prst="rect">
            <a:avLst/>
          </a:prstGeom>
          <a:noFill/>
          <a:ln/>
        </p:spPr>
        <p:txBody>
          <a:bodyPr wrap="square" lIns="0" tIns="0" rIns="0" bIns="0" rtlCol="0" anchor="ctr">
            <a:normAutofit/>
          </a:bodyPr>
          <a:lstStyle/>
          <a:p>
            <a:pPr marL="0" indent="0" algn="ctr">
              <a:buNone/>
            </a:pPr>
            <a:r>
              <a:rPr lang="en-US" sz="910" b="1" dirty="0">
                <a:solidFill>
                  <a:srgbClr val="142E52"/>
                </a:solidFill>
                <a:latin typeface="Microsoft YaHei" pitchFamily="34" charset="0"/>
                <a:ea typeface="Microsoft YaHei" pitchFamily="34" charset="-122"/>
                <a:cs typeface="Microsoft YaHei" pitchFamily="34" charset="-120"/>
              </a:rPr>
              <a:t>Rank 3</a:t>
            </a:r>
            <a:endParaRPr lang="en-US" sz="910" dirty="0"/>
          </a:p>
        </p:txBody>
      </p:sp>
      <p:sp>
        <p:nvSpPr>
          <p:cNvPr id="223" name="Shape 96">
            <a:extLst>
              <a:ext uri="{FF2B5EF4-FFF2-40B4-BE49-F238E27FC236}">
                <a16:creationId xmlns:a16="http://schemas.microsoft.com/office/drawing/2014/main" id="{B01D4091-43D7-0338-3024-6832EF40271F}"/>
              </a:ext>
            </a:extLst>
          </p:cNvPr>
          <p:cNvSpPr/>
          <p:nvPr/>
        </p:nvSpPr>
        <p:spPr>
          <a:xfrm>
            <a:off x="1940052" y="5622036"/>
            <a:ext cx="2487168" cy="192024"/>
          </a:xfrm>
          <a:prstGeom prst="rect">
            <a:avLst/>
          </a:prstGeom>
          <a:solidFill>
            <a:srgbClr val="F8FAFC"/>
          </a:solidFill>
          <a:ln w="10160">
            <a:solidFill>
              <a:srgbClr val="DAE5F0"/>
            </a:solidFill>
            <a:prstDash val="solid"/>
          </a:ln>
        </p:spPr>
      </p:sp>
      <p:sp>
        <p:nvSpPr>
          <p:cNvPr id="224" name="Text 97">
            <a:extLst>
              <a:ext uri="{FF2B5EF4-FFF2-40B4-BE49-F238E27FC236}">
                <a16:creationId xmlns:a16="http://schemas.microsoft.com/office/drawing/2014/main" id="{826010C9-2AF6-6F64-217A-1CE92F0C625D}"/>
              </a:ext>
            </a:extLst>
          </p:cNvPr>
          <p:cNvSpPr/>
          <p:nvPr/>
        </p:nvSpPr>
        <p:spPr>
          <a:xfrm>
            <a:off x="2013204" y="5626608"/>
            <a:ext cx="2340864" cy="182880"/>
          </a:xfrm>
          <a:prstGeom prst="rect">
            <a:avLst/>
          </a:prstGeom>
          <a:noFill/>
          <a:ln/>
        </p:spPr>
        <p:txBody>
          <a:bodyPr wrap="square" lIns="0" tIns="0" rIns="0" bIns="0" rtlCol="0" anchor="ctr">
            <a:normAutofit/>
          </a:bodyPr>
          <a:lstStyle/>
          <a:p>
            <a:pPr marL="0" indent="0" algn="l">
              <a:buNone/>
            </a:pPr>
            <a:r>
              <a:rPr lang="en-US" sz="910" dirty="0">
                <a:solidFill>
                  <a:srgbClr val="142E52"/>
                </a:solidFill>
                <a:latin typeface="Microsoft YaHei" pitchFamily="34" charset="0"/>
                <a:ea typeface="Microsoft YaHei" pitchFamily="34" charset="-122"/>
                <a:cs typeface="Microsoft YaHei" pitchFamily="34" charset="-120"/>
              </a:rPr>
              <a:t>[1584, 2112)</a:t>
            </a:r>
            <a:endParaRPr lang="en-US" sz="910" dirty="0"/>
          </a:p>
        </p:txBody>
      </p:sp>
      <p:sp>
        <p:nvSpPr>
          <p:cNvPr id="225" name="Shape 98">
            <a:extLst>
              <a:ext uri="{FF2B5EF4-FFF2-40B4-BE49-F238E27FC236}">
                <a16:creationId xmlns:a16="http://schemas.microsoft.com/office/drawing/2014/main" id="{181ED3CC-AE11-5207-3072-BF0D20C14978}"/>
              </a:ext>
            </a:extLst>
          </p:cNvPr>
          <p:cNvSpPr/>
          <p:nvPr/>
        </p:nvSpPr>
        <p:spPr>
          <a:xfrm>
            <a:off x="4427220" y="5622036"/>
            <a:ext cx="2688336" cy="192024"/>
          </a:xfrm>
          <a:prstGeom prst="rect">
            <a:avLst/>
          </a:prstGeom>
          <a:solidFill>
            <a:srgbClr val="E7F7F0"/>
          </a:solidFill>
          <a:ln w="10160">
            <a:solidFill>
              <a:srgbClr val="DAE5F0"/>
            </a:solidFill>
            <a:prstDash val="solid"/>
          </a:ln>
        </p:spPr>
      </p:sp>
      <p:sp>
        <p:nvSpPr>
          <p:cNvPr id="226" name="Text 99">
            <a:extLst>
              <a:ext uri="{FF2B5EF4-FFF2-40B4-BE49-F238E27FC236}">
                <a16:creationId xmlns:a16="http://schemas.microsoft.com/office/drawing/2014/main" id="{0449C902-F1C0-8708-F035-E7A84FA9ACA3}"/>
              </a:ext>
            </a:extLst>
          </p:cNvPr>
          <p:cNvSpPr/>
          <p:nvPr/>
        </p:nvSpPr>
        <p:spPr>
          <a:xfrm>
            <a:off x="4500372" y="5626608"/>
            <a:ext cx="2542032" cy="182880"/>
          </a:xfrm>
          <a:prstGeom prst="rect">
            <a:avLst/>
          </a:prstGeom>
          <a:noFill/>
          <a:ln/>
        </p:spPr>
        <p:txBody>
          <a:bodyPr wrap="square" lIns="0" tIns="0" rIns="0" bIns="0" rtlCol="0" anchor="ctr">
            <a:normAutofit/>
          </a:bodyPr>
          <a:lstStyle/>
          <a:p>
            <a:pPr marL="0" indent="0" algn="l">
              <a:buNone/>
            </a:pPr>
            <a:r>
              <a:rPr lang="en-US" sz="910" b="1" dirty="0">
                <a:solidFill>
                  <a:srgbClr val="16855A"/>
                </a:solidFill>
                <a:latin typeface="Microsoft YaHei" pitchFamily="34" charset="0"/>
                <a:ea typeface="Microsoft YaHei" pitchFamily="34" charset="-122"/>
                <a:cs typeface="Microsoft YaHei" pitchFamily="34" charset="-120"/>
              </a:rPr>
              <a:t>s[49:66]  ← 共享 s49</a:t>
            </a:r>
            <a:endParaRPr lang="en-US" sz="910" dirty="0"/>
          </a:p>
        </p:txBody>
      </p:sp>
      <p:sp>
        <p:nvSpPr>
          <p:cNvPr id="227" name="Shape 100">
            <a:extLst>
              <a:ext uri="{FF2B5EF4-FFF2-40B4-BE49-F238E27FC236}">
                <a16:creationId xmlns:a16="http://schemas.microsoft.com/office/drawing/2014/main" id="{E9B85A7C-784A-2C8A-072E-AA563010E233}"/>
              </a:ext>
            </a:extLst>
          </p:cNvPr>
          <p:cNvSpPr/>
          <p:nvPr/>
        </p:nvSpPr>
        <p:spPr>
          <a:xfrm>
            <a:off x="870204" y="5887904"/>
            <a:ext cx="6245352" cy="122752"/>
          </a:xfrm>
          <a:prstGeom prst="roundRect">
            <a:avLst/>
          </a:prstGeom>
          <a:solidFill>
            <a:srgbClr val="EAF3FE"/>
          </a:solidFill>
          <a:ln w="10160">
            <a:solidFill>
              <a:srgbClr val="EAF3FE"/>
            </a:solidFill>
            <a:prstDash val="solid"/>
          </a:ln>
        </p:spPr>
        <p:txBody>
          <a:bodyPr/>
          <a:lstStyle/>
          <a:p>
            <a:endParaRPr lang="zh-CN" altLang="en-US"/>
          </a:p>
        </p:txBody>
      </p:sp>
      <p:sp>
        <p:nvSpPr>
          <p:cNvPr id="228" name="Text 101">
            <a:extLst>
              <a:ext uri="{FF2B5EF4-FFF2-40B4-BE49-F238E27FC236}">
                <a16:creationId xmlns:a16="http://schemas.microsoft.com/office/drawing/2014/main" id="{95429ABC-F28D-6BAE-AA9A-0AD058953854}"/>
              </a:ext>
            </a:extLst>
          </p:cNvPr>
          <p:cNvSpPr/>
          <p:nvPr/>
        </p:nvSpPr>
        <p:spPr>
          <a:xfrm>
            <a:off x="989076" y="5859780"/>
            <a:ext cx="6181344" cy="137160"/>
          </a:xfrm>
          <a:prstGeom prst="rect">
            <a:avLst/>
          </a:prstGeom>
          <a:noFill/>
          <a:ln/>
        </p:spPr>
        <p:txBody>
          <a:bodyPr wrap="square" lIns="0" tIns="0" rIns="0" bIns="0" rtlCol="0" anchor="ctr">
            <a:normAutofit/>
          </a:bodyPr>
          <a:lstStyle/>
          <a:p>
            <a:pPr marL="0" indent="0" algn="l">
              <a:buNone/>
            </a:pPr>
            <a:r>
              <a:rPr lang="en-US" sz="860" b="1" dirty="0">
                <a:solidFill>
                  <a:srgbClr val="0B59AE"/>
                </a:solidFill>
                <a:latin typeface="Microsoft YaHei" pitchFamily="34" charset="0"/>
                <a:ea typeface="Microsoft YaHei" pitchFamily="34" charset="-122"/>
                <a:cs typeface="Microsoft YaHei" pitchFamily="34" charset="-120"/>
              </a:rPr>
              <a:t>关键：相邻 Rank 共享跨边界 scale；兼容完整权重与 pre-sharded checkpoint 的加载路径。</a:t>
            </a:r>
            <a:endParaRPr lang="en-US" sz="860" dirty="0"/>
          </a:p>
        </p:txBody>
      </p:sp>
      <p:sp>
        <p:nvSpPr>
          <p:cNvPr id="229" name="Shape 102">
            <a:extLst>
              <a:ext uri="{FF2B5EF4-FFF2-40B4-BE49-F238E27FC236}">
                <a16:creationId xmlns:a16="http://schemas.microsoft.com/office/drawing/2014/main" id="{51F3ECD3-68F0-B1EA-EEDA-89409B829273}"/>
              </a:ext>
            </a:extLst>
          </p:cNvPr>
          <p:cNvSpPr/>
          <p:nvPr/>
        </p:nvSpPr>
        <p:spPr>
          <a:xfrm>
            <a:off x="7845552" y="4178808"/>
            <a:ext cx="201168" cy="201168"/>
          </a:xfrm>
          <a:prstGeom prst="ellipse">
            <a:avLst/>
          </a:prstGeom>
          <a:solidFill>
            <a:srgbClr val="16855A"/>
          </a:solidFill>
          <a:ln w="10160">
            <a:solidFill>
              <a:srgbClr val="16855A"/>
            </a:solidFill>
            <a:prstDash val="solid"/>
          </a:ln>
        </p:spPr>
      </p:sp>
      <p:sp>
        <p:nvSpPr>
          <p:cNvPr id="230" name="Text 103">
            <a:extLst>
              <a:ext uri="{FF2B5EF4-FFF2-40B4-BE49-F238E27FC236}">
                <a16:creationId xmlns:a16="http://schemas.microsoft.com/office/drawing/2014/main" id="{B40B849E-212D-B04C-7DF1-26C7D23033C9}"/>
              </a:ext>
            </a:extLst>
          </p:cNvPr>
          <p:cNvSpPr/>
          <p:nvPr/>
        </p:nvSpPr>
        <p:spPr>
          <a:xfrm>
            <a:off x="7872984" y="4178808"/>
            <a:ext cx="155448" cy="173736"/>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Microsoft YaHei" pitchFamily="34" charset="0"/>
                <a:ea typeface="Microsoft YaHei" pitchFamily="34" charset="-122"/>
                <a:cs typeface="Microsoft YaHei" pitchFamily="34" charset="-120"/>
              </a:rPr>
              <a:t>✓</a:t>
            </a:r>
            <a:endParaRPr lang="en-US" sz="1020" dirty="0"/>
          </a:p>
        </p:txBody>
      </p:sp>
      <p:sp>
        <p:nvSpPr>
          <p:cNvPr id="231" name="Text 104">
            <a:extLst>
              <a:ext uri="{FF2B5EF4-FFF2-40B4-BE49-F238E27FC236}">
                <a16:creationId xmlns:a16="http://schemas.microsoft.com/office/drawing/2014/main" id="{0337C626-A0F3-3005-F476-D587F68D2A15}"/>
              </a:ext>
            </a:extLst>
          </p:cNvPr>
          <p:cNvSpPr/>
          <p:nvPr/>
        </p:nvSpPr>
        <p:spPr>
          <a:xfrm>
            <a:off x="8174736" y="4096512"/>
            <a:ext cx="3227832" cy="210312"/>
          </a:xfrm>
          <a:prstGeom prst="rect">
            <a:avLst/>
          </a:prstGeom>
          <a:noFill/>
          <a:ln/>
        </p:spPr>
        <p:txBody>
          <a:bodyPr wrap="square" lIns="0" tIns="0" rIns="0" bIns="0" rtlCol="0" anchor="ctr">
            <a:normAutofit/>
          </a:bodyPr>
          <a:lstStyle/>
          <a:p>
            <a:pPr marL="0" indent="0" algn="l">
              <a:buNone/>
            </a:pPr>
            <a:r>
              <a:rPr lang="en-US" sz="1180" b="1" dirty="0">
                <a:solidFill>
                  <a:srgbClr val="16855A"/>
                </a:solidFill>
                <a:latin typeface="Microsoft YaHei" pitchFamily="34" charset="0"/>
                <a:ea typeface="Microsoft YaHei" pitchFamily="34" charset="-122"/>
                <a:cs typeface="Microsoft YaHei" pitchFamily="34" charset="-120"/>
              </a:rPr>
              <a:t>Scale 映射正确</a:t>
            </a:r>
            <a:endParaRPr lang="en-US" sz="1180" dirty="0"/>
          </a:p>
        </p:txBody>
      </p:sp>
      <p:sp>
        <p:nvSpPr>
          <p:cNvPr id="232" name="Text 105">
            <a:extLst>
              <a:ext uri="{FF2B5EF4-FFF2-40B4-BE49-F238E27FC236}">
                <a16:creationId xmlns:a16="http://schemas.microsoft.com/office/drawing/2014/main" id="{8BE423CB-EEEB-5A69-4E5E-CFF186601294}"/>
              </a:ext>
            </a:extLst>
          </p:cNvPr>
          <p:cNvSpPr/>
          <p:nvPr/>
        </p:nvSpPr>
        <p:spPr>
          <a:xfrm>
            <a:off x="8174736" y="4343400"/>
            <a:ext cx="3182112" cy="292608"/>
          </a:xfrm>
          <a:prstGeom prst="rect">
            <a:avLst/>
          </a:prstGeom>
          <a:noFill/>
          <a:ln/>
        </p:spPr>
        <p:txBody>
          <a:bodyPr wrap="square" lIns="0" tIns="0" rIns="0" bIns="0" rtlCol="0" anchor="t">
            <a:normAutofit lnSpcReduction="10000"/>
          </a:bodyPr>
          <a:lstStyle/>
          <a:p>
            <a:pPr marL="0" indent="0" algn="l">
              <a:buNone/>
            </a:pPr>
            <a:r>
              <a:rPr lang="en-US" sz="970" dirty="0">
                <a:solidFill>
                  <a:srgbClr val="142E52"/>
                </a:solidFill>
                <a:latin typeface="Microsoft YaHei" pitchFamily="34" charset="0"/>
                <a:ea typeface="Microsoft YaHei" pitchFamily="34" charset="-122"/>
                <a:cs typeface="Microsoft YaHei" pitchFamily="34" charset="-120"/>
              </a:rPr>
              <a:t>每个 TP Rank 按全局量化组索引加载，避免跨组 scale 错位。</a:t>
            </a:r>
            <a:endParaRPr lang="en-US" sz="970" dirty="0"/>
          </a:p>
        </p:txBody>
      </p:sp>
      <p:sp>
        <p:nvSpPr>
          <p:cNvPr id="233" name="Shape 106">
            <a:extLst>
              <a:ext uri="{FF2B5EF4-FFF2-40B4-BE49-F238E27FC236}">
                <a16:creationId xmlns:a16="http://schemas.microsoft.com/office/drawing/2014/main" id="{4F8397D4-D569-2FFA-B32B-4E0324D6C946}"/>
              </a:ext>
            </a:extLst>
          </p:cNvPr>
          <p:cNvSpPr/>
          <p:nvPr/>
        </p:nvSpPr>
        <p:spPr>
          <a:xfrm>
            <a:off x="7845552" y="4736592"/>
            <a:ext cx="201168" cy="201168"/>
          </a:xfrm>
          <a:prstGeom prst="ellipse">
            <a:avLst/>
          </a:prstGeom>
          <a:solidFill>
            <a:srgbClr val="16855A"/>
          </a:solidFill>
          <a:ln w="10160">
            <a:solidFill>
              <a:srgbClr val="16855A"/>
            </a:solidFill>
            <a:prstDash val="solid"/>
          </a:ln>
        </p:spPr>
      </p:sp>
      <p:sp>
        <p:nvSpPr>
          <p:cNvPr id="234" name="Text 107">
            <a:extLst>
              <a:ext uri="{FF2B5EF4-FFF2-40B4-BE49-F238E27FC236}">
                <a16:creationId xmlns:a16="http://schemas.microsoft.com/office/drawing/2014/main" id="{35293674-3201-3ECD-7C85-D860DB5F3092}"/>
              </a:ext>
            </a:extLst>
          </p:cNvPr>
          <p:cNvSpPr/>
          <p:nvPr/>
        </p:nvSpPr>
        <p:spPr>
          <a:xfrm>
            <a:off x="7872984" y="4736592"/>
            <a:ext cx="155448" cy="173736"/>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Microsoft YaHei" pitchFamily="34" charset="0"/>
                <a:ea typeface="Microsoft YaHei" pitchFamily="34" charset="-122"/>
                <a:cs typeface="Microsoft YaHei" pitchFamily="34" charset="-120"/>
              </a:rPr>
              <a:t>✓</a:t>
            </a:r>
            <a:endParaRPr lang="en-US" sz="1020" dirty="0"/>
          </a:p>
        </p:txBody>
      </p:sp>
      <p:sp>
        <p:nvSpPr>
          <p:cNvPr id="235" name="Text 108">
            <a:extLst>
              <a:ext uri="{FF2B5EF4-FFF2-40B4-BE49-F238E27FC236}">
                <a16:creationId xmlns:a16="http://schemas.microsoft.com/office/drawing/2014/main" id="{5975FD7C-DF72-C6E7-67D5-D598E26297AD}"/>
              </a:ext>
            </a:extLst>
          </p:cNvPr>
          <p:cNvSpPr/>
          <p:nvPr/>
        </p:nvSpPr>
        <p:spPr>
          <a:xfrm>
            <a:off x="8174736" y="4654296"/>
            <a:ext cx="3227832" cy="210312"/>
          </a:xfrm>
          <a:prstGeom prst="rect">
            <a:avLst/>
          </a:prstGeom>
          <a:noFill/>
          <a:ln/>
        </p:spPr>
        <p:txBody>
          <a:bodyPr wrap="square" lIns="0" tIns="0" rIns="0" bIns="0" rtlCol="0" anchor="ctr">
            <a:normAutofit/>
          </a:bodyPr>
          <a:lstStyle/>
          <a:p>
            <a:pPr marL="0" indent="0" algn="l">
              <a:buNone/>
            </a:pPr>
            <a:r>
              <a:rPr lang="en-US" sz="1180" b="1" dirty="0">
                <a:solidFill>
                  <a:srgbClr val="16855A"/>
                </a:solidFill>
                <a:latin typeface="Microsoft YaHei" pitchFamily="34" charset="0"/>
                <a:ea typeface="Microsoft YaHei" pitchFamily="34" charset="-122"/>
                <a:cs typeface="Microsoft YaHei" pitchFamily="34" charset="-120"/>
              </a:rPr>
              <a:t>覆盖多种 TP 配置</a:t>
            </a:r>
            <a:endParaRPr lang="en-US" sz="1180" dirty="0"/>
          </a:p>
        </p:txBody>
      </p:sp>
      <p:sp>
        <p:nvSpPr>
          <p:cNvPr id="236" name="Text 109">
            <a:extLst>
              <a:ext uri="{FF2B5EF4-FFF2-40B4-BE49-F238E27FC236}">
                <a16:creationId xmlns:a16="http://schemas.microsoft.com/office/drawing/2014/main" id="{85E1E380-B4CA-3976-6394-EFD5C4D18F05}"/>
              </a:ext>
            </a:extLst>
          </p:cNvPr>
          <p:cNvSpPr/>
          <p:nvPr/>
        </p:nvSpPr>
        <p:spPr>
          <a:xfrm>
            <a:off x="8174736" y="4901184"/>
            <a:ext cx="3182112" cy="292608"/>
          </a:xfrm>
          <a:prstGeom prst="rect">
            <a:avLst/>
          </a:prstGeom>
          <a:noFill/>
          <a:ln/>
        </p:spPr>
        <p:txBody>
          <a:bodyPr wrap="square" lIns="0" tIns="0" rIns="0" bIns="0" rtlCol="0" anchor="t">
            <a:normAutofit lnSpcReduction="10000"/>
          </a:bodyPr>
          <a:lstStyle/>
          <a:p>
            <a:pPr marL="0" indent="0" algn="l">
              <a:buNone/>
            </a:pPr>
            <a:r>
              <a:rPr lang="en-US" sz="970" dirty="0">
                <a:solidFill>
                  <a:srgbClr val="142E52"/>
                </a:solidFill>
                <a:latin typeface="Microsoft YaHei" pitchFamily="34" charset="0"/>
                <a:ea typeface="Microsoft YaHei" pitchFamily="34" charset="-122"/>
                <a:cs typeface="Microsoft YaHei" pitchFamily="34" charset="-120"/>
              </a:rPr>
              <a:t>修复 TP=1/2/4 场景，并兼容两类 checkpoint 加载路径。</a:t>
            </a:r>
            <a:endParaRPr lang="en-US" sz="970" dirty="0"/>
          </a:p>
        </p:txBody>
      </p:sp>
      <p:sp>
        <p:nvSpPr>
          <p:cNvPr id="237" name="Shape 110">
            <a:extLst>
              <a:ext uri="{FF2B5EF4-FFF2-40B4-BE49-F238E27FC236}">
                <a16:creationId xmlns:a16="http://schemas.microsoft.com/office/drawing/2014/main" id="{1879EA70-C8DF-9111-BDB9-DAF9D53A6FCC}"/>
              </a:ext>
            </a:extLst>
          </p:cNvPr>
          <p:cNvSpPr/>
          <p:nvPr/>
        </p:nvSpPr>
        <p:spPr>
          <a:xfrm>
            <a:off x="7845552" y="5294376"/>
            <a:ext cx="201168" cy="201168"/>
          </a:xfrm>
          <a:prstGeom prst="ellipse">
            <a:avLst/>
          </a:prstGeom>
          <a:solidFill>
            <a:srgbClr val="16855A"/>
          </a:solidFill>
          <a:ln w="10160">
            <a:solidFill>
              <a:srgbClr val="16855A"/>
            </a:solidFill>
            <a:prstDash val="solid"/>
          </a:ln>
        </p:spPr>
      </p:sp>
      <p:sp>
        <p:nvSpPr>
          <p:cNvPr id="238" name="Text 111">
            <a:extLst>
              <a:ext uri="{FF2B5EF4-FFF2-40B4-BE49-F238E27FC236}">
                <a16:creationId xmlns:a16="http://schemas.microsoft.com/office/drawing/2014/main" id="{14455DB8-AF95-6F9A-3EFA-042D18ED604B}"/>
              </a:ext>
            </a:extLst>
          </p:cNvPr>
          <p:cNvSpPr/>
          <p:nvPr/>
        </p:nvSpPr>
        <p:spPr>
          <a:xfrm>
            <a:off x="7872984" y="5294376"/>
            <a:ext cx="155448" cy="173736"/>
          </a:xfrm>
          <a:prstGeom prst="rect">
            <a:avLst/>
          </a:prstGeom>
          <a:noFill/>
          <a:ln/>
        </p:spPr>
        <p:txBody>
          <a:bodyPr wrap="square" lIns="0" tIns="0" rIns="0" bIns="0" rtlCol="0" anchor="ctr">
            <a:normAutofit/>
          </a:bodyPr>
          <a:lstStyle/>
          <a:p>
            <a:pPr marL="0" indent="0" algn="ctr">
              <a:buNone/>
            </a:pPr>
            <a:r>
              <a:rPr lang="en-US" sz="1020" b="1" dirty="0">
                <a:solidFill>
                  <a:srgbClr val="FFFFFF"/>
                </a:solidFill>
                <a:latin typeface="Microsoft YaHei" pitchFamily="34" charset="0"/>
                <a:ea typeface="Microsoft YaHei" pitchFamily="34" charset="-122"/>
                <a:cs typeface="Microsoft YaHei" pitchFamily="34" charset="-120"/>
              </a:rPr>
              <a:t>✓</a:t>
            </a:r>
            <a:endParaRPr lang="en-US" sz="1020" dirty="0"/>
          </a:p>
        </p:txBody>
      </p:sp>
      <p:sp>
        <p:nvSpPr>
          <p:cNvPr id="239" name="Text 112">
            <a:extLst>
              <a:ext uri="{FF2B5EF4-FFF2-40B4-BE49-F238E27FC236}">
                <a16:creationId xmlns:a16="http://schemas.microsoft.com/office/drawing/2014/main" id="{4A086B9A-14D1-C75A-6034-91026B3ED0F4}"/>
              </a:ext>
            </a:extLst>
          </p:cNvPr>
          <p:cNvSpPr/>
          <p:nvPr/>
        </p:nvSpPr>
        <p:spPr>
          <a:xfrm>
            <a:off x="8174736" y="5212080"/>
            <a:ext cx="3227832" cy="210312"/>
          </a:xfrm>
          <a:prstGeom prst="rect">
            <a:avLst/>
          </a:prstGeom>
          <a:noFill/>
          <a:ln/>
        </p:spPr>
        <p:txBody>
          <a:bodyPr wrap="square" lIns="0" tIns="0" rIns="0" bIns="0" rtlCol="0" anchor="ctr">
            <a:normAutofit/>
          </a:bodyPr>
          <a:lstStyle/>
          <a:p>
            <a:pPr marL="0" indent="0" algn="l">
              <a:buNone/>
            </a:pPr>
            <a:r>
              <a:rPr lang="en-US" sz="1180" b="1" dirty="0">
                <a:solidFill>
                  <a:srgbClr val="16855A"/>
                </a:solidFill>
                <a:latin typeface="Microsoft YaHei" pitchFamily="34" charset="0"/>
                <a:ea typeface="Microsoft YaHei" pitchFamily="34" charset="-122"/>
                <a:cs typeface="Microsoft YaHei" pitchFamily="34" charset="-120"/>
              </a:rPr>
              <a:t>完善回归测试</a:t>
            </a:r>
            <a:endParaRPr lang="en-US" sz="1180" dirty="0"/>
          </a:p>
        </p:txBody>
      </p:sp>
      <p:sp>
        <p:nvSpPr>
          <p:cNvPr id="240" name="Text 113">
            <a:extLst>
              <a:ext uri="{FF2B5EF4-FFF2-40B4-BE49-F238E27FC236}">
                <a16:creationId xmlns:a16="http://schemas.microsoft.com/office/drawing/2014/main" id="{63C2F754-8DF9-24CF-3022-FD938BD66065}"/>
              </a:ext>
            </a:extLst>
          </p:cNvPr>
          <p:cNvSpPr/>
          <p:nvPr/>
        </p:nvSpPr>
        <p:spPr>
          <a:xfrm>
            <a:off x="8174736" y="5458968"/>
            <a:ext cx="3182112" cy="292608"/>
          </a:xfrm>
          <a:prstGeom prst="rect">
            <a:avLst/>
          </a:prstGeom>
          <a:noFill/>
          <a:ln/>
        </p:spPr>
        <p:txBody>
          <a:bodyPr wrap="square" lIns="0" tIns="0" rIns="0" bIns="0" rtlCol="0" anchor="t">
            <a:normAutofit/>
          </a:bodyPr>
          <a:lstStyle/>
          <a:p>
            <a:pPr marL="0" indent="0" algn="l">
              <a:buNone/>
            </a:pPr>
            <a:r>
              <a:rPr lang="en-US" sz="970" dirty="0">
                <a:solidFill>
                  <a:srgbClr val="142E52"/>
                </a:solidFill>
                <a:latin typeface="Microsoft YaHei" pitchFamily="34" charset="0"/>
                <a:ea typeface="Microsoft YaHei" pitchFamily="34" charset="-122"/>
                <a:cs typeface="Microsoft YaHei" pitchFamily="34" charset="-120"/>
              </a:rPr>
              <a:t>补充 CPU 单元测试，覆盖非对齐切分与共享 scale。</a:t>
            </a:r>
            <a:endParaRPr lang="en-US" sz="970" dirty="0"/>
          </a:p>
        </p:txBody>
      </p:sp>
      <p:sp>
        <p:nvSpPr>
          <p:cNvPr id="241" name="Shape 114">
            <a:extLst>
              <a:ext uri="{FF2B5EF4-FFF2-40B4-BE49-F238E27FC236}">
                <a16:creationId xmlns:a16="http://schemas.microsoft.com/office/drawing/2014/main" id="{C7D56EA0-2F88-B9D2-31DE-A20F401672E2}"/>
              </a:ext>
            </a:extLst>
          </p:cNvPr>
          <p:cNvSpPr/>
          <p:nvPr/>
        </p:nvSpPr>
        <p:spPr>
          <a:xfrm>
            <a:off x="7799832" y="5733288"/>
            <a:ext cx="3575304" cy="228600"/>
          </a:xfrm>
          <a:prstGeom prst="roundRect">
            <a:avLst/>
          </a:prstGeom>
          <a:solidFill>
            <a:srgbClr val="EBF8F1"/>
          </a:solidFill>
          <a:ln w="10160">
            <a:solidFill>
              <a:srgbClr val="BFDEC8"/>
            </a:solidFill>
            <a:prstDash val="solid"/>
          </a:ln>
        </p:spPr>
      </p:sp>
      <p:sp>
        <p:nvSpPr>
          <p:cNvPr id="242" name="Text 115">
            <a:extLst>
              <a:ext uri="{FF2B5EF4-FFF2-40B4-BE49-F238E27FC236}">
                <a16:creationId xmlns:a16="http://schemas.microsoft.com/office/drawing/2014/main" id="{3958F140-C78B-6984-FE0D-640E978165B4}"/>
              </a:ext>
            </a:extLst>
          </p:cNvPr>
          <p:cNvSpPr/>
          <p:nvPr/>
        </p:nvSpPr>
        <p:spPr>
          <a:xfrm>
            <a:off x="7891272" y="5751576"/>
            <a:ext cx="3392424" cy="182880"/>
          </a:xfrm>
          <a:prstGeom prst="rect">
            <a:avLst/>
          </a:prstGeom>
          <a:noFill/>
          <a:ln/>
        </p:spPr>
        <p:txBody>
          <a:bodyPr wrap="square" lIns="0" tIns="0" rIns="0" bIns="0" rtlCol="0" anchor="ctr">
            <a:normAutofit/>
          </a:bodyPr>
          <a:lstStyle/>
          <a:p>
            <a:pPr marL="0" indent="0" algn="ctr">
              <a:buNone/>
            </a:pPr>
            <a:r>
              <a:rPr lang="en-US" sz="940" b="1" dirty="0">
                <a:solidFill>
                  <a:srgbClr val="16855A"/>
                </a:solidFill>
                <a:latin typeface="Microsoft YaHei" pitchFamily="34" charset="0"/>
                <a:ea typeface="Microsoft YaHei" pitchFamily="34" charset="-122"/>
                <a:cs typeface="Microsoft YaHei" pitchFamily="34" charset="-120"/>
              </a:rPr>
              <a:t>开源交付：vLLM-Ascend PR #16110</a:t>
            </a:r>
            <a:endParaRPr lang="en-US" sz="940" dirty="0"/>
          </a:p>
        </p:txBody>
      </p:sp>
      <p:sp>
        <p:nvSpPr>
          <p:cNvPr id="243" name="Shape 116">
            <a:extLst>
              <a:ext uri="{FF2B5EF4-FFF2-40B4-BE49-F238E27FC236}">
                <a16:creationId xmlns:a16="http://schemas.microsoft.com/office/drawing/2014/main" id="{E13B25A6-F84E-A027-93EB-2F2A42DE2D1C}"/>
              </a:ext>
            </a:extLst>
          </p:cNvPr>
          <p:cNvSpPr/>
          <p:nvPr/>
        </p:nvSpPr>
        <p:spPr>
          <a:xfrm>
            <a:off x="484632" y="6217920"/>
            <a:ext cx="11201400" cy="365760"/>
          </a:xfrm>
          <a:prstGeom prst="roundRect">
            <a:avLst/>
          </a:prstGeom>
          <a:solidFill>
            <a:srgbClr val="EAF3FE"/>
          </a:solidFill>
          <a:ln w="10160">
            <a:solidFill>
              <a:srgbClr val="D4E5F7"/>
            </a:solidFill>
            <a:prstDash val="solid"/>
          </a:ln>
        </p:spPr>
      </p:sp>
      <p:sp>
        <p:nvSpPr>
          <p:cNvPr id="244" name="Shape 117">
            <a:extLst>
              <a:ext uri="{FF2B5EF4-FFF2-40B4-BE49-F238E27FC236}">
                <a16:creationId xmlns:a16="http://schemas.microsoft.com/office/drawing/2014/main" id="{85F4B013-0091-03AD-6D60-6F421734BEB2}"/>
              </a:ext>
            </a:extLst>
          </p:cNvPr>
          <p:cNvSpPr/>
          <p:nvPr/>
        </p:nvSpPr>
        <p:spPr>
          <a:xfrm>
            <a:off x="640080" y="6288329"/>
            <a:ext cx="219456" cy="219456"/>
          </a:xfrm>
          <a:prstGeom prst="ellipse">
            <a:avLst/>
          </a:prstGeom>
          <a:solidFill>
            <a:srgbClr val="1674C8"/>
          </a:solidFill>
          <a:ln w="10160">
            <a:solidFill>
              <a:srgbClr val="1674C8"/>
            </a:solidFill>
            <a:prstDash val="solid"/>
          </a:ln>
        </p:spPr>
      </p:sp>
      <p:sp>
        <p:nvSpPr>
          <p:cNvPr id="245" name="Text 118">
            <a:extLst>
              <a:ext uri="{FF2B5EF4-FFF2-40B4-BE49-F238E27FC236}">
                <a16:creationId xmlns:a16="http://schemas.microsoft.com/office/drawing/2014/main" id="{0C40F28D-C83B-9FE1-4A4C-74B0D88C5272}"/>
              </a:ext>
            </a:extLst>
          </p:cNvPr>
          <p:cNvSpPr/>
          <p:nvPr/>
        </p:nvSpPr>
        <p:spPr>
          <a:xfrm>
            <a:off x="668426" y="6294730"/>
            <a:ext cx="164592" cy="164592"/>
          </a:xfrm>
          <a:prstGeom prst="rect">
            <a:avLst/>
          </a:prstGeom>
          <a:noFill/>
          <a:ln/>
        </p:spPr>
        <p:txBody>
          <a:bodyPr wrap="square" lIns="0" tIns="0" rIns="0" bIns="0" rtlCol="0" anchor="ctr">
            <a:normAutofit/>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a:t>
            </a:r>
            <a:endParaRPr lang="en-US" sz="900" dirty="0"/>
          </a:p>
        </p:txBody>
      </p:sp>
      <p:sp>
        <p:nvSpPr>
          <p:cNvPr id="246" name="Text 119">
            <a:extLst>
              <a:ext uri="{FF2B5EF4-FFF2-40B4-BE49-F238E27FC236}">
                <a16:creationId xmlns:a16="http://schemas.microsoft.com/office/drawing/2014/main" id="{480D3154-7BDA-D2AA-A710-CC9277EA3676}"/>
              </a:ext>
            </a:extLst>
          </p:cNvPr>
          <p:cNvSpPr/>
          <p:nvPr/>
        </p:nvSpPr>
        <p:spPr>
          <a:xfrm>
            <a:off x="950976" y="6263640"/>
            <a:ext cx="10561320" cy="256032"/>
          </a:xfrm>
          <a:prstGeom prst="rect">
            <a:avLst/>
          </a:prstGeom>
          <a:noFill/>
          <a:ln/>
        </p:spPr>
        <p:txBody>
          <a:bodyPr wrap="square" lIns="0" tIns="0" rIns="0" bIns="0" rtlCol="0" anchor="ctr">
            <a:normAutofit/>
          </a:bodyPr>
          <a:lstStyle/>
          <a:p>
            <a:pPr marL="0" indent="0" algn="l">
              <a:buNone/>
            </a:pPr>
            <a:r>
              <a:rPr lang="en-US" sz="1240" b="1">
                <a:solidFill>
                  <a:srgbClr val="0B59AE"/>
                </a:solidFill>
                <a:latin typeface="Microsoft YaHei" pitchFamily="34" charset="0"/>
                <a:ea typeface="Microsoft YaHei" pitchFamily="34" charset="-122"/>
                <a:cs typeface="Microsoft YaHei" pitchFamily="34" charset="-120"/>
              </a:rPr>
              <a:t>亮点</a:t>
            </a:r>
            <a:r>
              <a:rPr lang="en-US" sz="1240" b="1" dirty="0">
                <a:solidFill>
                  <a:srgbClr val="0B59AE"/>
                </a:solidFill>
                <a:latin typeface="Microsoft YaHei" pitchFamily="34" charset="0"/>
                <a:ea typeface="Microsoft YaHei" pitchFamily="34" charset="-122"/>
                <a:cs typeface="Microsoft YaHei" pitchFamily="34" charset="-120"/>
              </a:rPr>
              <a:t>：TP 切分的是权重元素；scale 必须根据全局 group phase 精确取值，不能简单按 Rank 平均分片。</a:t>
            </a:r>
            <a:endParaRPr lang="en-US" sz="1240" dirty="0"/>
          </a:p>
        </p:txBody>
      </p:sp>
      <p:sp>
        <p:nvSpPr>
          <p:cNvPr id="247" name="Text 120">
            <a:extLst>
              <a:ext uri="{FF2B5EF4-FFF2-40B4-BE49-F238E27FC236}">
                <a16:creationId xmlns:a16="http://schemas.microsoft.com/office/drawing/2014/main" id="{B34A53D2-AD79-41E7-58F6-D7DC2E8787BA}"/>
              </a:ext>
            </a:extLst>
          </p:cNvPr>
          <p:cNvSpPr/>
          <p:nvPr/>
        </p:nvSpPr>
        <p:spPr>
          <a:xfrm>
            <a:off x="521208" y="6647688"/>
            <a:ext cx="9601200" cy="146304"/>
          </a:xfrm>
          <a:prstGeom prst="rect">
            <a:avLst/>
          </a:prstGeom>
          <a:noFill/>
          <a:ln/>
        </p:spPr>
        <p:txBody>
          <a:bodyPr wrap="square" lIns="0" tIns="0" rIns="0" bIns="0" rtlCol="0" anchor="ctr">
            <a:normAutofit/>
          </a:bodyPr>
          <a:lstStyle/>
          <a:p>
            <a:pPr marL="0" indent="0" algn="l">
              <a:buNone/>
            </a:pPr>
            <a:r>
              <a:rPr lang="en-US" sz="810" dirty="0">
                <a:solidFill>
                  <a:srgbClr val="627794"/>
                </a:solidFill>
                <a:latin typeface="Microsoft YaHei" pitchFamily="34" charset="0"/>
                <a:ea typeface="Microsoft YaHei" pitchFamily="34" charset="-122"/>
                <a:cs typeface="Microsoft YaHei" pitchFamily="34" charset="-120"/>
              </a:rPr>
              <a:t>vLLM-Ascend / Gemma4 MoE / MXFP4 / TP Scale Loader</a:t>
            </a:r>
            <a:endParaRPr lang="en-US" sz="810" dirty="0"/>
          </a:p>
        </p:txBody>
      </p:sp>
      <p:sp>
        <p:nvSpPr>
          <p:cNvPr id="248" name="Text 121">
            <a:extLst>
              <a:ext uri="{FF2B5EF4-FFF2-40B4-BE49-F238E27FC236}">
                <a16:creationId xmlns:a16="http://schemas.microsoft.com/office/drawing/2014/main" id="{D040CE50-C400-BBB3-4069-959E7CED3B1C}"/>
              </a:ext>
            </a:extLst>
          </p:cNvPr>
          <p:cNvSpPr/>
          <p:nvPr/>
        </p:nvSpPr>
        <p:spPr>
          <a:xfrm>
            <a:off x="11201400" y="6601968"/>
            <a:ext cx="310896" cy="182880"/>
          </a:xfrm>
          <a:prstGeom prst="rect">
            <a:avLst/>
          </a:prstGeom>
          <a:noFill/>
          <a:ln/>
        </p:spPr>
        <p:txBody>
          <a:bodyPr wrap="square" lIns="0" tIns="0" rIns="0" bIns="0" rtlCol="0" anchor="ctr">
            <a:normAutofit/>
          </a:bodyPr>
          <a:lstStyle/>
          <a:p>
            <a:pPr marL="0" indent="0" algn="r">
              <a:buNone/>
            </a:pPr>
            <a:r>
              <a:rPr lang="en-US" sz="920" dirty="0">
                <a:solidFill>
                  <a:srgbClr val="627794"/>
                </a:solidFill>
                <a:latin typeface="Microsoft YaHei" pitchFamily="34" charset="0"/>
                <a:ea typeface="Microsoft YaHei" pitchFamily="34" charset="-122"/>
                <a:cs typeface="Microsoft YaHei" pitchFamily="34" charset="-120"/>
              </a:rPr>
              <a:t>05</a:t>
            </a:r>
            <a:endParaRPr lang="en-US" sz="920" dirty="0"/>
          </a:p>
        </p:txBody>
      </p:sp>
      <p:sp>
        <p:nvSpPr>
          <p:cNvPr id="249" name="Shape 3">
            <a:extLst>
              <a:ext uri="{FF2B5EF4-FFF2-40B4-BE49-F238E27FC236}">
                <a16:creationId xmlns:a16="http://schemas.microsoft.com/office/drawing/2014/main" id="{CAC1B1AB-2CB5-5068-0CB1-0BBF276D5885}"/>
              </a:ext>
            </a:extLst>
          </p:cNvPr>
          <p:cNvSpPr/>
          <p:nvPr/>
        </p:nvSpPr>
        <p:spPr>
          <a:xfrm>
            <a:off x="494457" y="712318"/>
            <a:ext cx="2011680" cy="283464"/>
          </a:xfrm>
          <a:prstGeom prst="roundRect">
            <a:avLst>
              <a:gd name="adj" fmla="val 25806"/>
            </a:avLst>
          </a:prstGeom>
          <a:solidFill>
            <a:srgbClr val="E8F3FF"/>
          </a:solidFill>
          <a:ln w="12700">
            <a:solidFill>
              <a:srgbClr val="E8F3FF">
                <a:alpha val="0"/>
              </a:srgbClr>
            </a:solidFill>
            <a:prstDash val="solid"/>
          </a:ln>
        </p:spPr>
      </p:sp>
      <p:sp>
        <p:nvSpPr>
          <p:cNvPr id="250" name="Text 4">
            <a:extLst>
              <a:ext uri="{FF2B5EF4-FFF2-40B4-BE49-F238E27FC236}">
                <a16:creationId xmlns:a16="http://schemas.microsoft.com/office/drawing/2014/main" id="{700BDA1E-AFA3-81CD-93DC-7B944A30EC2C}"/>
              </a:ext>
            </a:extLst>
          </p:cNvPr>
          <p:cNvSpPr txBox="1"/>
          <p:nvPr/>
        </p:nvSpPr>
        <p:spPr>
          <a:xfrm>
            <a:off x="558465" y="735178"/>
            <a:ext cx="1883664" cy="228600"/>
          </a:xfrm>
          <a:prstGeom prst="rect">
            <a:avLst/>
          </a:prstGeom>
          <a:noFill/>
          <a:ln/>
        </p:spPr>
        <p:txBody>
          <a:bodyPr wrap="square" lIns="0" tIns="0" rIns="0" bIns="0" rtlCol="0" anchor="ctr">
            <a:normAutofit/>
          </a:bodyPr>
          <a:lstStyle/>
          <a:p>
            <a:pPr marL="0" indent="0" algn="ctr">
              <a:lnSpc>
                <a:spcPct val="100000"/>
              </a:lnSpc>
              <a:buNone/>
            </a:pPr>
            <a:r>
              <a:rPr lang="en-US" sz="1010" b="1" dirty="0">
                <a:solidFill>
                  <a:srgbClr val="0A5AA0"/>
                </a:solidFill>
                <a:latin typeface="Microsoft YaHei" pitchFamily="34" charset="0"/>
                <a:ea typeface="Microsoft YaHei" pitchFamily="34" charset="-122"/>
                <a:cs typeface="Microsoft YaHei" pitchFamily="34" charset="-120"/>
              </a:rPr>
              <a:t>vLLM-Ascend · PR </a:t>
            </a:r>
            <a:r>
              <a:rPr lang="en-US" sz="1010" b="1">
                <a:solidFill>
                  <a:srgbClr val="0A5AA0"/>
                </a:solidFill>
                <a:latin typeface="Microsoft YaHei" pitchFamily="34" charset="0"/>
                <a:ea typeface="Microsoft YaHei" pitchFamily="34" charset="-122"/>
                <a:cs typeface="Microsoft YaHei" pitchFamily="34" charset="-120"/>
              </a:rPr>
              <a:t>#16110</a:t>
            </a:r>
            <a:endParaRPr lang="en-US" sz="1010" dirty="0"/>
          </a:p>
        </p:txBody>
      </p:sp>
      <p:pic>
        <p:nvPicPr>
          <p:cNvPr id="251" name="图片 250" descr="竖版华为公司标志 Vertical Version of Huawei Corporate Logo_2018">
            <a:extLst>
              <a:ext uri="{FF2B5EF4-FFF2-40B4-BE49-F238E27FC236}">
                <a16:creationId xmlns:a16="http://schemas.microsoft.com/office/drawing/2014/main" id="{EE43973B-C52A-6EF4-9EA3-0D3E58D5C739}"/>
              </a:ext>
            </a:extLst>
          </p:cNvPr>
          <p:cNvPicPr>
            <a:picLocks noChangeAspect="1"/>
          </p:cNvPicPr>
          <p:nvPr/>
        </p:nvPicPr>
        <p:blipFill>
          <a:blip r:embed="rId2"/>
          <a:stretch>
            <a:fillRect/>
          </a:stretch>
        </p:blipFill>
        <p:spPr>
          <a:xfrm>
            <a:off x="10780956" y="87585"/>
            <a:ext cx="810588" cy="802246"/>
          </a:xfrm>
          <a:prstGeom prst="rect">
            <a:avLst/>
          </a:prstGeom>
        </p:spPr>
      </p:pic>
      <p:sp>
        <p:nvSpPr>
          <p:cNvPr id="252" name="Shape 0">
            <a:extLst>
              <a:ext uri="{FF2B5EF4-FFF2-40B4-BE49-F238E27FC236}">
                <a16:creationId xmlns:a16="http://schemas.microsoft.com/office/drawing/2014/main" id="{1DD3EFA2-1026-36A6-ED88-8B5D1A3BABCA}"/>
              </a:ext>
            </a:extLst>
          </p:cNvPr>
          <p:cNvSpPr/>
          <p:nvPr/>
        </p:nvSpPr>
        <p:spPr>
          <a:xfrm>
            <a:off x="0" y="0"/>
            <a:ext cx="12191695" cy="59436"/>
          </a:xfrm>
          <a:prstGeom prst="rect">
            <a:avLst/>
          </a:prstGeom>
          <a:solidFill>
            <a:srgbClr val="1675C6"/>
          </a:solidFill>
          <a:ln w="12700">
            <a:solidFill>
              <a:srgbClr val="1675C6">
                <a:alpha val="0"/>
              </a:srgbClr>
            </a:solidFill>
            <a:prstDash val="solid"/>
          </a:ln>
        </p:spPr>
        <p:txBody>
          <a:bodyPr/>
          <a:lstStyle/>
          <a:p>
            <a:endParaRPr lang="zh-CN" altLang="en-US"/>
          </a:p>
        </p:txBody>
      </p:sp>
      <p:sp>
        <p:nvSpPr>
          <p:cNvPr id="253" name="Shape 1">
            <a:extLst>
              <a:ext uri="{FF2B5EF4-FFF2-40B4-BE49-F238E27FC236}">
                <a16:creationId xmlns:a16="http://schemas.microsoft.com/office/drawing/2014/main" id="{C2537D52-CC8B-7016-79AB-9710CFF5B585}"/>
              </a:ext>
            </a:extLst>
          </p:cNvPr>
          <p:cNvSpPr/>
          <p:nvPr/>
        </p:nvSpPr>
        <p:spPr>
          <a:xfrm>
            <a:off x="539496" y="292608"/>
            <a:ext cx="59436" cy="365760"/>
          </a:xfrm>
          <a:prstGeom prst="rect">
            <a:avLst/>
          </a:prstGeom>
          <a:solidFill>
            <a:srgbClr val="D81921"/>
          </a:solidFill>
          <a:ln w="12700">
            <a:solidFill>
              <a:srgbClr val="D81921">
                <a:alpha val="0"/>
              </a:srgbClr>
            </a:solidFill>
            <a:prstDash val="solid"/>
          </a:ln>
        </p:spPr>
        <p:txBody>
          <a:bodyPr/>
          <a:lstStyle/>
          <a:p>
            <a:endParaRPr lang="zh-CN" altLang="en-US"/>
          </a:p>
        </p:txBody>
      </p:sp>
      <p:sp>
        <p:nvSpPr>
          <p:cNvPr id="2" name="Text 55">
            <a:extLst>
              <a:ext uri="{FF2B5EF4-FFF2-40B4-BE49-F238E27FC236}">
                <a16:creationId xmlns:a16="http://schemas.microsoft.com/office/drawing/2014/main" id="{9A6A8FFA-FEE9-505E-DAD3-A464293A20CC}"/>
              </a:ext>
            </a:extLst>
          </p:cNvPr>
          <p:cNvSpPr/>
          <p:nvPr/>
        </p:nvSpPr>
        <p:spPr>
          <a:xfrm>
            <a:off x="8828532" y="1563625"/>
            <a:ext cx="612648" cy="585215"/>
          </a:xfrm>
          <a:prstGeom prst="rect">
            <a:avLst/>
          </a:prstGeom>
          <a:noFill/>
          <a:ln/>
        </p:spPr>
        <p:txBody>
          <a:bodyPr wrap="square" lIns="0" tIns="0" rIns="0" bIns="0" rtlCol="0" anchor="ctr">
            <a:normAutofit/>
          </a:bodyPr>
          <a:lstStyle/>
          <a:p>
            <a:pPr marL="0" indent="0" algn="ctr">
              <a:buNone/>
            </a:pPr>
            <a:r>
              <a:rPr lang="en-US" sz="3200" b="1" dirty="0">
                <a:solidFill>
                  <a:srgbClr val="D92332"/>
                </a:solidFill>
                <a:latin typeface="Noto Sans CJK SC" pitchFamily="34" charset="0"/>
                <a:ea typeface="Noto Sans CJK SC" pitchFamily="34" charset="-122"/>
                <a:cs typeface="Noto Sans CJK SC" pitchFamily="34" charset="-120"/>
              </a:rPr>
              <a:t>!</a:t>
            </a:r>
            <a:endParaRPr lang="en-US" sz="3200" dirty="0"/>
          </a:p>
        </p:txBody>
      </p:sp>
    </p:spTree>
    <p:extLst>
      <p:ext uri="{BB962C8B-B14F-4D97-AF65-F5344CB8AC3E}">
        <p14:creationId xmlns:p14="http://schemas.microsoft.com/office/powerpoint/2010/main" val="2257476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4148129-2248-01A9-2106-6130C182FAC2}"/>
              </a:ext>
            </a:extLst>
          </p:cNvPr>
          <p:cNvSpPr>
            <a:spLocks noGrp="1"/>
          </p:cNvSpPr>
          <p:nvPr>
            <p:ph type="sldNum" sz="quarter" idx="12"/>
          </p:nvPr>
        </p:nvSpPr>
        <p:spPr/>
        <p:txBody>
          <a:bodyPr/>
          <a:lstStyle/>
          <a:p>
            <a:fld id="{49AE70B2-8BF9-45C0-BB95-33D1B9D3A854}" type="slidenum">
              <a:rPr lang="zh-CN" altLang="en-US" smtClean="0"/>
              <a:t>10</a:t>
            </a:fld>
            <a:endParaRPr lang="zh-CN" altLang="en-US" dirty="0"/>
          </a:p>
        </p:txBody>
      </p:sp>
      <p:sp>
        <p:nvSpPr>
          <p:cNvPr id="5" name="Shape 0">
            <a:extLst>
              <a:ext uri="{FF2B5EF4-FFF2-40B4-BE49-F238E27FC236}">
                <a16:creationId xmlns:a16="http://schemas.microsoft.com/office/drawing/2014/main" id="{76651325-1EF7-0D01-EF89-98CE662ED9EE}"/>
              </a:ext>
            </a:extLst>
          </p:cNvPr>
          <p:cNvSpPr/>
          <p:nvPr/>
        </p:nvSpPr>
        <p:spPr>
          <a:xfrm>
            <a:off x="0" y="0"/>
            <a:ext cx="12191695" cy="59436"/>
          </a:xfrm>
          <a:prstGeom prst="rect">
            <a:avLst/>
          </a:prstGeom>
          <a:solidFill>
            <a:srgbClr val="1675C6"/>
          </a:solidFill>
          <a:ln w="12700">
            <a:solidFill>
              <a:srgbClr val="1675C6">
                <a:alpha val="0"/>
              </a:srgbClr>
            </a:solidFill>
            <a:prstDash val="solid"/>
          </a:ln>
        </p:spPr>
        <p:txBody>
          <a:bodyPr/>
          <a:lstStyle/>
          <a:p>
            <a:endParaRPr lang="zh-CN" altLang="en-US"/>
          </a:p>
        </p:txBody>
      </p:sp>
      <p:sp>
        <p:nvSpPr>
          <p:cNvPr id="6" name="Shape 1">
            <a:extLst>
              <a:ext uri="{FF2B5EF4-FFF2-40B4-BE49-F238E27FC236}">
                <a16:creationId xmlns:a16="http://schemas.microsoft.com/office/drawing/2014/main" id="{47205823-7CAA-8A5B-A5F5-9DE87FA3A38F}"/>
              </a:ext>
            </a:extLst>
          </p:cNvPr>
          <p:cNvSpPr/>
          <p:nvPr/>
        </p:nvSpPr>
        <p:spPr>
          <a:xfrm>
            <a:off x="539496" y="292608"/>
            <a:ext cx="59436" cy="365760"/>
          </a:xfrm>
          <a:prstGeom prst="rect">
            <a:avLst/>
          </a:prstGeom>
          <a:solidFill>
            <a:srgbClr val="D81921"/>
          </a:solidFill>
          <a:ln w="12700">
            <a:solidFill>
              <a:srgbClr val="D81921">
                <a:alpha val="0"/>
              </a:srgbClr>
            </a:solidFill>
            <a:prstDash val="solid"/>
          </a:ln>
        </p:spPr>
        <p:txBody>
          <a:bodyPr/>
          <a:lstStyle/>
          <a:p>
            <a:endParaRPr lang="zh-CN" altLang="en-US"/>
          </a:p>
        </p:txBody>
      </p:sp>
      <p:sp>
        <p:nvSpPr>
          <p:cNvPr id="8" name="Shape 3">
            <a:extLst>
              <a:ext uri="{FF2B5EF4-FFF2-40B4-BE49-F238E27FC236}">
                <a16:creationId xmlns:a16="http://schemas.microsoft.com/office/drawing/2014/main" id="{DAB59CBD-6E41-9B20-4415-C4AF058FB496}"/>
              </a:ext>
            </a:extLst>
          </p:cNvPr>
          <p:cNvSpPr/>
          <p:nvPr/>
        </p:nvSpPr>
        <p:spPr>
          <a:xfrm>
            <a:off x="494457" y="712318"/>
            <a:ext cx="2011680" cy="283464"/>
          </a:xfrm>
          <a:prstGeom prst="roundRect">
            <a:avLst>
              <a:gd name="adj" fmla="val 25806"/>
            </a:avLst>
          </a:prstGeom>
          <a:solidFill>
            <a:srgbClr val="E8F3FF"/>
          </a:solidFill>
          <a:ln w="12700">
            <a:solidFill>
              <a:srgbClr val="E8F3FF">
                <a:alpha val="0"/>
              </a:srgbClr>
            </a:solidFill>
            <a:prstDash val="solid"/>
          </a:ln>
        </p:spPr>
      </p:sp>
      <p:sp>
        <p:nvSpPr>
          <p:cNvPr id="9" name="Text 4">
            <a:extLst>
              <a:ext uri="{FF2B5EF4-FFF2-40B4-BE49-F238E27FC236}">
                <a16:creationId xmlns:a16="http://schemas.microsoft.com/office/drawing/2014/main" id="{EC241A43-4989-2FE4-430F-1EB8AEEEB18B}"/>
              </a:ext>
            </a:extLst>
          </p:cNvPr>
          <p:cNvSpPr txBox="1"/>
          <p:nvPr/>
        </p:nvSpPr>
        <p:spPr>
          <a:xfrm>
            <a:off x="558465" y="735178"/>
            <a:ext cx="1883664" cy="228600"/>
          </a:xfrm>
          <a:prstGeom prst="rect">
            <a:avLst/>
          </a:prstGeom>
          <a:noFill/>
          <a:ln/>
        </p:spPr>
        <p:txBody>
          <a:bodyPr wrap="square" lIns="0" tIns="0" rIns="0" bIns="0" rtlCol="0" anchor="ctr">
            <a:normAutofit/>
          </a:bodyPr>
          <a:lstStyle/>
          <a:p>
            <a:pPr marL="0" indent="0" algn="ctr">
              <a:lnSpc>
                <a:spcPct val="100000"/>
              </a:lnSpc>
              <a:buNone/>
            </a:pPr>
            <a:r>
              <a:rPr lang="en-US" sz="1010" b="1" dirty="0">
                <a:solidFill>
                  <a:srgbClr val="0A5AA0"/>
                </a:solidFill>
                <a:latin typeface="Microsoft YaHei" pitchFamily="34" charset="0"/>
                <a:ea typeface="Microsoft YaHei" pitchFamily="34" charset="-122"/>
                <a:cs typeface="Microsoft YaHei" pitchFamily="34" charset="-120"/>
              </a:rPr>
              <a:t>vLLM-Ascend · PR #14607</a:t>
            </a:r>
            <a:endParaRPr lang="en-US" sz="1010" dirty="0"/>
          </a:p>
        </p:txBody>
      </p:sp>
      <p:sp>
        <p:nvSpPr>
          <p:cNvPr id="11" name="Text 6">
            <a:extLst>
              <a:ext uri="{FF2B5EF4-FFF2-40B4-BE49-F238E27FC236}">
                <a16:creationId xmlns:a16="http://schemas.microsoft.com/office/drawing/2014/main" id="{896F6588-6C1C-35A0-4246-5C92D0060497}"/>
              </a:ext>
            </a:extLst>
          </p:cNvPr>
          <p:cNvSpPr txBox="1"/>
          <p:nvPr/>
        </p:nvSpPr>
        <p:spPr>
          <a:xfrm>
            <a:off x="539496" y="1064362"/>
            <a:ext cx="11064240" cy="246888"/>
          </a:xfrm>
          <a:prstGeom prst="rect">
            <a:avLst/>
          </a:prstGeom>
          <a:noFill/>
          <a:ln/>
        </p:spPr>
        <p:txBody>
          <a:bodyPr wrap="square" lIns="0" tIns="0" rIns="0" bIns="0" rtlCol="0" anchor="ctr">
            <a:normAutofit/>
          </a:bodyPr>
          <a:lstStyle/>
          <a:p>
            <a:pPr marL="0" indent="0" algn="l">
              <a:lnSpc>
                <a:spcPct val="100000"/>
              </a:lnSpc>
              <a:buNone/>
            </a:pPr>
            <a:r>
              <a:rPr lang="en-US" sz="1290" dirty="0">
                <a:solidFill>
                  <a:srgbClr val="657792"/>
                </a:solidFill>
                <a:latin typeface="Microsoft YaHei" pitchFamily="34" charset="0"/>
                <a:ea typeface="Microsoft YaHei" pitchFamily="34" charset="-122"/>
                <a:cs typeface="Microsoft YaHei" pitchFamily="34" charset="-120"/>
              </a:rPr>
              <a:t>从 64 对齐过滤到 Vision Tower 接入：quant_config → quant_method</a:t>
            </a:r>
            <a:endParaRPr lang="en-US" sz="1290" dirty="0"/>
          </a:p>
        </p:txBody>
      </p:sp>
      <p:sp>
        <p:nvSpPr>
          <p:cNvPr id="12" name="Shape 7">
            <a:extLst>
              <a:ext uri="{FF2B5EF4-FFF2-40B4-BE49-F238E27FC236}">
                <a16:creationId xmlns:a16="http://schemas.microsoft.com/office/drawing/2014/main" id="{739EB92E-BE23-7379-FB6F-C46E15270D28}"/>
              </a:ext>
            </a:extLst>
          </p:cNvPr>
          <p:cNvSpPr/>
          <p:nvPr/>
        </p:nvSpPr>
        <p:spPr>
          <a:xfrm>
            <a:off x="539496" y="1380744"/>
            <a:ext cx="5486400" cy="1901952"/>
          </a:xfrm>
          <a:prstGeom prst="roundRect">
            <a:avLst>
              <a:gd name="adj" fmla="val 9135"/>
            </a:avLst>
          </a:prstGeom>
          <a:solidFill>
            <a:srgbClr val="FFFFFF"/>
          </a:solidFill>
          <a:ln w="9525">
            <a:solidFill>
              <a:srgbClr val="D8E5F1"/>
            </a:solidFill>
            <a:prstDash val="solid"/>
          </a:ln>
        </p:spPr>
      </p:sp>
      <p:sp>
        <p:nvSpPr>
          <p:cNvPr id="13" name="Shape 8">
            <a:extLst>
              <a:ext uri="{FF2B5EF4-FFF2-40B4-BE49-F238E27FC236}">
                <a16:creationId xmlns:a16="http://schemas.microsoft.com/office/drawing/2014/main" id="{32630DA0-390C-685E-0FC9-E90B98BB0005}"/>
              </a:ext>
            </a:extLst>
          </p:cNvPr>
          <p:cNvSpPr/>
          <p:nvPr/>
        </p:nvSpPr>
        <p:spPr>
          <a:xfrm>
            <a:off x="548640" y="1389888"/>
            <a:ext cx="5468112" cy="457200"/>
          </a:xfrm>
          <a:prstGeom prst="roundRect">
            <a:avLst>
              <a:gd name="adj" fmla="val 32000"/>
            </a:avLst>
          </a:prstGeom>
          <a:solidFill>
            <a:srgbClr val="EAF4FF"/>
          </a:solidFill>
          <a:ln w="12700">
            <a:solidFill>
              <a:srgbClr val="EAF4FF">
                <a:alpha val="0"/>
              </a:srgbClr>
            </a:solidFill>
            <a:prstDash val="solid"/>
          </a:ln>
        </p:spPr>
      </p:sp>
      <p:sp>
        <p:nvSpPr>
          <p:cNvPr id="14" name="Shape 9">
            <a:extLst>
              <a:ext uri="{FF2B5EF4-FFF2-40B4-BE49-F238E27FC236}">
                <a16:creationId xmlns:a16="http://schemas.microsoft.com/office/drawing/2014/main" id="{EC53B1ED-5412-A291-07D1-EC9607FD5DF2}"/>
              </a:ext>
            </a:extLst>
          </p:cNvPr>
          <p:cNvSpPr/>
          <p:nvPr/>
        </p:nvSpPr>
        <p:spPr>
          <a:xfrm>
            <a:off x="685800" y="1485900"/>
            <a:ext cx="429768" cy="274320"/>
          </a:xfrm>
          <a:prstGeom prst="roundRect">
            <a:avLst>
              <a:gd name="adj" fmla="val 23333"/>
            </a:avLst>
          </a:prstGeom>
          <a:solidFill>
            <a:srgbClr val="0A5AA0"/>
          </a:solidFill>
          <a:ln w="12700">
            <a:solidFill>
              <a:srgbClr val="0A5AA0">
                <a:alpha val="0"/>
              </a:srgbClr>
            </a:solidFill>
            <a:prstDash val="solid"/>
          </a:ln>
        </p:spPr>
      </p:sp>
      <p:sp>
        <p:nvSpPr>
          <p:cNvPr id="15" name="Text 10">
            <a:extLst>
              <a:ext uri="{FF2B5EF4-FFF2-40B4-BE49-F238E27FC236}">
                <a16:creationId xmlns:a16="http://schemas.microsoft.com/office/drawing/2014/main" id="{95FAEEA4-E551-A064-8EC1-A02D3F8BC7E4}"/>
              </a:ext>
            </a:extLst>
          </p:cNvPr>
          <p:cNvSpPr txBox="1"/>
          <p:nvPr/>
        </p:nvSpPr>
        <p:spPr>
          <a:xfrm>
            <a:off x="685800" y="1506017"/>
            <a:ext cx="429768" cy="224028"/>
          </a:xfrm>
          <a:prstGeom prst="rect">
            <a:avLst/>
          </a:prstGeom>
          <a:noFill/>
          <a:ln/>
        </p:spPr>
        <p:txBody>
          <a:bodyPr wrap="square" lIns="0" tIns="0" rIns="0" bIns="0" rtlCol="0" anchor="ctr">
            <a:normAutofit/>
          </a:bodyPr>
          <a:lstStyle/>
          <a:p>
            <a:pPr marL="0" indent="0" algn="ctr">
              <a:lnSpc>
                <a:spcPct val="100000"/>
              </a:lnSpc>
              <a:buNone/>
            </a:pPr>
            <a:r>
              <a:rPr lang="en-US" sz="1230" b="1" dirty="0">
                <a:solidFill>
                  <a:srgbClr val="FFFFFF"/>
                </a:solidFill>
                <a:latin typeface="Microsoft YaHei" pitchFamily="34" charset="0"/>
                <a:ea typeface="Microsoft YaHei" pitchFamily="34" charset="-122"/>
                <a:cs typeface="Microsoft YaHei" pitchFamily="34" charset="-120"/>
              </a:rPr>
              <a:t>01</a:t>
            </a:r>
            <a:endParaRPr lang="en-US" sz="1230" dirty="0"/>
          </a:p>
        </p:txBody>
      </p:sp>
      <p:sp>
        <p:nvSpPr>
          <p:cNvPr id="16" name="Text 11">
            <a:extLst>
              <a:ext uri="{FF2B5EF4-FFF2-40B4-BE49-F238E27FC236}">
                <a16:creationId xmlns:a16="http://schemas.microsoft.com/office/drawing/2014/main" id="{7D2BD90A-1278-D98B-97F8-33DE7E86622E}"/>
              </a:ext>
            </a:extLst>
          </p:cNvPr>
          <p:cNvSpPr txBox="1"/>
          <p:nvPr/>
        </p:nvSpPr>
        <p:spPr>
          <a:xfrm>
            <a:off x="1261872" y="1476756"/>
            <a:ext cx="4608576" cy="301752"/>
          </a:xfrm>
          <a:prstGeom prst="rect">
            <a:avLst/>
          </a:prstGeom>
          <a:noFill/>
          <a:ln/>
        </p:spPr>
        <p:txBody>
          <a:bodyPr wrap="square" lIns="0" tIns="0" rIns="0" bIns="0" rtlCol="0" anchor="ctr">
            <a:normAutofit/>
          </a:bodyPr>
          <a:lstStyle/>
          <a:p>
            <a:pPr marL="0" indent="0" algn="l">
              <a:lnSpc>
                <a:spcPct val="100000"/>
              </a:lnSpc>
              <a:buNone/>
            </a:pPr>
            <a:r>
              <a:rPr lang="en-US" sz="1635" b="1" dirty="0">
                <a:solidFill>
                  <a:srgbClr val="0A5AA0"/>
                </a:solidFill>
                <a:latin typeface="Microsoft YaHei" pitchFamily="34" charset="0"/>
                <a:ea typeface="Microsoft YaHei" pitchFamily="34" charset="-122"/>
                <a:cs typeface="Microsoft YaHei" pitchFamily="34" charset="-120"/>
              </a:rPr>
              <a:t>问题背景</a:t>
            </a:r>
            <a:endParaRPr lang="en-US" sz="1635" dirty="0"/>
          </a:p>
        </p:txBody>
      </p:sp>
      <p:sp>
        <p:nvSpPr>
          <p:cNvPr id="17" name="Shape 12">
            <a:extLst>
              <a:ext uri="{FF2B5EF4-FFF2-40B4-BE49-F238E27FC236}">
                <a16:creationId xmlns:a16="http://schemas.microsoft.com/office/drawing/2014/main" id="{D61C5A5E-0CBC-B8FD-737B-A439B23F06FA}"/>
              </a:ext>
            </a:extLst>
          </p:cNvPr>
          <p:cNvSpPr/>
          <p:nvPr/>
        </p:nvSpPr>
        <p:spPr>
          <a:xfrm>
            <a:off x="6217920" y="1380744"/>
            <a:ext cx="5486400" cy="1901952"/>
          </a:xfrm>
          <a:prstGeom prst="roundRect">
            <a:avLst>
              <a:gd name="adj" fmla="val 9135"/>
            </a:avLst>
          </a:prstGeom>
          <a:solidFill>
            <a:srgbClr val="FFFFFF"/>
          </a:solidFill>
          <a:ln w="9525">
            <a:solidFill>
              <a:srgbClr val="D8E5F1"/>
            </a:solidFill>
            <a:prstDash val="solid"/>
          </a:ln>
        </p:spPr>
      </p:sp>
      <p:sp>
        <p:nvSpPr>
          <p:cNvPr id="18" name="Shape 13">
            <a:extLst>
              <a:ext uri="{FF2B5EF4-FFF2-40B4-BE49-F238E27FC236}">
                <a16:creationId xmlns:a16="http://schemas.microsoft.com/office/drawing/2014/main" id="{CEECD344-7547-938A-3B6D-70D48737776A}"/>
              </a:ext>
            </a:extLst>
          </p:cNvPr>
          <p:cNvSpPr/>
          <p:nvPr/>
        </p:nvSpPr>
        <p:spPr>
          <a:xfrm>
            <a:off x="6227064" y="1389888"/>
            <a:ext cx="5468112" cy="457200"/>
          </a:xfrm>
          <a:prstGeom prst="roundRect">
            <a:avLst>
              <a:gd name="adj" fmla="val 32000"/>
            </a:avLst>
          </a:prstGeom>
          <a:solidFill>
            <a:srgbClr val="FFF0F0"/>
          </a:solidFill>
          <a:ln w="12700">
            <a:solidFill>
              <a:srgbClr val="FFF0F0">
                <a:alpha val="0"/>
              </a:srgbClr>
            </a:solidFill>
            <a:prstDash val="solid"/>
          </a:ln>
        </p:spPr>
      </p:sp>
      <p:sp>
        <p:nvSpPr>
          <p:cNvPr id="19" name="Shape 14">
            <a:extLst>
              <a:ext uri="{FF2B5EF4-FFF2-40B4-BE49-F238E27FC236}">
                <a16:creationId xmlns:a16="http://schemas.microsoft.com/office/drawing/2014/main" id="{E0D867F5-5318-CCCE-EDB6-CA9F593FD5D4}"/>
              </a:ext>
            </a:extLst>
          </p:cNvPr>
          <p:cNvSpPr/>
          <p:nvPr/>
        </p:nvSpPr>
        <p:spPr>
          <a:xfrm>
            <a:off x="6364224" y="1485900"/>
            <a:ext cx="429768" cy="274320"/>
          </a:xfrm>
          <a:prstGeom prst="roundRect">
            <a:avLst>
              <a:gd name="adj" fmla="val 23333"/>
            </a:avLst>
          </a:prstGeom>
          <a:solidFill>
            <a:srgbClr val="CA3836"/>
          </a:solidFill>
          <a:ln w="12700">
            <a:solidFill>
              <a:srgbClr val="CA3836">
                <a:alpha val="0"/>
              </a:srgbClr>
            </a:solidFill>
            <a:prstDash val="solid"/>
          </a:ln>
        </p:spPr>
      </p:sp>
      <p:sp>
        <p:nvSpPr>
          <p:cNvPr id="20" name="Text 15">
            <a:extLst>
              <a:ext uri="{FF2B5EF4-FFF2-40B4-BE49-F238E27FC236}">
                <a16:creationId xmlns:a16="http://schemas.microsoft.com/office/drawing/2014/main" id="{13EA6235-9725-5232-3F9F-AE440DA34924}"/>
              </a:ext>
            </a:extLst>
          </p:cNvPr>
          <p:cNvSpPr txBox="1"/>
          <p:nvPr/>
        </p:nvSpPr>
        <p:spPr>
          <a:xfrm>
            <a:off x="6364224" y="1506017"/>
            <a:ext cx="429768" cy="224028"/>
          </a:xfrm>
          <a:prstGeom prst="rect">
            <a:avLst/>
          </a:prstGeom>
          <a:noFill/>
          <a:ln/>
        </p:spPr>
        <p:txBody>
          <a:bodyPr wrap="square" lIns="0" tIns="0" rIns="0" bIns="0" rtlCol="0" anchor="ctr">
            <a:normAutofit/>
          </a:bodyPr>
          <a:lstStyle/>
          <a:p>
            <a:pPr marL="0" indent="0" algn="ctr">
              <a:lnSpc>
                <a:spcPct val="100000"/>
              </a:lnSpc>
              <a:buNone/>
            </a:pPr>
            <a:r>
              <a:rPr lang="en-US" sz="1230" b="1" dirty="0">
                <a:solidFill>
                  <a:srgbClr val="FFFFFF"/>
                </a:solidFill>
                <a:latin typeface="Microsoft YaHei" pitchFamily="34" charset="0"/>
                <a:ea typeface="Microsoft YaHei" pitchFamily="34" charset="-122"/>
                <a:cs typeface="Microsoft YaHei" pitchFamily="34" charset="-120"/>
              </a:rPr>
              <a:t>02</a:t>
            </a:r>
            <a:endParaRPr lang="en-US" sz="1230" dirty="0"/>
          </a:p>
        </p:txBody>
      </p:sp>
      <p:sp>
        <p:nvSpPr>
          <p:cNvPr id="21" name="Text 16">
            <a:extLst>
              <a:ext uri="{FF2B5EF4-FFF2-40B4-BE49-F238E27FC236}">
                <a16:creationId xmlns:a16="http://schemas.microsoft.com/office/drawing/2014/main" id="{4BF697B3-5B10-BDBF-7F84-D0527882C259}"/>
              </a:ext>
            </a:extLst>
          </p:cNvPr>
          <p:cNvSpPr txBox="1"/>
          <p:nvPr/>
        </p:nvSpPr>
        <p:spPr>
          <a:xfrm>
            <a:off x="6940296" y="1476756"/>
            <a:ext cx="4608576" cy="301752"/>
          </a:xfrm>
          <a:prstGeom prst="rect">
            <a:avLst/>
          </a:prstGeom>
          <a:noFill/>
          <a:ln/>
        </p:spPr>
        <p:txBody>
          <a:bodyPr wrap="square" lIns="0" tIns="0" rIns="0" bIns="0" rtlCol="0" anchor="ctr">
            <a:normAutofit/>
          </a:bodyPr>
          <a:lstStyle/>
          <a:p>
            <a:pPr marL="0" indent="0" algn="l">
              <a:lnSpc>
                <a:spcPct val="100000"/>
              </a:lnSpc>
              <a:buNone/>
            </a:pPr>
            <a:r>
              <a:rPr lang="en-US" sz="1635" b="1" dirty="0">
                <a:solidFill>
                  <a:srgbClr val="CA3836"/>
                </a:solidFill>
                <a:latin typeface="Microsoft YaHei" pitchFamily="34" charset="0"/>
                <a:ea typeface="Microsoft YaHei" pitchFamily="34" charset="-122"/>
                <a:cs typeface="Microsoft YaHei" pitchFamily="34" charset="-120"/>
              </a:rPr>
              <a:t>根因分析</a:t>
            </a:r>
            <a:endParaRPr lang="en-US" sz="1635" dirty="0"/>
          </a:p>
        </p:txBody>
      </p:sp>
      <p:sp>
        <p:nvSpPr>
          <p:cNvPr id="22" name="Shape 17">
            <a:extLst>
              <a:ext uri="{FF2B5EF4-FFF2-40B4-BE49-F238E27FC236}">
                <a16:creationId xmlns:a16="http://schemas.microsoft.com/office/drawing/2014/main" id="{28F412A7-88D4-014D-272A-110458F40B24}"/>
              </a:ext>
            </a:extLst>
          </p:cNvPr>
          <p:cNvSpPr/>
          <p:nvPr/>
        </p:nvSpPr>
        <p:spPr>
          <a:xfrm>
            <a:off x="539496" y="3429000"/>
            <a:ext cx="5486400" cy="2276856"/>
          </a:xfrm>
          <a:prstGeom prst="roundRect">
            <a:avLst>
              <a:gd name="adj" fmla="val 7631"/>
            </a:avLst>
          </a:prstGeom>
          <a:solidFill>
            <a:srgbClr val="FFFFFF"/>
          </a:solidFill>
          <a:ln w="9525">
            <a:solidFill>
              <a:srgbClr val="D8E5F1"/>
            </a:solidFill>
            <a:prstDash val="solid"/>
          </a:ln>
        </p:spPr>
      </p:sp>
      <p:sp>
        <p:nvSpPr>
          <p:cNvPr id="23" name="Shape 18">
            <a:extLst>
              <a:ext uri="{FF2B5EF4-FFF2-40B4-BE49-F238E27FC236}">
                <a16:creationId xmlns:a16="http://schemas.microsoft.com/office/drawing/2014/main" id="{E37AEB65-0BE9-1D29-C02D-A0A11989EC8B}"/>
              </a:ext>
            </a:extLst>
          </p:cNvPr>
          <p:cNvSpPr/>
          <p:nvPr/>
        </p:nvSpPr>
        <p:spPr>
          <a:xfrm>
            <a:off x="548640" y="3438144"/>
            <a:ext cx="5468112" cy="457200"/>
          </a:xfrm>
          <a:prstGeom prst="roundRect">
            <a:avLst>
              <a:gd name="adj" fmla="val 32000"/>
            </a:avLst>
          </a:prstGeom>
          <a:solidFill>
            <a:srgbClr val="EAF4FF"/>
          </a:solidFill>
          <a:ln w="12700">
            <a:solidFill>
              <a:srgbClr val="EAF4FF">
                <a:alpha val="0"/>
              </a:srgbClr>
            </a:solidFill>
            <a:prstDash val="solid"/>
          </a:ln>
        </p:spPr>
      </p:sp>
      <p:sp>
        <p:nvSpPr>
          <p:cNvPr id="24" name="Shape 19">
            <a:extLst>
              <a:ext uri="{FF2B5EF4-FFF2-40B4-BE49-F238E27FC236}">
                <a16:creationId xmlns:a16="http://schemas.microsoft.com/office/drawing/2014/main" id="{50822D80-6269-1557-760F-02F59E79FABF}"/>
              </a:ext>
            </a:extLst>
          </p:cNvPr>
          <p:cNvSpPr/>
          <p:nvPr/>
        </p:nvSpPr>
        <p:spPr>
          <a:xfrm>
            <a:off x="685800" y="3534156"/>
            <a:ext cx="429768" cy="274320"/>
          </a:xfrm>
          <a:prstGeom prst="roundRect">
            <a:avLst>
              <a:gd name="adj" fmla="val 23333"/>
            </a:avLst>
          </a:prstGeom>
          <a:solidFill>
            <a:srgbClr val="0A5AA0"/>
          </a:solidFill>
          <a:ln w="12700">
            <a:solidFill>
              <a:srgbClr val="0A5AA0">
                <a:alpha val="0"/>
              </a:srgbClr>
            </a:solidFill>
            <a:prstDash val="solid"/>
          </a:ln>
        </p:spPr>
      </p:sp>
      <p:sp>
        <p:nvSpPr>
          <p:cNvPr id="25" name="Text 20">
            <a:extLst>
              <a:ext uri="{FF2B5EF4-FFF2-40B4-BE49-F238E27FC236}">
                <a16:creationId xmlns:a16="http://schemas.microsoft.com/office/drawing/2014/main" id="{525B4E6B-EA5F-5F26-BC50-86575ED0F060}"/>
              </a:ext>
            </a:extLst>
          </p:cNvPr>
          <p:cNvSpPr txBox="1"/>
          <p:nvPr/>
        </p:nvSpPr>
        <p:spPr>
          <a:xfrm>
            <a:off x="685800" y="3554273"/>
            <a:ext cx="429768" cy="224028"/>
          </a:xfrm>
          <a:prstGeom prst="rect">
            <a:avLst/>
          </a:prstGeom>
          <a:noFill/>
          <a:ln/>
        </p:spPr>
        <p:txBody>
          <a:bodyPr wrap="square" lIns="0" tIns="0" rIns="0" bIns="0" rtlCol="0" anchor="ctr">
            <a:normAutofit/>
          </a:bodyPr>
          <a:lstStyle/>
          <a:p>
            <a:pPr marL="0" indent="0" algn="ctr">
              <a:lnSpc>
                <a:spcPct val="100000"/>
              </a:lnSpc>
              <a:buNone/>
            </a:pPr>
            <a:r>
              <a:rPr lang="en-US" sz="1230" b="1" dirty="0">
                <a:solidFill>
                  <a:srgbClr val="FFFFFF"/>
                </a:solidFill>
                <a:latin typeface="Microsoft YaHei" pitchFamily="34" charset="0"/>
                <a:ea typeface="Microsoft YaHei" pitchFamily="34" charset="-122"/>
                <a:cs typeface="Microsoft YaHei" pitchFamily="34" charset="-120"/>
              </a:rPr>
              <a:t>03</a:t>
            </a:r>
            <a:endParaRPr lang="en-US" sz="1230" dirty="0"/>
          </a:p>
        </p:txBody>
      </p:sp>
      <p:sp>
        <p:nvSpPr>
          <p:cNvPr id="26" name="Text 21">
            <a:extLst>
              <a:ext uri="{FF2B5EF4-FFF2-40B4-BE49-F238E27FC236}">
                <a16:creationId xmlns:a16="http://schemas.microsoft.com/office/drawing/2014/main" id="{21E03621-A151-C039-573C-0DB540898D6E}"/>
              </a:ext>
            </a:extLst>
          </p:cNvPr>
          <p:cNvSpPr txBox="1"/>
          <p:nvPr/>
        </p:nvSpPr>
        <p:spPr>
          <a:xfrm>
            <a:off x="1261872" y="3525012"/>
            <a:ext cx="4608576" cy="301752"/>
          </a:xfrm>
          <a:prstGeom prst="rect">
            <a:avLst/>
          </a:prstGeom>
          <a:noFill/>
          <a:ln/>
        </p:spPr>
        <p:txBody>
          <a:bodyPr wrap="square" lIns="0" tIns="0" rIns="0" bIns="0" rtlCol="0" anchor="ctr">
            <a:normAutofit/>
          </a:bodyPr>
          <a:lstStyle/>
          <a:p>
            <a:pPr marL="0" indent="0" algn="l">
              <a:lnSpc>
                <a:spcPct val="100000"/>
              </a:lnSpc>
              <a:buNone/>
            </a:pPr>
            <a:r>
              <a:rPr lang="en-US" sz="1635" b="1" dirty="0">
                <a:solidFill>
                  <a:srgbClr val="0A5AA0"/>
                </a:solidFill>
                <a:latin typeface="Microsoft YaHei" pitchFamily="34" charset="0"/>
                <a:ea typeface="Microsoft YaHei" pitchFamily="34" charset="-122"/>
                <a:cs typeface="Microsoft YaHei" pitchFamily="34" charset="-120"/>
              </a:rPr>
              <a:t>修复方案</a:t>
            </a:r>
            <a:endParaRPr lang="en-US" sz="1635" dirty="0"/>
          </a:p>
        </p:txBody>
      </p:sp>
      <p:sp>
        <p:nvSpPr>
          <p:cNvPr id="27" name="Shape 22">
            <a:extLst>
              <a:ext uri="{FF2B5EF4-FFF2-40B4-BE49-F238E27FC236}">
                <a16:creationId xmlns:a16="http://schemas.microsoft.com/office/drawing/2014/main" id="{A7950F33-9C6A-E785-8BB5-D3C297775075}"/>
              </a:ext>
            </a:extLst>
          </p:cNvPr>
          <p:cNvSpPr/>
          <p:nvPr/>
        </p:nvSpPr>
        <p:spPr>
          <a:xfrm>
            <a:off x="6217920" y="3429000"/>
            <a:ext cx="5486400" cy="2276856"/>
          </a:xfrm>
          <a:prstGeom prst="roundRect">
            <a:avLst>
              <a:gd name="adj" fmla="val 7631"/>
            </a:avLst>
          </a:prstGeom>
          <a:solidFill>
            <a:srgbClr val="FFFFFF"/>
          </a:solidFill>
          <a:ln w="9525">
            <a:solidFill>
              <a:srgbClr val="D8E5F1"/>
            </a:solidFill>
            <a:prstDash val="solid"/>
          </a:ln>
        </p:spPr>
      </p:sp>
      <p:sp>
        <p:nvSpPr>
          <p:cNvPr id="28" name="Shape 23">
            <a:extLst>
              <a:ext uri="{FF2B5EF4-FFF2-40B4-BE49-F238E27FC236}">
                <a16:creationId xmlns:a16="http://schemas.microsoft.com/office/drawing/2014/main" id="{C23ED6A0-883D-E525-1E2B-FDE7B8749F7E}"/>
              </a:ext>
            </a:extLst>
          </p:cNvPr>
          <p:cNvSpPr/>
          <p:nvPr/>
        </p:nvSpPr>
        <p:spPr>
          <a:xfrm>
            <a:off x="6227064" y="3438144"/>
            <a:ext cx="5468112" cy="457200"/>
          </a:xfrm>
          <a:prstGeom prst="roundRect">
            <a:avLst>
              <a:gd name="adj" fmla="val 32000"/>
            </a:avLst>
          </a:prstGeom>
          <a:solidFill>
            <a:srgbClr val="E6F6EF"/>
          </a:solidFill>
          <a:ln w="12700">
            <a:solidFill>
              <a:srgbClr val="E6F6EF">
                <a:alpha val="0"/>
              </a:srgbClr>
            </a:solidFill>
            <a:prstDash val="solid"/>
          </a:ln>
        </p:spPr>
      </p:sp>
      <p:sp>
        <p:nvSpPr>
          <p:cNvPr id="29" name="Shape 24">
            <a:extLst>
              <a:ext uri="{FF2B5EF4-FFF2-40B4-BE49-F238E27FC236}">
                <a16:creationId xmlns:a16="http://schemas.microsoft.com/office/drawing/2014/main" id="{88027526-0E1F-CFFE-7C84-EAFB7AD3E2B1}"/>
              </a:ext>
            </a:extLst>
          </p:cNvPr>
          <p:cNvSpPr/>
          <p:nvPr/>
        </p:nvSpPr>
        <p:spPr>
          <a:xfrm>
            <a:off x="6364224" y="3534156"/>
            <a:ext cx="429768" cy="274320"/>
          </a:xfrm>
          <a:prstGeom prst="roundRect">
            <a:avLst>
              <a:gd name="adj" fmla="val 23333"/>
            </a:avLst>
          </a:prstGeom>
          <a:solidFill>
            <a:srgbClr val="167E53"/>
          </a:solidFill>
          <a:ln w="12700">
            <a:solidFill>
              <a:srgbClr val="167E53">
                <a:alpha val="0"/>
              </a:srgbClr>
            </a:solidFill>
            <a:prstDash val="solid"/>
          </a:ln>
        </p:spPr>
      </p:sp>
      <p:sp>
        <p:nvSpPr>
          <p:cNvPr id="30" name="Text 25">
            <a:extLst>
              <a:ext uri="{FF2B5EF4-FFF2-40B4-BE49-F238E27FC236}">
                <a16:creationId xmlns:a16="http://schemas.microsoft.com/office/drawing/2014/main" id="{D0B3E6CB-33DE-0F3E-8815-5974F3446E10}"/>
              </a:ext>
            </a:extLst>
          </p:cNvPr>
          <p:cNvSpPr txBox="1"/>
          <p:nvPr/>
        </p:nvSpPr>
        <p:spPr>
          <a:xfrm>
            <a:off x="6364224" y="3554273"/>
            <a:ext cx="429768" cy="224028"/>
          </a:xfrm>
          <a:prstGeom prst="rect">
            <a:avLst/>
          </a:prstGeom>
          <a:noFill/>
          <a:ln/>
        </p:spPr>
        <p:txBody>
          <a:bodyPr wrap="square" lIns="0" tIns="0" rIns="0" bIns="0" rtlCol="0" anchor="ctr">
            <a:normAutofit/>
          </a:bodyPr>
          <a:lstStyle/>
          <a:p>
            <a:pPr marL="0" indent="0" algn="ctr">
              <a:lnSpc>
                <a:spcPct val="100000"/>
              </a:lnSpc>
              <a:buNone/>
            </a:pPr>
            <a:r>
              <a:rPr lang="en-US" sz="1230" b="1" dirty="0">
                <a:solidFill>
                  <a:srgbClr val="FFFFFF"/>
                </a:solidFill>
                <a:latin typeface="Microsoft YaHei" pitchFamily="34" charset="0"/>
                <a:ea typeface="Microsoft YaHei" pitchFamily="34" charset="-122"/>
                <a:cs typeface="Microsoft YaHei" pitchFamily="34" charset="-120"/>
              </a:rPr>
              <a:t>04</a:t>
            </a:r>
            <a:endParaRPr lang="en-US" sz="1230" dirty="0"/>
          </a:p>
        </p:txBody>
      </p:sp>
      <p:sp>
        <p:nvSpPr>
          <p:cNvPr id="31" name="Text 26">
            <a:extLst>
              <a:ext uri="{FF2B5EF4-FFF2-40B4-BE49-F238E27FC236}">
                <a16:creationId xmlns:a16="http://schemas.microsoft.com/office/drawing/2014/main" id="{F3C15853-0766-A8CA-27D7-54538F74C7E8}"/>
              </a:ext>
            </a:extLst>
          </p:cNvPr>
          <p:cNvSpPr txBox="1"/>
          <p:nvPr/>
        </p:nvSpPr>
        <p:spPr>
          <a:xfrm>
            <a:off x="6940296" y="3525012"/>
            <a:ext cx="4608576" cy="301752"/>
          </a:xfrm>
          <a:prstGeom prst="rect">
            <a:avLst/>
          </a:prstGeom>
          <a:noFill/>
          <a:ln/>
        </p:spPr>
        <p:txBody>
          <a:bodyPr wrap="square" lIns="0" tIns="0" rIns="0" bIns="0" rtlCol="0" anchor="ctr">
            <a:normAutofit/>
          </a:bodyPr>
          <a:lstStyle/>
          <a:p>
            <a:pPr marL="0" indent="0" algn="l">
              <a:lnSpc>
                <a:spcPct val="100000"/>
              </a:lnSpc>
              <a:buNone/>
            </a:pPr>
            <a:r>
              <a:rPr lang="en-US" sz="1635" b="1" dirty="0">
                <a:solidFill>
                  <a:srgbClr val="167E53"/>
                </a:solidFill>
                <a:latin typeface="Microsoft YaHei" pitchFamily="34" charset="0"/>
                <a:ea typeface="Microsoft YaHei" pitchFamily="34" charset="-122"/>
                <a:cs typeface="Microsoft YaHei" pitchFamily="34" charset="-120"/>
              </a:rPr>
              <a:t>修复后效果</a:t>
            </a:r>
            <a:endParaRPr lang="en-US" sz="1635" dirty="0"/>
          </a:p>
        </p:txBody>
      </p:sp>
      <p:sp>
        <p:nvSpPr>
          <p:cNvPr id="32" name="Shape 27">
            <a:extLst>
              <a:ext uri="{FF2B5EF4-FFF2-40B4-BE49-F238E27FC236}">
                <a16:creationId xmlns:a16="http://schemas.microsoft.com/office/drawing/2014/main" id="{2F641BA6-B0EF-38AA-DAA9-ABA19175AE58}"/>
              </a:ext>
            </a:extLst>
          </p:cNvPr>
          <p:cNvSpPr/>
          <p:nvPr/>
        </p:nvSpPr>
        <p:spPr>
          <a:xfrm>
            <a:off x="749808" y="1920240"/>
            <a:ext cx="5010912" cy="329184"/>
          </a:xfrm>
          <a:prstGeom prst="roundRect">
            <a:avLst>
              <a:gd name="adj" fmla="val 19444"/>
            </a:avLst>
          </a:prstGeom>
          <a:solidFill>
            <a:srgbClr val="EDF3FA"/>
          </a:solidFill>
          <a:ln w="12700">
            <a:solidFill>
              <a:srgbClr val="EDF3FA">
                <a:alpha val="0"/>
              </a:srgbClr>
            </a:solidFill>
            <a:prstDash val="solid"/>
          </a:ln>
        </p:spPr>
      </p:sp>
      <p:sp>
        <p:nvSpPr>
          <p:cNvPr id="33" name="Text 28">
            <a:extLst>
              <a:ext uri="{FF2B5EF4-FFF2-40B4-BE49-F238E27FC236}">
                <a16:creationId xmlns:a16="http://schemas.microsoft.com/office/drawing/2014/main" id="{081E004C-8D8C-6FA6-407A-ED0F8263FB63}"/>
              </a:ext>
            </a:extLst>
          </p:cNvPr>
          <p:cNvSpPr txBox="1"/>
          <p:nvPr/>
        </p:nvSpPr>
        <p:spPr>
          <a:xfrm>
            <a:off x="886968" y="1975104"/>
            <a:ext cx="4791456" cy="201168"/>
          </a:xfrm>
          <a:prstGeom prst="rect">
            <a:avLst/>
          </a:prstGeom>
          <a:noFill/>
          <a:ln/>
        </p:spPr>
        <p:txBody>
          <a:bodyPr wrap="square" lIns="0" tIns="0" rIns="0" bIns="0" rtlCol="0" anchor="ctr">
            <a:normAutofit/>
          </a:bodyPr>
          <a:lstStyle/>
          <a:p>
            <a:pPr marL="0" indent="0" algn="l">
              <a:lnSpc>
                <a:spcPct val="100000"/>
              </a:lnSpc>
              <a:buNone/>
            </a:pPr>
            <a:r>
              <a:rPr lang="en-US" sz="1200" b="1" dirty="0">
                <a:solidFill>
                  <a:srgbClr val="0A5AA0"/>
                </a:solidFill>
                <a:latin typeface="Aptos" pitchFamily="34" charset="0"/>
                <a:ea typeface="Aptos" pitchFamily="34" charset="-122"/>
                <a:cs typeface="Aptos" pitchFamily="34" charset="-120"/>
              </a:rPr>
              <a:t>vllm_config.quant_config  →  AscendModelSlimConfig</a:t>
            </a:r>
            <a:endParaRPr lang="en-US" sz="1200" dirty="0"/>
          </a:p>
        </p:txBody>
      </p:sp>
      <p:sp>
        <p:nvSpPr>
          <p:cNvPr id="34" name="Shape 29">
            <a:extLst>
              <a:ext uri="{FF2B5EF4-FFF2-40B4-BE49-F238E27FC236}">
                <a16:creationId xmlns:a16="http://schemas.microsoft.com/office/drawing/2014/main" id="{5D27C9E7-7325-84C4-8C3E-E1F57D929DB2}"/>
              </a:ext>
            </a:extLst>
          </p:cNvPr>
          <p:cNvSpPr/>
          <p:nvPr/>
        </p:nvSpPr>
        <p:spPr>
          <a:xfrm>
            <a:off x="804672" y="2491740"/>
            <a:ext cx="68580" cy="68580"/>
          </a:xfrm>
          <a:prstGeom prst="ellipse">
            <a:avLst/>
          </a:prstGeom>
          <a:solidFill>
            <a:srgbClr val="0A5AA0"/>
          </a:solidFill>
          <a:ln w="12700">
            <a:solidFill>
              <a:srgbClr val="0A5AA0"/>
            </a:solidFill>
            <a:prstDash val="solid"/>
          </a:ln>
        </p:spPr>
      </p:sp>
      <p:sp>
        <p:nvSpPr>
          <p:cNvPr id="35" name="Text 30">
            <a:extLst>
              <a:ext uri="{FF2B5EF4-FFF2-40B4-BE49-F238E27FC236}">
                <a16:creationId xmlns:a16="http://schemas.microsoft.com/office/drawing/2014/main" id="{F0AFA95D-8B2E-58E8-7B23-0B919C94141E}"/>
              </a:ext>
            </a:extLst>
          </p:cNvPr>
          <p:cNvSpPr txBox="1"/>
          <p:nvPr/>
        </p:nvSpPr>
        <p:spPr>
          <a:xfrm>
            <a:off x="960120" y="2404872"/>
            <a:ext cx="4910328" cy="292608"/>
          </a:xfrm>
          <a:prstGeom prst="rect">
            <a:avLst/>
          </a:prstGeom>
          <a:noFill/>
          <a:ln/>
        </p:spPr>
        <p:txBody>
          <a:bodyPr wrap="square" lIns="0" tIns="0" rIns="0" bIns="0" rtlCol="0" anchor="ctr">
            <a:normAutofit/>
          </a:bodyPr>
          <a:lstStyle/>
          <a:p>
            <a:pPr marL="0" indent="0" algn="l">
              <a:lnSpc>
                <a:spcPct val="100000"/>
              </a:lnSpc>
              <a:buNone/>
            </a:pPr>
            <a:r>
              <a:rPr lang="en-US" sz="1195" dirty="0">
                <a:solidFill>
                  <a:srgbClr val="172C49"/>
                </a:solidFill>
                <a:latin typeface="Microsoft YaHei" pitchFamily="34" charset="0"/>
                <a:ea typeface="Microsoft YaHei" pitchFamily="34" charset="-122"/>
                <a:cs typeface="Microsoft YaHei" pitchFamily="34" charset="-120"/>
              </a:rPr>
              <a:t>多模态投影 embed_vision：内部已有 ReplicatedLinear</a:t>
            </a:r>
            <a:endParaRPr lang="en-US" sz="1195" dirty="0"/>
          </a:p>
        </p:txBody>
      </p:sp>
      <p:sp>
        <p:nvSpPr>
          <p:cNvPr id="36" name="Shape 31">
            <a:extLst>
              <a:ext uri="{FF2B5EF4-FFF2-40B4-BE49-F238E27FC236}">
                <a16:creationId xmlns:a16="http://schemas.microsoft.com/office/drawing/2014/main" id="{9DF4ADC2-1320-6D70-493A-D19D3F7257A4}"/>
              </a:ext>
            </a:extLst>
          </p:cNvPr>
          <p:cNvSpPr/>
          <p:nvPr/>
        </p:nvSpPr>
        <p:spPr>
          <a:xfrm>
            <a:off x="804672" y="2811780"/>
            <a:ext cx="68580" cy="68580"/>
          </a:xfrm>
          <a:prstGeom prst="ellipse">
            <a:avLst/>
          </a:prstGeom>
          <a:solidFill>
            <a:srgbClr val="0A5AA0"/>
          </a:solidFill>
          <a:ln w="12700">
            <a:solidFill>
              <a:srgbClr val="0A5AA0"/>
            </a:solidFill>
            <a:prstDash val="solid"/>
          </a:ln>
        </p:spPr>
      </p:sp>
      <p:sp>
        <p:nvSpPr>
          <p:cNvPr id="37" name="Text 32">
            <a:extLst>
              <a:ext uri="{FF2B5EF4-FFF2-40B4-BE49-F238E27FC236}">
                <a16:creationId xmlns:a16="http://schemas.microsoft.com/office/drawing/2014/main" id="{CBC56BE5-D313-BC4C-11AB-7E16F88F621E}"/>
              </a:ext>
            </a:extLst>
          </p:cNvPr>
          <p:cNvSpPr txBox="1"/>
          <p:nvPr/>
        </p:nvSpPr>
        <p:spPr>
          <a:xfrm>
            <a:off x="960120" y="2724912"/>
            <a:ext cx="4910328" cy="292608"/>
          </a:xfrm>
          <a:prstGeom prst="rect">
            <a:avLst/>
          </a:prstGeom>
          <a:noFill/>
          <a:ln/>
        </p:spPr>
        <p:txBody>
          <a:bodyPr wrap="square" lIns="0" tIns="0" rIns="0" bIns="0" rtlCol="0" anchor="ctr">
            <a:normAutofit/>
          </a:bodyPr>
          <a:lstStyle/>
          <a:p>
            <a:pPr marL="0" indent="0" algn="l">
              <a:lnSpc>
                <a:spcPct val="100000"/>
              </a:lnSpc>
              <a:buNone/>
            </a:pPr>
            <a:r>
              <a:rPr lang="en-US" sz="1165" dirty="0">
                <a:solidFill>
                  <a:srgbClr val="172C49"/>
                </a:solidFill>
                <a:latin typeface="Microsoft YaHei" pitchFamily="34" charset="0"/>
                <a:ea typeface="Microsoft YaHei" pitchFamily="34" charset="-122"/>
                <a:cs typeface="Microsoft YaHei" pitchFamily="34" charset="-120"/>
              </a:rPr>
              <a:t>视觉编码器 vision_tower：由 HF AutoModel 构建 nn.Linear</a:t>
            </a:r>
            <a:endParaRPr lang="en-US" sz="1165" dirty="0"/>
          </a:p>
        </p:txBody>
      </p:sp>
      <p:sp>
        <p:nvSpPr>
          <p:cNvPr id="38" name="Shape 33">
            <a:extLst>
              <a:ext uri="{FF2B5EF4-FFF2-40B4-BE49-F238E27FC236}">
                <a16:creationId xmlns:a16="http://schemas.microsoft.com/office/drawing/2014/main" id="{217D1DCC-59E5-4E63-B7BE-825F0629B8BB}"/>
              </a:ext>
            </a:extLst>
          </p:cNvPr>
          <p:cNvSpPr/>
          <p:nvPr/>
        </p:nvSpPr>
        <p:spPr>
          <a:xfrm>
            <a:off x="795528" y="3054096"/>
            <a:ext cx="4892040" cy="192024"/>
          </a:xfrm>
          <a:prstGeom prst="roundRect">
            <a:avLst>
              <a:gd name="adj" fmla="val 19048"/>
            </a:avLst>
          </a:prstGeom>
          <a:solidFill>
            <a:srgbClr val="FFF3DF"/>
          </a:solidFill>
          <a:ln w="12700">
            <a:solidFill>
              <a:srgbClr val="FFF3DF">
                <a:alpha val="0"/>
              </a:srgbClr>
            </a:solidFill>
            <a:prstDash val="solid"/>
          </a:ln>
        </p:spPr>
      </p:sp>
      <p:sp>
        <p:nvSpPr>
          <p:cNvPr id="39" name="Text 34">
            <a:extLst>
              <a:ext uri="{FF2B5EF4-FFF2-40B4-BE49-F238E27FC236}">
                <a16:creationId xmlns:a16="http://schemas.microsoft.com/office/drawing/2014/main" id="{A71092F2-1ABD-0649-43F1-EE27D56FEDA7}"/>
              </a:ext>
            </a:extLst>
          </p:cNvPr>
          <p:cNvSpPr txBox="1"/>
          <p:nvPr/>
        </p:nvSpPr>
        <p:spPr>
          <a:xfrm>
            <a:off x="868680" y="3063240"/>
            <a:ext cx="4709160" cy="155448"/>
          </a:xfrm>
          <a:prstGeom prst="rect">
            <a:avLst/>
          </a:prstGeom>
          <a:noFill/>
          <a:ln/>
        </p:spPr>
        <p:txBody>
          <a:bodyPr wrap="square" lIns="0" tIns="0" rIns="0" bIns="0" rtlCol="0" anchor="ctr">
            <a:normAutofit lnSpcReduction="10000"/>
          </a:bodyPr>
          <a:lstStyle/>
          <a:p>
            <a:pPr marL="0" indent="0" algn="l">
              <a:lnSpc>
                <a:spcPct val="100000"/>
              </a:lnSpc>
              <a:buNone/>
            </a:pPr>
            <a:r>
              <a:rPr lang="en-US" sz="1090" b="1" dirty="0">
                <a:solidFill>
                  <a:srgbClr val="B36C0D"/>
                </a:solidFill>
                <a:latin typeface="Microsoft YaHei" pitchFamily="34" charset="0"/>
                <a:ea typeface="Microsoft YaHei" pitchFamily="34" charset="-122"/>
                <a:cs typeface="Microsoft YaHei" pitchFamily="34" charset="-120"/>
              </a:rPr>
              <a:t>ViT intermediate_size = 4304，无法被 64 整除</a:t>
            </a:r>
            <a:endParaRPr lang="en-US" sz="1090" dirty="0"/>
          </a:p>
        </p:txBody>
      </p:sp>
      <p:sp>
        <p:nvSpPr>
          <p:cNvPr id="40" name="Shape 35">
            <a:extLst>
              <a:ext uri="{FF2B5EF4-FFF2-40B4-BE49-F238E27FC236}">
                <a16:creationId xmlns:a16="http://schemas.microsoft.com/office/drawing/2014/main" id="{39FDE7CB-844D-9603-FCF7-616D656322DB}"/>
              </a:ext>
            </a:extLst>
          </p:cNvPr>
          <p:cNvSpPr/>
          <p:nvPr/>
        </p:nvSpPr>
        <p:spPr>
          <a:xfrm>
            <a:off x="6446520" y="1965960"/>
            <a:ext cx="1481328" cy="484632"/>
          </a:xfrm>
          <a:prstGeom prst="roundRect">
            <a:avLst>
              <a:gd name="adj" fmla="val 16981"/>
            </a:avLst>
          </a:prstGeom>
          <a:solidFill>
            <a:srgbClr val="EDF3FA"/>
          </a:solidFill>
          <a:ln w="12700">
            <a:solidFill>
              <a:srgbClr val="EDF3FA">
                <a:alpha val="0"/>
              </a:srgbClr>
            </a:solidFill>
            <a:prstDash val="solid"/>
          </a:ln>
        </p:spPr>
      </p:sp>
      <p:sp>
        <p:nvSpPr>
          <p:cNvPr id="41" name="Text 36">
            <a:extLst>
              <a:ext uri="{FF2B5EF4-FFF2-40B4-BE49-F238E27FC236}">
                <a16:creationId xmlns:a16="http://schemas.microsoft.com/office/drawing/2014/main" id="{54CADC70-CF28-5104-629C-2C1F217CF46D}"/>
              </a:ext>
            </a:extLst>
          </p:cNvPr>
          <p:cNvSpPr txBox="1"/>
          <p:nvPr/>
        </p:nvSpPr>
        <p:spPr>
          <a:xfrm>
            <a:off x="6519672" y="2020824"/>
            <a:ext cx="1335024" cy="365760"/>
          </a:xfrm>
          <a:prstGeom prst="rect">
            <a:avLst/>
          </a:prstGeom>
          <a:noFill/>
          <a:ln/>
        </p:spPr>
        <p:txBody>
          <a:bodyPr wrap="square" lIns="0" tIns="0" rIns="0" bIns="0" rtlCol="0" anchor="ctr">
            <a:normAutofit/>
          </a:bodyPr>
          <a:lstStyle/>
          <a:p>
            <a:pPr marL="0" indent="0" algn="ctr">
              <a:lnSpc>
                <a:spcPct val="100000"/>
              </a:lnSpc>
              <a:buNone/>
            </a:pPr>
            <a:r>
              <a:rPr lang="en-US" sz="1125" b="1" dirty="0">
                <a:solidFill>
                  <a:srgbClr val="172C49"/>
                </a:solidFill>
                <a:latin typeface="Microsoft YaHei" pitchFamily="34" charset="0"/>
                <a:ea typeface="Microsoft YaHei" pitchFamily="34" charset="-122"/>
                <a:cs typeface="Microsoft YaHei" pitchFamily="34" charset="-120"/>
              </a:rPr>
              <a:t>原有通用规则</a:t>
            </a:r>
            <a:endParaRPr lang="en-US" sz="1125" dirty="0"/>
          </a:p>
          <a:p>
            <a:pPr marL="0" indent="0" algn="ctr">
              <a:lnSpc>
                <a:spcPct val="100000"/>
              </a:lnSpc>
              <a:buNone/>
            </a:pPr>
            <a:r>
              <a:rPr lang="en-US" sz="1125" b="1" dirty="0">
                <a:solidFill>
                  <a:srgbClr val="172C49"/>
                </a:solidFill>
                <a:latin typeface="Microsoft YaHei" pitchFamily="34" charset="0"/>
                <a:ea typeface="Microsoft YaHei" pitchFamily="34" charset="-122"/>
                <a:cs typeface="Microsoft YaHei" pitchFamily="34" charset="-120"/>
              </a:rPr>
              <a:t>64 对齐判断</a:t>
            </a:r>
            <a:endParaRPr lang="en-US" sz="1125" dirty="0"/>
          </a:p>
        </p:txBody>
      </p:sp>
      <p:sp>
        <p:nvSpPr>
          <p:cNvPr id="42" name="Shape 37">
            <a:extLst>
              <a:ext uri="{FF2B5EF4-FFF2-40B4-BE49-F238E27FC236}">
                <a16:creationId xmlns:a16="http://schemas.microsoft.com/office/drawing/2014/main" id="{4110B5FF-BE7E-559C-54A9-D159343A1610}"/>
              </a:ext>
            </a:extLst>
          </p:cNvPr>
          <p:cNvSpPr/>
          <p:nvPr/>
        </p:nvSpPr>
        <p:spPr>
          <a:xfrm>
            <a:off x="7964424" y="2203704"/>
            <a:ext cx="256032" cy="0"/>
          </a:xfrm>
          <a:prstGeom prst="line">
            <a:avLst/>
          </a:prstGeom>
          <a:noFill/>
          <a:ln w="24130">
            <a:solidFill>
              <a:srgbClr val="CA3836"/>
            </a:solidFill>
            <a:prstDash val="solid"/>
            <a:headEnd type="none"/>
            <a:tailEnd type="triangle"/>
          </a:ln>
        </p:spPr>
      </p:sp>
      <p:sp>
        <p:nvSpPr>
          <p:cNvPr id="43" name="Shape 38">
            <a:extLst>
              <a:ext uri="{FF2B5EF4-FFF2-40B4-BE49-F238E27FC236}">
                <a16:creationId xmlns:a16="http://schemas.microsoft.com/office/drawing/2014/main" id="{51293D64-3257-3DA0-6053-EE84B165A5F9}"/>
              </a:ext>
            </a:extLst>
          </p:cNvPr>
          <p:cNvSpPr/>
          <p:nvPr/>
        </p:nvSpPr>
        <p:spPr>
          <a:xfrm>
            <a:off x="8266176" y="1965960"/>
            <a:ext cx="1399032" cy="484632"/>
          </a:xfrm>
          <a:prstGeom prst="roundRect">
            <a:avLst>
              <a:gd name="adj" fmla="val 16981"/>
            </a:avLst>
          </a:prstGeom>
          <a:solidFill>
            <a:srgbClr val="FFF0F0"/>
          </a:solidFill>
          <a:ln w="9525">
            <a:solidFill>
              <a:srgbClr val="EEB4B4"/>
            </a:solidFill>
            <a:prstDash val="solid"/>
          </a:ln>
        </p:spPr>
      </p:sp>
      <p:sp>
        <p:nvSpPr>
          <p:cNvPr id="44" name="Text 39">
            <a:extLst>
              <a:ext uri="{FF2B5EF4-FFF2-40B4-BE49-F238E27FC236}">
                <a16:creationId xmlns:a16="http://schemas.microsoft.com/office/drawing/2014/main" id="{2CE2F067-7EF0-FC98-CBB5-5C027178D35E}"/>
              </a:ext>
            </a:extLst>
          </p:cNvPr>
          <p:cNvSpPr txBox="1"/>
          <p:nvPr/>
        </p:nvSpPr>
        <p:spPr>
          <a:xfrm>
            <a:off x="8357616" y="2016252"/>
            <a:ext cx="1197864" cy="374904"/>
          </a:xfrm>
          <a:prstGeom prst="rect">
            <a:avLst/>
          </a:prstGeom>
          <a:noFill/>
          <a:ln/>
        </p:spPr>
        <p:txBody>
          <a:bodyPr wrap="square" lIns="0" tIns="0" rIns="0" bIns="0" rtlCol="0" anchor="ctr">
            <a:normAutofit/>
          </a:bodyPr>
          <a:lstStyle/>
          <a:p>
            <a:pPr marL="0" indent="0" algn="ctr">
              <a:lnSpc>
                <a:spcPct val="100000"/>
              </a:lnSpc>
              <a:buNone/>
            </a:pPr>
            <a:r>
              <a:rPr lang="en-US" sz="1135" b="1" dirty="0">
                <a:solidFill>
                  <a:srgbClr val="CA3836"/>
                </a:solidFill>
                <a:latin typeface="Microsoft YaHei" pitchFamily="34" charset="0"/>
                <a:ea typeface="Microsoft YaHei" pitchFamily="34" charset="-122"/>
                <a:cs typeface="Microsoft YaHei" pitchFamily="34" charset="-120"/>
              </a:rPr>
              <a:t>quant_config</a:t>
            </a:r>
            <a:endParaRPr lang="en-US" sz="1135" dirty="0"/>
          </a:p>
          <a:p>
            <a:pPr marL="0" indent="0" algn="ctr">
              <a:lnSpc>
                <a:spcPct val="100000"/>
              </a:lnSpc>
              <a:buNone/>
            </a:pPr>
            <a:r>
              <a:rPr lang="en-US" sz="1135" b="1" dirty="0">
                <a:solidFill>
                  <a:srgbClr val="CA3836"/>
                </a:solidFill>
                <a:latin typeface="Microsoft YaHei" pitchFamily="34" charset="0"/>
                <a:ea typeface="Microsoft YaHei" pitchFamily="34" charset="-122"/>
                <a:cs typeface="Microsoft YaHei" pitchFamily="34" charset="-120"/>
              </a:rPr>
              <a:t>→ None</a:t>
            </a:r>
            <a:endParaRPr lang="en-US" sz="1135" dirty="0"/>
          </a:p>
        </p:txBody>
      </p:sp>
      <p:sp>
        <p:nvSpPr>
          <p:cNvPr id="45" name="Shape 40">
            <a:extLst>
              <a:ext uri="{FF2B5EF4-FFF2-40B4-BE49-F238E27FC236}">
                <a16:creationId xmlns:a16="http://schemas.microsoft.com/office/drawing/2014/main" id="{D999261B-DAE0-56D6-9D5B-A3B92D5640DA}"/>
              </a:ext>
            </a:extLst>
          </p:cNvPr>
          <p:cNvSpPr/>
          <p:nvPr/>
        </p:nvSpPr>
        <p:spPr>
          <a:xfrm>
            <a:off x="9701784" y="2203704"/>
            <a:ext cx="256032" cy="0"/>
          </a:xfrm>
          <a:prstGeom prst="line">
            <a:avLst/>
          </a:prstGeom>
          <a:noFill/>
          <a:ln w="24130">
            <a:solidFill>
              <a:srgbClr val="CA3836"/>
            </a:solidFill>
            <a:prstDash val="solid"/>
            <a:headEnd type="none"/>
            <a:tailEnd type="triangle"/>
          </a:ln>
        </p:spPr>
      </p:sp>
      <p:sp>
        <p:nvSpPr>
          <p:cNvPr id="46" name="Shape 41">
            <a:extLst>
              <a:ext uri="{FF2B5EF4-FFF2-40B4-BE49-F238E27FC236}">
                <a16:creationId xmlns:a16="http://schemas.microsoft.com/office/drawing/2014/main" id="{45B6D494-F69D-A196-7B4C-F7D401F705E2}"/>
              </a:ext>
            </a:extLst>
          </p:cNvPr>
          <p:cNvSpPr/>
          <p:nvPr/>
        </p:nvSpPr>
        <p:spPr>
          <a:xfrm>
            <a:off x="10003536" y="1965960"/>
            <a:ext cx="1435608" cy="484632"/>
          </a:xfrm>
          <a:prstGeom prst="roundRect">
            <a:avLst>
              <a:gd name="adj" fmla="val 16981"/>
            </a:avLst>
          </a:prstGeom>
          <a:solidFill>
            <a:srgbClr val="FFF0F0"/>
          </a:solidFill>
          <a:ln w="9525">
            <a:solidFill>
              <a:srgbClr val="EEB4B4"/>
            </a:solidFill>
            <a:prstDash val="solid"/>
          </a:ln>
        </p:spPr>
      </p:sp>
      <p:sp>
        <p:nvSpPr>
          <p:cNvPr id="47" name="Text 42">
            <a:extLst>
              <a:ext uri="{FF2B5EF4-FFF2-40B4-BE49-F238E27FC236}">
                <a16:creationId xmlns:a16="http://schemas.microsoft.com/office/drawing/2014/main" id="{F37055AA-3C33-CC87-1F9E-BE01CA5DD87D}"/>
              </a:ext>
            </a:extLst>
          </p:cNvPr>
          <p:cNvSpPr txBox="1"/>
          <p:nvPr/>
        </p:nvSpPr>
        <p:spPr>
          <a:xfrm>
            <a:off x="10076688" y="2016252"/>
            <a:ext cx="1280160" cy="374904"/>
          </a:xfrm>
          <a:prstGeom prst="rect">
            <a:avLst/>
          </a:prstGeom>
          <a:noFill/>
          <a:ln/>
        </p:spPr>
        <p:txBody>
          <a:bodyPr wrap="square" lIns="0" tIns="0" rIns="0" bIns="0" rtlCol="0" anchor="ctr">
            <a:normAutofit/>
          </a:bodyPr>
          <a:lstStyle/>
          <a:p>
            <a:pPr marL="0" indent="0" algn="ctr">
              <a:lnSpc>
                <a:spcPct val="100000"/>
              </a:lnSpc>
              <a:buNone/>
            </a:pPr>
            <a:r>
              <a:rPr lang="en-US" sz="1070" b="1" dirty="0">
                <a:solidFill>
                  <a:srgbClr val="CA3836"/>
                </a:solidFill>
                <a:latin typeface="Microsoft YaHei" pitchFamily="34" charset="0"/>
                <a:ea typeface="Microsoft YaHei" pitchFamily="34" charset="-122"/>
                <a:cs typeface="Microsoft YaHei" pitchFamily="34" charset="-120"/>
              </a:rPr>
              <a:t>ViT 量化方法</a:t>
            </a:r>
            <a:endParaRPr lang="en-US" sz="1070" dirty="0"/>
          </a:p>
          <a:p>
            <a:pPr marL="0" indent="0" algn="ctr">
              <a:lnSpc>
                <a:spcPct val="100000"/>
              </a:lnSpc>
              <a:buNone/>
            </a:pPr>
            <a:r>
              <a:rPr lang="en-US" sz="1070" b="1" dirty="0">
                <a:solidFill>
                  <a:srgbClr val="CA3836"/>
                </a:solidFill>
                <a:latin typeface="Microsoft YaHei" pitchFamily="34" charset="0"/>
                <a:ea typeface="Microsoft YaHei" pitchFamily="34" charset="-122"/>
                <a:cs typeface="Microsoft YaHei" pitchFamily="34" charset="-120"/>
              </a:rPr>
              <a:t>未正确接入</a:t>
            </a:r>
            <a:endParaRPr lang="en-US" sz="1070" dirty="0"/>
          </a:p>
        </p:txBody>
      </p:sp>
      <p:sp>
        <p:nvSpPr>
          <p:cNvPr id="48" name="Shape 43">
            <a:extLst>
              <a:ext uri="{FF2B5EF4-FFF2-40B4-BE49-F238E27FC236}">
                <a16:creationId xmlns:a16="http://schemas.microsoft.com/office/drawing/2014/main" id="{A7A4A062-5B30-0E42-FEA5-9771AACA5E08}"/>
              </a:ext>
            </a:extLst>
          </p:cNvPr>
          <p:cNvSpPr/>
          <p:nvPr/>
        </p:nvSpPr>
        <p:spPr>
          <a:xfrm>
            <a:off x="6483096" y="2638044"/>
            <a:ext cx="68580" cy="68580"/>
          </a:xfrm>
          <a:prstGeom prst="ellipse">
            <a:avLst/>
          </a:prstGeom>
          <a:solidFill>
            <a:srgbClr val="CA3836"/>
          </a:solidFill>
          <a:ln w="12700">
            <a:solidFill>
              <a:srgbClr val="CA3836"/>
            </a:solidFill>
            <a:prstDash val="solid"/>
          </a:ln>
        </p:spPr>
      </p:sp>
      <p:sp>
        <p:nvSpPr>
          <p:cNvPr id="49" name="Text 44">
            <a:extLst>
              <a:ext uri="{FF2B5EF4-FFF2-40B4-BE49-F238E27FC236}">
                <a16:creationId xmlns:a16="http://schemas.microsoft.com/office/drawing/2014/main" id="{2C3EAEFE-7062-C39F-E89E-3A51918ACD62}"/>
              </a:ext>
            </a:extLst>
          </p:cNvPr>
          <p:cNvSpPr txBox="1"/>
          <p:nvPr/>
        </p:nvSpPr>
        <p:spPr>
          <a:xfrm>
            <a:off x="6638544" y="2551176"/>
            <a:ext cx="4873752" cy="292608"/>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172C49"/>
                </a:solidFill>
                <a:latin typeface="Microsoft YaHei" pitchFamily="34" charset="0"/>
                <a:ea typeface="Microsoft YaHei" pitchFamily="34" charset="-122"/>
                <a:cs typeface="Microsoft YaHei" pitchFamily="34" charset="-120"/>
              </a:rPr>
              <a:t>4304 % 64 = 16，旧逻辑可能过滤 Vision 量化配置</a:t>
            </a:r>
            <a:endParaRPr lang="en-US" sz="1150" dirty="0"/>
          </a:p>
        </p:txBody>
      </p:sp>
      <p:sp>
        <p:nvSpPr>
          <p:cNvPr id="50" name="Shape 45">
            <a:extLst>
              <a:ext uri="{FF2B5EF4-FFF2-40B4-BE49-F238E27FC236}">
                <a16:creationId xmlns:a16="http://schemas.microsoft.com/office/drawing/2014/main" id="{9E471BB1-2755-EAFF-43BD-355FD5348EA5}"/>
              </a:ext>
            </a:extLst>
          </p:cNvPr>
          <p:cNvSpPr/>
          <p:nvPr/>
        </p:nvSpPr>
        <p:spPr>
          <a:xfrm>
            <a:off x="6483096" y="2930652"/>
            <a:ext cx="68580" cy="68580"/>
          </a:xfrm>
          <a:prstGeom prst="ellipse">
            <a:avLst/>
          </a:prstGeom>
          <a:solidFill>
            <a:srgbClr val="CA3836"/>
          </a:solidFill>
          <a:ln w="12700">
            <a:solidFill>
              <a:srgbClr val="CA3836"/>
            </a:solidFill>
            <a:prstDash val="solid"/>
          </a:ln>
        </p:spPr>
      </p:sp>
      <p:sp>
        <p:nvSpPr>
          <p:cNvPr id="51" name="Text 46">
            <a:extLst>
              <a:ext uri="{FF2B5EF4-FFF2-40B4-BE49-F238E27FC236}">
                <a16:creationId xmlns:a16="http://schemas.microsoft.com/office/drawing/2014/main" id="{5F0A9E87-CBD6-C49C-E9C0-23E1785D1B4B}"/>
              </a:ext>
            </a:extLst>
          </p:cNvPr>
          <p:cNvSpPr txBox="1"/>
          <p:nvPr/>
        </p:nvSpPr>
        <p:spPr>
          <a:xfrm>
            <a:off x="6638544" y="2843784"/>
            <a:ext cx="4873752" cy="292608"/>
          </a:xfrm>
          <a:prstGeom prst="rect">
            <a:avLst/>
          </a:prstGeom>
          <a:noFill/>
          <a:ln/>
        </p:spPr>
        <p:txBody>
          <a:bodyPr wrap="square" lIns="0" tIns="0" rIns="0" bIns="0" rtlCol="0" anchor="ctr">
            <a:normAutofit/>
          </a:bodyPr>
          <a:lstStyle/>
          <a:p>
            <a:pPr marL="0" indent="0" algn="l">
              <a:lnSpc>
                <a:spcPct val="100000"/>
              </a:lnSpc>
              <a:buNone/>
            </a:pPr>
            <a:r>
              <a:rPr lang="en-US" sz="1130" dirty="0">
                <a:solidFill>
                  <a:srgbClr val="172C49"/>
                </a:solidFill>
                <a:latin typeface="Microsoft YaHei" pitchFamily="34" charset="0"/>
                <a:ea typeface="Microsoft YaHei" pitchFamily="34" charset="-122"/>
                <a:cs typeface="Microsoft YaHei" pitchFamily="34" charset="-120"/>
              </a:rPr>
              <a:t>原生 nn.Linear 不具备 vLLM 的 quant_method 选择机制</a:t>
            </a:r>
            <a:endParaRPr lang="en-US" sz="1130" dirty="0"/>
          </a:p>
        </p:txBody>
      </p:sp>
      <p:sp>
        <p:nvSpPr>
          <p:cNvPr id="52" name="Shape 47">
            <a:extLst>
              <a:ext uri="{FF2B5EF4-FFF2-40B4-BE49-F238E27FC236}">
                <a16:creationId xmlns:a16="http://schemas.microsoft.com/office/drawing/2014/main" id="{5C3F461D-5E1F-0A29-5641-6242DEB12F1B}"/>
              </a:ext>
            </a:extLst>
          </p:cNvPr>
          <p:cNvSpPr/>
          <p:nvPr/>
        </p:nvSpPr>
        <p:spPr>
          <a:xfrm>
            <a:off x="6446520" y="3127248"/>
            <a:ext cx="5029200" cy="109728"/>
          </a:xfrm>
          <a:prstGeom prst="roundRect">
            <a:avLst>
              <a:gd name="adj" fmla="val 16667"/>
            </a:avLst>
          </a:prstGeom>
          <a:solidFill>
            <a:srgbClr val="FFDCDC"/>
          </a:solidFill>
          <a:ln w="12700">
            <a:solidFill>
              <a:srgbClr val="FFDCDC">
                <a:alpha val="0"/>
              </a:srgbClr>
            </a:solidFill>
            <a:prstDash val="solid"/>
          </a:ln>
        </p:spPr>
        <p:txBody>
          <a:bodyPr/>
          <a:lstStyle/>
          <a:p>
            <a:endParaRPr lang="zh-CN" altLang="en-US"/>
          </a:p>
        </p:txBody>
      </p:sp>
      <p:sp>
        <p:nvSpPr>
          <p:cNvPr id="53" name="Shape 48">
            <a:extLst>
              <a:ext uri="{FF2B5EF4-FFF2-40B4-BE49-F238E27FC236}">
                <a16:creationId xmlns:a16="http://schemas.microsoft.com/office/drawing/2014/main" id="{5D6E25EA-5829-FC20-07F2-6E35261E6DA9}"/>
              </a:ext>
            </a:extLst>
          </p:cNvPr>
          <p:cNvSpPr/>
          <p:nvPr/>
        </p:nvSpPr>
        <p:spPr>
          <a:xfrm>
            <a:off x="758952" y="3959352"/>
            <a:ext cx="4992624" cy="320040"/>
          </a:xfrm>
          <a:prstGeom prst="roundRect">
            <a:avLst>
              <a:gd name="adj" fmla="val 20000"/>
            </a:avLst>
          </a:prstGeom>
          <a:solidFill>
            <a:srgbClr val="EFF3F8"/>
          </a:solidFill>
          <a:ln w="12700">
            <a:solidFill>
              <a:srgbClr val="EFF3F8">
                <a:alpha val="0"/>
              </a:srgbClr>
            </a:solidFill>
            <a:prstDash val="solid"/>
          </a:ln>
        </p:spPr>
      </p:sp>
      <p:sp>
        <p:nvSpPr>
          <p:cNvPr id="54" name="Text 49">
            <a:extLst>
              <a:ext uri="{FF2B5EF4-FFF2-40B4-BE49-F238E27FC236}">
                <a16:creationId xmlns:a16="http://schemas.microsoft.com/office/drawing/2014/main" id="{3BD4513E-62E7-59C6-CD5B-C94735C60ACD}"/>
              </a:ext>
            </a:extLst>
          </p:cNvPr>
          <p:cNvSpPr txBox="1"/>
          <p:nvPr/>
        </p:nvSpPr>
        <p:spPr>
          <a:xfrm>
            <a:off x="914400" y="4032504"/>
            <a:ext cx="4709160" cy="164592"/>
          </a:xfrm>
          <a:prstGeom prst="rect">
            <a:avLst/>
          </a:prstGeom>
          <a:noFill/>
          <a:ln/>
        </p:spPr>
        <p:txBody>
          <a:bodyPr wrap="square" lIns="0" tIns="0" rIns="0" bIns="0" rtlCol="0" anchor="ctr">
            <a:normAutofit lnSpcReduction="10000"/>
          </a:bodyPr>
          <a:lstStyle/>
          <a:p>
            <a:pPr marL="0" indent="0" algn="l">
              <a:lnSpc>
                <a:spcPct val="100000"/>
              </a:lnSpc>
              <a:buNone/>
            </a:pPr>
            <a:r>
              <a:rPr lang="en-US" sz="1145" b="1" dirty="0">
                <a:solidFill>
                  <a:srgbClr val="0A5AA0"/>
                </a:solidFill>
                <a:latin typeface="Microsoft YaHei" pitchFamily="34" charset="0"/>
                <a:ea typeface="Microsoft YaHei" pitchFamily="34" charset="-122"/>
                <a:cs typeface="Microsoft YaHei" pitchFamily="34" charset="-120"/>
              </a:rPr>
              <a:t>复用模型量化配置：  q = vllm_config.quant_config</a:t>
            </a:r>
            <a:endParaRPr lang="en-US" sz="1145" dirty="0"/>
          </a:p>
        </p:txBody>
      </p:sp>
      <p:sp>
        <p:nvSpPr>
          <p:cNvPr id="55" name="Shape 50">
            <a:extLst>
              <a:ext uri="{FF2B5EF4-FFF2-40B4-BE49-F238E27FC236}">
                <a16:creationId xmlns:a16="http://schemas.microsoft.com/office/drawing/2014/main" id="{E558E8BC-D672-7936-25BA-1A18699EF7C4}"/>
              </a:ext>
            </a:extLst>
          </p:cNvPr>
          <p:cNvSpPr/>
          <p:nvPr/>
        </p:nvSpPr>
        <p:spPr>
          <a:xfrm>
            <a:off x="786384" y="4389120"/>
            <a:ext cx="2386584" cy="667512"/>
          </a:xfrm>
          <a:prstGeom prst="roundRect">
            <a:avLst>
              <a:gd name="adj" fmla="val 12329"/>
            </a:avLst>
          </a:prstGeom>
          <a:solidFill>
            <a:srgbClr val="EDF4FC"/>
          </a:solidFill>
          <a:ln w="9525">
            <a:solidFill>
              <a:srgbClr val="D8E5F1"/>
            </a:solidFill>
            <a:prstDash val="solid"/>
          </a:ln>
        </p:spPr>
      </p:sp>
      <p:sp>
        <p:nvSpPr>
          <p:cNvPr id="56" name="Text 51">
            <a:extLst>
              <a:ext uri="{FF2B5EF4-FFF2-40B4-BE49-F238E27FC236}">
                <a16:creationId xmlns:a16="http://schemas.microsoft.com/office/drawing/2014/main" id="{E2B9285A-7F43-A5DE-7580-F1B6EB3F2065}"/>
              </a:ext>
            </a:extLst>
          </p:cNvPr>
          <p:cNvSpPr txBox="1"/>
          <p:nvPr/>
        </p:nvSpPr>
        <p:spPr>
          <a:xfrm>
            <a:off x="914400" y="4462272"/>
            <a:ext cx="2185416" cy="210312"/>
          </a:xfrm>
          <a:prstGeom prst="rect">
            <a:avLst/>
          </a:prstGeom>
          <a:noFill/>
          <a:ln/>
        </p:spPr>
        <p:txBody>
          <a:bodyPr wrap="square" lIns="0" tIns="0" rIns="0" bIns="0" rtlCol="0" anchor="ctr">
            <a:normAutofit fontScale="92500"/>
          </a:bodyPr>
          <a:lstStyle/>
          <a:p>
            <a:pPr marL="0" indent="0" algn="l">
              <a:lnSpc>
                <a:spcPct val="100000"/>
              </a:lnSpc>
              <a:buNone/>
            </a:pPr>
            <a:r>
              <a:rPr lang="en-US" sz="1220" b="1" dirty="0">
                <a:solidFill>
                  <a:srgbClr val="0A5AA0"/>
                </a:solidFill>
                <a:latin typeface="Microsoft YaHei" pitchFamily="34" charset="0"/>
                <a:ea typeface="Microsoft YaHei" pitchFamily="34" charset="-122"/>
                <a:cs typeface="Microsoft YaHei" pitchFamily="34" charset="-120"/>
              </a:rPr>
              <a:t>路径 A · embed</a:t>
            </a:r>
            <a:r>
              <a:rPr lang="en-US" sz="1220" b="1">
                <a:solidFill>
                  <a:srgbClr val="0A5AA0"/>
                </a:solidFill>
                <a:latin typeface="Microsoft YaHei" pitchFamily="34" charset="0"/>
                <a:ea typeface="Microsoft YaHei" pitchFamily="34" charset="-122"/>
                <a:cs typeface="Microsoft YaHei" pitchFamily="34" charset="-120"/>
              </a:rPr>
              <a:t>_vision</a:t>
            </a:r>
            <a:r>
              <a:rPr lang="zh-CN" altLang="en-US" sz="1220" b="1">
                <a:solidFill>
                  <a:srgbClr val="0A5AA0"/>
                </a:solidFill>
                <a:latin typeface="Microsoft YaHei" pitchFamily="34" charset="0"/>
                <a:ea typeface="Microsoft YaHei" pitchFamily="34" charset="-122"/>
                <a:cs typeface="Microsoft YaHei" pitchFamily="34" charset="-120"/>
              </a:rPr>
              <a:t>（直接传）</a:t>
            </a:r>
            <a:endParaRPr lang="en-US" sz="1220" dirty="0"/>
          </a:p>
        </p:txBody>
      </p:sp>
      <p:sp>
        <p:nvSpPr>
          <p:cNvPr id="57" name="Text 52">
            <a:extLst>
              <a:ext uri="{FF2B5EF4-FFF2-40B4-BE49-F238E27FC236}">
                <a16:creationId xmlns:a16="http://schemas.microsoft.com/office/drawing/2014/main" id="{44AC8D26-1A61-05DD-66C1-59EEF8ABE64F}"/>
              </a:ext>
            </a:extLst>
          </p:cNvPr>
          <p:cNvSpPr txBox="1"/>
          <p:nvPr/>
        </p:nvSpPr>
        <p:spPr>
          <a:xfrm>
            <a:off x="914400" y="4709160"/>
            <a:ext cx="2185416" cy="283464"/>
          </a:xfrm>
          <a:prstGeom prst="rect">
            <a:avLst/>
          </a:prstGeom>
          <a:noFill/>
          <a:ln/>
        </p:spPr>
        <p:txBody>
          <a:bodyPr wrap="square" lIns="0" tIns="0" rIns="0" bIns="0" rtlCol="0" anchor="ctr">
            <a:normAutofit fontScale="92500" lnSpcReduction="10000"/>
          </a:bodyPr>
          <a:lstStyle/>
          <a:p>
            <a:pPr marL="0" indent="0" algn="l">
              <a:lnSpc>
                <a:spcPct val="100000"/>
              </a:lnSpc>
              <a:buNone/>
            </a:pPr>
            <a:r>
              <a:rPr lang="en-US" sz="1070" dirty="0">
                <a:solidFill>
                  <a:srgbClr val="172C49"/>
                </a:solidFill>
                <a:latin typeface="Microsoft YaHei" pitchFamily="34" charset="0"/>
                <a:ea typeface="Microsoft YaHei" pitchFamily="34" charset="-122"/>
                <a:cs typeface="Microsoft YaHei" pitchFamily="34" charset="-120"/>
              </a:rPr>
              <a:t>直接传入 quant_config</a:t>
            </a:r>
            <a:endParaRPr lang="en-US" sz="1070" dirty="0"/>
          </a:p>
          <a:p>
            <a:pPr marL="0" indent="0" algn="l">
              <a:lnSpc>
                <a:spcPct val="100000"/>
              </a:lnSpc>
              <a:buNone/>
            </a:pPr>
            <a:r>
              <a:rPr lang="en-US" sz="1070" dirty="0">
                <a:solidFill>
                  <a:srgbClr val="172C49"/>
                </a:solidFill>
                <a:latin typeface="Microsoft YaHei" pitchFamily="34" charset="0"/>
                <a:ea typeface="Microsoft YaHei" pitchFamily="34" charset="-122"/>
                <a:cs typeface="Microsoft YaHei" pitchFamily="34" charset="-120"/>
              </a:rPr>
              <a:t>已有 ReplicatedLinear</a:t>
            </a:r>
            <a:endParaRPr lang="en-US" sz="1070" dirty="0"/>
          </a:p>
        </p:txBody>
      </p:sp>
      <p:sp>
        <p:nvSpPr>
          <p:cNvPr id="58" name="Shape 53">
            <a:extLst>
              <a:ext uri="{FF2B5EF4-FFF2-40B4-BE49-F238E27FC236}">
                <a16:creationId xmlns:a16="http://schemas.microsoft.com/office/drawing/2014/main" id="{58CE12B4-CF4C-1EC0-6EFD-E18F9B3456AE}"/>
              </a:ext>
            </a:extLst>
          </p:cNvPr>
          <p:cNvSpPr/>
          <p:nvPr/>
        </p:nvSpPr>
        <p:spPr>
          <a:xfrm>
            <a:off x="3273552" y="4389120"/>
            <a:ext cx="2414016" cy="667512"/>
          </a:xfrm>
          <a:prstGeom prst="roundRect">
            <a:avLst>
              <a:gd name="adj" fmla="val 12329"/>
            </a:avLst>
          </a:prstGeom>
          <a:solidFill>
            <a:srgbClr val="EDF4FC"/>
          </a:solidFill>
          <a:ln w="9525">
            <a:solidFill>
              <a:srgbClr val="D8E5F1"/>
            </a:solidFill>
            <a:prstDash val="solid"/>
          </a:ln>
        </p:spPr>
      </p:sp>
      <p:sp>
        <p:nvSpPr>
          <p:cNvPr id="59" name="Text 54">
            <a:extLst>
              <a:ext uri="{FF2B5EF4-FFF2-40B4-BE49-F238E27FC236}">
                <a16:creationId xmlns:a16="http://schemas.microsoft.com/office/drawing/2014/main" id="{BCE97150-22F8-50CD-E729-316390018F26}"/>
              </a:ext>
            </a:extLst>
          </p:cNvPr>
          <p:cNvSpPr txBox="1"/>
          <p:nvPr/>
        </p:nvSpPr>
        <p:spPr>
          <a:xfrm>
            <a:off x="3392424" y="4462272"/>
            <a:ext cx="2212848" cy="210312"/>
          </a:xfrm>
          <a:prstGeom prst="rect">
            <a:avLst/>
          </a:prstGeom>
          <a:noFill/>
          <a:ln/>
        </p:spPr>
        <p:txBody>
          <a:bodyPr wrap="square" lIns="0" tIns="0" rIns="0" bIns="0" rtlCol="0" anchor="ctr">
            <a:normAutofit/>
          </a:bodyPr>
          <a:lstStyle/>
          <a:p>
            <a:pPr marL="0" indent="0" algn="l">
              <a:lnSpc>
                <a:spcPct val="100000"/>
              </a:lnSpc>
              <a:buNone/>
            </a:pPr>
            <a:r>
              <a:rPr lang="en-US" sz="1220" b="1" dirty="0">
                <a:solidFill>
                  <a:srgbClr val="0A5AA0"/>
                </a:solidFill>
                <a:latin typeface="Microsoft YaHei" pitchFamily="34" charset="0"/>
                <a:ea typeface="Microsoft YaHei" pitchFamily="34" charset="-122"/>
                <a:cs typeface="Microsoft YaHei" pitchFamily="34" charset="-120"/>
              </a:rPr>
              <a:t>路径 B · vision</a:t>
            </a:r>
            <a:r>
              <a:rPr lang="en-US" sz="1220" b="1">
                <a:solidFill>
                  <a:srgbClr val="0A5AA0"/>
                </a:solidFill>
                <a:latin typeface="Microsoft YaHei" pitchFamily="34" charset="0"/>
                <a:ea typeface="Microsoft YaHei" pitchFamily="34" charset="-122"/>
                <a:cs typeface="Microsoft YaHei" pitchFamily="34" charset="-120"/>
              </a:rPr>
              <a:t>_tower</a:t>
            </a:r>
            <a:r>
              <a:rPr lang="zh-CN" altLang="en-US" sz="1220" b="1">
                <a:solidFill>
                  <a:srgbClr val="0A5AA0"/>
                </a:solidFill>
                <a:latin typeface="Microsoft YaHei" pitchFamily="34" charset="0"/>
                <a:ea typeface="Microsoft YaHei" pitchFamily="34" charset="-122"/>
                <a:cs typeface="Microsoft YaHei" pitchFamily="34" charset="-120"/>
              </a:rPr>
              <a:t>（递归）</a:t>
            </a:r>
            <a:endParaRPr lang="en-US" sz="1220" dirty="0"/>
          </a:p>
        </p:txBody>
      </p:sp>
      <p:sp>
        <p:nvSpPr>
          <p:cNvPr id="60" name="Text 55">
            <a:extLst>
              <a:ext uri="{FF2B5EF4-FFF2-40B4-BE49-F238E27FC236}">
                <a16:creationId xmlns:a16="http://schemas.microsoft.com/office/drawing/2014/main" id="{F39F7BA6-4692-178D-984B-08F3CFC1D360}"/>
              </a:ext>
            </a:extLst>
          </p:cNvPr>
          <p:cNvSpPr txBox="1"/>
          <p:nvPr/>
        </p:nvSpPr>
        <p:spPr>
          <a:xfrm>
            <a:off x="3392424" y="4700016"/>
            <a:ext cx="2212848" cy="301752"/>
          </a:xfrm>
          <a:prstGeom prst="rect">
            <a:avLst/>
          </a:prstGeom>
          <a:noFill/>
          <a:ln/>
        </p:spPr>
        <p:txBody>
          <a:bodyPr wrap="square" lIns="0" tIns="0" rIns="0" bIns="0" rtlCol="0" anchor="ctr">
            <a:normAutofit lnSpcReduction="10000"/>
          </a:bodyPr>
          <a:lstStyle/>
          <a:p>
            <a:pPr marL="0" indent="0" algn="l">
              <a:lnSpc>
                <a:spcPct val="100000"/>
              </a:lnSpc>
              <a:buNone/>
            </a:pPr>
            <a:r>
              <a:rPr lang="en-US" sz="1000" dirty="0">
                <a:solidFill>
                  <a:srgbClr val="172C49"/>
                </a:solidFill>
                <a:latin typeface="Microsoft YaHei" pitchFamily="34" charset="0"/>
                <a:ea typeface="Microsoft YaHei" pitchFamily="34" charset="-122"/>
                <a:cs typeface="Microsoft YaHei" pitchFamily="34" charset="-120"/>
              </a:rPr>
              <a:t>recursive_replace_linear(...)</a:t>
            </a:r>
            <a:endParaRPr lang="en-US" sz="1000" dirty="0"/>
          </a:p>
          <a:p>
            <a:pPr marL="0" indent="0" algn="l">
              <a:lnSpc>
                <a:spcPct val="100000"/>
              </a:lnSpc>
              <a:buNone/>
            </a:pPr>
            <a:r>
              <a:rPr lang="en-US" sz="1000" dirty="0">
                <a:solidFill>
                  <a:srgbClr val="172C49"/>
                </a:solidFill>
                <a:latin typeface="Microsoft YaHei" pitchFamily="34" charset="0"/>
                <a:ea typeface="Microsoft YaHei" pitchFamily="34" charset="-122"/>
                <a:cs typeface="Microsoft YaHei" pitchFamily="34" charset="-120"/>
              </a:rPr>
              <a:t>nn.Linear → ReplicatedLinear</a:t>
            </a:r>
            <a:endParaRPr lang="en-US" sz="1000" dirty="0"/>
          </a:p>
        </p:txBody>
      </p:sp>
      <p:sp>
        <p:nvSpPr>
          <p:cNvPr id="61" name="Shape 56">
            <a:extLst>
              <a:ext uri="{FF2B5EF4-FFF2-40B4-BE49-F238E27FC236}">
                <a16:creationId xmlns:a16="http://schemas.microsoft.com/office/drawing/2014/main" id="{BCB316F0-8E7A-CD53-0EEF-8E027A405BD6}"/>
              </a:ext>
            </a:extLst>
          </p:cNvPr>
          <p:cNvSpPr/>
          <p:nvPr/>
        </p:nvSpPr>
        <p:spPr>
          <a:xfrm>
            <a:off x="2002536" y="5065776"/>
            <a:ext cx="0" cy="109728"/>
          </a:xfrm>
          <a:prstGeom prst="line">
            <a:avLst/>
          </a:prstGeom>
          <a:noFill/>
          <a:ln w="16510">
            <a:solidFill>
              <a:srgbClr val="1675C6"/>
            </a:solidFill>
            <a:prstDash val="solid"/>
            <a:headEnd type="none"/>
            <a:tailEnd type="triangle"/>
          </a:ln>
        </p:spPr>
      </p:sp>
      <p:sp>
        <p:nvSpPr>
          <p:cNvPr id="62" name="Shape 57">
            <a:extLst>
              <a:ext uri="{FF2B5EF4-FFF2-40B4-BE49-F238E27FC236}">
                <a16:creationId xmlns:a16="http://schemas.microsoft.com/office/drawing/2014/main" id="{1A31547A-C0F3-256D-B002-1898F4F6F57C}"/>
              </a:ext>
            </a:extLst>
          </p:cNvPr>
          <p:cNvSpPr/>
          <p:nvPr/>
        </p:nvSpPr>
        <p:spPr>
          <a:xfrm>
            <a:off x="4453128" y="5065776"/>
            <a:ext cx="0" cy="109728"/>
          </a:xfrm>
          <a:prstGeom prst="line">
            <a:avLst/>
          </a:prstGeom>
          <a:noFill/>
          <a:ln w="16510">
            <a:solidFill>
              <a:srgbClr val="1675C6"/>
            </a:solidFill>
            <a:prstDash val="solid"/>
            <a:headEnd type="none"/>
            <a:tailEnd type="triangle"/>
          </a:ln>
        </p:spPr>
      </p:sp>
      <p:sp>
        <p:nvSpPr>
          <p:cNvPr id="63" name="Shape 58">
            <a:extLst>
              <a:ext uri="{FF2B5EF4-FFF2-40B4-BE49-F238E27FC236}">
                <a16:creationId xmlns:a16="http://schemas.microsoft.com/office/drawing/2014/main" id="{4CF7A4F8-41FB-5693-BD5A-D74476EDE8A6}"/>
              </a:ext>
            </a:extLst>
          </p:cNvPr>
          <p:cNvSpPr/>
          <p:nvPr/>
        </p:nvSpPr>
        <p:spPr>
          <a:xfrm>
            <a:off x="795528" y="5202936"/>
            <a:ext cx="4882896" cy="365760"/>
          </a:xfrm>
          <a:prstGeom prst="roundRect">
            <a:avLst>
              <a:gd name="adj" fmla="val 20000"/>
            </a:avLst>
          </a:prstGeom>
          <a:solidFill>
            <a:srgbClr val="E7F3FF"/>
          </a:solidFill>
          <a:ln w="12700">
            <a:solidFill>
              <a:srgbClr val="E7F3FF">
                <a:alpha val="0"/>
              </a:srgbClr>
            </a:solidFill>
            <a:prstDash val="solid"/>
          </a:ln>
        </p:spPr>
      </p:sp>
      <p:sp>
        <p:nvSpPr>
          <p:cNvPr id="64" name="Text 59">
            <a:extLst>
              <a:ext uri="{FF2B5EF4-FFF2-40B4-BE49-F238E27FC236}">
                <a16:creationId xmlns:a16="http://schemas.microsoft.com/office/drawing/2014/main" id="{463B2376-65F6-48B0-3D95-F663BEA1CA41}"/>
              </a:ext>
            </a:extLst>
          </p:cNvPr>
          <p:cNvSpPr txBox="1"/>
          <p:nvPr/>
        </p:nvSpPr>
        <p:spPr>
          <a:xfrm>
            <a:off x="914400" y="5271516"/>
            <a:ext cx="4645152" cy="201168"/>
          </a:xfrm>
          <a:prstGeom prst="rect">
            <a:avLst/>
          </a:prstGeom>
          <a:noFill/>
          <a:ln/>
        </p:spPr>
        <p:txBody>
          <a:bodyPr wrap="square" lIns="0" tIns="0" rIns="0" bIns="0" rtlCol="0" anchor="ctr">
            <a:normAutofit/>
          </a:bodyPr>
          <a:lstStyle/>
          <a:p>
            <a:pPr marL="0" indent="0" algn="ctr">
              <a:lnSpc>
                <a:spcPct val="100000"/>
              </a:lnSpc>
              <a:buNone/>
            </a:pPr>
            <a:r>
              <a:rPr lang="en-US" sz="1055" b="1" dirty="0">
                <a:solidFill>
                  <a:srgbClr val="0A5AA0"/>
                </a:solidFill>
                <a:latin typeface="Aptos" pitchFamily="34" charset="0"/>
                <a:ea typeface="Aptos" pitchFamily="34" charset="-122"/>
                <a:cs typeface="Aptos" pitchFamily="34" charset="-120"/>
              </a:rPr>
              <a:t>get_quant_method(layer, prefix)  →  AscendLinearMethod  →  MXFP4 scheme</a:t>
            </a:r>
            <a:endParaRPr lang="en-US" sz="1055" dirty="0"/>
          </a:p>
        </p:txBody>
      </p:sp>
      <p:sp>
        <p:nvSpPr>
          <p:cNvPr id="65" name="Shape 60">
            <a:extLst>
              <a:ext uri="{FF2B5EF4-FFF2-40B4-BE49-F238E27FC236}">
                <a16:creationId xmlns:a16="http://schemas.microsoft.com/office/drawing/2014/main" id="{A2E10EC9-20AF-F87C-71A0-C4F5A594DDF7}"/>
              </a:ext>
            </a:extLst>
          </p:cNvPr>
          <p:cNvSpPr/>
          <p:nvPr/>
        </p:nvSpPr>
        <p:spPr>
          <a:xfrm>
            <a:off x="6446520" y="3968496"/>
            <a:ext cx="1106424" cy="429768"/>
          </a:xfrm>
          <a:prstGeom prst="roundRect">
            <a:avLst>
              <a:gd name="adj" fmla="val 19149"/>
            </a:avLst>
          </a:prstGeom>
          <a:solidFill>
            <a:srgbClr val="EAF4FF"/>
          </a:solidFill>
          <a:ln w="12700">
            <a:solidFill>
              <a:srgbClr val="EAF4FF">
                <a:alpha val="0"/>
              </a:srgbClr>
            </a:solidFill>
            <a:prstDash val="solid"/>
          </a:ln>
        </p:spPr>
      </p:sp>
      <p:sp>
        <p:nvSpPr>
          <p:cNvPr id="66" name="Text 61">
            <a:extLst>
              <a:ext uri="{FF2B5EF4-FFF2-40B4-BE49-F238E27FC236}">
                <a16:creationId xmlns:a16="http://schemas.microsoft.com/office/drawing/2014/main" id="{2D1B174C-E5BA-6598-01FF-40C20C8AAE60}"/>
              </a:ext>
            </a:extLst>
          </p:cNvPr>
          <p:cNvSpPr txBox="1"/>
          <p:nvPr/>
        </p:nvSpPr>
        <p:spPr>
          <a:xfrm>
            <a:off x="6478524" y="4055364"/>
            <a:ext cx="1042416" cy="265176"/>
          </a:xfrm>
          <a:prstGeom prst="rect">
            <a:avLst/>
          </a:prstGeom>
          <a:noFill/>
          <a:ln/>
        </p:spPr>
        <p:txBody>
          <a:bodyPr wrap="square" lIns="0" tIns="0" rIns="0" bIns="0" rtlCol="0" anchor="ctr">
            <a:normAutofit/>
          </a:bodyPr>
          <a:lstStyle/>
          <a:p>
            <a:pPr marL="0" indent="0" algn="ctr">
              <a:lnSpc>
                <a:spcPct val="100000"/>
              </a:lnSpc>
              <a:buNone/>
            </a:pPr>
            <a:r>
              <a:rPr lang="en-US" sz="1065" b="1" dirty="0">
                <a:solidFill>
                  <a:srgbClr val="0A5AA0"/>
                </a:solidFill>
                <a:latin typeface="Microsoft YaHei" pitchFamily="34" charset="0"/>
                <a:ea typeface="Microsoft YaHei" pitchFamily="34" charset="-122"/>
                <a:cs typeface="Microsoft YaHei" pitchFamily="34" charset="-120"/>
              </a:rPr>
              <a:t>选择方法</a:t>
            </a:r>
            <a:endParaRPr lang="en-US" sz="1065" dirty="0"/>
          </a:p>
        </p:txBody>
      </p:sp>
      <p:sp>
        <p:nvSpPr>
          <p:cNvPr id="67" name="Shape 62">
            <a:extLst>
              <a:ext uri="{FF2B5EF4-FFF2-40B4-BE49-F238E27FC236}">
                <a16:creationId xmlns:a16="http://schemas.microsoft.com/office/drawing/2014/main" id="{24AFB71C-395D-620B-8544-94AE71897B77}"/>
              </a:ext>
            </a:extLst>
          </p:cNvPr>
          <p:cNvSpPr/>
          <p:nvPr/>
        </p:nvSpPr>
        <p:spPr>
          <a:xfrm>
            <a:off x="7575804" y="4187952"/>
            <a:ext cx="128016" cy="0"/>
          </a:xfrm>
          <a:prstGeom prst="line">
            <a:avLst/>
          </a:prstGeom>
          <a:noFill/>
          <a:ln w="17780">
            <a:solidFill>
              <a:srgbClr val="1675C6"/>
            </a:solidFill>
            <a:prstDash val="solid"/>
            <a:headEnd type="none"/>
            <a:tailEnd type="triangle"/>
          </a:ln>
        </p:spPr>
      </p:sp>
      <p:sp>
        <p:nvSpPr>
          <p:cNvPr id="68" name="Shape 63">
            <a:extLst>
              <a:ext uri="{FF2B5EF4-FFF2-40B4-BE49-F238E27FC236}">
                <a16:creationId xmlns:a16="http://schemas.microsoft.com/office/drawing/2014/main" id="{4C6C034E-9A76-3694-113C-DECF89AE7DE5}"/>
              </a:ext>
            </a:extLst>
          </p:cNvPr>
          <p:cNvSpPr/>
          <p:nvPr/>
        </p:nvSpPr>
        <p:spPr>
          <a:xfrm>
            <a:off x="7735824" y="3968496"/>
            <a:ext cx="1133856" cy="429768"/>
          </a:xfrm>
          <a:prstGeom prst="roundRect">
            <a:avLst>
              <a:gd name="adj" fmla="val 19149"/>
            </a:avLst>
          </a:prstGeom>
          <a:solidFill>
            <a:srgbClr val="EAF4FF"/>
          </a:solidFill>
          <a:ln w="12700">
            <a:solidFill>
              <a:srgbClr val="EAF4FF">
                <a:alpha val="0"/>
              </a:srgbClr>
            </a:solidFill>
            <a:prstDash val="solid"/>
          </a:ln>
        </p:spPr>
      </p:sp>
      <p:sp>
        <p:nvSpPr>
          <p:cNvPr id="69" name="Text 64">
            <a:extLst>
              <a:ext uri="{FF2B5EF4-FFF2-40B4-BE49-F238E27FC236}">
                <a16:creationId xmlns:a16="http://schemas.microsoft.com/office/drawing/2014/main" id="{06A958DE-7019-C6B9-BE91-8C4268761868}"/>
              </a:ext>
            </a:extLst>
          </p:cNvPr>
          <p:cNvSpPr txBox="1"/>
          <p:nvPr/>
        </p:nvSpPr>
        <p:spPr>
          <a:xfrm>
            <a:off x="7767828" y="4055364"/>
            <a:ext cx="1069848" cy="265176"/>
          </a:xfrm>
          <a:prstGeom prst="rect">
            <a:avLst/>
          </a:prstGeom>
          <a:noFill/>
          <a:ln/>
        </p:spPr>
        <p:txBody>
          <a:bodyPr wrap="square" lIns="0" tIns="0" rIns="0" bIns="0" rtlCol="0" anchor="ctr">
            <a:normAutofit/>
          </a:bodyPr>
          <a:lstStyle/>
          <a:p>
            <a:pPr marL="0" indent="0" algn="ctr">
              <a:lnSpc>
                <a:spcPct val="100000"/>
              </a:lnSpc>
              <a:buNone/>
            </a:pPr>
            <a:r>
              <a:rPr lang="en-US" sz="1065" b="1" dirty="0">
                <a:solidFill>
                  <a:srgbClr val="0A5AA0"/>
                </a:solidFill>
                <a:latin typeface="Microsoft YaHei" pitchFamily="34" charset="0"/>
                <a:ea typeface="Microsoft YaHei" pitchFamily="34" charset="-122"/>
                <a:cs typeface="Microsoft YaHei" pitchFamily="34" charset="-120"/>
              </a:rPr>
              <a:t>创建量化参数</a:t>
            </a:r>
            <a:endParaRPr lang="en-US" sz="1065" dirty="0"/>
          </a:p>
        </p:txBody>
      </p:sp>
      <p:sp>
        <p:nvSpPr>
          <p:cNvPr id="70" name="Shape 65">
            <a:extLst>
              <a:ext uri="{FF2B5EF4-FFF2-40B4-BE49-F238E27FC236}">
                <a16:creationId xmlns:a16="http://schemas.microsoft.com/office/drawing/2014/main" id="{DA34BDE1-28FC-4B2D-9BE3-01921728634F}"/>
              </a:ext>
            </a:extLst>
          </p:cNvPr>
          <p:cNvSpPr/>
          <p:nvPr/>
        </p:nvSpPr>
        <p:spPr>
          <a:xfrm>
            <a:off x="8892540" y="4187952"/>
            <a:ext cx="137160" cy="0"/>
          </a:xfrm>
          <a:prstGeom prst="line">
            <a:avLst/>
          </a:prstGeom>
          <a:noFill/>
          <a:ln w="17780">
            <a:solidFill>
              <a:srgbClr val="1675C6"/>
            </a:solidFill>
            <a:prstDash val="solid"/>
            <a:headEnd type="none"/>
            <a:tailEnd type="triangle"/>
          </a:ln>
        </p:spPr>
      </p:sp>
      <p:sp>
        <p:nvSpPr>
          <p:cNvPr id="71" name="Shape 66">
            <a:extLst>
              <a:ext uri="{FF2B5EF4-FFF2-40B4-BE49-F238E27FC236}">
                <a16:creationId xmlns:a16="http://schemas.microsoft.com/office/drawing/2014/main" id="{8972670A-416F-B852-8169-8F396B3B17A9}"/>
              </a:ext>
            </a:extLst>
          </p:cNvPr>
          <p:cNvSpPr/>
          <p:nvPr/>
        </p:nvSpPr>
        <p:spPr>
          <a:xfrm>
            <a:off x="9061704" y="3968496"/>
            <a:ext cx="1115568" cy="429768"/>
          </a:xfrm>
          <a:prstGeom prst="roundRect">
            <a:avLst>
              <a:gd name="adj" fmla="val 19149"/>
            </a:avLst>
          </a:prstGeom>
          <a:solidFill>
            <a:srgbClr val="EAF4FF"/>
          </a:solidFill>
          <a:ln w="12700">
            <a:solidFill>
              <a:srgbClr val="EAF4FF">
                <a:alpha val="0"/>
              </a:srgbClr>
            </a:solidFill>
            <a:prstDash val="solid"/>
          </a:ln>
        </p:spPr>
      </p:sp>
      <p:sp>
        <p:nvSpPr>
          <p:cNvPr id="72" name="Text 67">
            <a:extLst>
              <a:ext uri="{FF2B5EF4-FFF2-40B4-BE49-F238E27FC236}">
                <a16:creationId xmlns:a16="http://schemas.microsoft.com/office/drawing/2014/main" id="{965B3270-B46C-C6C6-ACFB-D2598F8B3CB3}"/>
              </a:ext>
            </a:extLst>
          </p:cNvPr>
          <p:cNvSpPr txBox="1"/>
          <p:nvPr/>
        </p:nvSpPr>
        <p:spPr>
          <a:xfrm>
            <a:off x="9093708" y="4055364"/>
            <a:ext cx="1051560" cy="265176"/>
          </a:xfrm>
          <a:prstGeom prst="rect">
            <a:avLst/>
          </a:prstGeom>
          <a:noFill/>
          <a:ln/>
        </p:spPr>
        <p:txBody>
          <a:bodyPr wrap="square" lIns="0" tIns="0" rIns="0" bIns="0" rtlCol="0" anchor="ctr">
            <a:normAutofit/>
          </a:bodyPr>
          <a:lstStyle/>
          <a:p>
            <a:pPr marL="0" indent="0" algn="ctr">
              <a:lnSpc>
                <a:spcPct val="100000"/>
              </a:lnSpc>
              <a:buNone/>
            </a:pPr>
            <a:r>
              <a:rPr lang="en-US" sz="990" b="1" dirty="0">
                <a:solidFill>
                  <a:srgbClr val="0A5AA0"/>
                </a:solidFill>
                <a:latin typeface="Microsoft YaHei" pitchFamily="34" charset="0"/>
                <a:ea typeface="Microsoft YaHei" pitchFamily="34" charset="-122"/>
                <a:cs typeface="Microsoft YaHei" pitchFamily="34" charset="-120"/>
              </a:rPr>
              <a:t>加载权重/scale</a:t>
            </a:r>
            <a:endParaRPr lang="en-US" sz="990" dirty="0"/>
          </a:p>
        </p:txBody>
      </p:sp>
      <p:sp>
        <p:nvSpPr>
          <p:cNvPr id="73" name="Shape 68">
            <a:extLst>
              <a:ext uri="{FF2B5EF4-FFF2-40B4-BE49-F238E27FC236}">
                <a16:creationId xmlns:a16="http://schemas.microsoft.com/office/drawing/2014/main" id="{10644DA7-7FB5-87B3-CB0B-C9054E58D40A}"/>
              </a:ext>
            </a:extLst>
          </p:cNvPr>
          <p:cNvSpPr/>
          <p:nvPr/>
        </p:nvSpPr>
        <p:spPr>
          <a:xfrm>
            <a:off x="10200132" y="4187952"/>
            <a:ext cx="109728" cy="0"/>
          </a:xfrm>
          <a:prstGeom prst="line">
            <a:avLst/>
          </a:prstGeom>
          <a:noFill/>
          <a:ln w="17780">
            <a:solidFill>
              <a:srgbClr val="1675C6"/>
            </a:solidFill>
            <a:prstDash val="solid"/>
            <a:headEnd type="none"/>
            <a:tailEnd type="triangle"/>
          </a:ln>
        </p:spPr>
      </p:sp>
      <p:sp>
        <p:nvSpPr>
          <p:cNvPr id="74" name="Shape 69">
            <a:extLst>
              <a:ext uri="{FF2B5EF4-FFF2-40B4-BE49-F238E27FC236}">
                <a16:creationId xmlns:a16="http://schemas.microsoft.com/office/drawing/2014/main" id="{6AFF592E-0181-B1E1-CAEB-2D1036FBBB50}"/>
              </a:ext>
            </a:extLst>
          </p:cNvPr>
          <p:cNvSpPr/>
          <p:nvPr/>
        </p:nvSpPr>
        <p:spPr>
          <a:xfrm>
            <a:off x="10341864" y="3968496"/>
            <a:ext cx="1097280" cy="429768"/>
          </a:xfrm>
          <a:prstGeom prst="roundRect">
            <a:avLst>
              <a:gd name="adj" fmla="val 19149"/>
            </a:avLst>
          </a:prstGeom>
          <a:solidFill>
            <a:srgbClr val="E0F4E9"/>
          </a:solidFill>
          <a:ln w="12700">
            <a:solidFill>
              <a:srgbClr val="E0F4E9">
                <a:alpha val="0"/>
              </a:srgbClr>
            </a:solidFill>
            <a:prstDash val="solid"/>
          </a:ln>
        </p:spPr>
      </p:sp>
      <p:sp>
        <p:nvSpPr>
          <p:cNvPr id="75" name="Text 70">
            <a:extLst>
              <a:ext uri="{FF2B5EF4-FFF2-40B4-BE49-F238E27FC236}">
                <a16:creationId xmlns:a16="http://schemas.microsoft.com/office/drawing/2014/main" id="{9A3D6790-91DC-8BA4-905A-4D9B17D6DC70}"/>
              </a:ext>
            </a:extLst>
          </p:cNvPr>
          <p:cNvSpPr txBox="1"/>
          <p:nvPr/>
        </p:nvSpPr>
        <p:spPr>
          <a:xfrm>
            <a:off x="10373868" y="4055364"/>
            <a:ext cx="1033272" cy="265176"/>
          </a:xfrm>
          <a:prstGeom prst="rect">
            <a:avLst/>
          </a:prstGeom>
          <a:noFill/>
          <a:ln/>
        </p:spPr>
        <p:txBody>
          <a:bodyPr wrap="square" lIns="0" tIns="0" rIns="0" bIns="0" rtlCol="0" anchor="ctr">
            <a:normAutofit/>
          </a:bodyPr>
          <a:lstStyle/>
          <a:p>
            <a:pPr marL="0" indent="0" algn="ctr">
              <a:lnSpc>
                <a:spcPct val="100000"/>
              </a:lnSpc>
              <a:buNone/>
            </a:pPr>
            <a:r>
              <a:rPr lang="en-US" sz="1065" b="1" dirty="0">
                <a:solidFill>
                  <a:srgbClr val="167E53"/>
                </a:solidFill>
                <a:latin typeface="Microsoft YaHei" pitchFamily="34" charset="0"/>
                <a:ea typeface="Microsoft YaHei" pitchFamily="34" charset="-122"/>
                <a:cs typeface="Microsoft YaHei" pitchFamily="34" charset="-120"/>
              </a:rPr>
              <a:t>前向 apply()</a:t>
            </a:r>
            <a:endParaRPr lang="en-US" sz="1065" dirty="0"/>
          </a:p>
        </p:txBody>
      </p:sp>
      <p:sp>
        <p:nvSpPr>
          <p:cNvPr id="76" name="Shape 71">
            <a:extLst>
              <a:ext uri="{FF2B5EF4-FFF2-40B4-BE49-F238E27FC236}">
                <a16:creationId xmlns:a16="http://schemas.microsoft.com/office/drawing/2014/main" id="{617BF024-A1DA-503B-6C04-9DF22A0422F6}"/>
              </a:ext>
            </a:extLst>
          </p:cNvPr>
          <p:cNvSpPr/>
          <p:nvPr/>
        </p:nvSpPr>
        <p:spPr>
          <a:xfrm>
            <a:off x="6501384" y="4658868"/>
            <a:ext cx="68580" cy="68580"/>
          </a:xfrm>
          <a:prstGeom prst="ellipse">
            <a:avLst/>
          </a:prstGeom>
          <a:solidFill>
            <a:srgbClr val="167E53"/>
          </a:solidFill>
          <a:ln w="12700">
            <a:solidFill>
              <a:srgbClr val="167E53"/>
            </a:solidFill>
            <a:prstDash val="solid"/>
          </a:ln>
        </p:spPr>
      </p:sp>
      <p:sp>
        <p:nvSpPr>
          <p:cNvPr id="77" name="Text 72">
            <a:extLst>
              <a:ext uri="{FF2B5EF4-FFF2-40B4-BE49-F238E27FC236}">
                <a16:creationId xmlns:a16="http://schemas.microsoft.com/office/drawing/2014/main" id="{2DF86C63-8A74-B9C8-249B-7461CE86E86B}"/>
              </a:ext>
            </a:extLst>
          </p:cNvPr>
          <p:cNvSpPr txBox="1"/>
          <p:nvPr/>
        </p:nvSpPr>
        <p:spPr>
          <a:xfrm>
            <a:off x="6656832" y="4572000"/>
            <a:ext cx="4782312" cy="292608"/>
          </a:xfrm>
          <a:prstGeom prst="rect">
            <a:avLst/>
          </a:prstGeom>
          <a:noFill/>
          <a:ln/>
        </p:spPr>
        <p:txBody>
          <a:bodyPr wrap="square" lIns="0" tIns="0" rIns="0" bIns="0" rtlCol="0" anchor="ctr">
            <a:normAutofit/>
          </a:bodyPr>
          <a:lstStyle/>
          <a:p>
            <a:pPr marL="0" indent="0" algn="l">
              <a:lnSpc>
                <a:spcPct val="100000"/>
              </a:lnSpc>
              <a:buNone/>
            </a:pPr>
            <a:r>
              <a:rPr lang="en-US" sz="1180" dirty="0">
                <a:solidFill>
                  <a:srgbClr val="172C49"/>
                </a:solidFill>
                <a:latin typeface="Microsoft YaHei" pitchFamily="34" charset="0"/>
                <a:ea typeface="Microsoft YaHei" pitchFamily="34" charset="-122"/>
                <a:cs typeface="Microsoft YaHei" pitchFamily="34" charset="-120"/>
              </a:rPr>
              <a:t>投影层与 ViT 层按 prefix 为各层选择量化方法</a:t>
            </a:r>
            <a:endParaRPr lang="en-US" sz="1180" dirty="0"/>
          </a:p>
        </p:txBody>
      </p:sp>
      <p:sp>
        <p:nvSpPr>
          <p:cNvPr id="78" name="Shape 73">
            <a:extLst>
              <a:ext uri="{FF2B5EF4-FFF2-40B4-BE49-F238E27FC236}">
                <a16:creationId xmlns:a16="http://schemas.microsoft.com/office/drawing/2014/main" id="{ABD4B547-0D6C-A457-9CDE-C56C2FBA96DE}"/>
              </a:ext>
            </a:extLst>
          </p:cNvPr>
          <p:cNvSpPr/>
          <p:nvPr/>
        </p:nvSpPr>
        <p:spPr>
          <a:xfrm>
            <a:off x="6501384" y="4969764"/>
            <a:ext cx="68580" cy="68580"/>
          </a:xfrm>
          <a:prstGeom prst="ellipse">
            <a:avLst/>
          </a:prstGeom>
          <a:solidFill>
            <a:srgbClr val="167E53"/>
          </a:solidFill>
          <a:ln w="12700">
            <a:solidFill>
              <a:srgbClr val="167E53"/>
            </a:solidFill>
            <a:prstDash val="solid"/>
          </a:ln>
        </p:spPr>
      </p:sp>
      <p:sp>
        <p:nvSpPr>
          <p:cNvPr id="79" name="Text 74">
            <a:extLst>
              <a:ext uri="{FF2B5EF4-FFF2-40B4-BE49-F238E27FC236}">
                <a16:creationId xmlns:a16="http://schemas.microsoft.com/office/drawing/2014/main" id="{D106FE3F-A0A5-069D-3884-8987B90B542F}"/>
              </a:ext>
            </a:extLst>
          </p:cNvPr>
          <p:cNvSpPr txBox="1"/>
          <p:nvPr/>
        </p:nvSpPr>
        <p:spPr>
          <a:xfrm>
            <a:off x="6656832" y="4882896"/>
            <a:ext cx="4782312" cy="292608"/>
          </a:xfrm>
          <a:prstGeom prst="rect">
            <a:avLst/>
          </a:prstGeom>
          <a:noFill/>
          <a:ln/>
        </p:spPr>
        <p:txBody>
          <a:bodyPr wrap="square" lIns="0" tIns="0" rIns="0" bIns="0" rtlCol="0" anchor="ctr">
            <a:normAutofit/>
          </a:bodyPr>
          <a:lstStyle/>
          <a:p>
            <a:pPr marL="0" indent="0" algn="l">
              <a:lnSpc>
                <a:spcPct val="100000"/>
              </a:lnSpc>
              <a:buNone/>
            </a:pPr>
            <a:r>
              <a:rPr lang="en-US" sz="1170" dirty="0">
                <a:solidFill>
                  <a:srgbClr val="172C49"/>
                </a:solidFill>
                <a:latin typeface="Microsoft YaHei" pitchFamily="34" charset="0"/>
                <a:ea typeface="Microsoft YaHei" pitchFamily="34" charset="-122"/>
                <a:cs typeface="Microsoft YaHei" pitchFamily="34" charset="-120"/>
              </a:rPr>
              <a:t>正确创建与加载 MXFP4 权重、scale 等量化参数</a:t>
            </a:r>
            <a:endParaRPr lang="en-US" sz="1170" dirty="0"/>
          </a:p>
        </p:txBody>
      </p:sp>
      <p:sp>
        <p:nvSpPr>
          <p:cNvPr id="80" name="Shape 75">
            <a:extLst>
              <a:ext uri="{FF2B5EF4-FFF2-40B4-BE49-F238E27FC236}">
                <a16:creationId xmlns:a16="http://schemas.microsoft.com/office/drawing/2014/main" id="{31A28121-A475-6DBD-B1B8-D2112EC21345}"/>
              </a:ext>
            </a:extLst>
          </p:cNvPr>
          <p:cNvSpPr/>
          <p:nvPr/>
        </p:nvSpPr>
        <p:spPr>
          <a:xfrm>
            <a:off x="6501384" y="5280660"/>
            <a:ext cx="68580" cy="68580"/>
          </a:xfrm>
          <a:prstGeom prst="ellipse">
            <a:avLst/>
          </a:prstGeom>
          <a:solidFill>
            <a:srgbClr val="167E53"/>
          </a:solidFill>
          <a:ln w="12700">
            <a:solidFill>
              <a:srgbClr val="167E53"/>
            </a:solidFill>
            <a:prstDash val="solid"/>
          </a:ln>
        </p:spPr>
      </p:sp>
      <p:sp>
        <p:nvSpPr>
          <p:cNvPr id="81" name="Text 76">
            <a:extLst>
              <a:ext uri="{FF2B5EF4-FFF2-40B4-BE49-F238E27FC236}">
                <a16:creationId xmlns:a16="http://schemas.microsoft.com/office/drawing/2014/main" id="{6998BA78-CF80-F750-245F-A69B1FA7DAEF}"/>
              </a:ext>
            </a:extLst>
          </p:cNvPr>
          <p:cNvSpPr txBox="1"/>
          <p:nvPr/>
        </p:nvSpPr>
        <p:spPr>
          <a:xfrm>
            <a:off x="6656832" y="5193792"/>
            <a:ext cx="4782312" cy="292608"/>
          </a:xfrm>
          <a:prstGeom prst="rect">
            <a:avLst/>
          </a:prstGeom>
          <a:noFill/>
          <a:ln/>
        </p:spPr>
        <p:txBody>
          <a:bodyPr wrap="square" lIns="0" tIns="0" rIns="0" bIns="0" rtlCol="0" anchor="ctr">
            <a:normAutofit/>
          </a:bodyPr>
          <a:lstStyle/>
          <a:p>
            <a:pPr marL="0" indent="0" algn="l">
              <a:lnSpc>
                <a:spcPct val="100000"/>
              </a:lnSpc>
              <a:buNone/>
            </a:pPr>
            <a:r>
              <a:rPr lang="en-US" sz="1110" dirty="0">
                <a:solidFill>
                  <a:srgbClr val="172C49"/>
                </a:solidFill>
                <a:latin typeface="Microsoft YaHei" pitchFamily="34" charset="0"/>
                <a:ea typeface="Microsoft YaHei" pitchFamily="34" charset="-122"/>
                <a:cs typeface="Microsoft YaHei" pitchFamily="34" charset="-120"/>
              </a:rPr>
              <a:t>Patch 输入使用模型激活 dtype（如 BF16），避免误用权重 dtype</a:t>
            </a:r>
            <a:endParaRPr lang="en-US" sz="1110" dirty="0"/>
          </a:p>
        </p:txBody>
      </p:sp>
      <p:sp>
        <p:nvSpPr>
          <p:cNvPr id="82" name="Shape 77">
            <a:extLst>
              <a:ext uri="{FF2B5EF4-FFF2-40B4-BE49-F238E27FC236}">
                <a16:creationId xmlns:a16="http://schemas.microsoft.com/office/drawing/2014/main" id="{113F9003-94E5-1F75-F4A0-97DD984812CD}"/>
              </a:ext>
            </a:extLst>
          </p:cNvPr>
          <p:cNvSpPr/>
          <p:nvPr/>
        </p:nvSpPr>
        <p:spPr>
          <a:xfrm>
            <a:off x="513588" y="5870916"/>
            <a:ext cx="11164824" cy="420624"/>
          </a:xfrm>
          <a:prstGeom prst="roundRect">
            <a:avLst>
              <a:gd name="adj" fmla="val 21739"/>
            </a:avLst>
          </a:prstGeom>
          <a:solidFill>
            <a:srgbClr val="152B49"/>
          </a:solidFill>
          <a:ln w="12700">
            <a:solidFill>
              <a:srgbClr val="152B49">
                <a:alpha val="0"/>
              </a:srgbClr>
            </a:solidFill>
            <a:prstDash val="solid"/>
          </a:ln>
        </p:spPr>
        <p:txBody>
          <a:bodyPr/>
          <a:lstStyle/>
          <a:p>
            <a:endParaRPr lang="zh-CN" altLang="en-US"/>
          </a:p>
        </p:txBody>
      </p:sp>
      <p:sp>
        <p:nvSpPr>
          <p:cNvPr id="83" name="Text 78">
            <a:extLst>
              <a:ext uri="{FF2B5EF4-FFF2-40B4-BE49-F238E27FC236}">
                <a16:creationId xmlns:a16="http://schemas.microsoft.com/office/drawing/2014/main" id="{E35BB004-3448-9628-FF79-BF215C8A6B7A}"/>
              </a:ext>
            </a:extLst>
          </p:cNvPr>
          <p:cNvSpPr txBox="1"/>
          <p:nvPr/>
        </p:nvSpPr>
        <p:spPr>
          <a:xfrm>
            <a:off x="1065276" y="5984747"/>
            <a:ext cx="1051560" cy="210312"/>
          </a:xfrm>
          <a:prstGeom prst="rect">
            <a:avLst/>
          </a:prstGeom>
          <a:noFill/>
          <a:ln/>
        </p:spPr>
        <p:txBody>
          <a:bodyPr wrap="square" lIns="0" tIns="0" rIns="0" bIns="0" rtlCol="0" anchor="ctr">
            <a:normAutofit/>
          </a:bodyPr>
          <a:lstStyle/>
          <a:p>
            <a:pPr marL="0" indent="0" algn="l">
              <a:lnSpc>
                <a:spcPct val="100000"/>
              </a:lnSpc>
              <a:buNone/>
            </a:pPr>
            <a:r>
              <a:rPr lang="en-US" sz="1170" b="1" dirty="0">
                <a:solidFill>
                  <a:srgbClr val="FFFFFF"/>
                </a:solidFill>
                <a:latin typeface="Microsoft YaHei" pitchFamily="34" charset="0"/>
                <a:ea typeface="Microsoft YaHei" pitchFamily="34" charset="-122"/>
                <a:cs typeface="Microsoft YaHei" pitchFamily="34" charset="-120"/>
              </a:rPr>
              <a:t>接口生命周期</a:t>
            </a:r>
            <a:endParaRPr lang="en-US" sz="1170" dirty="0"/>
          </a:p>
        </p:txBody>
      </p:sp>
      <p:sp>
        <p:nvSpPr>
          <p:cNvPr id="84" name="Text 79">
            <a:extLst>
              <a:ext uri="{FF2B5EF4-FFF2-40B4-BE49-F238E27FC236}">
                <a16:creationId xmlns:a16="http://schemas.microsoft.com/office/drawing/2014/main" id="{2B2637F0-8249-66ED-D94F-6FBEB1EA3516}"/>
              </a:ext>
            </a:extLst>
          </p:cNvPr>
          <p:cNvSpPr txBox="1"/>
          <p:nvPr/>
        </p:nvSpPr>
        <p:spPr>
          <a:xfrm>
            <a:off x="2153412" y="5984747"/>
            <a:ext cx="3785616" cy="210312"/>
          </a:xfrm>
          <a:prstGeom prst="rect">
            <a:avLst/>
          </a:prstGeom>
          <a:noFill/>
          <a:ln/>
        </p:spPr>
        <p:txBody>
          <a:bodyPr wrap="square" lIns="0" tIns="0" rIns="0" bIns="0" rtlCol="0" anchor="ctr">
            <a:normAutofit/>
          </a:bodyPr>
          <a:lstStyle/>
          <a:p>
            <a:pPr marL="0" indent="0" algn="l">
              <a:lnSpc>
                <a:spcPct val="100000"/>
              </a:lnSpc>
              <a:buNone/>
            </a:pPr>
            <a:r>
              <a:rPr lang="en-US" sz="1160" dirty="0">
                <a:solidFill>
                  <a:srgbClr val="FFFFFF"/>
                </a:solidFill>
                <a:latin typeface="Microsoft YaHei" pitchFamily="34" charset="0"/>
                <a:ea typeface="Microsoft YaHei" pitchFamily="34" charset="-122"/>
                <a:cs typeface="Microsoft YaHei" pitchFamily="34" charset="-120"/>
              </a:rPr>
              <a:t>初始化  get_quant_method() → create_weights()</a:t>
            </a:r>
            <a:endParaRPr lang="en-US" sz="1160" dirty="0"/>
          </a:p>
        </p:txBody>
      </p:sp>
      <p:sp>
        <p:nvSpPr>
          <p:cNvPr id="85" name="Text 80">
            <a:extLst>
              <a:ext uri="{FF2B5EF4-FFF2-40B4-BE49-F238E27FC236}">
                <a16:creationId xmlns:a16="http://schemas.microsoft.com/office/drawing/2014/main" id="{3713C0DF-7E81-2249-9018-9C80973D7AD9}"/>
              </a:ext>
            </a:extLst>
          </p:cNvPr>
          <p:cNvSpPr txBox="1"/>
          <p:nvPr/>
        </p:nvSpPr>
        <p:spPr>
          <a:xfrm>
            <a:off x="6012180" y="5984747"/>
            <a:ext cx="2798064" cy="210312"/>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FFFFFF"/>
                </a:solidFill>
                <a:latin typeface="Microsoft YaHei" pitchFamily="34" charset="0"/>
                <a:ea typeface="Microsoft YaHei" pitchFamily="34" charset="-122"/>
                <a:cs typeface="Microsoft YaHei" pitchFamily="34" charset="-120"/>
              </a:rPr>
              <a:t>加载  checkpoint(weight / scale)</a:t>
            </a:r>
            <a:endParaRPr lang="en-US" sz="1150" dirty="0"/>
          </a:p>
        </p:txBody>
      </p:sp>
      <p:sp>
        <p:nvSpPr>
          <p:cNvPr id="86" name="Text 81">
            <a:extLst>
              <a:ext uri="{FF2B5EF4-FFF2-40B4-BE49-F238E27FC236}">
                <a16:creationId xmlns:a16="http://schemas.microsoft.com/office/drawing/2014/main" id="{0DB9C73E-916F-D35E-770F-D5395BBF4ECF}"/>
              </a:ext>
            </a:extLst>
          </p:cNvPr>
          <p:cNvSpPr txBox="1"/>
          <p:nvPr/>
        </p:nvSpPr>
        <p:spPr>
          <a:xfrm>
            <a:off x="8892540" y="5984747"/>
            <a:ext cx="1863279" cy="210312"/>
          </a:xfrm>
          <a:prstGeom prst="rect">
            <a:avLst/>
          </a:prstGeom>
          <a:noFill/>
          <a:ln/>
        </p:spPr>
        <p:txBody>
          <a:bodyPr wrap="square" lIns="0" tIns="0" rIns="0" bIns="0" rtlCol="0" anchor="ctr">
            <a:normAutofit/>
          </a:bodyPr>
          <a:lstStyle/>
          <a:p>
            <a:pPr marL="0" indent="0" algn="l">
              <a:lnSpc>
                <a:spcPct val="100000"/>
              </a:lnSpc>
              <a:buNone/>
            </a:pPr>
            <a:r>
              <a:rPr lang="en-US" sz="1145" dirty="0">
                <a:solidFill>
                  <a:srgbClr val="FFFFFF"/>
                </a:solidFill>
                <a:latin typeface="Microsoft YaHei" pitchFamily="34" charset="0"/>
                <a:ea typeface="Microsoft YaHei" pitchFamily="34" charset="-122"/>
                <a:cs typeface="Microsoft YaHei" pitchFamily="34" charset="-120"/>
              </a:rPr>
              <a:t>推理  forward() → apply()</a:t>
            </a:r>
            <a:endParaRPr lang="en-US" sz="1145" dirty="0"/>
          </a:p>
        </p:txBody>
      </p:sp>
      <p:sp>
        <p:nvSpPr>
          <p:cNvPr id="87" name="Text 82">
            <a:extLst>
              <a:ext uri="{FF2B5EF4-FFF2-40B4-BE49-F238E27FC236}">
                <a16:creationId xmlns:a16="http://schemas.microsoft.com/office/drawing/2014/main" id="{BB61FA08-301A-6C87-F376-305413704158}"/>
              </a:ext>
            </a:extLst>
          </p:cNvPr>
          <p:cNvSpPr txBox="1"/>
          <p:nvPr/>
        </p:nvSpPr>
        <p:spPr>
          <a:xfrm>
            <a:off x="544068" y="6492240"/>
            <a:ext cx="10012680" cy="173736"/>
          </a:xfrm>
          <a:prstGeom prst="rect">
            <a:avLst/>
          </a:prstGeom>
          <a:noFill/>
          <a:ln/>
        </p:spPr>
        <p:txBody>
          <a:bodyPr wrap="square" lIns="0" tIns="0" rIns="0" bIns="0" rtlCol="0" anchor="ctr">
            <a:normAutofit/>
          </a:bodyPr>
          <a:lstStyle/>
          <a:p>
            <a:pPr marL="0" indent="0" algn="l">
              <a:lnSpc>
                <a:spcPct val="100000"/>
              </a:lnSpc>
              <a:buNone/>
            </a:pPr>
            <a:r>
              <a:rPr lang="en-US" sz="925">
                <a:solidFill>
                  <a:srgbClr val="657792"/>
                </a:solidFill>
                <a:latin typeface="Microsoft YaHei" pitchFamily="34" charset="0"/>
                <a:ea typeface="Microsoft YaHei" pitchFamily="34" charset="-122"/>
                <a:cs typeface="Microsoft YaHei" pitchFamily="34" charset="-120"/>
              </a:rPr>
              <a:t>代码锚点：Gemma4MultimodalEmbedder / LinearBase  |  Ascend Gemma4 Adapter / AscendModelSlimConfig  </a:t>
            </a:r>
            <a:endParaRPr lang="en-US" sz="925" dirty="0"/>
          </a:p>
        </p:txBody>
      </p:sp>
      <p:pic>
        <p:nvPicPr>
          <p:cNvPr id="90" name="图片 89" descr="竖版华为公司标志 Vertical Version of Huawei Corporate Logo_2018">
            <a:extLst>
              <a:ext uri="{FF2B5EF4-FFF2-40B4-BE49-F238E27FC236}">
                <a16:creationId xmlns:a16="http://schemas.microsoft.com/office/drawing/2014/main" id="{A537FF56-3D4F-C6F6-2060-A3C57D527C7C}"/>
              </a:ext>
            </a:extLst>
          </p:cNvPr>
          <p:cNvPicPr>
            <a:picLocks noChangeAspect="1"/>
          </p:cNvPicPr>
          <p:nvPr/>
        </p:nvPicPr>
        <p:blipFill>
          <a:blip r:embed="rId3"/>
          <a:stretch>
            <a:fillRect/>
          </a:stretch>
        </p:blipFill>
        <p:spPr>
          <a:xfrm>
            <a:off x="10780956" y="87585"/>
            <a:ext cx="810588" cy="802246"/>
          </a:xfrm>
          <a:prstGeom prst="rect">
            <a:avLst/>
          </a:prstGeom>
        </p:spPr>
      </p:pic>
      <p:sp>
        <p:nvSpPr>
          <p:cNvPr id="7" name="Text 5">
            <a:extLst>
              <a:ext uri="{FF2B5EF4-FFF2-40B4-BE49-F238E27FC236}">
                <a16:creationId xmlns:a16="http://schemas.microsoft.com/office/drawing/2014/main" id="{320721FB-82EE-825B-6E86-1EA53ECD255C}"/>
              </a:ext>
            </a:extLst>
          </p:cNvPr>
          <p:cNvSpPr txBox="1"/>
          <p:nvPr/>
        </p:nvSpPr>
        <p:spPr>
          <a:xfrm>
            <a:off x="658368" y="270256"/>
            <a:ext cx="9575292" cy="475488"/>
          </a:xfrm>
          <a:prstGeom prst="rect">
            <a:avLst/>
          </a:prstGeom>
          <a:noFill/>
          <a:ln/>
        </p:spPr>
        <p:txBody>
          <a:bodyPr wrap="square" lIns="0" tIns="0" rIns="0" bIns="0" rtlCol="0" anchor="ctr">
            <a:normAutofit fontScale="77500" lnSpcReduction="20000"/>
          </a:bodyPr>
          <a:lstStyle/>
          <a:p>
            <a:r>
              <a:rPr lang="en-US" sz="2700" b="1">
                <a:solidFill>
                  <a:srgbClr val="172C49"/>
                </a:solidFill>
                <a:latin typeface="Microsoft YaHei" pitchFamily="34" charset="0"/>
                <a:ea typeface="Microsoft YaHei" pitchFamily="34" charset="-122"/>
                <a:cs typeface="Microsoft YaHei" pitchFamily="34" charset="-120"/>
              </a:rPr>
              <a:t>Gemma4 </a:t>
            </a:r>
            <a:r>
              <a:rPr lang="zh-CN" altLang="en-US" sz="2700" b="1">
                <a:solidFill>
                  <a:srgbClr val="172C49"/>
                </a:solidFill>
                <a:latin typeface="Microsoft YaHei" pitchFamily="34" charset="0"/>
                <a:ea typeface="Microsoft YaHei" pitchFamily="34" charset="-122"/>
                <a:cs typeface="Microsoft YaHei" pitchFamily="34" charset="-120"/>
              </a:rPr>
              <a:t>混合 </a:t>
            </a:r>
            <a:r>
              <a:rPr lang="en-US" sz="2700" b="1">
                <a:solidFill>
                  <a:srgbClr val="172C49"/>
                </a:solidFill>
                <a:latin typeface="Microsoft YaHei" pitchFamily="34" charset="0"/>
                <a:ea typeface="Microsoft YaHei" pitchFamily="34" charset="-122"/>
                <a:cs typeface="Microsoft YaHei" pitchFamily="34" charset="-120"/>
              </a:rPr>
              <a:t>MXFP4：</a:t>
            </a:r>
            <a:r>
              <a:rPr lang="en-US" altLang="zh-CN" sz="2700" b="1">
                <a:solidFill>
                  <a:srgbClr val="172C49"/>
                </a:solidFill>
                <a:latin typeface="Microsoft YaHei" pitchFamily="34" charset="0"/>
                <a:ea typeface="Microsoft YaHei" pitchFamily="34" charset="-122"/>
                <a:cs typeface="Microsoft YaHei" pitchFamily="34" charset="-120"/>
              </a:rPr>
              <a:t> 从 quant_config 到 quant_method </a:t>
            </a:r>
            <a:r>
              <a:rPr lang="zh-CN" altLang="en-US" sz="2700" b="1">
                <a:solidFill>
                  <a:srgbClr val="172C49"/>
                </a:solidFill>
                <a:latin typeface="Microsoft YaHei" pitchFamily="34" charset="0"/>
                <a:ea typeface="Microsoft YaHei" pitchFamily="34" charset="-122"/>
                <a:cs typeface="Microsoft YaHei" pitchFamily="34" charset="-120"/>
              </a:rPr>
              <a:t>链路追踪</a:t>
            </a:r>
            <a:endParaRPr lang="en-US" sz="2700" dirty="0"/>
          </a:p>
        </p:txBody>
      </p:sp>
      <p:sp>
        <p:nvSpPr>
          <p:cNvPr id="88" name="Text 55">
            <a:extLst>
              <a:ext uri="{FF2B5EF4-FFF2-40B4-BE49-F238E27FC236}">
                <a16:creationId xmlns:a16="http://schemas.microsoft.com/office/drawing/2014/main" id="{57DD79B0-6897-B4CB-E494-01346F9970A6}"/>
              </a:ext>
            </a:extLst>
          </p:cNvPr>
          <p:cNvSpPr/>
          <p:nvPr/>
        </p:nvSpPr>
        <p:spPr>
          <a:xfrm>
            <a:off x="8956548" y="1298145"/>
            <a:ext cx="612648" cy="585215"/>
          </a:xfrm>
          <a:prstGeom prst="rect">
            <a:avLst/>
          </a:prstGeom>
          <a:noFill/>
          <a:ln/>
        </p:spPr>
        <p:txBody>
          <a:bodyPr wrap="square" lIns="0" tIns="0" rIns="0" bIns="0" rtlCol="0" anchor="ctr">
            <a:normAutofit/>
          </a:bodyPr>
          <a:lstStyle/>
          <a:p>
            <a:pPr marL="0" indent="0" algn="ctr">
              <a:buNone/>
            </a:pPr>
            <a:r>
              <a:rPr lang="en-US" sz="3200" b="1" dirty="0">
                <a:solidFill>
                  <a:srgbClr val="D92332"/>
                </a:solidFill>
                <a:latin typeface="Noto Sans CJK SC" pitchFamily="34" charset="0"/>
                <a:ea typeface="Noto Sans CJK SC" pitchFamily="34" charset="-122"/>
                <a:cs typeface="Noto Sans CJK SC" pitchFamily="34" charset="-120"/>
              </a:rPr>
              <a:t>!</a:t>
            </a:r>
            <a:endParaRPr lang="en-US" sz="3200" dirty="0"/>
          </a:p>
        </p:txBody>
      </p:sp>
    </p:spTree>
    <p:extLst>
      <p:ext uri="{BB962C8B-B14F-4D97-AF65-F5344CB8AC3E}">
        <p14:creationId xmlns:p14="http://schemas.microsoft.com/office/powerpoint/2010/main" val="3435329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E94D137-739A-7A53-824C-B1E664D219FB}"/>
              </a:ext>
            </a:extLst>
          </p:cNvPr>
          <p:cNvSpPr>
            <a:spLocks noGrp="1"/>
          </p:cNvSpPr>
          <p:nvPr>
            <p:ph type="sldNum" sz="quarter" idx="12"/>
          </p:nvPr>
        </p:nvSpPr>
        <p:spPr/>
        <p:txBody>
          <a:bodyPr/>
          <a:lstStyle/>
          <a:p>
            <a:fld id="{49AE70B2-8BF9-45C0-BB95-33D1B9D3A854}" type="slidenum">
              <a:rPr lang="zh-CN" altLang="en-US" smtClean="0"/>
              <a:t>11</a:t>
            </a:fld>
            <a:endParaRPr lang="zh-CN" altLang="en-US" dirty="0"/>
          </a:p>
        </p:txBody>
      </p:sp>
      <p:sp>
        <p:nvSpPr>
          <p:cNvPr id="77" name="Text 5">
            <a:extLst>
              <a:ext uri="{FF2B5EF4-FFF2-40B4-BE49-F238E27FC236}">
                <a16:creationId xmlns:a16="http://schemas.microsoft.com/office/drawing/2014/main" id="{FE32EC26-37D1-5C2E-F39E-1917E9F773A6}"/>
              </a:ext>
            </a:extLst>
          </p:cNvPr>
          <p:cNvSpPr/>
          <p:nvPr/>
        </p:nvSpPr>
        <p:spPr>
          <a:xfrm>
            <a:off x="539496" y="1671299"/>
            <a:ext cx="11064240" cy="256032"/>
          </a:xfrm>
          <a:prstGeom prst="rect">
            <a:avLst/>
          </a:prstGeom>
          <a:noFill/>
          <a:ln/>
        </p:spPr>
        <p:txBody>
          <a:bodyPr wrap="square" lIns="0" tIns="0" rIns="0" bIns="0" rtlCol="0" anchor="ctr">
            <a:normAutofit/>
          </a:bodyPr>
          <a:lstStyle/>
          <a:p>
            <a:pPr marL="0" indent="0" algn="l">
              <a:buNone/>
            </a:pPr>
            <a:r>
              <a:rPr lang="en-US" sz="1300" dirty="0">
                <a:solidFill>
                  <a:srgbClr val="657792"/>
                </a:solidFill>
                <a:latin typeface="Microsoft YaHei" pitchFamily="34" charset="0"/>
                <a:ea typeface="Microsoft YaHei" pitchFamily="34" charset="-122"/>
                <a:cs typeface="Microsoft YaHei" pitchFamily="34" charset="-120"/>
              </a:rPr>
              <a:t>两条层初始化路径，最终汇入同一量化方法选择机制</a:t>
            </a:r>
            <a:endParaRPr lang="en-US" sz="1300" dirty="0"/>
          </a:p>
        </p:txBody>
      </p:sp>
      <p:sp>
        <p:nvSpPr>
          <p:cNvPr id="78" name="Shape 6">
            <a:extLst>
              <a:ext uri="{FF2B5EF4-FFF2-40B4-BE49-F238E27FC236}">
                <a16:creationId xmlns:a16="http://schemas.microsoft.com/office/drawing/2014/main" id="{FB732387-465A-95FD-012E-E45AB6DF5659}"/>
              </a:ext>
            </a:extLst>
          </p:cNvPr>
          <p:cNvSpPr/>
          <p:nvPr/>
        </p:nvSpPr>
        <p:spPr>
          <a:xfrm>
            <a:off x="490012" y="1986767"/>
            <a:ext cx="2176272" cy="2587752"/>
          </a:xfrm>
          <a:prstGeom prst="roundRect">
            <a:avLst/>
          </a:prstGeom>
          <a:solidFill>
            <a:srgbClr val="FFFFFF"/>
          </a:solidFill>
          <a:ln w="12700">
            <a:solidFill>
              <a:srgbClr val="D9E3EF"/>
            </a:solidFill>
            <a:prstDash val="solid"/>
          </a:ln>
        </p:spPr>
        <p:txBody>
          <a:bodyPr/>
          <a:lstStyle/>
          <a:p>
            <a:endParaRPr lang="zh-CN" altLang="en-US"/>
          </a:p>
        </p:txBody>
      </p:sp>
      <p:sp>
        <p:nvSpPr>
          <p:cNvPr id="79" name="Shape 7">
            <a:extLst>
              <a:ext uri="{FF2B5EF4-FFF2-40B4-BE49-F238E27FC236}">
                <a16:creationId xmlns:a16="http://schemas.microsoft.com/office/drawing/2014/main" id="{ABE1D6FA-E5A2-38D7-8DB1-114D9877CFB8}"/>
              </a:ext>
            </a:extLst>
          </p:cNvPr>
          <p:cNvSpPr/>
          <p:nvPr/>
        </p:nvSpPr>
        <p:spPr>
          <a:xfrm>
            <a:off x="636316" y="2151359"/>
            <a:ext cx="438912" cy="320040"/>
          </a:xfrm>
          <a:prstGeom prst="roundRect">
            <a:avLst/>
          </a:prstGeom>
          <a:solidFill>
            <a:srgbClr val="1675C6"/>
          </a:solidFill>
          <a:ln w="12700">
            <a:solidFill>
              <a:srgbClr val="1675C6"/>
            </a:solidFill>
            <a:prstDash val="solid"/>
          </a:ln>
        </p:spPr>
      </p:sp>
      <p:sp>
        <p:nvSpPr>
          <p:cNvPr id="80" name="Text 8">
            <a:extLst>
              <a:ext uri="{FF2B5EF4-FFF2-40B4-BE49-F238E27FC236}">
                <a16:creationId xmlns:a16="http://schemas.microsoft.com/office/drawing/2014/main" id="{94B76842-3DCD-4027-12D3-627A442BB488}"/>
              </a:ext>
            </a:extLst>
          </p:cNvPr>
          <p:cNvSpPr/>
          <p:nvPr/>
        </p:nvSpPr>
        <p:spPr>
          <a:xfrm>
            <a:off x="636316" y="2160503"/>
            <a:ext cx="438912"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Microsoft YaHei" pitchFamily="34" charset="0"/>
                <a:ea typeface="Microsoft YaHei" pitchFamily="34" charset="-122"/>
                <a:cs typeface="Microsoft YaHei" pitchFamily="34" charset="-120"/>
              </a:rPr>
              <a:t>01</a:t>
            </a:r>
            <a:endParaRPr lang="en-US" sz="1300" dirty="0"/>
          </a:p>
        </p:txBody>
      </p:sp>
      <p:sp>
        <p:nvSpPr>
          <p:cNvPr id="81" name="Text 9">
            <a:extLst>
              <a:ext uri="{FF2B5EF4-FFF2-40B4-BE49-F238E27FC236}">
                <a16:creationId xmlns:a16="http://schemas.microsoft.com/office/drawing/2014/main" id="{9F190B0E-9908-1824-D204-63BB069AA7DF}"/>
              </a:ext>
            </a:extLst>
          </p:cNvPr>
          <p:cNvSpPr/>
          <p:nvPr/>
        </p:nvSpPr>
        <p:spPr>
          <a:xfrm>
            <a:off x="1184956" y="2160503"/>
            <a:ext cx="1335024" cy="301752"/>
          </a:xfrm>
          <a:prstGeom prst="rect">
            <a:avLst/>
          </a:prstGeom>
          <a:noFill/>
          <a:ln/>
        </p:spPr>
        <p:txBody>
          <a:bodyPr wrap="square" lIns="0" tIns="0" rIns="0" bIns="0" rtlCol="0" anchor="ctr">
            <a:normAutofit/>
          </a:bodyPr>
          <a:lstStyle/>
          <a:p>
            <a:pPr marL="0" indent="0" algn="l">
              <a:buNone/>
            </a:pPr>
            <a:r>
              <a:rPr lang="en-US" sz="1500" b="1" dirty="0">
                <a:solidFill>
                  <a:srgbClr val="172C49"/>
                </a:solidFill>
                <a:latin typeface="Microsoft YaHei" pitchFamily="34" charset="0"/>
                <a:ea typeface="Microsoft YaHei" pitchFamily="34" charset="-122"/>
                <a:cs typeface="Microsoft YaHei" pitchFamily="34" charset="-120"/>
              </a:rPr>
              <a:t>量化配置入口</a:t>
            </a:r>
            <a:endParaRPr lang="en-US" sz="1500" dirty="0"/>
          </a:p>
        </p:txBody>
      </p:sp>
      <p:sp>
        <p:nvSpPr>
          <p:cNvPr id="82" name="Shape 10">
            <a:extLst>
              <a:ext uri="{FF2B5EF4-FFF2-40B4-BE49-F238E27FC236}">
                <a16:creationId xmlns:a16="http://schemas.microsoft.com/office/drawing/2014/main" id="{3D9DF58A-428E-325C-2750-E1663BF57C49}"/>
              </a:ext>
            </a:extLst>
          </p:cNvPr>
          <p:cNvSpPr/>
          <p:nvPr/>
        </p:nvSpPr>
        <p:spPr>
          <a:xfrm>
            <a:off x="654604" y="2599415"/>
            <a:ext cx="1847088" cy="0"/>
          </a:xfrm>
          <a:prstGeom prst="line">
            <a:avLst/>
          </a:prstGeom>
          <a:solidFill>
            <a:srgbClr val="FFFFFF">
              <a:alpha val="0"/>
            </a:srgbClr>
          </a:solidFill>
          <a:ln w="12700">
            <a:solidFill>
              <a:srgbClr val="D9E3EF"/>
            </a:solidFill>
            <a:prstDash val="solid"/>
          </a:ln>
        </p:spPr>
      </p:sp>
      <p:sp>
        <p:nvSpPr>
          <p:cNvPr id="83" name="Text 11">
            <a:extLst>
              <a:ext uri="{FF2B5EF4-FFF2-40B4-BE49-F238E27FC236}">
                <a16:creationId xmlns:a16="http://schemas.microsoft.com/office/drawing/2014/main" id="{AE107393-B495-46F3-EC2B-70CC4EAD1931}"/>
              </a:ext>
            </a:extLst>
          </p:cNvPr>
          <p:cNvSpPr/>
          <p:nvPr/>
        </p:nvSpPr>
        <p:spPr>
          <a:xfrm>
            <a:off x="691180" y="2764007"/>
            <a:ext cx="1801368" cy="256032"/>
          </a:xfrm>
          <a:prstGeom prst="rect">
            <a:avLst/>
          </a:prstGeom>
          <a:noFill/>
          <a:ln/>
        </p:spPr>
        <p:txBody>
          <a:bodyPr wrap="square" lIns="0" tIns="0" rIns="0" bIns="0" rtlCol="0" anchor="ctr">
            <a:normAutofit/>
          </a:bodyPr>
          <a:lstStyle/>
          <a:p>
            <a:pPr marL="0" indent="0" algn="ctr">
              <a:buNone/>
            </a:pPr>
            <a:r>
              <a:rPr lang="en-US" sz="1200" dirty="0">
                <a:solidFill>
                  <a:srgbClr val="657792"/>
                </a:solidFill>
                <a:latin typeface="Arial" pitchFamily="34" charset="0"/>
                <a:ea typeface="Arial" pitchFamily="34" charset="-122"/>
                <a:cs typeface="Arial" pitchFamily="34" charset="-120"/>
              </a:rPr>
              <a:t>vllm_config.quant_config</a:t>
            </a:r>
            <a:endParaRPr lang="en-US" sz="1200" dirty="0"/>
          </a:p>
        </p:txBody>
      </p:sp>
      <p:sp>
        <p:nvSpPr>
          <p:cNvPr id="84" name="Shape 12">
            <a:extLst>
              <a:ext uri="{FF2B5EF4-FFF2-40B4-BE49-F238E27FC236}">
                <a16:creationId xmlns:a16="http://schemas.microsoft.com/office/drawing/2014/main" id="{2EEA2619-FB51-FF41-8C70-F9A9ACBD382B}"/>
              </a:ext>
            </a:extLst>
          </p:cNvPr>
          <p:cNvSpPr/>
          <p:nvPr/>
        </p:nvSpPr>
        <p:spPr>
          <a:xfrm>
            <a:off x="558592" y="3166343"/>
            <a:ext cx="1888236" cy="694944"/>
          </a:xfrm>
          <a:prstGeom prst="roundRect">
            <a:avLst/>
          </a:prstGeom>
          <a:solidFill>
            <a:srgbClr val="EAF4FF"/>
          </a:solidFill>
          <a:ln w="12700">
            <a:solidFill>
              <a:srgbClr val="EAF4FF"/>
            </a:solidFill>
            <a:prstDash val="solid"/>
          </a:ln>
        </p:spPr>
        <p:txBody>
          <a:bodyPr/>
          <a:lstStyle/>
          <a:p>
            <a:endParaRPr lang="zh-CN" altLang="en-US"/>
          </a:p>
        </p:txBody>
      </p:sp>
      <p:sp>
        <p:nvSpPr>
          <p:cNvPr id="85" name="Text 13">
            <a:extLst>
              <a:ext uri="{FF2B5EF4-FFF2-40B4-BE49-F238E27FC236}">
                <a16:creationId xmlns:a16="http://schemas.microsoft.com/office/drawing/2014/main" id="{2F93915D-621E-2109-C8F4-9A51C0297B1B}"/>
              </a:ext>
            </a:extLst>
          </p:cNvPr>
          <p:cNvSpPr/>
          <p:nvPr/>
        </p:nvSpPr>
        <p:spPr>
          <a:xfrm>
            <a:off x="558592" y="3276071"/>
            <a:ext cx="1869948" cy="438912"/>
          </a:xfrm>
          <a:prstGeom prst="rect">
            <a:avLst/>
          </a:prstGeom>
          <a:noFill/>
          <a:ln/>
        </p:spPr>
        <p:txBody>
          <a:bodyPr wrap="square" lIns="0" tIns="0" rIns="0" bIns="0" rtlCol="0" anchor="ctr">
            <a:normAutofit fontScale="92500" lnSpcReduction="10000"/>
          </a:bodyPr>
          <a:lstStyle/>
          <a:p>
            <a:pPr marL="0" indent="0" algn="ctr">
              <a:buNone/>
            </a:pPr>
            <a:r>
              <a:rPr lang="en-US" sz="1600" b="1">
                <a:solidFill>
                  <a:srgbClr val="0A5AA0"/>
                </a:solidFill>
                <a:latin typeface="Microsoft YaHei" pitchFamily="34" charset="0"/>
                <a:ea typeface="Microsoft YaHei" pitchFamily="34" charset="-122"/>
                <a:cs typeface="Microsoft YaHei" pitchFamily="34" charset="-120"/>
              </a:rPr>
              <a:t>Ascend ModelSlim</a:t>
            </a:r>
            <a:endParaRPr lang="en-US" sz="1600" dirty="0"/>
          </a:p>
          <a:p>
            <a:pPr marL="0" indent="0" algn="ctr">
              <a:buNone/>
            </a:pPr>
            <a:r>
              <a:rPr lang="en-US" sz="1600" b="1" dirty="0">
                <a:solidFill>
                  <a:srgbClr val="0A5AA0"/>
                </a:solidFill>
                <a:latin typeface="Microsoft YaHei" pitchFamily="34" charset="0"/>
                <a:ea typeface="Microsoft YaHei" pitchFamily="34" charset="-122"/>
                <a:cs typeface="Microsoft YaHei" pitchFamily="34" charset="-120"/>
              </a:rPr>
              <a:t>Config</a:t>
            </a:r>
            <a:endParaRPr lang="en-US" sz="1600" dirty="0"/>
          </a:p>
        </p:txBody>
      </p:sp>
      <p:sp>
        <p:nvSpPr>
          <p:cNvPr id="86" name="Text 14">
            <a:extLst>
              <a:ext uri="{FF2B5EF4-FFF2-40B4-BE49-F238E27FC236}">
                <a16:creationId xmlns:a16="http://schemas.microsoft.com/office/drawing/2014/main" id="{2A3ED970-9F83-9CE4-5A65-7D9B58083CB3}"/>
              </a:ext>
            </a:extLst>
          </p:cNvPr>
          <p:cNvSpPr/>
          <p:nvPr/>
        </p:nvSpPr>
        <p:spPr>
          <a:xfrm>
            <a:off x="691180" y="4044167"/>
            <a:ext cx="1801368" cy="320040"/>
          </a:xfrm>
          <a:prstGeom prst="rect">
            <a:avLst/>
          </a:prstGeom>
          <a:noFill/>
          <a:ln/>
        </p:spPr>
        <p:txBody>
          <a:bodyPr wrap="square" lIns="0" tIns="0" rIns="0" bIns="0" rtlCol="0" anchor="ctr">
            <a:normAutofit lnSpcReduction="10000"/>
          </a:bodyPr>
          <a:lstStyle/>
          <a:p>
            <a:pPr marL="0" indent="0" algn="ctr">
              <a:buNone/>
            </a:pPr>
            <a:r>
              <a:rPr lang="en-US" sz="1100" dirty="0">
                <a:solidFill>
                  <a:srgbClr val="657792"/>
                </a:solidFill>
                <a:latin typeface="Microsoft YaHei" pitchFamily="34" charset="0"/>
                <a:ea typeface="Microsoft YaHei" pitchFamily="34" charset="-122"/>
                <a:cs typeface="Microsoft YaHei" pitchFamily="34" charset="-120"/>
              </a:rPr>
              <a:t>读取 ModelSlim 层级量化描述</a:t>
            </a:r>
            <a:endParaRPr lang="en-US" sz="1100" dirty="0"/>
          </a:p>
        </p:txBody>
      </p:sp>
      <p:sp>
        <p:nvSpPr>
          <p:cNvPr id="87" name="Shape 15">
            <a:extLst>
              <a:ext uri="{FF2B5EF4-FFF2-40B4-BE49-F238E27FC236}">
                <a16:creationId xmlns:a16="http://schemas.microsoft.com/office/drawing/2014/main" id="{73CB68FE-4571-845C-F390-D8275B6B56DF}"/>
              </a:ext>
            </a:extLst>
          </p:cNvPr>
          <p:cNvSpPr/>
          <p:nvPr/>
        </p:nvSpPr>
        <p:spPr>
          <a:xfrm>
            <a:off x="2894884" y="1986767"/>
            <a:ext cx="2971800" cy="2587752"/>
          </a:xfrm>
          <a:prstGeom prst="roundRect">
            <a:avLst/>
          </a:prstGeom>
          <a:solidFill>
            <a:srgbClr val="FFFFFF"/>
          </a:solidFill>
          <a:ln w="12700">
            <a:solidFill>
              <a:srgbClr val="D9E3EF"/>
            </a:solidFill>
            <a:prstDash val="solid"/>
          </a:ln>
        </p:spPr>
        <p:txBody>
          <a:bodyPr/>
          <a:lstStyle/>
          <a:p>
            <a:endParaRPr lang="zh-CN" altLang="en-US"/>
          </a:p>
        </p:txBody>
      </p:sp>
      <p:sp>
        <p:nvSpPr>
          <p:cNvPr id="88" name="Shape 16">
            <a:extLst>
              <a:ext uri="{FF2B5EF4-FFF2-40B4-BE49-F238E27FC236}">
                <a16:creationId xmlns:a16="http://schemas.microsoft.com/office/drawing/2014/main" id="{AA7BE290-3E0D-9A77-B9FA-B4C98FCFA9EE}"/>
              </a:ext>
            </a:extLst>
          </p:cNvPr>
          <p:cNvSpPr/>
          <p:nvPr/>
        </p:nvSpPr>
        <p:spPr>
          <a:xfrm>
            <a:off x="3041188" y="2151359"/>
            <a:ext cx="438912" cy="320040"/>
          </a:xfrm>
          <a:prstGeom prst="roundRect">
            <a:avLst/>
          </a:prstGeom>
          <a:solidFill>
            <a:srgbClr val="1675C6"/>
          </a:solidFill>
          <a:ln w="12700">
            <a:solidFill>
              <a:srgbClr val="1675C6"/>
            </a:solidFill>
            <a:prstDash val="solid"/>
          </a:ln>
        </p:spPr>
      </p:sp>
      <p:sp>
        <p:nvSpPr>
          <p:cNvPr id="89" name="Text 17">
            <a:extLst>
              <a:ext uri="{FF2B5EF4-FFF2-40B4-BE49-F238E27FC236}">
                <a16:creationId xmlns:a16="http://schemas.microsoft.com/office/drawing/2014/main" id="{7B8BB60E-A89E-8D78-1F78-14244F23D15D}"/>
              </a:ext>
            </a:extLst>
          </p:cNvPr>
          <p:cNvSpPr/>
          <p:nvPr/>
        </p:nvSpPr>
        <p:spPr>
          <a:xfrm>
            <a:off x="3041188" y="2160503"/>
            <a:ext cx="438912"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Microsoft YaHei" pitchFamily="34" charset="0"/>
                <a:ea typeface="Microsoft YaHei" pitchFamily="34" charset="-122"/>
                <a:cs typeface="Microsoft YaHei" pitchFamily="34" charset="-120"/>
              </a:rPr>
              <a:t>02</a:t>
            </a:r>
            <a:endParaRPr lang="en-US" sz="1300" dirty="0"/>
          </a:p>
        </p:txBody>
      </p:sp>
      <p:sp>
        <p:nvSpPr>
          <p:cNvPr id="90" name="Text 18">
            <a:extLst>
              <a:ext uri="{FF2B5EF4-FFF2-40B4-BE49-F238E27FC236}">
                <a16:creationId xmlns:a16="http://schemas.microsoft.com/office/drawing/2014/main" id="{68CE65B8-210F-688E-977B-D9DD9184ECE2}"/>
              </a:ext>
            </a:extLst>
          </p:cNvPr>
          <p:cNvSpPr/>
          <p:nvPr/>
        </p:nvSpPr>
        <p:spPr>
          <a:xfrm>
            <a:off x="3589828" y="2160503"/>
            <a:ext cx="2130552" cy="301752"/>
          </a:xfrm>
          <a:prstGeom prst="rect">
            <a:avLst/>
          </a:prstGeom>
          <a:noFill/>
          <a:ln/>
        </p:spPr>
        <p:txBody>
          <a:bodyPr wrap="square" lIns="0" tIns="0" rIns="0" bIns="0" rtlCol="0" anchor="ctr">
            <a:normAutofit fontScale="92500"/>
          </a:bodyPr>
          <a:lstStyle/>
          <a:p>
            <a:pPr marL="0" indent="0" algn="l">
              <a:buNone/>
            </a:pPr>
            <a:r>
              <a:rPr lang="en-US" sz="1500" b="1" dirty="0">
                <a:solidFill>
                  <a:srgbClr val="172C49"/>
                </a:solidFill>
                <a:latin typeface="Microsoft YaHei" pitchFamily="34" charset="0"/>
                <a:ea typeface="Microsoft YaHei" pitchFamily="34" charset="-122"/>
                <a:cs typeface="Microsoft YaHei" pitchFamily="34" charset="-120"/>
              </a:rPr>
              <a:t>Ascend Gemma4 适配层</a:t>
            </a:r>
            <a:endParaRPr lang="en-US" sz="1500" dirty="0"/>
          </a:p>
        </p:txBody>
      </p:sp>
      <p:sp>
        <p:nvSpPr>
          <p:cNvPr id="91" name="Shape 19">
            <a:extLst>
              <a:ext uri="{FF2B5EF4-FFF2-40B4-BE49-F238E27FC236}">
                <a16:creationId xmlns:a16="http://schemas.microsoft.com/office/drawing/2014/main" id="{2FBAFAF2-EE10-A59F-D2C5-84AF6B7C7726}"/>
              </a:ext>
            </a:extLst>
          </p:cNvPr>
          <p:cNvSpPr/>
          <p:nvPr/>
        </p:nvSpPr>
        <p:spPr>
          <a:xfrm>
            <a:off x="3059476" y="2599415"/>
            <a:ext cx="2642616" cy="0"/>
          </a:xfrm>
          <a:prstGeom prst="line">
            <a:avLst/>
          </a:prstGeom>
          <a:solidFill>
            <a:srgbClr val="FFFFFF">
              <a:alpha val="0"/>
            </a:srgbClr>
          </a:solidFill>
          <a:ln w="12700">
            <a:solidFill>
              <a:srgbClr val="D9E3EF"/>
            </a:solidFill>
            <a:prstDash val="solid"/>
          </a:ln>
        </p:spPr>
      </p:sp>
      <p:sp>
        <p:nvSpPr>
          <p:cNvPr id="92" name="Text 20">
            <a:extLst>
              <a:ext uri="{FF2B5EF4-FFF2-40B4-BE49-F238E27FC236}">
                <a16:creationId xmlns:a16="http://schemas.microsoft.com/office/drawing/2014/main" id="{0F086AF0-12F7-17D9-0367-651105D3ECEC}"/>
              </a:ext>
            </a:extLst>
          </p:cNvPr>
          <p:cNvSpPr/>
          <p:nvPr/>
        </p:nvSpPr>
        <p:spPr>
          <a:xfrm>
            <a:off x="3068620" y="2663423"/>
            <a:ext cx="2615184" cy="384048"/>
          </a:xfrm>
          <a:prstGeom prst="rect">
            <a:avLst/>
          </a:prstGeom>
          <a:noFill/>
          <a:ln/>
        </p:spPr>
        <p:txBody>
          <a:bodyPr wrap="square" lIns="0" tIns="0" rIns="0" bIns="0" rtlCol="0" anchor="ctr">
            <a:normAutofit/>
          </a:bodyPr>
          <a:lstStyle/>
          <a:p>
            <a:pPr marL="0" indent="0" algn="ctr">
              <a:buNone/>
            </a:pPr>
            <a:r>
              <a:rPr lang="en-US" sz="1200" b="1" dirty="0">
                <a:solidFill>
                  <a:srgbClr val="0A5AA0"/>
                </a:solidFill>
                <a:latin typeface="Arial" pitchFamily="34" charset="0"/>
                <a:ea typeface="Arial" pitchFamily="34" charset="-122"/>
                <a:cs typeface="Arial" pitchFamily="34" charset="-120"/>
              </a:rPr>
              <a:t>AscendGemma4ForConditional</a:t>
            </a:r>
            <a:endParaRPr lang="en-US" sz="1200" dirty="0"/>
          </a:p>
          <a:p>
            <a:pPr marL="0" indent="0" algn="ctr">
              <a:buNone/>
            </a:pPr>
            <a:r>
              <a:rPr lang="en-US" sz="1200" b="1" dirty="0">
                <a:solidFill>
                  <a:srgbClr val="0A5AA0"/>
                </a:solidFill>
                <a:latin typeface="Arial" pitchFamily="34" charset="0"/>
                <a:ea typeface="Arial" pitchFamily="34" charset="-122"/>
                <a:cs typeface="Arial" pitchFamily="34" charset="-120"/>
              </a:rPr>
              <a:t>Generation</a:t>
            </a:r>
            <a:endParaRPr lang="en-US" sz="1200" dirty="0"/>
          </a:p>
        </p:txBody>
      </p:sp>
      <p:sp>
        <p:nvSpPr>
          <p:cNvPr id="93" name="Shape 21">
            <a:extLst>
              <a:ext uri="{FF2B5EF4-FFF2-40B4-BE49-F238E27FC236}">
                <a16:creationId xmlns:a16="http://schemas.microsoft.com/office/drawing/2014/main" id="{5C40C6A4-B5F1-7D6E-4636-757FA73B9D1F}"/>
              </a:ext>
            </a:extLst>
          </p:cNvPr>
          <p:cNvSpPr/>
          <p:nvPr/>
        </p:nvSpPr>
        <p:spPr>
          <a:xfrm>
            <a:off x="3105196" y="3102335"/>
            <a:ext cx="2560320" cy="585216"/>
          </a:xfrm>
          <a:prstGeom prst="roundRect">
            <a:avLst/>
          </a:prstGeom>
          <a:solidFill>
            <a:srgbClr val="EAF4FF"/>
          </a:solidFill>
          <a:ln w="12700">
            <a:solidFill>
              <a:srgbClr val="EAF4FF"/>
            </a:solidFill>
            <a:prstDash val="solid"/>
          </a:ln>
        </p:spPr>
      </p:sp>
      <p:sp>
        <p:nvSpPr>
          <p:cNvPr id="94" name="Text 22">
            <a:extLst>
              <a:ext uri="{FF2B5EF4-FFF2-40B4-BE49-F238E27FC236}">
                <a16:creationId xmlns:a16="http://schemas.microsoft.com/office/drawing/2014/main" id="{454269FC-9A7C-25E5-42C6-9136BBA9475D}"/>
              </a:ext>
            </a:extLst>
          </p:cNvPr>
          <p:cNvSpPr/>
          <p:nvPr/>
        </p:nvSpPr>
        <p:spPr>
          <a:xfrm>
            <a:off x="3175259" y="3129767"/>
            <a:ext cx="2359152" cy="201168"/>
          </a:xfrm>
          <a:prstGeom prst="rect">
            <a:avLst/>
          </a:prstGeom>
          <a:noFill/>
          <a:ln/>
        </p:spPr>
        <p:txBody>
          <a:bodyPr wrap="square" lIns="0" tIns="0" rIns="0" bIns="0" rtlCol="0" anchor="ctr">
            <a:normAutofit/>
          </a:bodyPr>
          <a:lstStyle/>
          <a:p>
            <a:pPr marL="0" indent="0" algn="l">
              <a:buNone/>
            </a:pPr>
            <a:r>
              <a:rPr lang="en-US" sz="1100" dirty="0">
                <a:solidFill>
                  <a:srgbClr val="657792"/>
                </a:solidFill>
                <a:latin typeface="Microsoft YaHei" pitchFamily="34" charset="0"/>
                <a:ea typeface="Microsoft YaHei" pitchFamily="34" charset="-122"/>
                <a:cs typeface="Microsoft YaHei" pitchFamily="34" charset="-120"/>
              </a:rPr>
              <a:t>路径 A · 多模态投影</a:t>
            </a:r>
            <a:endParaRPr lang="en-US" sz="1100" dirty="0"/>
          </a:p>
        </p:txBody>
      </p:sp>
      <p:sp>
        <p:nvSpPr>
          <p:cNvPr id="95" name="Text 23">
            <a:extLst>
              <a:ext uri="{FF2B5EF4-FFF2-40B4-BE49-F238E27FC236}">
                <a16:creationId xmlns:a16="http://schemas.microsoft.com/office/drawing/2014/main" id="{FEF82242-E155-EF36-5DE7-0D5F2F25A52A}"/>
              </a:ext>
            </a:extLst>
          </p:cNvPr>
          <p:cNvSpPr/>
          <p:nvPr/>
        </p:nvSpPr>
        <p:spPr>
          <a:xfrm>
            <a:off x="3164632" y="3372083"/>
            <a:ext cx="2537460" cy="246888"/>
          </a:xfrm>
          <a:prstGeom prst="rect">
            <a:avLst/>
          </a:prstGeom>
          <a:noFill/>
          <a:ln/>
        </p:spPr>
        <p:txBody>
          <a:bodyPr wrap="square" lIns="0" tIns="0" rIns="0" bIns="0" rtlCol="0" anchor="ctr">
            <a:normAutofit fontScale="77500" lnSpcReduction="20000"/>
          </a:bodyPr>
          <a:lstStyle/>
          <a:p>
            <a:pPr marL="0" indent="0" algn="l">
              <a:buNone/>
            </a:pPr>
            <a:r>
              <a:rPr lang="en-US" sz="1250" b="1">
                <a:solidFill>
                  <a:srgbClr val="172C49"/>
                </a:solidFill>
                <a:latin typeface="Microsoft YaHei" pitchFamily="34" charset="0"/>
                <a:ea typeface="Microsoft YaHei" pitchFamily="34" charset="-122"/>
                <a:cs typeface="Microsoft YaHei" pitchFamily="34" charset="-120"/>
              </a:rPr>
              <a:t>Gemma4 Multimodal Embedder </a:t>
            </a:r>
            <a:r>
              <a:rPr lang="en-US" sz="1250" b="1" dirty="0">
                <a:solidFill>
                  <a:srgbClr val="172C49"/>
                </a:solidFill>
                <a:latin typeface="Microsoft YaHei" pitchFamily="34" charset="0"/>
                <a:ea typeface="Microsoft YaHei" pitchFamily="34" charset="-122"/>
                <a:cs typeface="Microsoft YaHei" pitchFamily="34" charset="-120"/>
              </a:rPr>
              <a:t>→ ReplicatedLinear</a:t>
            </a:r>
            <a:endParaRPr lang="en-US" sz="1250" dirty="0"/>
          </a:p>
        </p:txBody>
      </p:sp>
      <p:sp>
        <p:nvSpPr>
          <p:cNvPr id="96" name="Shape 24">
            <a:extLst>
              <a:ext uri="{FF2B5EF4-FFF2-40B4-BE49-F238E27FC236}">
                <a16:creationId xmlns:a16="http://schemas.microsoft.com/office/drawing/2014/main" id="{EA4324B6-F51C-6240-4ED7-00C13C114D2D}"/>
              </a:ext>
            </a:extLst>
          </p:cNvPr>
          <p:cNvSpPr/>
          <p:nvPr/>
        </p:nvSpPr>
        <p:spPr>
          <a:xfrm>
            <a:off x="3105196" y="3769846"/>
            <a:ext cx="2560320" cy="690371"/>
          </a:xfrm>
          <a:prstGeom prst="roundRect">
            <a:avLst/>
          </a:prstGeom>
          <a:solidFill>
            <a:srgbClr val="F0F4F9"/>
          </a:solidFill>
          <a:ln w="12700">
            <a:solidFill>
              <a:srgbClr val="F0F4F9"/>
            </a:solidFill>
            <a:prstDash val="solid"/>
          </a:ln>
        </p:spPr>
        <p:txBody>
          <a:bodyPr/>
          <a:lstStyle/>
          <a:p>
            <a:endParaRPr lang="zh-CN" altLang="en-US"/>
          </a:p>
        </p:txBody>
      </p:sp>
      <p:sp>
        <p:nvSpPr>
          <p:cNvPr id="97" name="Text 25">
            <a:extLst>
              <a:ext uri="{FF2B5EF4-FFF2-40B4-BE49-F238E27FC236}">
                <a16:creationId xmlns:a16="http://schemas.microsoft.com/office/drawing/2014/main" id="{47A8B770-78C7-7121-C3B6-47B89B2DE66F}"/>
              </a:ext>
            </a:extLst>
          </p:cNvPr>
          <p:cNvSpPr/>
          <p:nvPr/>
        </p:nvSpPr>
        <p:spPr>
          <a:xfrm>
            <a:off x="3175259" y="3824711"/>
            <a:ext cx="2359152" cy="201168"/>
          </a:xfrm>
          <a:prstGeom prst="rect">
            <a:avLst/>
          </a:prstGeom>
          <a:noFill/>
          <a:ln/>
        </p:spPr>
        <p:txBody>
          <a:bodyPr wrap="square" lIns="0" tIns="0" rIns="0" bIns="0" rtlCol="0" anchor="ctr">
            <a:normAutofit/>
          </a:bodyPr>
          <a:lstStyle/>
          <a:p>
            <a:pPr marL="0" indent="0" algn="l">
              <a:buNone/>
            </a:pPr>
            <a:r>
              <a:rPr lang="en-US" sz="1100" dirty="0">
                <a:solidFill>
                  <a:srgbClr val="657792"/>
                </a:solidFill>
                <a:latin typeface="Microsoft YaHei" pitchFamily="34" charset="0"/>
                <a:ea typeface="Microsoft YaHei" pitchFamily="34" charset="-122"/>
                <a:cs typeface="Microsoft YaHei" pitchFamily="34" charset="-120"/>
              </a:rPr>
              <a:t>路径 B · ViT 层</a:t>
            </a:r>
            <a:endParaRPr lang="en-US" sz="1100" dirty="0"/>
          </a:p>
        </p:txBody>
      </p:sp>
      <p:sp>
        <p:nvSpPr>
          <p:cNvPr id="98" name="Text 26">
            <a:extLst>
              <a:ext uri="{FF2B5EF4-FFF2-40B4-BE49-F238E27FC236}">
                <a16:creationId xmlns:a16="http://schemas.microsoft.com/office/drawing/2014/main" id="{3DF2916F-5009-902B-245E-ADC761FA8CA8}"/>
              </a:ext>
            </a:extLst>
          </p:cNvPr>
          <p:cNvSpPr/>
          <p:nvPr/>
        </p:nvSpPr>
        <p:spPr>
          <a:xfrm>
            <a:off x="3205780" y="4071599"/>
            <a:ext cx="2359152" cy="246888"/>
          </a:xfrm>
          <a:prstGeom prst="rect">
            <a:avLst/>
          </a:prstGeom>
          <a:noFill/>
          <a:ln/>
        </p:spPr>
        <p:txBody>
          <a:bodyPr wrap="square" lIns="0" tIns="0" rIns="0" bIns="0" rtlCol="0" anchor="ctr">
            <a:normAutofit fontScale="77500" lnSpcReduction="20000"/>
          </a:bodyPr>
          <a:lstStyle/>
          <a:p>
            <a:pPr marL="0" indent="0" algn="l">
              <a:buNone/>
            </a:pPr>
            <a:r>
              <a:rPr lang="en-US" sz="1250" b="1" dirty="0">
                <a:solidFill>
                  <a:srgbClr val="172C49"/>
                </a:solidFill>
                <a:latin typeface="Microsoft YaHei" pitchFamily="34" charset="0"/>
                <a:ea typeface="Microsoft YaHei" pitchFamily="34" charset="-122"/>
                <a:cs typeface="Microsoft YaHei" pitchFamily="34" charset="-120"/>
              </a:rPr>
              <a:t>vision_tower → recursive_replace_linear()</a:t>
            </a:r>
            <a:endParaRPr lang="en-US" sz="1250" dirty="0"/>
          </a:p>
        </p:txBody>
      </p:sp>
      <p:sp>
        <p:nvSpPr>
          <p:cNvPr id="99" name="Shape 27">
            <a:extLst>
              <a:ext uri="{FF2B5EF4-FFF2-40B4-BE49-F238E27FC236}">
                <a16:creationId xmlns:a16="http://schemas.microsoft.com/office/drawing/2014/main" id="{955D1E9E-F846-5338-A31B-FFCC606ADAB0}"/>
              </a:ext>
            </a:extLst>
          </p:cNvPr>
          <p:cNvSpPr/>
          <p:nvPr/>
        </p:nvSpPr>
        <p:spPr>
          <a:xfrm>
            <a:off x="6086140" y="1986767"/>
            <a:ext cx="2560320" cy="2587752"/>
          </a:xfrm>
          <a:prstGeom prst="roundRect">
            <a:avLst/>
          </a:prstGeom>
          <a:solidFill>
            <a:srgbClr val="FFFFFF"/>
          </a:solidFill>
          <a:ln w="12700">
            <a:solidFill>
              <a:srgbClr val="D9E3EF"/>
            </a:solidFill>
            <a:prstDash val="solid"/>
          </a:ln>
        </p:spPr>
      </p:sp>
      <p:sp>
        <p:nvSpPr>
          <p:cNvPr id="100" name="Shape 28">
            <a:extLst>
              <a:ext uri="{FF2B5EF4-FFF2-40B4-BE49-F238E27FC236}">
                <a16:creationId xmlns:a16="http://schemas.microsoft.com/office/drawing/2014/main" id="{2B684E81-AEF6-982A-D39D-6E74818AE671}"/>
              </a:ext>
            </a:extLst>
          </p:cNvPr>
          <p:cNvSpPr/>
          <p:nvPr/>
        </p:nvSpPr>
        <p:spPr>
          <a:xfrm>
            <a:off x="6232444" y="2151359"/>
            <a:ext cx="438912" cy="320040"/>
          </a:xfrm>
          <a:prstGeom prst="roundRect">
            <a:avLst/>
          </a:prstGeom>
          <a:solidFill>
            <a:srgbClr val="1675C6"/>
          </a:solidFill>
          <a:ln w="12700">
            <a:solidFill>
              <a:srgbClr val="1675C6"/>
            </a:solidFill>
            <a:prstDash val="solid"/>
          </a:ln>
        </p:spPr>
      </p:sp>
      <p:sp>
        <p:nvSpPr>
          <p:cNvPr id="101" name="Text 29">
            <a:extLst>
              <a:ext uri="{FF2B5EF4-FFF2-40B4-BE49-F238E27FC236}">
                <a16:creationId xmlns:a16="http://schemas.microsoft.com/office/drawing/2014/main" id="{DF5DE8D5-0C64-3350-897C-B39F038A71C9}"/>
              </a:ext>
            </a:extLst>
          </p:cNvPr>
          <p:cNvSpPr/>
          <p:nvPr/>
        </p:nvSpPr>
        <p:spPr>
          <a:xfrm>
            <a:off x="6232444" y="2160503"/>
            <a:ext cx="438912"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Microsoft YaHei" pitchFamily="34" charset="0"/>
                <a:ea typeface="Microsoft YaHei" pitchFamily="34" charset="-122"/>
                <a:cs typeface="Microsoft YaHei" pitchFamily="34" charset="-120"/>
              </a:rPr>
              <a:t>03</a:t>
            </a:r>
            <a:endParaRPr lang="en-US" sz="1300" dirty="0"/>
          </a:p>
        </p:txBody>
      </p:sp>
      <p:sp>
        <p:nvSpPr>
          <p:cNvPr id="102" name="Text 30">
            <a:extLst>
              <a:ext uri="{FF2B5EF4-FFF2-40B4-BE49-F238E27FC236}">
                <a16:creationId xmlns:a16="http://schemas.microsoft.com/office/drawing/2014/main" id="{239DFC05-37C5-1518-AB76-3BF9ABF9B696}"/>
              </a:ext>
            </a:extLst>
          </p:cNvPr>
          <p:cNvSpPr/>
          <p:nvPr/>
        </p:nvSpPr>
        <p:spPr>
          <a:xfrm>
            <a:off x="6781084" y="2160503"/>
            <a:ext cx="1719072" cy="301752"/>
          </a:xfrm>
          <a:prstGeom prst="rect">
            <a:avLst/>
          </a:prstGeom>
          <a:noFill/>
          <a:ln/>
        </p:spPr>
        <p:txBody>
          <a:bodyPr wrap="square" lIns="0" tIns="0" rIns="0" bIns="0" rtlCol="0" anchor="ctr">
            <a:normAutofit/>
          </a:bodyPr>
          <a:lstStyle/>
          <a:p>
            <a:pPr marL="0" indent="0" algn="l">
              <a:buNone/>
            </a:pPr>
            <a:r>
              <a:rPr lang="en-US" sz="1500" b="1" dirty="0">
                <a:solidFill>
                  <a:srgbClr val="172C49"/>
                </a:solidFill>
                <a:latin typeface="Microsoft YaHei" pitchFamily="34" charset="0"/>
                <a:ea typeface="Microsoft YaHei" pitchFamily="34" charset="-122"/>
                <a:cs typeface="Microsoft YaHei" pitchFamily="34" charset="-120"/>
              </a:rPr>
              <a:t>vLLM Linear 抽象</a:t>
            </a:r>
            <a:endParaRPr lang="en-US" sz="1500" dirty="0"/>
          </a:p>
        </p:txBody>
      </p:sp>
      <p:sp>
        <p:nvSpPr>
          <p:cNvPr id="103" name="Shape 31">
            <a:extLst>
              <a:ext uri="{FF2B5EF4-FFF2-40B4-BE49-F238E27FC236}">
                <a16:creationId xmlns:a16="http://schemas.microsoft.com/office/drawing/2014/main" id="{E718F25E-362F-FB92-DD41-17C3BA0C1D0A}"/>
              </a:ext>
            </a:extLst>
          </p:cNvPr>
          <p:cNvSpPr/>
          <p:nvPr/>
        </p:nvSpPr>
        <p:spPr>
          <a:xfrm>
            <a:off x="6250732" y="2599415"/>
            <a:ext cx="2231136" cy="0"/>
          </a:xfrm>
          <a:prstGeom prst="line">
            <a:avLst/>
          </a:prstGeom>
          <a:solidFill>
            <a:srgbClr val="FFFFFF">
              <a:alpha val="0"/>
            </a:srgbClr>
          </a:solidFill>
          <a:ln w="12700">
            <a:solidFill>
              <a:srgbClr val="D9E3EF"/>
            </a:solidFill>
            <a:prstDash val="solid"/>
          </a:ln>
        </p:spPr>
      </p:sp>
      <p:sp>
        <p:nvSpPr>
          <p:cNvPr id="104" name="Shape 32">
            <a:extLst>
              <a:ext uri="{FF2B5EF4-FFF2-40B4-BE49-F238E27FC236}">
                <a16:creationId xmlns:a16="http://schemas.microsoft.com/office/drawing/2014/main" id="{0611BA82-1C19-97EB-9BA7-E3ED9E6081C4}"/>
              </a:ext>
            </a:extLst>
          </p:cNvPr>
          <p:cNvSpPr/>
          <p:nvPr/>
        </p:nvSpPr>
        <p:spPr>
          <a:xfrm>
            <a:off x="6278164" y="2745719"/>
            <a:ext cx="2176272" cy="685800"/>
          </a:xfrm>
          <a:prstGeom prst="roundRect">
            <a:avLst/>
          </a:prstGeom>
          <a:solidFill>
            <a:srgbClr val="F0F4F9"/>
          </a:solidFill>
          <a:ln w="12700">
            <a:solidFill>
              <a:srgbClr val="F0F4F9"/>
            </a:solidFill>
            <a:prstDash val="solid"/>
          </a:ln>
        </p:spPr>
      </p:sp>
      <p:sp>
        <p:nvSpPr>
          <p:cNvPr id="105" name="Text 33">
            <a:extLst>
              <a:ext uri="{FF2B5EF4-FFF2-40B4-BE49-F238E27FC236}">
                <a16:creationId xmlns:a16="http://schemas.microsoft.com/office/drawing/2014/main" id="{EF2AAD96-EAF3-A05F-8A4F-5FFA601E1A48}"/>
              </a:ext>
            </a:extLst>
          </p:cNvPr>
          <p:cNvSpPr/>
          <p:nvPr/>
        </p:nvSpPr>
        <p:spPr>
          <a:xfrm>
            <a:off x="6378748" y="2837159"/>
            <a:ext cx="1975104" cy="201168"/>
          </a:xfrm>
          <a:prstGeom prst="rect">
            <a:avLst/>
          </a:prstGeom>
          <a:noFill/>
          <a:ln/>
        </p:spPr>
        <p:txBody>
          <a:bodyPr wrap="square" lIns="0" tIns="0" rIns="0" bIns="0" rtlCol="0" anchor="ctr">
            <a:normAutofit/>
          </a:bodyPr>
          <a:lstStyle/>
          <a:p>
            <a:pPr marL="0" indent="0" algn="l">
              <a:buNone/>
            </a:pPr>
            <a:r>
              <a:rPr lang="en-US" sz="1100" dirty="0">
                <a:solidFill>
                  <a:srgbClr val="657792"/>
                </a:solidFill>
                <a:latin typeface="Microsoft YaHei" pitchFamily="34" charset="0"/>
                <a:ea typeface="Microsoft YaHei" pitchFamily="34" charset="-122"/>
                <a:cs typeface="Microsoft YaHei" pitchFamily="34" charset="-120"/>
              </a:rPr>
              <a:t>层对象</a:t>
            </a:r>
            <a:endParaRPr lang="en-US" sz="1100" dirty="0"/>
          </a:p>
        </p:txBody>
      </p:sp>
      <p:sp>
        <p:nvSpPr>
          <p:cNvPr id="106" name="Text 34">
            <a:extLst>
              <a:ext uri="{FF2B5EF4-FFF2-40B4-BE49-F238E27FC236}">
                <a16:creationId xmlns:a16="http://schemas.microsoft.com/office/drawing/2014/main" id="{FD8665DE-4429-B0C9-3373-9BD21454498A}"/>
              </a:ext>
            </a:extLst>
          </p:cNvPr>
          <p:cNvSpPr/>
          <p:nvPr/>
        </p:nvSpPr>
        <p:spPr>
          <a:xfrm>
            <a:off x="6378748" y="3047471"/>
            <a:ext cx="1975104" cy="347472"/>
          </a:xfrm>
          <a:prstGeom prst="rect">
            <a:avLst/>
          </a:prstGeom>
          <a:noFill/>
          <a:ln/>
        </p:spPr>
        <p:txBody>
          <a:bodyPr wrap="square" lIns="0" tIns="0" rIns="0" bIns="0" rtlCol="0" anchor="ctr">
            <a:normAutofit lnSpcReduction="10000"/>
          </a:bodyPr>
          <a:lstStyle/>
          <a:p>
            <a:pPr marL="0" indent="0" algn="l">
              <a:buNone/>
            </a:pPr>
            <a:r>
              <a:rPr lang="en-US" sz="1250" b="1" dirty="0">
                <a:solidFill>
                  <a:srgbClr val="172C49"/>
                </a:solidFill>
                <a:latin typeface="Microsoft YaHei" pitchFamily="34" charset="0"/>
                <a:ea typeface="Microsoft YaHei" pitchFamily="34" charset="-122"/>
                <a:cs typeface="Microsoft YaHei" pitchFamily="34" charset="-120"/>
              </a:rPr>
              <a:t>ReplicatedLinear / LinearBase</a:t>
            </a:r>
            <a:endParaRPr lang="en-US" sz="1250" dirty="0"/>
          </a:p>
        </p:txBody>
      </p:sp>
      <p:sp>
        <p:nvSpPr>
          <p:cNvPr id="107" name="Shape 35">
            <a:extLst>
              <a:ext uri="{FF2B5EF4-FFF2-40B4-BE49-F238E27FC236}">
                <a16:creationId xmlns:a16="http://schemas.microsoft.com/office/drawing/2014/main" id="{3C96164C-F109-7CD4-AA3D-63CC68B34C66}"/>
              </a:ext>
            </a:extLst>
          </p:cNvPr>
          <p:cNvSpPr/>
          <p:nvPr/>
        </p:nvSpPr>
        <p:spPr>
          <a:xfrm>
            <a:off x="7366300" y="3449807"/>
            <a:ext cx="0" cy="256032"/>
          </a:xfrm>
          <a:prstGeom prst="line">
            <a:avLst/>
          </a:prstGeom>
          <a:solidFill>
            <a:srgbClr val="FFFFFF">
              <a:alpha val="0"/>
            </a:srgbClr>
          </a:solidFill>
          <a:ln w="12700">
            <a:solidFill>
              <a:srgbClr val="1675C6"/>
            </a:solidFill>
            <a:prstDash val="solid"/>
          </a:ln>
        </p:spPr>
      </p:sp>
      <p:sp>
        <p:nvSpPr>
          <p:cNvPr id="108" name="Shape 36">
            <a:extLst>
              <a:ext uri="{FF2B5EF4-FFF2-40B4-BE49-F238E27FC236}">
                <a16:creationId xmlns:a16="http://schemas.microsoft.com/office/drawing/2014/main" id="{453E89A9-CDD4-1FBB-53AE-CFF245720F02}"/>
              </a:ext>
            </a:extLst>
          </p:cNvPr>
          <p:cNvSpPr/>
          <p:nvPr/>
        </p:nvSpPr>
        <p:spPr>
          <a:xfrm>
            <a:off x="6278164" y="3742415"/>
            <a:ext cx="2176272" cy="521208"/>
          </a:xfrm>
          <a:prstGeom prst="roundRect">
            <a:avLst/>
          </a:prstGeom>
          <a:solidFill>
            <a:srgbClr val="EAF4FF"/>
          </a:solidFill>
          <a:ln w="12700">
            <a:solidFill>
              <a:srgbClr val="EAF4FF"/>
            </a:solidFill>
            <a:prstDash val="solid"/>
          </a:ln>
        </p:spPr>
      </p:sp>
      <p:sp>
        <p:nvSpPr>
          <p:cNvPr id="109" name="Text 37">
            <a:extLst>
              <a:ext uri="{FF2B5EF4-FFF2-40B4-BE49-F238E27FC236}">
                <a16:creationId xmlns:a16="http://schemas.microsoft.com/office/drawing/2014/main" id="{A0DD9CDA-87F3-07D4-5AD1-53C92D962D11}"/>
              </a:ext>
            </a:extLst>
          </p:cNvPr>
          <p:cNvSpPr/>
          <p:nvPr/>
        </p:nvSpPr>
        <p:spPr>
          <a:xfrm>
            <a:off x="6387892" y="3788135"/>
            <a:ext cx="1956816" cy="411480"/>
          </a:xfrm>
          <a:prstGeom prst="rect">
            <a:avLst/>
          </a:prstGeom>
          <a:noFill/>
          <a:ln/>
        </p:spPr>
        <p:txBody>
          <a:bodyPr wrap="square" lIns="0" tIns="0" rIns="0" bIns="0" rtlCol="0" anchor="ctr">
            <a:normAutofit/>
          </a:bodyPr>
          <a:lstStyle/>
          <a:p>
            <a:pPr marL="0" indent="0" algn="ctr">
              <a:buNone/>
            </a:pPr>
            <a:r>
              <a:rPr lang="en-US" sz="1300" b="1" dirty="0">
                <a:solidFill>
                  <a:srgbClr val="0A5AA0"/>
                </a:solidFill>
                <a:latin typeface="Arial" pitchFamily="34" charset="0"/>
                <a:ea typeface="Arial" pitchFamily="34" charset="-122"/>
                <a:cs typeface="Arial" pitchFamily="34" charset="-120"/>
              </a:rPr>
              <a:t>get_quant_method</a:t>
            </a:r>
            <a:endParaRPr lang="en-US" sz="1300" dirty="0"/>
          </a:p>
          <a:p>
            <a:pPr marL="0" indent="0" algn="ctr">
              <a:buNone/>
            </a:pPr>
            <a:r>
              <a:rPr lang="en-US" sz="1300" b="1" dirty="0">
                <a:solidFill>
                  <a:srgbClr val="0A5AA0"/>
                </a:solidFill>
                <a:latin typeface="Arial" pitchFamily="34" charset="0"/>
                <a:ea typeface="Arial" pitchFamily="34" charset="-122"/>
                <a:cs typeface="Arial" pitchFamily="34" charset="-120"/>
              </a:rPr>
              <a:t>(layer, prefix)</a:t>
            </a:r>
            <a:endParaRPr lang="en-US" sz="1300" dirty="0"/>
          </a:p>
        </p:txBody>
      </p:sp>
      <p:sp>
        <p:nvSpPr>
          <p:cNvPr id="110" name="Shape 38">
            <a:extLst>
              <a:ext uri="{FF2B5EF4-FFF2-40B4-BE49-F238E27FC236}">
                <a16:creationId xmlns:a16="http://schemas.microsoft.com/office/drawing/2014/main" id="{3B813E2E-C04E-3CED-917D-73A10F2D64E1}"/>
              </a:ext>
            </a:extLst>
          </p:cNvPr>
          <p:cNvSpPr/>
          <p:nvPr/>
        </p:nvSpPr>
        <p:spPr>
          <a:xfrm>
            <a:off x="8865916" y="1986767"/>
            <a:ext cx="2788920" cy="2587752"/>
          </a:xfrm>
          <a:prstGeom prst="roundRect">
            <a:avLst/>
          </a:prstGeom>
          <a:solidFill>
            <a:srgbClr val="FFFFFF"/>
          </a:solidFill>
          <a:ln w="12700">
            <a:solidFill>
              <a:srgbClr val="D9E3EF"/>
            </a:solidFill>
            <a:prstDash val="solid"/>
          </a:ln>
        </p:spPr>
      </p:sp>
      <p:sp>
        <p:nvSpPr>
          <p:cNvPr id="111" name="Shape 39">
            <a:extLst>
              <a:ext uri="{FF2B5EF4-FFF2-40B4-BE49-F238E27FC236}">
                <a16:creationId xmlns:a16="http://schemas.microsoft.com/office/drawing/2014/main" id="{17286128-CAA3-AE7D-6105-27391448E53D}"/>
              </a:ext>
            </a:extLst>
          </p:cNvPr>
          <p:cNvSpPr/>
          <p:nvPr/>
        </p:nvSpPr>
        <p:spPr>
          <a:xfrm>
            <a:off x="9012220" y="2151359"/>
            <a:ext cx="438912" cy="320040"/>
          </a:xfrm>
          <a:prstGeom prst="roundRect">
            <a:avLst/>
          </a:prstGeom>
          <a:solidFill>
            <a:srgbClr val="16794F"/>
          </a:solidFill>
          <a:ln w="12700">
            <a:solidFill>
              <a:srgbClr val="16794F"/>
            </a:solidFill>
            <a:prstDash val="solid"/>
          </a:ln>
        </p:spPr>
      </p:sp>
      <p:sp>
        <p:nvSpPr>
          <p:cNvPr id="112" name="Text 40">
            <a:extLst>
              <a:ext uri="{FF2B5EF4-FFF2-40B4-BE49-F238E27FC236}">
                <a16:creationId xmlns:a16="http://schemas.microsoft.com/office/drawing/2014/main" id="{51B449E3-47A0-E5A4-152D-5232E0C7D5F1}"/>
              </a:ext>
            </a:extLst>
          </p:cNvPr>
          <p:cNvSpPr/>
          <p:nvPr/>
        </p:nvSpPr>
        <p:spPr>
          <a:xfrm>
            <a:off x="9012220" y="2160503"/>
            <a:ext cx="438912" cy="292608"/>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Microsoft YaHei" pitchFamily="34" charset="0"/>
                <a:ea typeface="Microsoft YaHei" pitchFamily="34" charset="-122"/>
                <a:cs typeface="Microsoft YaHei" pitchFamily="34" charset="-120"/>
              </a:rPr>
              <a:t>04</a:t>
            </a:r>
            <a:endParaRPr lang="en-US" sz="1300" dirty="0"/>
          </a:p>
        </p:txBody>
      </p:sp>
      <p:sp>
        <p:nvSpPr>
          <p:cNvPr id="113" name="Text 41">
            <a:extLst>
              <a:ext uri="{FF2B5EF4-FFF2-40B4-BE49-F238E27FC236}">
                <a16:creationId xmlns:a16="http://schemas.microsoft.com/office/drawing/2014/main" id="{EB98FECC-488A-47C7-282D-BA35167B0B78}"/>
              </a:ext>
            </a:extLst>
          </p:cNvPr>
          <p:cNvSpPr/>
          <p:nvPr/>
        </p:nvSpPr>
        <p:spPr>
          <a:xfrm>
            <a:off x="9560860" y="2160503"/>
            <a:ext cx="1947672" cy="301752"/>
          </a:xfrm>
          <a:prstGeom prst="rect">
            <a:avLst/>
          </a:prstGeom>
          <a:noFill/>
          <a:ln/>
        </p:spPr>
        <p:txBody>
          <a:bodyPr wrap="square" lIns="0" tIns="0" rIns="0" bIns="0" rtlCol="0" anchor="ctr">
            <a:normAutofit/>
          </a:bodyPr>
          <a:lstStyle/>
          <a:p>
            <a:pPr marL="0" indent="0" algn="l">
              <a:buNone/>
            </a:pPr>
            <a:r>
              <a:rPr lang="en-US" sz="1500" b="1" dirty="0">
                <a:solidFill>
                  <a:srgbClr val="172C49"/>
                </a:solidFill>
                <a:latin typeface="Microsoft YaHei" pitchFamily="34" charset="0"/>
                <a:ea typeface="Microsoft YaHei" pitchFamily="34" charset="-122"/>
                <a:cs typeface="Microsoft YaHei" pitchFamily="34" charset="-120"/>
              </a:rPr>
              <a:t>Ascend 量化方法实现</a:t>
            </a:r>
            <a:endParaRPr lang="en-US" sz="1500" dirty="0"/>
          </a:p>
        </p:txBody>
      </p:sp>
      <p:sp>
        <p:nvSpPr>
          <p:cNvPr id="114" name="Shape 42">
            <a:extLst>
              <a:ext uri="{FF2B5EF4-FFF2-40B4-BE49-F238E27FC236}">
                <a16:creationId xmlns:a16="http://schemas.microsoft.com/office/drawing/2014/main" id="{B14FFA63-010D-EC1F-B306-D08AD40B8A29}"/>
              </a:ext>
            </a:extLst>
          </p:cNvPr>
          <p:cNvSpPr/>
          <p:nvPr/>
        </p:nvSpPr>
        <p:spPr>
          <a:xfrm>
            <a:off x="9030508" y="2599415"/>
            <a:ext cx="2459736" cy="0"/>
          </a:xfrm>
          <a:prstGeom prst="line">
            <a:avLst/>
          </a:prstGeom>
          <a:solidFill>
            <a:srgbClr val="FFFFFF">
              <a:alpha val="0"/>
            </a:srgbClr>
          </a:solidFill>
          <a:ln w="12700">
            <a:solidFill>
              <a:srgbClr val="D9E3EF"/>
            </a:solidFill>
            <a:prstDash val="solid"/>
          </a:ln>
        </p:spPr>
      </p:sp>
      <p:sp>
        <p:nvSpPr>
          <p:cNvPr id="115" name="Shape 43">
            <a:extLst>
              <a:ext uri="{FF2B5EF4-FFF2-40B4-BE49-F238E27FC236}">
                <a16:creationId xmlns:a16="http://schemas.microsoft.com/office/drawing/2014/main" id="{BB332CE5-8C76-2016-FD13-F905DDDB06CB}"/>
              </a:ext>
            </a:extLst>
          </p:cNvPr>
          <p:cNvSpPr/>
          <p:nvPr/>
        </p:nvSpPr>
        <p:spPr>
          <a:xfrm>
            <a:off x="9057940" y="2754863"/>
            <a:ext cx="2414016" cy="521208"/>
          </a:xfrm>
          <a:prstGeom prst="roundRect">
            <a:avLst/>
          </a:prstGeom>
          <a:solidFill>
            <a:srgbClr val="F0F4F9"/>
          </a:solidFill>
          <a:ln w="12700">
            <a:solidFill>
              <a:srgbClr val="F0F4F9"/>
            </a:solidFill>
            <a:prstDash val="solid"/>
          </a:ln>
        </p:spPr>
        <p:txBody>
          <a:bodyPr/>
          <a:lstStyle/>
          <a:p>
            <a:endParaRPr lang="zh-CN" altLang="en-US"/>
          </a:p>
        </p:txBody>
      </p:sp>
      <p:sp>
        <p:nvSpPr>
          <p:cNvPr id="116" name="Text 44">
            <a:extLst>
              <a:ext uri="{FF2B5EF4-FFF2-40B4-BE49-F238E27FC236}">
                <a16:creationId xmlns:a16="http://schemas.microsoft.com/office/drawing/2014/main" id="{82EE2660-DD88-1D04-381E-0BD8D9E12DE3}"/>
              </a:ext>
            </a:extLst>
          </p:cNvPr>
          <p:cNvSpPr/>
          <p:nvPr/>
        </p:nvSpPr>
        <p:spPr>
          <a:xfrm>
            <a:off x="9176812" y="2873735"/>
            <a:ext cx="2176272" cy="283464"/>
          </a:xfrm>
          <a:prstGeom prst="rect">
            <a:avLst/>
          </a:prstGeom>
          <a:noFill/>
          <a:ln/>
        </p:spPr>
        <p:txBody>
          <a:bodyPr wrap="square" lIns="0" tIns="0" rIns="0" bIns="0" rtlCol="0" anchor="ctr">
            <a:normAutofit/>
          </a:bodyPr>
          <a:lstStyle/>
          <a:p>
            <a:pPr marL="0" indent="0" algn="ctr">
              <a:buNone/>
            </a:pPr>
            <a:r>
              <a:rPr lang="en-US" sz="1500" b="1" dirty="0">
                <a:solidFill>
                  <a:srgbClr val="172C49"/>
                </a:solidFill>
                <a:latin typeface="Arial" pitchFamily="34" charset="0"/>
                <a:ea typeface="Arial" pitchFamily="34" charset="-122"/>
                <a:cs typeface="Arial" pitchFamily="34" charset="-120"/>
              </a:rPr>
              <a:t>AscendLinearMethod</a:t>
            </a:r>
            <a:endParaRPr lang="en-US" sz="1500" dirty="0"/>
          </a:p>
        </p:txBody>
      </p:sp>
      <p:sp>
        <p:nvSpPr>
          <p:cNvPr id="117" name="Text 45">
            <a:extLst>
              <a:ext uri="{FF2B5EF4-FFF2-40B4-BE49-F238E27FC236}">
                <a16:creationId xmlns:a16="http://schemas.microsoft.com/office/drawing/2014/main" id="{5BE65EB8-EEE2-58FC-7E80-CE8B0A9002CE}"/>
              </a:ext>
            </a:extLst>
          </p:cNvPr>
          <p:cNvSpPr/>
          <p:nvPr/>
        </p:nvSpPr>
        <p:spPr>
          <a:xfrm>
            <a:off x="9103660" y="3349223"/>
            <a:ext cx="2304288" cy="237744"/>
          </a:xfrm>
          <a:prstGeom prst="rect">
            <a:avLst/>
          </a:prstGeom>
          <a:noFill/>
          <a:ln/>
        </p:spPr>
        <p:txBody>
          <a:bodyPr wrap="square" lIns="0" tIns="0" rIns="0" bIns="0" rtlCol="0" anchor="ctr">
            <a:normAutofit/>
          </a:bodyPr>
          <a:lstStyle/>
          <a:p>
            <a:pPr marL="0" indent="0" algn="ctr">
              <a:buNone/>
            </a:pPr>
            <a:r>
              <a:rPr lang="en-US" sz="1100" dirty="0">
                <a:solidFill>
                  <a:srgbClr val="657792"/>
                </a:solidFill>
                <a:latin typeface="Microsoft YaHei" pitchFamily="34" charset="0"/>
                <a:ea typeface="Microsoft YaHei" pitchFamily="34" charset="-122"/>
                <a:cs typeface="Microsoft YaHei" pitchFamily="34" charset="-120"/>
              </a:rPr>
              <a:t>包装具体量化 scheme  ↘</a:t>
            </a:r>
            <a:endParaRPr lang="en-US" sz="1100" dirty="0"/>
          </a:p>
        </p:txBody>
      </p:sp>
      <p:sp>
        <p:nvSpPr>
          <p:cNvPr id="118" name="Shape 46">
            <a:extLst>
              <a:ext uri="{FF2B5EF4-FFF2-40B4-BE49-F238E27FC236}">
                <a16:creationId xmlns:a16="http://schemas.microsoft.com/office/drawing/2014/main" id="{17C2E598-1FA1-16E6-DA7A-8FC7ABD8ECE7}"/>
              </a:ext>
            </a:extLst>
          </p:cNvPr>
          <p:cNvSpPr/>
          <p:nvPr/>
        </p:nvSpPr>
        <p:spPr>
          <a:xfrm>
            <a:off x="9057940" y="3632687"/>
            <a:ext cx="2414016" cy="566928"/>
          </a:xfrm>
          <a:prstGeom prst="roundRect">
            <a:avLst/>
          </a:prstGeom>
          <a:solidFill>
            <a:srgbClr val="E8F8F0"/>
          </a:solidFill>
          <a:ln w="12700">
            <a:solidFill>
              <a:srgbClr val="E8F8F0"/>
            </a:solidFill>
            <a:prstDash val="solid"/>
          </a:ln>
        </p:spPr>
      </p:sp>
      <p:sp>
        <p:nvSpPr>
          <p:cNvPr id="119" name="Text 47">
            <a:extLst>
              <a:ext uri="{FF2B5EF4-FFF2-40B4-BE49-F238E27FC236}">
                <a16:creationId xmlns:a16="http://schemas.microsoft.com/office/drawing/2014/main" id="{5AC3630B-BC50-739A-8DF1-C87C3BA778D3}"/>
              </a:ext>
            </a:extLst>
          </p:cNvPr>
          <p:cNvSpPr/>
          <p:nvPr/>
        </p:nvSpPr>
        <p:spPr>
          <a:xfrm>
            <a:off x="9167668" y="3714983"/>
            <a:ext cx="2194560" cy="38404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16794F"/>
                </a:solidFill>
                <a:latin typeface="Microsoft YaHei" pitchFamily="34" charset="0"/>
                <a:ea typeface="Microsoft YaHei" pitchFamily="34" charset="-122"/>
                <a:cs typeface="Microsoft YaHei" pitchFamily="34" charset="-120"/>
              </a:rPr>
              <a:t>W4A4 MXFP4 Dynamic</a:t>
            </a:r>
            <a:endParaRPr lang="en-US" sz="1400" dirty="0"/>
          </a:p>
          <a:p>
            <a:pPr marL="0" indent="0" algn="ctr">
              <a:buNone/>
            </a:pPr>
            <a:r>
              <a:rPr lang="en-US" sz="1400" b="1" dirty="0">
                <a:solidFill>
                  <a:srgbClr val="16794F"/>
                </a:solidFill>
                <a:latin typeface="Microsoft YaHei" pitchFamily="34" charset="0"/>
                <a:ea typeface="Microsoft YaHei" pitchFamily="34" charset="-122"/>
                <a:cs typeface="Microsoft YaHei" pitchFamily="34" charset="-120"/>
              </a:rPr>
              <a:t>LinearMethod</a:t>
            </a:r>
            <a:endParaRPr lang="en-US" sz="1400" dirty="0"/>
          </a:p>
        </p:txBody>
      </p:sp>
      <p:sp>
        <p:nvSpPr>
          <p:cNvPr id="120" name="Text 48">
            <a:extLst>
              <a:ext uri="{FF2B5EF4-FFF2-40B4-BE49-F238E27FC236}">
                <a16:creationId xmlns:a16="http://schemas.microsoft.com/office/drawing/2014/main" id="{6DCE7685-FEDC-2A56-E7AF-E64352B5FA2F}"/>
              </a:ext>
            </a:extLst>
          </p:cNvPr>
          <p:cNvSpPr/>
          <p:nvPr/>
        </p:nvSpPr>
        <p:spPr>
          <a:xfrm>
            <a:off x="2680000" y="3065759"/>
            <a:ext cx="256032" cy="438912"/>
          </a:xfrm>
          <a:prstGeom prst="rect">
            <a:avLst/>
          </a:prstGeom>
          <a:noFill/>
          <a:ln/>
        </p:spPr>
        <p:txBody>
          <a:bodyPr wrap="square" lIns="0" tIns="0" rIns="0" bIns="0" rtlCol="0" anchor="ctr">
            <a:normAutofit/>
          </a:bodyPr>
          <a:lstStyle/>
          <a:p>
            <a:pPr marL="0" indent="0" algn="ctr">
              <a:buNone/>
            </a:pPr>
            <a:r>
              <a:rPr lang="en-US" sz="2600" b="1" dirty="0">
                <a:solidFill>
                  <a:srgbClr val="1675C6"/>
                </a:solidFill>
                <a:latin typeface="Microsoft YaHei" pitchFamily="34" charset="0"/>
                <a:ea typeface="Microsoft YaHei" pitchFamily="34" charset="-122"/>
                <a:cs typeface="Microsoft YaHei" pitchFamily="34" charset="-120"/>
              </a:rPr>
              <a:t>→</a:t>
            </a:r>
            <a:endParaRPr lang="en-US" sz="2600" dirty="0"/>
          </a:p>
        </p:txBody>
      </p:sp>
      <p:sp>
        <p:nvSpPr>
          <p:cNvPr id="121" name="Text 49">
            <a:extLst>
              <a:ext uri="{FF2B5EF4-FFF2-40B4-BE49-F238E27FC236}">
                <a16:creationId xmlns:a16="http://schemas.microsoft.com/office/drawing/2014/main" id="{13A41F56-F18A-84F8-6F10-CEEB9D6D9D0C}"/>
              </a:ext>
            </a:extLst>
          </p:cNvPr>
          <p:cNvSpPr/>
          <p:nvPr/>
        </p:nvSpPr>
        <p:spPr>
          <a:xfrm>
            <a:off x="5871256" y="3065759"/>
            <a:ext cx="256032" cy="438912"/>
          </a:xfrm>
          <a:prstGeom prst="rect">
            <a:avLst/>
          </a:prstGeom>
          <a:noFill/>
          <a:ln/>
        </p:spPr>
        <p:txBody>
          <a:bodyPr wrap="square" lIns="0" tIns="0" rIns="0" bIns="0" rtlCol="0" anchor="ctr">
            <a:normAutofit/>
          </a:bodyPr>
          <a:lstStyle/>
          <a:p>
            <a:pPr marL="0" indent="0" algn="ctr">
              <a:buNone/>
            </a:pPr>
            <a:r>
              <a:rPr lang="en-US" sz="2600" b="1" dirty="0">
                <a:solidFill>
                  <a:srgbClr val="1675C6"/>
                </a:solidFill>
                <a:latin typeface="Microsoft YaHei" pitchFamily="34" charset="0"/>
                <a:ea typeface="Microsoft YaHei" pitchFamily="34" charset="-122"/>
                <a:cs typeface="Microsoft YaHei" pitchFamily="34" charset="-120"/>
              </a:rPr>
              <a:t>→</a:t>
            </a:r>
            <a:endParaRPr lang="en-US" sz="2600" dirty="0"/>
          </a:p>
        </p:txBody>
      </p:sp>
      <p:sp>
        <p:nvSpPr>
          <p:cNvPr id="122" name="Text 50">
            <a:extLst>
              <a:ext uri="{FF2B5EF4-FFF2-40B4-BE49-F238E27FC236}">
                <a16:creationId xmlns:a16="http://schemas.microsoft.com/office/drawing/2014/main" id="{2B27FA00-3FDD-FF18-BE1F-E3F06EECC896}"/>
              </a:ext>
            </a:extLst>
          </p:cNvPr>
          <p:cNvSpPr/>
          <p:nvPr/>
        </p:nvSpPr>
        <p:spPr>
          <a:xfrm>
            <a:off x="8632744" y="3065759"/>
            <a:ext cx="256032" cy="438912"/>
          </a:xfrm>
          <a:prstGeom prst="rect">
            <a:avLst/>
          </a:prstGeom>
          <a:noFill/>
          <a:ln/>
        </p:spPr>
        <p:txBody>
          <a:bodyPr wrap="square" lIns="0" tIns="0" rIns="0" bIns="0" rtlCol="0" anchor="ctr">
            <a:normAutofit/>
          </a:bodyPr>
          <a:lstStyle/>
          <a:p>
            <a:pPr marL="0" indent="0" algn="ctr">
              <a:buNone/>
            </a:pPr>
            <a:r>
              <a:rPr lang="en-US" sz="2600" b="1" dirty="0">
                <a:solidFill>
                  <a:srgbClr val="1675C6"/>
                </a:solidFill>
                <a:latin typeface="Microsoft YaHei" pitchFamily="34" charset="0"/>
                <a:ea typeface="Microsoft YaHei" pitchFamily="34" charset="-122"/>
                <a:cs typeface="Microsoft YaHei" pitchFamily="34" charset="-120"/>
              </a:rPr>
              <a:t>→</a:t>
            </a:r>
            <a:endParaRPr lang="en-US" sz="2600" dirty="0"/>
          </a:p>
        </p:txBody>
      </p:sp>
      <p:sp>
        <p:nvSpPr>
          <p:cNvPr id="123" name="Shape 51">
            <a:extLst>
              <a:ext uri="{FF2B5EF4-FFF2-40B4-BE49-F238E27FC236}">
                <a16:creationId xmlns:a16="http://schemas.microsoft.com/office/drawing/2014/main" id="{1B2EEA1B-B6DE-C8C4-E134-A565D65B9AAF}"/>
              </a:ext>
            </a:extLst>
          </p:cNvPr>
          <p:cNvSpPr/>
          <p:nvPr/>
        </p:nvSpPr>
        <p:spPr>
          <a:xfrm>
            <a:off x="499156" y="4677155"/>
            <a:ext cx="11155680" cy="457200"/>
          </a:xfrm>
          <a:prstGeom prst="roundRect">
            <a:avLst/>
          </a:prstGeom>
          <a:solidFill>
            <a:srgbClr val="172C49"/>
          </a:solidFill>
          <a:ln w="12700">
            <a:solidFill>
              <a:srgbClr val="172C49"/>
            </a:solidFill>
            <a:prstDash val="solid"/>
          </a:ln>
        </p:spPr>
        <p:txBody>
          <a:bodyPr/>
          <a:lstStyle/>
          <a:p>
            <a:endParaRPr lang="zh-CN" altLang="en-US"/>
          </a:p>
        </p:txBody>
      </p:sp>
      <p:sp>
        <p:nvSpPr>
          <p:cNvPr id="124" name="Text 52">
            <a:extLst>
              <a:ext uri="{FF2B5EF4-FFF2-40B4-BE49-F238E27FC236}">
                <a16:creationId xmlns:a16="http://schemas.microsoft.com/office/drawing/2014/main" id="{0C8B7229-7E8C-522D-0929-C0AB3CE9A523}"/>
              </a:ext>
            </a:extLst>
          </p:cNvPr>
          <p:cNvSpPr/>
          <p:nvPr/>
        </p:nvSpPr>
        <p:spPr>
          <a:xfrm>
            <a:off x="709468" y="4759451"/>
            <a:ext cx="1472184" cy="237744"/>
          </a:xfrm>
          <a:prstGeom prst="rect">
            <a:avLst/>
          </a:prstGeom>
          <a:noFill/>
          <a:ln/>
        </p:spPr>
        <p:txBody>
          <a:bodyPr wrap="square" lIns="0" tIns="0" rIns="0" bIns="0" rtlCol="0" anchor="ctr">
            <a:normAutofit/>
          </a:bodyPr>
          <a:lstStyle/>
          <a:p>
            <a:pPr marL="0" indent="0" algn="l">
              <a:buNone/>
            </a:pPr>
            <a:r>
              <a:rPr lang="zh-CN" altLang="en-US" sz="1200" b="1">
                <a:solidFill>
                  <a:srgbClr val="FFFFFF"/>
                </a:solidFill>
                <a:latin typeface="Microsoft YaHei" pitchFamily="34" charset="0"/>
                <a:ea typeface="Microsoft YaHei" pitchFamily="34" charset="-122"/>
                <a:cs typeface="Microsoft YaHei" pitchFamily="34" charset="-120"/>
              </a:rPr>
              <a:t>接口</a:t>
            </a:r>
            <a:r>
              <a:rPr lang="en-US" sz="1200" b="1">
                <a:solidFill>
                  <a:srgbClr val="FFFFFF"/>
                </a:solidFill>
                <a:latin typeface="Microsoft YaHei" pitchFamily="34" charset="0"/>
                <a:ea typeface="Microsoft YaHei" pitchFamily="34" charset="-122"/>
                <a:cs typeface="Microsoft YaHei" pitchFamily="34" charset="-120"/>
              </a:rPr>
              <a:t>生命周期</a:t>
            </a:r>
            <a:endParaRPr lang="en-US" sz="1200" dirty="0"/>
          </a:p>
        </p:txBody>
      </p:sp>
      <p:sp>
        <p:nvSpPr>
          <p:cNvPr id="125" name="Text 53">
            <a:extLst>
              <a:ext uri="{FF2B5EF4-FFF2-40B4-BE49-F238E27FC236}">
                <a16:creationId xmlns:a16="http://schemas.microsoft.com/office/drawing/2014/main" id="{CB68E979-BAF0-5ABA-A943-598937319CBE}"/>
              </a:ext>
            </a:extLst>
          </p:cNvPr>
          <p:cNvSpPr/>
          <p:nvPr/>
        </p:nvSpPr>
        <p:spPr>
          <a:xfrm>
            <a:off x="2117644" y="4759451"/>
            <a:ext cx="2487168" cy="237744"/>
          </a:xfrm>
          <a:prstGeom prst="rect">
            <a:avLst/>
          </a:prstGeom>
          <a:noFill/>
          <a:ln/>
        </p:spPr>
        <p:txBody>
          <a:bodyPr wrap="square" lIns="0" tIns="0" rIns="0" bIns="0" rtlCol="0" anchor="ctr">
            <a:normAutofit/>
          </a:bodyPr>
          <a:lstStyle/>
          <a:p>
            <a:pPr marL="0" indent="0" algn="l">
              <a:buNone/>
            </a:pPr>
            <a:r>
              <a:rPr lang="en-US" sz="1200" dirty="0">
                <a:solidFill>
                  <a:srgbClr val="FFFFFF"/>
                </a:solidFill>
                <a:latin typeface="Arial" pitchFamily="34" charset="0"/>
                <a:ea typeface="Arial" pitchFamily="34" charset="-122"/>
                <a:cs typeface="Arial" pitchFamily="34" charset="-120"/>
              </a:rPr>
              <a:t>初始化：create_weights()</a:t>
            </a:r>
            <a:endParaRPr lang="en-US" sz="1200" dirty="0"/>
          </a:p>
        </p:txBody>
      </p:sp>
      <p:sp>
        <p:nvSpPr>
          <p:cNvPr id="126" name="Text 54">
            <a:extLst>
              <a:ext uri="{FF2B5EF4-FFF2-40B4-BE49-F238E27FC236}">
                <a16:creationId xmlns:a16="http://schemas.microsoft.com/office/drawing/2014/main" id="{DF09006B-D2C2-C925-DC0F-CAE793FA7DCD}"/>
              </a:ext>
            </a:extLst>
          </p:cNvPr>
          <p:cNvSpPr/>
          <p:nvPr/>
        </p:nvSpPr>
        <p:spPr>
          <a:xfrm>
            <a:off x="4778548" y="4759451"/>
            <a:ext cx="3730752" cy="237744"/>
          </a:xfrm>
          <a:prstGeom prst="rect">
            <a:avLst/>
          </a:prstGeom>
          <a:noFill/>
          <a:ln/>
        </p:spPr>
        <p:txBody>
          <a:bodyPr wrap="square" lIns="0" tIns="0" rIns="0" bIns="0" rtlCol="0" anchor="ctr">
            <a:normAutofit/>
          </a:bodyPr>
          <a:lstStyle/>
          <a:p>
            <a:pPr marL="0" indent="0" algn="l">
              <a:buNone/>
            </a:pPr>
            <a:r>
              <a:rPr lang="en-US" sz="1200" dirty="0">
                <a:solidFill>
                  <a:srgbClr val="FFFFFF"/>
                </a:solidFill>
                <a:latin typeface="Arial" pitchFamily="34" charset="0"/>
                <a:ea typeface="Arial" pitchFamily="34" charset="-122"/>
                <a:cs typeface="Arial" pitchFamily="34" charset="-120"/>
              </a:rPr>
              <a:t>加载后：process_weights_after_loading()</a:t>
            </a:r>
            <a:endParaRPr lang="en-US" sz="1200" dirty="0"/>
          </a:p>
        </p:txBody>
      </p:sp>
      <p:sp>
        <p:nvSpPr>
          <p:cNvPr id="127" name="Text 55">
            <a:extLst>
              <a:ext uri="{FF2B5EF4-FFF2-40B4-BE49-F238E27FC236}">
                <a16:creationId xmlns:a16="http://schemas.microsoft.com/office/drawing/2014/main" id="{5F992E2A-5FF6-47BE-4ABA-92E9DF2974FE}"/>
              </a:ext>
            </a:extLst>
          </p:cNvPr>
          <p:cNvSpPr/>
          <p:nvPr/>
        </p:nvSpPr>
        <p:spPr>
          <a:xfrm>
            <a:off x="8673892" y="4759451"/>
            <a:ext cx="2679192" cy="237744"/>
          </a:xfrm>
          <a:prstGeom prst="rect">
            <a:avLst/>
          </a:prstGeom>
          <a:noFill/>
          <a:ln/>
        </p:spPr>
        <p:txBody>
          <a:bodyPr wrap="square" lIns="0" tIns="0" rIns="0" bIns="0" rtlCol="0" anchor="ctr">
            <a:normAutofit/>
          </a:bodyPr>
          <a:lstStyle/>
          <a:p>
            <a:pPr marL="0" indent="0" algn="l">
              <a:buNone/>
            </a:pPr>
            <a:r>
              <a:rPr lang="en-US" sz="1200" dirty="0">
                <a:solidFill>
                  <a:srgbClr val="FFFFFF"/>
                </a:solidFill>
                <a:latin typeface="Arial" pitchFamily="34" charset="0"/>
                <a:ea typeface="Arial" pitchFamily="34" charset="-122"/>
                <a:cs typeface="Arial" pitchFamily="34" charset="-120"/>
              </a:rPr>
              <a:t>推理：forward() → apply()</a:t>
            </a:r>
            <a:endParaRPr lang="en-US" sz="1200" dirty="0"/>
          </a:p>
        </p:txBody>
      </p:sp>
      <p:sp>
        <p:nvSpPr>
          <p:cNvPr id="128" name="Text 56">
            <a:extLst>
              <a:ext uri="{FF2B5EF4-FFF2-40B4-BE49-F238E27FC236}">
                <a16:creationId xmlns:a16="http://schemas.microsoft.com/office/drawing/2014/main" id="{45B32FA8-7EC6-782B-6D33-6BD08439B0A2}"/>
              </a:ext>
            </a:extLst>
          </p:cNvPr>
          <p:cNvSpPr/>
          <p:nvPr/>
        </p:nvSpPr>
        <p:spPr>
          <a:xfrm>
            <a:off x="548640" y="5193792"/>
            <a:ext cx="2194560" cy="301752"/>
          </a:xfrm>
          <a:prstGeom prst="rect">
            <a:avLst/>
          </a:prstGeom>
          <a:noFill/>
          <a:ln/>
        </p:spPr>
        <p:txBody>
          <a:bodyPr wrap="square" lIns="0" tIns="0" rIns="0" bIns="0" rtlCol="0" anchor="ctr">
            <a:normAutofit/>
          </a:bodyPr>
          <a:lstStyle/>
          <a:p>
            <a:pPr marL="0" indent="0" algn="l">
              <a:buNone/>
            </a:pPr>
            <a:r>
              <a:rPr lang="en-US" sz="1500" b="1" dirty="0">
                <a:solidFill>
                  <a:srgbClr val="172C49"/>
                </a:solidFill>
                <a:latin typeface="Microsoft YaHei" pitchFamily="34" charset="0"/>
                <a:ea typeface="Microsoft YaHei" pitchFamily="34" charset="-122"/>
                <a:cs typeface="Microsoft YaHei" pitchFamily="34" charset="-120"/>
              </a:rPr>
              <a:t>问题与修复</a:t>
            </a:r>
            <a:endParaRPr lang="en-US" sz="1500" dirty="0"/>
          </a:p>
        </p:txBody>
      </p:sp>
      <p:sp>
        <p:nvSpPr>
          <p:cNvPr id="129" name="Shape 57">
            <a:extLst>
              <a:ext uri="{FF2B5EF4-FFF2-40B4-BE49-F238E27FC236}">
                <a16:creationId xmlns:a16="http://schemas.microsoft.com/office/drawing/2014/main" id="{319A612A-355E-38A1-C8B8-CDD2C2092FBA}"/>
              </a:ext>
            </a:extLst>
          </p:cNvPr>
          <p:cNvSpPr/>
          <p:nvPr/>
        </p:nvSpPr>
        <p:spPr>
          <a:xfrm>
            <a:off x="521208" y="5550408"/>
            <a:ext cx="3511296" cy="749808"/>
          </a:xfrm>
          <a:prstGeom prst="roundRect">
            <a:avLst/>
          </a:prstGeom>
          <a:solidFill>
            <a:srgbClr val="FFF5E4"/>
          </a:solidFill>
          <a:ln w="12700">
            <a:solidFill>
              <a:srgbClr val="FFF5E4"/>
            </a:solidFill>
            <a:prstDash val="solid"/>
          </a:ln>
        </p:spPr>
        <p:txBody>
          <a:bodyPr/>
          <a:lstStyle/>
          <a:p>
            <a:endParaRPr lang="zh-CN" altLang="en-US"/>
          </a:p>
        </p:txBody>
      </p:sp>
      <p:sp>
        <p:nvSpPr>
          <p:cNvPr id="130" name="Text 58">
            <a:extLst>
              <a:ext uri="{FF2B5EF4-FFF2-40B4-BE49-F238E27FC236}">
                <a16:creationId xmlns:a16="http://schemas.microsoft.com/office/drawing/2014/main" id="{8C4B36BB-1BCE-74A5-27DB-25C38BA45CF5}"/>
              </a:ext>
            </a:extLst>
          </p:cNvPr>
          <p:cNvSpPr/>
          <p:nvPr/>
        </p:nvSpPr>
        <p:spPr>
          <a:xfrm>
            <a:off x="722376" y="5614416"/>
            <a:ext cx="3200400" cy="237744"/>
          </a:xfrm>
          <a:prstGeom prst="rect">
            <a:avLst/>
          </a:prstGeom>
          <a:noFill/>
          <a:ln/>
        </p:spPr>
        <p:txBody>
          <a:bodyPr wrap="square" lIns="0" tIns="0" rIns="0" bIns="0" rtlCol="0" anchor="ctr">
            <a:normAutofit/>
          </a:bodyPr>
          <a:lstStyle/>
          <a:p>
            <a:pPr marL="0" indent="0" algn="l">
              <a:buNone/>
            </a:pPr>
            <a:r>
              <a:rPr lang="en-US" sz="1200" b="1" dirty="0">
                <a:solidFill>
                  <a:srgbClr val="C17B1A"/>
                </a:solidFill>
                <a:latin typeface="Microsoft YaHei" pitchFamily="34" charset="0"/>
                <a:ea typeface="Microsoft YaHei" pitchFamily="34" charset="-122"/>
                <a:cs typeface="Microsoft YaHei" pitchFamily="34" charset="-120"/>
              </a:rPr>
              <a:t>问题：ViT intermediate_size = 4304</a:t>
            </a:r>
            <a:endParaRPr lang="en-US" sz="1200" dirty="0"/>
          </a:p>
        </p:txBody>
      </p:sp>
      <p:sp>
        <p:nvSpPr>
          <p:cNvPr id="131" name="Text 59">
            <a:extLst>
              <a:ext uri="{FF2B5EF4-FFF2-40B4-BE49-F238E27FC236}">
                <a16:creationId xmlns:a16="http://schemas.microsoft.com/office/drawing/2014/main" id="{F670C953-37C3-6413-FE33-B6296C7D5D47}"/>
              </a:ext>
            </a:extLst>
          </p:cNvPr>
          <p:cNvSpPr/>
          <p:nvPr/>
        </p:nvSpPr>
        <p:spPr>
          <a:xfrm>
            <a:off x="722376" y="5907024"/>
            <a:ext cx="3172968" cy="219456"/>
          </a:xfrm>
          <a:prstGeom prst="rect">
            <a:avLst/>
          </a:prstGeom>
          <a:noFill/>
          <a:ln/>
        </p:spPr>
        <p:txBody>
          <a:bodyPr wrap="square" lIns="0" tIns="0" rIns="0" bIns="0" rtlCol="0" anchor="ctr">
            <a:normAutofit/>
          </a:bodyPr>
          <a:lstStyle/>
          <a:p>
            <a:pPr marL="0" indent="0" algn="l">
              <a:buNone/>
            </a:pPr>
            <a:r>
              <a:rPr lang="en-US" sz="1100" dirty="0">
                <a:solidFill>
                  <a:srgbClr val="FF0000"/>
                </a:solidFill>
                <a:latin typeface="Microsoft YaHei" pitchFamily="34" charset="0"/>
                <a:ea typeface="Microsoft YaHei" pitchFamily="34" charset="-122"/>
                <a:cs typeface="Microsoft YaHei" pitchFamily="34" charset="-120"/>
              </a:rPr>
              <a:t>非 64 对齐，旧判断可能跳过 Vision 量化</a:t>
            </a:r>
            <a:endParaRPr lang="en-US" sz="1100" dirty="0">
              <a:solidFill>
                <a:srgbClr val="FF0000"/>
              </a:solidFill>
            </a:endParaRPr>
          </a:p>
        </p:txBody>
      </p:sp>
      <p:sp>
        <p:nvSpPr>
          <p:cNvPr id="132" name="Shape 60">
            <a:extLst>
              <a:ext uri="{FF2B5EF4-FFF2-40B4-BE49-F238E27FC236}">
                <a16:creationId xmlns:a16="http://schemas.microsoft.com/office/drawing/2014/main" id="{3A124647-D2BB-045E-4A14-B63C7822D746}"/>
              </a:ext>
            </a:extLst>
          </p:cNvPr>
          <p:cNvSpPr/>
          <p:nvPr/>
        </p:nvSpPr>
        <p:spPr>
          <a:xfrm>
            <a:off x="4206240" y="5550408"/>
            <a:ext cx="3712464" cy="749808"/>
          </a:xfrm>
          <a:prstGeom prst="roundRect">
            <a:avLst/>
          </a:prstGeom>
          <a:solidFill>
            <a:srgbClr val="EAF4FF"/>
          </a:solidFill>
          <a:ln w="12700">
            <a:solidFill>
              <a:srgbClr val="EAF4FF"/>
            </a:solidFill>
            <a:prstDash val="solid"/>
          </a:ln>
        </p:spPr>
      </p:sp>
      <p:sp>
        <p:nvSpPr>
          <p:cNvPr id="133" name="Text 61">
            <a:extLst>
              <a:ext uri="{FF2B5EF4-FFF2-40B4-BE49-F238E27FC236}">
                <a16:creationId xmlns:a16="http://schemas.microsoft.com/office/drawing/2014/main" id="{7372ABBD-5811-018E-9247-61FCCA4EEB0D}"/>
              </a:ext>
            </a:extLst>
          </p:cNvPr>
          <p:cNvSpPr/>
          <p:nvPr/>
        </p:nvSpPr>
        <p:spPr>
          <a:xfrm>
            <a:off x="4416552" y="5614416"/>
            <a:ext cx="3337560" cy="237744"/>
          </a:xfrm>
          <a:prstGeom prst="rect">
            <a:avLst/>
          </a:prstGeom>
          <a:noFill/>
          <a:ln/>
        </p:spPr>
        <p:txBody>
          <a:bodyPr wrap="square" lIns="0" tIns="0" rIns="0" bIns="0" rtlCol="0" anchor="ctr">
            <a:normAutofit/>
          </a:bodyPr>
          <a:lstStyle/>
          <a:p>
            <a:pPr marL="0" indent="0" algn="l">
              <a:buNone/>
            </a:pPr>
            <a:r>
              <a:rPr lang="en-US" sz="1200" b="1" dirty="0">
                <a:solidFill>
                  <a:srgbClr val="0A5AA0"/>
                </a:solidFill>
                <a:latin typeface="Microsoft YaHei" pitchFamily="34" charset="0"/>
                <a:ea typeface="Microsoft YaHei" pitchFamily="34" charset="-122"/>
                <a:cs typeface="Microsoft YaHei" pitchFamily="34" charset="-120"/>
              </a:rPr>
              <a:t>修复：向塔及投影层传递 quant_config</a:t>
            </a:r>
            <a:endParaRPr lang="en-US" sz="1200" dirty="0"/>
          </a:p>
        </p:txBody>
      </p:sp>
      <p:sp>
        <p:nvSpPr>
          <p:cNvPr id="134" name="Text 62">
            <a:extLst>
              <a:ext uri="{FF2B5EF4-FFF2-40B4-BE49-F238E27FC236}">
                <a16:creationId xmlns:a16="http://schemas.microsoft.com/office/drawing/2014/main" id="{3EE5787F-6367-ADC5-9325-DBE46BFB2335}"/>
              </a:ext>
            </a:extLst>
          </p:cNvPr>
          <p:cNvSpPr/>
          <p:nvPr/>
        </p:nvSpPr>
        <p:spPr>
          <a:xfrm>
            <a:off x="4416552" y="5907024"/>
            <a:ext cx="3337560" cy="219456"/>
          </a:xfrm>
          <a:prstGeom prst="rect">
            <a:avLst/>
          </a:prstGeom>
          <a:noFill/>
          <a:ln/>
        </p:spPr>
        <p:txBody>
          <a:bodyPr wrap="square" lIns="0" tIns="0" rIns="0" bIns="0" rtlCol="0" anchor="ctr">
            <a:normAutofit/>
          </a:bodyPr>
          <a:lstStyle/>
          <a:p>
            <a:pPr marL="0" indent="0" algn="l">
              <a:buNone/>
            </a:pPr>
            <a:r>
              <a:rPr lang="en-US" sz="1100" dirty="0">
                <a:solidFill>
                  <a:srgbClr val="273B55"/>
                </a:solidFill>
                <a:latin typeface="Microsoft YaHei" pitchFamily="34" charset="0"/>
                <a:ea typeface="Microsoft YaHei" pitchFamily="34" charset="-122"/>
                <a:cs typeface="Microsoft YaHei" pitchFamily="34" charset="-120"/>
              </a:rPr>
              <a:t>并将 Vision nn.Linear 替换为可量化层</a:t>
            </a:r>
            <a:endParaRPr lang="en-US" sz="1100" dirty="0"/>
          </a:p>
        </p:txBody>
      </p:sp>
      <p:sp>
        <p:nvSpPr>
          <p:cNvPr id="135" name="Shape 63">
            <a:extLst>
              <a:ext uri="{FF2B5EF4-FFF2-40B4-BE49-F238E27FC236}">
                <a16:creationId xmlns:a16="http://schemas.microsoft.com/office/drawing/2014/main" id="{E93E1AAE-B576-5BEE-EFFD-97C617CCCE92}"/>
              </a:ext>
            </a:extLst>
          </p:cNvPr>
          <p:cNvSpPr/>
          <p:nvPr/>
        </p:nvSpPr>
        <p:spPr>
          <a:xfrm>
            <a:off x="8101584" y="5550408"/>
            <a:ext cx="3575304" cy="749808"/>
          </a:xfrm>
          <a:prstGeom prst="roundRect">
            <a:avLst/>
          </a:prstGeom>
          <a:solidFill>
            <a:srgbClr val="E8F8F0"/>
          </a:solidFill>
          <a:ln w="12700">
            <a:solidFill>
              <a:srgbClr val="E8F8F0"/>
            </a:solidFill>
            <a:prstDash val="solid"/>
          </a:ln>
        </p:spPr>
      </p:sp>
      <p:sp>
        <p:nvSpPr>
          <p:cNvPr id="136" name="Text 64">
            <a:extLst>
              <a:ext uri="{FF2B5EF4-FFF2-40B4-BE49-F238E27FC236}">
                <a16:creationId xmlns:a16="http://schemas.microsoft.com/office/drawing/2014/main" id="{8448FD03-0361-5ED1-BFA2-8A7D58E536E3}"/>
              </a:ext>
            </a:extLst>
          </p:cNvPr>
          <p:cNvSpPr/>
          <p:nvPr/>
        </p:nvSpPr>
        <p:spPr>
          <a:xfrm>
            <a:off x="8284464" y="5614416"/>
            <a:ext cx="3182112" cy="237744"/>
          </a:xfrm>
          <a:prstGeom prst="rect">
            <a:avLst/>
          </a:prstGeom>
          <a:noFill/>
          <a:ln/>
        </p:spPr>
        <p:txBody>
          <a:bodyPr wrap="square" lIns="0" tIns="0" rIns="0" bIns="0" rtlCol="0" anchor="ctr">
            <a:normAutofit/>
          </a:bodyPr>
          <a:lstStyle/>
          <a:p>
            <a:pPr marL="0" indent="0" algn="l">
              <a:buNone/>
            </a:pPr>
            <a:r>
              <a:rPr lang="en-US" sz="1200" b="1" dirty="0">
                <a:solidFill>
                  <a:srgbClr val="16794F"/>
                </a:solidFill>
                <a:latin typeface="Microsoft YaHei" pitchFamily="34" charset="0"/>
                <a:ea typeface="Microsoft YaHei" pitchFamily="34" charset="-122"/>
                <a:cs typeface="Microsoft YaHei" pitchFamily="34" charset="-120"/>
              </a:rPr>
              <a:t>正确性：检查实际 quant_method</a:t>
            </a:r>
            <a:endParaRPr lang="en-US" sz="1200" dirty="0"/>
          </a:p>
        </p:txBody>
      </p:sp>
      <p:sp>
        <p:nvSpPr>
          <p:cNvPr id="137" name="Text 65">
            <a:extLst>
              <a:ext uri="{FF2B5EF4-FFF2-40B4-BE49-F238E27FC236}">
                <a16:creationId xmlns:a16="http://schemas.microsoft.com/office/drawing/2014/main" id="{7DF8C6CD-8DFB-5D76-3195-25D908BAA84C}"/>
              </a:ext>
            </a:extLst>
          </p:cNvPr>
          <p:cNvSpPr/>
          <p:nvPr/>
        </p:nvSpPr>
        <p:spPr>
          <a:xfrm>
            <a:off x="8284464" y="5907024"/>
            <a:ext cx="3209544" cy="219456"/>
          </a:xfrm>
          <a:prstGeom prst="rect">
            <a:avLst/>
          </a:prstGeom>
          <a:noFill/>
          <a:ln/>
        </p:spPr>
        <p:txBody>
          <a:bodyPr wrap="square" lIns="0" tIns="0" rIns="0" bIns="0" rtlCol="0" anchor="ctr">
            <a:normAutofit/>
          </a:bodyPr>
          <a:lstStyle/>
          <a:p>
            <a:pPr marL="0" indent="0" algn="l">
              <a:buNone/>
            </a:pPr>
            <a:r>
              <a:rPr lang="en-US" sz="1070" dirty="0">
                <a:solidFill>
                  <a:srgbClr val="273B55"/>
                </a:solidFill>
                <a:latin typeface="Microsoft YaHei" pitchFamily="34" charset="0"/>
                <a:ea typeface="Microsoft YaHei" pitchFamily="34" charset="-122"/>
                <a:cs typeface="Microsoft YaHei" pitchFamily="34" charset="-120"/>
              </a:rPr>
              <a:t>Patch 输入保持模型激活 dtype (BF16/FP16)</a:t>
            </a:r>
            <a:endParaRPr lang="en-US" sz="1070" dirty="0"/>
          </a:p>
        </p:txBody>
      </p:sp>
      <p:sp>
        <p:nvSpPr>
          <p:cNvPr id="138" name="Text 66">
            <a:extLst>
              <a:ext uri="{FF2B5EF4-FFF2-40B4-BE49-F238E27FC236}">
                <a16:creationId xmlns:a16="http://schemas.microsoft.com/office/drawing/2014/main" id="{071BA808-ECF8-FD6C-5FD1-D20973AFD34D}"/>
              </a:ext>
            </a:extLst>
          </p:cNvPr>
          <p:cNvSpPr/>
          <p:nvPr/>
        </p:nvSpPr>
        <p:spPr>
          <a:xfrm>
            <a:off x="539496" y="6519672"/>
            <a:ext cx="11155680" cy="201168"/>
          </a:xfrm>
          <a:prstGeom prst="rect">
            <a:avLst/>
          </a:prstGeom>
          <a:noFill/>
          <a:ln/>
        </p:spPr>
        <p:txBody>
          <a:bodyPr wrap="square" lIns="0" tIns="0" rIns="0" bIns="0" rtlCol="0" anchor="ctr">
            <a:normAutofit/>
          </a:bodyPr>
          <a:lstStyle/>
          <a:p>
            <a:pPr marL="0" indent="0" algn="l">
              <a:buNone/>
            </a:pPr>
            <a:r>
              <a:rPr lang="en-US" sz="1000" dirty="0">
                <a:solidFill>
                  <a:srgbClr val="657792"/>
                </a:solidFill>
                <a:latin typeface="Microsoft YaHei" pitchFamily="34" charset="0"/>
                <a:ea typeface="Microsoft YaHei" pitchFamily="34" charset="-122"/>
                <a:cs typeface="Microsoft YaHei" pitchFamily="34" charset="-120"/>
              </a:rPr>
              <a:t>代码锚点：vLLM · Gemma4MultimodalEmbedder / LinearBase    |    vLLM-Ascend · Gemma4 Adapter / AscendModelSlimConfig</a:t>
            </a:r>
            <a:endParaRPr lang="en-US" sz="1000" dirty="0"/>
          </a:p>
        </p:txBody>
      </p:sp>
      <p:sp>
        <p:nvSpPr>
          <p:cNvPr id="3" name="Shape 3">
            <a:extLst>
              <a:ext uri="{FF2B5EF4-FFF2-40B4-BE49-F238E27FC236}">
                <a16:creationId xmlns:a16="http://schemas.microsoft.com/office/drawing/2014/main" id="{453DD4BE-E9EE-5C81-3CFE-154E86E95AC8}"/>
              </a:ext>
            </a:extLst>
          </p:cNvPr>
          <p:cNvSpPr/>
          <p:nvPr/>
        </p:nvSpPr>
        <p:spPr>
          <a:xfrm>
            <a:off x="446305" y="809244"/>
            <a:ext cx="2011680" cy="283464"/>
          </a:xfrm>
          <a:prstGeom prst="roundRect">
            <a:avLst>
              <a:gd name="adj" fmla="val 25806"/>
            </a:avLst>
          </a:prstGeom>
          <a:solidFill>
            <a:srgbClr val="E8F3FF"/>
          </a:solidFill>
          <a:ln w="12700">
            <a:solidFill>
              <a:srgbClr val="E8F3FF">
                <a:alpha val="0"/>
              </a:srgbClr>
            </a:solidFill>
            <a:prstDash val="solid"/>
          </a:ln>
        </p:spPr>
        <p:txBody>
          <a:bodyPr/>
          <a:lstStyle/>
          <a:p>
            <a:endParaRPr lang="zh-CN" altLang="en-US"/>
          </a:p>
        </p:txBody>
      </p:sp>
      <p:sp>
        <p:nvSpPr>
          <p:cNvPr id="5" name="Text 4">
            <a:extLst>
              <a:ext uri="{FF2B5EF4-FFF2-40B4-BE49-F238E27FC236}">
                <a16:creationId xmlns:a16="http://schemas.microsoft.com/office/drawing/2014/main" id="{EFF7585B-3B47-CDBA-C943-8CFAFB582A85}"/>
              </a:ext>
            </a:extLst>
          </p:cNvPr>
          <p:cNvSpPr txBox="1"/>
          <p:nvPr/>
        </p:nvSpPr>
        <p:spPr>
          <a:xfrm>
            <a:off x="455332" y="881183"/>
            <a:ext cx="1883664" cy="228600"/>
          </a:xfrm>
          <a:prstGeom prst="rect">
            <a:avLst/>
          </a:prstGeom>
          <a:noFill/>
          <a:ln/>
        </p:spPr>
        <p:txBody>
          <a:bodyPr wrap="square" lIns="0" tIns="0" rIns="0" bIns="0" rtlCol="0" anchor="ctr">
            <a:normAutofit/>
          </a:bodyPr>
          <a:lstStyle/>
          <a:p>
            <a:pPr marL="0" indent="0" algn="ctr">
              <a:lnSpc>
                <a:spcPct val="100000"/>
              </a:lnSpc>
              <a:buNone/>
            </a:pPr>
            <a:r>
              <a:rPr lang="en-US" sz="1010" b="1" dirty="0">
                <a:solidFill>
                  <a:srgbClr val="0A5AA0"/>
                </a:solidFill>
                <a:latin typeface="Microsoft YaHei" pitchFamily="34" charset="0"/>
                <a:ea typeface="Microsoft YaHei" pitchFamily="34" charset="-122"/>
                <a:cs typeface="Microsoft YaHei" pitchFamily="34" charset="-120"/>
              </a:rPr>
              <a:t>vLLM-Ascend · PR #14607</a:t>
            </a:r>
            <a:endParaRPr lang="en-US" sz="1010" dirty="0"/>
          </a:p>
        </p:txBody>
      </p:sp>
      <p:sp>
        <p:nvSpPr>
          <p:cNvPr id="7" name="Shape 0">
            <a:extLst>
              <a:ext uri="{FF2B5EF4-FFF2-40B4-BE49-F238E27FC236}">
                <a16:creationId xmlns:a16="http://schemas.microsoft.com/office/drawing/2014/main" id="{FC2DE779-8063-9BCE-BC93-45C04C50D355}"/>
              </a:ext>
            </a:extLst>
          </p:cNvPr>
          <p:cNvSpPr/>
          <p:nvPr/>
        </p:nvSpPr>
        <p:spPr>
          <a:xfrm>
            <a:off x="0" y="0"/>
            <a:ext cx="12191695" cy="59436"/>
          </a:xfrm>
          <a:prstGeom prst="rect">
            <a:avLst/>
          </a:prstGeom>
          <a:solidFill>
            <a:srgbClr val="1675C6"/>
          </a:solidFill>
          <a:ln w="12700">
            <a:solidFill>
              <a:srgbClr val="1675C6">
                <a:alpha val="0"/>
              </a:srgbClr>
            </a:solidFill>
            <a:prstDash val="solid"/>
          </a:ln>
        </p:spPr>
        <p:txBody>
          <a:bodyPr/>
          <a:lstStyle/>
          <a:p>
            <a:endParaRPr lang="zh-CN" altLang="en-US"/>
          </a:p>
        </p:txBody>
      </p:sp>
      <p:pic>
        <p:nvPicPr>
          <p:cNvPr id="8" name="图片 7" descr="竖版华为公司标志 Vertical Version of Huawei Corporate Logo_2018">
            <a:extLst>
              <a:ext uri="{FF2B5EF4-FFF2-40B4-BE49-F238E27FC236}">
                <a16:creationId xmlns:a16="http://schemas.microsoft.com/office/drawing/2014/main" id="{392B1FF2-E662-AC17-E34D-E0FEB868D2F0}"/>
              </a:ext>
            </a:extLst>
          </p:cNvPr>
          <p:cNvPicPr>
            <a:picLocks noChangeAspect="1"/>
          </p:cNvPicPr>
          <p:nvPr/>
        </p:nvPicPr>
        <p:blipFill>
          <a:blip r:embed="rId3"/>
          <a:stretch>
            <a:fillRect/>
          </a:stretch>
        </p:blipFill>
        <p:spPr>
          <a:xfrm>
            <a:off x="10780956" y="87585"/>
            <a:ext cx="810588" cy="802246"/>
          </a:xfrm>
          <a:prstGeom prst="rect">
            <a:avLst/>
          </a:prstGeom>
        </p:spPr>
      </p:pic>
      <p:sp>
        <p:nvSpPr>
          <p:cNvPr id="9" name="Shape 1">
            <a:extLst>
              <a:ext uri="{FF2B5EF4-FFF2-40B4-BE49-F238E27FC236}">
                <a16:creationId xmlns:a16="http://schemas.microsoft.com/office/drawing/2014/main" id="{52A7F23B-5769-291F-B9CC-A9087347A5EB}"/>
              </a:ext>
            </a:extLst>
          </p:cNvPr>
          <p:cNvSpPr/>
          <p:nvPr/>
        </p:nvSpPr>
        <p:spPr>
          <a:xfrm>
            <a:off x="539496" y="292608"/>
            <a:ext cx="59436" cy="365760"/>
          </a:xfrm>
          <a:prstGeom prst="rect">
            <a:avLst/>
          </a:prstGeom>
          <a:solidFill>
            <a:srgbClr val="D81921"/>
          </a:solidFill>
          <a:ln w="12700">
            <a:solidFill>
              <a:srgbClr val="D81921">
                <a:alpha val="0"/>
              </a:srgbClr>
            </a:solidFill>
            <a:prstDash val="solid"/>
          </a:ln>
        </p:spPr>
        <p:txBody>
          <a:bodyPr/>
          <a:lstStyle/>
          <a:p>
            <a:endParaRPr lang="zh-CN" altLang="en-US"/>
          </a:p>
        </p:txBody>
      </p:sp>
      <p:sp>
        <p:nvSpPr>
          <p:cNvPr id="19" name="Shape 12">
            <a:extLst>
              <a:ext uri="{FF2B5EF4-FFF2-40B4-BE49-F238E27FC236}">
                <a16:creationId xmlns:a16="http://schemas.microsoft.com/office/drawing/2014/main" id="{66C8505E-1EC3-04BE-8639-EFCDBAAB1B12}"/>
              </a:ext>
            </a:extLst>
          </p:cNvPr>
          <p:cNvSpPr/>
          <p:nvPr/>
        </p:nvSpPr>
        <p:spPr>
          <a:xfrm>
            <a:off x="484632" y="1165169"/>
            <a:ext cx="11201400" cy="402336"/>
          </a:xfrm>
          <a:prstGeom prst="roundRect">
            <a:avLst/>
          </a:prstGeom>
          <a:solidFill>
            <a:srgbClr val="F4F8FE"/>
          </a:solidFill>
          <a:ln w="10160">
            <a:solidFill>
              <a:srgbClr val="CCDDF0"/>
            </a:solidFill>
            <a:prstDash val="solid"/>
          </a:ln>
        </p:spPr>
        <p:txBody>
          <a:bodyPr/>
          <a:lstStyle/>
          <a:p>
            <a:endParaRPr lang="zh-CN" altLang="en-US"/>
          </a:p>
        </p:txBody>
      </p:sp>
      <p:sp>
        <p:nvSpPr>
          <p:cNvPr id="20" name="Shape 13">
            <a:extLst>
              <a:ext uri="{FF2B5EF4-FFF2-40B4-BE49-F238E27FC236}">
                <a16:creationId xmlns:a16="http://schemas.microsoft.com/office/drawing/2014/main" id="{E2CF00C5-5217-47DB-8C7C-580E23F626BF}"/>
              </a:ext>
            </a:extLst>
          </p:cNvPr>
          <p:cNvSpPr/>
          <p:nvPr/>
        </p:nvSpPr>
        <p:spPr>
          <a:xfrm>
            <a:off x="621792" y="1224605"/>
            <a:ext cx="1051560" cy="274320"/>
          </a:xfrm>
          <a:prstGeom prst="roundRect">
            <a:avLst/>
          </a:prstGeom>
          <a:solidFill>
            <a:srgbClr val="1674C8"/>
          </a:solidFill>
          <a:ln w="10160">
            <a:solidFill>
              <a:srgbClr val="1674C8"/>
            </a:solidFill>
            <a:prstDash val="solid"/>
          </a:ln>
        </p:spPr>
      </p:sp>
      <p:sp>
        <p:nvSpPr>
          <p:cNvPr id="21" name="Text 14">
            <a:extLst>
              <a:ext uri="{FF2B5EF4-FFF2-40B4-BE49-F238E27FC236}">
                <a16:creationId xmlns:a16="http://schemas.microsoft.com/office/drawing/2014/main" id="{C714CBFD-65C6-3C1D-82B2-F28CF5C05DF1}"/>
              </a:ext>
            </a:extLst>
          </p:cNvPr>
          <p:cNvSpPr/>
          <p:nvPr/>
        </p:nvSpPr>
        <p:spPr>
          <a:xfrm>
            <a:off x="676656" y="1233749"/>
            <a:ext cx="941832" cy="246888"/>
          </a:xfrm>
          <a:prstGeom prst="rect">
            <a:avLst/>
          </a:prstGeom>
          <a:noFill/>
          <a:ln/>
        </p:spPr>
        <p:txBody>
          <a:bodyPr wrap="square" lIns="0" tIns="0" rIns="0" bIns="0" rtlCol="0" anchor="ctr">
            <a:normAutofit/>
          </a:bodyPr>
          <a:lstStyle/>
          <a:p>
            <a:pPr marL="0" indent="0" algn="ctr">
              <a:buNone/>
            </a:pPr>
            <a:r>
              <a:rPr lang="en-US" sz="920" b="1" dirty="0">
                <a:solidFill>
                  <a:srgbClr val="FFFFFF"/>
                </a:solidFill>
                <a:latin typeface="Microsoft YaHei" pitchFamily="34" charset="0"/>
                <a:ea typeface="Microsoft YaHei" pitchFamily="34" charset="-122"/>
                <a:cs typeface="Microsoft YaHei" pitchFamily="34" charset="-120"/>
              </a:rPr>
              <a:t>三项核心 PR</a:t>
            </a:r>
            <a:endParaRPr lang="en-US" sz="920" dirty="0"/>
          </a:p>
        </p:txBody>
      </p:sp>
      <p:sp>
        <p:nvSpPr>
          <p:cNvPr id="22" name="Text 15">
            <a:extLst>
              <a:ext uri="{FF2B5EF4-FFF2-40B4-BE49-F238E27FC236}">
                <a16:creationId xmlns:a16="http://schemas.microsoft.com/office/drawing/2014/main" id="{11C287C3-C516-C67D-A1FA-1F9A25944F13}"/>
              </a:ext>
            </a:extLst>
          </p:cNvPr>
          <p:cNvSpPr/>
          <p:nvPr/>
        </p:nvSpPr>
        <p:spPr>
          <a:xfrm>
            <a:off x="7699248" y="1231920"/>
            <a:ext cx="2907792" cy="210312"/>
          </a:xfrm>
          <a:prstGeom prst="rect">
            <a:avLst/>
          </a:prstGeom>
          <a:noFill/>
          <a:ln/>
        </p:spPr>
        <p:txBody>
          <a:bodyPr wrap="square" lIns="0" tIns="0" rIns="0" bIns="0" rtlCol="0" anchor="ctr">
            <a:normAutofit/>
          </a:bodyPr>
          <a:lstStyle/>
          <a:p>
            <a:r>
              <a:rPr lang="en-US" sz="1010" b="1" dirty="0">
                <a:solidFill>
                  <a:srgbClr val="FF0000"/>
                </a:solidFill>
                <a:latin typeface="Microsoft YaHei" pitchFamily="34" charset="0"/>
                <a:ea typeface="Microsoft YaHei" pitchFamily="34" charset="-122"/>
              </a:rPr>
              <a:t>#14607  Gemma4 多模态 </a:t>
            </a:r>
            <a:r>
              <a:rPr lang="en-US" sz="1010" b="1">
                <a:solidFill>
                  <a:srgbClr val="FF0000"/>
                </a:solidFill>
                <a:latin typeface="Microsoft YaHei" pitchFamily="34" charset="0"/>
                <a:ea typeface="Microsoft YaHei" pitchFamily="34" charset="-122"/>
              </a:rPr>
              <a:t>MXFP4 适配</a:t>
            </a:r>
            <a:endParaRPr lang="en-US" sz="1010" b="1" dirty="0">
              <a:solidFill>
                <a:srgbClr val="FF0000"/>
              </a:solidFill>
              <a:latin typeface="Microsoft YaHei" pitchFamily="34" charset="0"/>
              <a:ea typeface="Microsoft YaHei" pitchFamily="34" charset="-122"/>
            </a:endParaRPr>
          </a:p>
        </p:txBody>
      </p:sp>
      <p:sp>
        <p:nvSpPr>
          <p:cNvPr id="23" name="Shape 16">
            <a:extLst>
              <a:ext uri="{FF2B5EF4-FFF2-40B4-BE49-F238E27FC236}">
                <a16:creationId xmlns:a16="http://schemas.microsoft.com/office/drawing/2014/main" id="{314D0F04-C62F-CCB5-9B5B-32CA572B9A3B}"/>
              </a:ext>
            </a:extLst>
          </p:cNvPr>
          <p:cNvSpPr/>
          <p:nvPr/>
        </p:nvSpPr>
        <p:spPr>
          <a:xfrm>
            <a:off x="4700016" y="1220033"/>
            <a:ext cx="0" cy="274320"/>
          </a:xfrm>
          <a:prstGeom prst="line">
            <a:avLst/>
          </a:prstGeom>
          <a:noFill/>
          <a:ln w="11430">
            <a:solidFill>
              <a:srgbClr val="CCDDF0"/>
            </a:solidFill>
            <a:prstDash val="solid"/>
          </a:ln>
        </p:spPr>
      </p:sp>
      <p:sp>
        <p:nvSpPr>
          <p:cNvPr id="24" name="Text 17">
            <a:extLst>
              <a:ext uri="{FF2B5EF4-FFF2-40B4-BE49-F238E27FC236}">
                <a16:creationId xmlns:a16="http://schemas.microsoft.com/office/drawing/2014/main" id="{0EC66EEC-596C-649A-9920-134FEAEA81EB}"/>
              </a:ext>
            </a:extLst>
          </p:cNvPr>
          <p:cNvSpPr/>
          <p:nvPr/>
        </p:nvSpPr>
        <p:spPr>
          <a:xfrm>
            <a:off x="4892040" y="1231920"/>
            <a:ext cx="2642616" cy="210312"/>
          </a:xfrm>
          <a:prstGeom prst="rect">
            <a:avLst/>
          </a:prstGeom>
          <a:noFill/>
          <a:ln/>
        </p:spPr>
        <p:txBody>
          <a:bodyPr wrap="square" lIns="0" tIns="0" rIns="0" bIns="0" rtlCol="0" anchor="ctr">
            <a:normAutofit/>
          </a:bodyPr>
          <a:lstStyle/>
          <a:p>
            <a:pPr marL="0" indent="0" algn="l">
              <a:buNone/>
            </a:pPr>
            <a:r>
              <a:rPr lang="en-US" sz="1010" dirty="0">
                <a:solidFill>
                  <a:srgbClr val="102F5E"/>
                </a:solidFill>
                <a:latin typeface="Microsoft YaHei" pitchFamily="34" charset="0"/>
                <a:ea typeface="Microsoft YaHei" pitchFamily="34" charset="-122"/>
                <a:cs typeface="Microsoft YaHei" pitchFamily="34" charset="-120"/>
              </a:rPr>
              <a:t>#15806  MM LoRA 初始化修复</a:t>
            </a:r>
            <a:endParaRPr lang="en-US" sz="1010" dirty="0"/>
          </a:p>
        </p:txBody>
      </p:sp>
      <p:sp>
        <p:nvSpPr>
          <p:cNvPr id="25" name="Shape 18">
            <a:extLst>
              <a:ext uri="{FF2B5EF4-FFF2-40B4-BE49-F238E27FC236}">
                <a16:creationId xmlns:a16="http://schemas.microsoft.com/office/drawing/2014/main" id="{7993956B-56BF-C72D-53BC-5D1F91D3CE90}"/>
              </a:ext>
            </a:extLst>
          </p:cNvPr>
          <p:cNvSpPr/>
          <p:nvPr/>
        </p:nvSpPr>
        <p:spPr>
          <a:xfrm>
            <a:off x="7598664" y="1220033"/>
            <a:ext cx="0" cy="274320"/>
          </a:xfrm>
          <a:prstGeom prst="line">
            <a:avLst/>
          </a:prstGeom>
          <a:noFill/>
          <a:ln w="11430">
            <a:solidFill>
              <a:srgbClr val="CCDDF0"/>
            </a:solidFill>
            <a:prstDash val="solid"/>
          </a:ln>
        </p:spPr>
      </p:sp>
      <p:sp>
        <p:nvSpPr>
          <p:cNvPr id="26" name="Text 19">
            <a:extLst>
              <a:ext uri="{FF2B5EF4-FFF2-40B4-BE49-F238E27FC236}">
                <a16:creationId xmlns:a16="http://schemas.microsoft.com/office/drawing/2014/main" id="{947A86D7-E62F-0023-1C30-368A780262DB}"/>
              </a:ext>
            </a:extLst>
          </p:cNvPr>
          <p:cNvSpPr/>
          <p:nvPr/>
        </p:nvSpPr>
        <p:spPr>
          <a:xfrm>
            <a:off x="1837690" y="1224879"/>
            <a:ext cx="3685032" cy="210312"/>
          </a:xfrm>
          <a:prstGeom prst="rect">
            <a:avLst/>
          </a:prstGeom>
          <a:noFill/>
          <a:ln/>
        </p:spPr>
        <p:txBody>
          <a:bodyPr wrap="square" lIns="0" tIns="0" rIns="0" bIns="0" rtlCol="0" anchor="ctr">
            <a:normAutofit/>
          </a:bodyPr>
          <a:lstStyle/>
          <a:p>
            <a:pPr marL="0" indent="0" algn="l">
              <a:buNone/>
            </a:pPr>
            <a:r>
              <a:rPr lang="en-US" sz="1010" dirty="0">
                <a:latin typeface="Microsoft YaHei" pitchFamily="34" charset="0"/>
                <a:ea typeface="Microsoft YaHei" pitchFamily="34" charset="-122"/>
                <a:cs typeface="Microsoft YaHei" pitchFamily="34" charset="-120"/>
              </a:rPr>
              <a:t>#16110  MoE MXFP4 </a:t>
            </a:r>
            <a:r>
              <a:rPr lang="en-US" sz="1010">
                <a:latin typeface="Microsoft YaHei" pitchFamily="34" charset="0"/>
                <a:ea typeface="Microsoft YaHei" pitchFamily="34" charset="-122"/>
                <a:cs typeface="Microsoft YaHei" pitchFamily="34" charset="-120"/>
              </a:rPr>
              <a:t>TP </a:t>
            </a:r>
            <a:r>
              <a:rPr lang="en-US" sz="1010" dirty="0">
                <a:latin typeface="Microsoft YaHei" pitchFamily="34" charset="0"/>
                <a:ea typeface="Microsoft YaHei" pitchFamily="34" charset="-122"/>
              </a:rPr>
              <a:t>Scale</a:t>
            </a:r>
            <a:r>
              <a:rPr lang="en-US" sz="1010">
                <a:latin typeface="Microsoft YaHei" pitchFamily="34" charset="0"/>
                <a:ea typeface="Microsoft YaHei" pitchFamily="34" charset="-122"/>
                <a:cs typeface="Microsoft YaHei" pitchFamily="34" charset="-120"/>
              </a:rPr>
              <a:t> </a:t>
            </a:r>
            <a:r>
              <a:rPr lang="en-US" sz="1010" dirty="0">
                <a:latin typeface="Microsoft YaHei" pitchFamily="34" charset="0"/>
                <a:ea typeface="Microsoft YaHei" pitchFamily="34" charset="-122"/>
                <a:cs typeface="Microsoft YaHei" pitchFamily="34" charset="-120"/>
              </a:rPr>
              <a:t>修复</a:t>
            </a:r>
            <a:endParaRPr lang="en-US" sz="1010" dirty="0"/>
          </a:p>
        </p:txBody>
      </p:sp>
      <p:sp>
        <p:nvSpPr>
          <p:cNvPr id="2" name="Text 5">
            <a:extLst>
              <a:ext uri="{FF2B5EF4-FFF2-40B4-BE49-F238E27FC236}">
                <a16:creationId xmlns:a16="http://schemas.microsoft.com/office/drawing/2014/main" id="{B95A2C9A-19F7-E4AC-CBCC-FF6B3ADC1175}"/>
              </a:ext>
            </a:extLst>
          </p:cNvPr>
          <p:cNvSpPr txBox="1"/>
          <p:nvPr/>
        </p:nvSpPr>
        <p:spPr>
          <a:xfrm>
            <a:off x="658368" y="270256"/>
            <a:ext cx="9575292" cy="475488"/>
          </a:xfrm>
          <a:prstGeom prst="rect">
            <a:avLst/>
          </a:prstGeom>
          <a:noFill/>
          <a:ln/>
        </p:spPr>
        <p:txBody>
          <a:bodyPr wrap="square" lIns="0" tIns="0" rIns="0" bIns="0" rtlCol="0" anchor="ctr">
            <a:normAutofit fontScale="77500" lnSpcReduction="20000"/>
          </a:bodyPr>
          <a:lstStyle/>
          <a:p>
            <a:r>
              <a:rPr lang="en-US" sz="2700" b="1">
                <a:solidFill>
                  <a:srgbClr val="172C49"/>
                </a:solidFill>
                <a:latin typeface="Microsoft YaHei" pitchFamily="34" charset="0"/>
                <a:ea typeface="Microsoft YaHei" pitchFamily="34" charset="-122"/>
                <a:cs typeface="Microsoft YaHei" pitchFamily="34" charset="-120"/>
              </a:rPr>
              <a:t>Gemma4 </a:t>
            </a:r>
            <a:r>
              <a:rPr lang="zh-CN" altLang="en-US" sz="2700" b="1">
                <a:solidFill>
                  <a:srgbClr val="172C49"/>
                </a:solidFill>
                <a:latin typeface="Microsoft YaHei" pitchFamily="34" charset="0"/>
                <a:ea typeface="Microsoft YaHei" pitchFamily="34" charset="-122"/>
                <a:cs typeface="Microsoft YaHei" pitchFamily="34" charset="-120"/>
              </a:rPr>
              <a:t>混合 </a:t>
            </a:r>
            <a:r>
              <a:rPr lang="en-US" sz="2700" b="1">
                <a:solidFill>
                  <a:srgbClr val="172C49"/>
                </a:solidFill>
                <a:latin typeface="Microsoft YaHei" pitchFamily="34" charset="0"/>
                <a:ea typeface="Microsoft YaHei" pitchFamily="34" charset="-122"/>
                <a:cs typeface="Microsoft YaHei" pitchFamily="34" charset="-120"/>
              </a:rPr>
              <a:t>MXFP4：</a:t>
            </a:r>
            <a:r>
              <a:rPr lang="en-US" altLang="zh-CN" sz="2700" b="1">
                <a:solidFill>
                  <a:srgbClr val="172C49"/>
                </a:solidFill>
                <a:latin typeface="Microsoft YaHei" pitchFamily="34" charset="0"/>
                <a:ea typeface="Microsoft YaHei" pitchFamily="34" charset="-122"/>
                <a:cs typeface="Microsoft YaHei" pitchFamily="34" charset="-120"/>
              </a:rPr>
              <a:t> 从 quant_config 到 quant_method </a:t>
            </a:r>
            <a:r>
              <a:rPr lang="zh-CN" altLang="en-US" sz="2700" b="1">
                <a:solidFill>
                  <a:srgbClr val="172C49"/>
                </a:solidFill>
                <a:latin typeface="Microsoft YaHei" pitchFamily="34" charset="0"/>
                <a:ea typeface="Microsoft YaHei" pitchFamily="34" charset="-122"/>
                <a:cs typeface="Microsoft YaHei" pitchFamily="34" charset="-120"/>
              </a:rPr>
              <a:t>链路追踪</a:t>
            </a:r>
            <a:endParaRPr lang="en-US" sz="2700" dirty="0"/>
          </a:p>
        </p:txBody>
      </p:sp>
    </p:spTree>
    <p:extLst>
      <p:ext uri="{BB962C8B-B14F-4D97-AF65-F5344CB8AC3E}">
        <p14:creationId xmlns:p14="http://schemas.microsoft.com/office/powerpoint/2010/main" val="844902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548109A-E42C-247E-EFED-E9F53329C678}"/>
              </a:ext>
            </a:extLst>
          </p:cNvPr>
          <p:cNvSpPr>
            <a:spLocks noGrp="1"/>
          </p:cNvSpPr>
          <p:nvPr>
            <p:ph type="sldNum" sz="quarter" idx="12"/>
          </p:nvPr>
        </p:nvSpPr>
        <p:spPr/>
        <p:txBody>
          <a:bodyPr/>
          <a:lstStyle/>
          <a:p>
            <a:fld id="{49AE70B2-8BF9-45C0-BB95-33D1B9D3A854}" type="slidenum">
              <a:rPr lang="zh-CN" altLang="en-US" smtClean="0"/>
              <a:t>12</a:t>
            </a:fld>
            <a:endParaRPr lang="zh-CN" altLang="en-US" dirty="0"/>
          </a:p>
        </p:txBody>
      </p:sp>
      <p:sp>
        <p:nvSpPr>
          <p:cNvPr id="8" name="Text 1">
            <a:extLst>
              <a:ext uri="{FF2B5EF4-FFF2-40B4-BE49-F238E27FC236}">
                <a16:creationId xmlns:a16="http://schemas.microsoft.com/office/drawing/2014/main" id="{BFEAE07A-4550-7583-5A3F-7A9480B19F3C}"/>
              </a:ext>
            </a:extLst>
          </p:cNvPr>
          <p:cNvSpPr/>
          <p:nvPr/>
        </p:nvSpPr>
        <p:spPr>
          <a:xfrm>
            <a:off x="695859" y="255118"/>
            <a:ext cx="10927080" cy="429768"/>
          </a:xfrm>
          <a:prstGeom prst="rect">
            <a:avLst/>
          </a:prstGeom>
          <a:noFill/>
          <a:ln/>
        </p:spPr>
        <p:txBody>
          <a:bodyPr wrap="square" lIns="0" tIns="0" rIns="0" bIns="0" rtlCol="0" anchor="ctr">
            <a:normAutofit/>
          </a:bodyPr>
          <a:lstStyle/>
          <a:p>
            <a:r>
              <a:rPr lang="en-US" altLang="zh-CN" sz="2400" b="1">
                <a:solidFill>
                  <a:srgbClr val="172C49"/>
                </a:solidFill>
                <a:latin typeface="Microsoft YaHei" pitchFamily="34" charset="0"/>
                <a:ea typeface="Microsoft YaHei" pitchFamily="34" charset="-122"/>
                <a:cs typeface="Microsoft YaHei" pitchFamily="34" charset="-120"/>
              </a:rPr>
              <a:t>Gemma4 </a:t>
            </a:r>
            <a:r>
              <a:rPr lang="zh-CN" altLang="en-US" sz="2400" b="1">
                <a:solidFill>
                  <a:srgbClr val="172C49"/>
                </a:solidFill>
                <a:latin typeface="Microsoft YaHei" pitchFamily="34" charset="0"/>
                <a:ea typeface="Microsoft YaHei" pitchFamily="34" charset="-122"/>
                <a:cs typeface="Microsoft YaHei" pitchFamily="34" charset="-120"/>
              </a:rPr>
              <a:t>混合 </a:t>
            </a:r>
            <a:r>
              <a:rPr lang="en-US" altLang="zh-CN" sz="2400" b="1">
                <a:solidFill>
                  <a:srgbClr val="172C49"/>
                </a:solidFill>
                <a:latin typeface="Microsoft YaHei" pitchFamily="34" charset="0"/>
                <a:ea typeface="Microsoft YaHei" pitchFamily="34" charset="-122"/>
                <a:cs typeface="Microsoft YaHei" pitchFamily="34" charset="-120"/>
              </a:rPr>
              <a:t>MXFP4： </a:t>
            </a:r>
            <a:r>
              <a:rPr lang="en-US" sz="2500" b="1">
                <a:solidFill>
                  <a:srgbClr val="102948"/>
                </a:solidFill>
                <a:latin typeface="微软雅黑" panose="020B0503020204020204" pitchFamily="34" charset="-122"/>
                <a:ea typeface="微软雅黑" panose="020B0503020204020204" pitchFamily="34" charset="-122"/>
              </a:rPr>
              <a:t>激活 dtype 处理修复</a:t>
            </a:r>
            <a:endParaRPr lang="en-US" sz="2500" b="1" dirty="0">
              <a:solidFill>
                <a:srgbClr val="102948"/>
              </a:solidFill>
              <a:latin typeface="微软雅黑" panose="020B0503020204020204" pitchFamily="34" charset="-122"/>
              <a:ea typeface="微软雅黑" panose="020B0503020204020204" pitchFamily="34" charset="-122"/>
            </a:endParaRPr>
          </a:p>
        </p:txBody>
      </p:sp>
      <p:sp>
        <p:nvSpPr>
          <p:cNvPr id="11" name="Shape 4">
            <a:extLst>
              <a:ext uri="{FF2B5EF4-FFF2-40B4-BE49-F238E27FC236}">
                <a16:creationId xmlns:a16="http://schemas.microsoft.com/office/drawing/2014/main" id="{B0FB089C-D618-3F54-A256-E9E4DDB12327}"/>
              </a:ext>
            </a:extLst>
          </p:cNvPr>
          <p:cNvSpPr/>
          <p:nvPr/>
        </p:nvSpPr>
        <p:spPr>
          <a:xfrm>
            <a:off x="274320" y="850392"/>
            <a:ext cx="11631168" cy="0"/>
          </a:xfrm>
          <a:prstGeom prst="line">
            <a:avLst/>
          </a:prstGeom>
          <a:noFill/>
          <a:ln w="10160">
            <a:solidFill>
              <a:srgbClr val="E4EBF1"/>
            </a:solidFill>
            <a:prstDash val="solid"/>
          </a:ln>
        </p:spPr>
        <p:txBody>
          <a:bodyPr/>
          <a:lstStyle/>
          <a:p>
            <a:endParaRPr lang="zh-CN" altLang="en-US"/>
          </a:p>
        </p:txBody>
      </p:sp>
      <p:sp>
        <p:nvSpPr>
          <p:cNvPr id="12" name="Shape 5">
            <a:extLst>
              <a:ext uri="{FF2B5EF4-FFF2-40B4-BE49-F238E27FC236}">
                <a16:creationId xmlns:a16="http://schemas.microsoft.com/office/drawing/2014/main" id="{B7D7D3CF-87A3-F97C-D372-93F9BA5D307E}"/>
              </a:ext>
            </a:extLst>
          </p:cNvPr>
          <p:cNvSpPr/>
          <p:nvPr/>
        </p:nvSpPr>
        <p:spPr>
          <a:xfrm>
            <a:off x="256032" y="955548"/>
            <a:ext cx="5916168" cy="2258568"/>
          </a:xfrm>
          <a:prstGeom prst="roundRect">
            <a:avLst>
              <a:gd name="adj" fmla="val 4049"/>
            </a:avLst>
          </a:prstGeom>
          <a:solidFill>
            <a:srgbClr val="FFFFFF"/>
          </a:solidFill>
          <a:ln w="11430">
            <a:solidFill>
              <a:srgbClr val="CEDFEB"/>
            </a:solidFill>
            <a:prstDash val="solid"/>
          </a:ln>
        </p:spPr>
        <p:txBody>
          <a:bodyPr/>
          <a:lstStyle/>
          <a:p>
            <a:endParaRPr lang="zh-CN" altLang="en-US"/>
          </a:p>
        </p:txBody>
      </p:sp>
      <p:sp>
        <p:nvSpPr>
          <p:cNvPr id="13" name="Shape 6">
            <a:extLst>
              <a:ext uri="{FF2B5EF4-FFF2-40B4-BE49-F238E27FC236}">
                <a16:creationId xmlns:a16="http://schemas.microsoft.com/office/drawing/2014/main" id="{6C8C006B-2FD9-7D98-091A-8ABD25306B90}"/>
              </a:ext>
            </a:extLst>
          </p:cNvPr>
          <p:cNvSpPr/>
          <p:nvPr/>
        </p:nvSpPr>
        <p:spPr>
          <a:xfrm>
            <a:off x="268834" y="968350"/>
            <a:ext cx="5890565" cy="370332"/>
          </a:xfrm>
          <a:prstGeom prst="roundRect">
            <a:avLst>
              <a:gd name="adj" fmla="val 24691"/>
            </a:avLst>
          </a:prstGeom>
          <a:solidFill>
            <a:srgbClr val="EAF4FD"/>
          </a:solidFill>
          <a:ln w="12700">
            <a:solidFill>
              <a:srgbClr val="EAF4FD"/>
            </a:solidFill>
            <a:prstDash val="solid"/>
          </a:ln>
        </p:spPr>
      </p:sp>
      <p:sp>
        <p:nvSpPr>
          <p:cNvPr id="14" name="Shape 7">
            <a:extLst>
              <a:ext uri="{FF2B5EF4-FFF2-40B4-BE49-F238E27FC236}">
                <a16:creationId xmlns:a16="http://schemas.microsoft.com/office/drawing/2014/main" id="{3FEFB1DF-9609-7A31-2113-9ECB8587360E}"/>
              </a:ext>
            </a:extLst>
          </p:cNvPr>
          <p:cNvSpPr/>
          <p:nvPr/>
        </p:nvSpPr>
        <p:spPr>
          <a:xfrm>
            <a:off x="268834" y="1239012"/>
            <a:ext cx="5890565" cy="105156"/>
          </a:xfrm>
          <a:prstGeom prst="rect">
            <a:avLst/>
          </a:prstGeom>
          <a:solidFill>
            <a:srgbClr val="EAF4FD"/>
          </a:solidFill>
          <a:ln w="12700">
            <a:solidFill>
              <a:srgbClr val="EAF4FD">
                <a:alpha val="0"/>
              </a:srgbClr>
            </a:solidFill>
            <a:prstDash val="solid"/>
          </a:ln>
        </p:spPr>
      </p:sp>
      <p:sp>
        <p:nvSpPr>
          <p:cNvPr id="15" name="Shape 8">
            <a:extLst>
              <a:ext uri="{FF2B5EF4-FFF2-40B4-BE49-F238E27FC236}">
                <a16:creationId xmlns:a16="http://schemas.microsoft.com/office/drawing/2014/main" id="{1A14ACFB-3BD6-4B3C-6DF9-9E140AFB455E}"/>
              </a:ext>
            </a:extLst>
          </p:cNvPr>
          <p:cNvSpPr/>
          <p:nvPr/>
        </p:nvSpPr>
        <p:spPr>
          <a:xfrm>
            <a:off x="315468" y="1012241"/>
            <a:ext cx="274320" cy="274320"/>
          </a:xfrm>
          <a:prstGeom prst="ellipse">
            <a:avLst/>
          </a:prstGeom>
          <a:solidFill>
            <a:srgbClr val="1269B4"/>
          </a:solidFill>
          <a:ln w="12700">
            <a:solidFill>
              <a:srgbClr val="1269B4"/>
            </a:solidFill>
            <a:prstDash val="solid"/>
          </a:ln>
        </p:spPr>
      </p:sp>
      <p:sp>
        <p:nvSpPr>
          <p:cNvPr id="16" name="Text 9">
            <a:extLst>
              <a:ext uri="{FF2B5EF4-FFF2-40B4-BE49-F238E27FC236}">
                <a16:creationId xmlns:a16="http://schemas.microsoft.com/office/drawing/2014/main" id="{FF4B340C-CEF0-6C5C-DE19-8EB7B2081B49}"/>
              </a:ext>
            </a:extLst>
          </p:cNvPr>
          <p:cNvSpPr/>
          <p:nvPr/>
        </p:nvSpPr>
        <p:spPr>
          <a:xfrm>
            <a:off x="379476" y="1046074"/>
            <a:ext cx="150876" cy="196596"/>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FFFFFF"/>
                </a:solidFill>
                <a:latin typeface="Noto Sans CJK SC" pitchFamily="34" charset="0"/>
                <a:ea typeface="Noto Sans CJK SC" pitchFamily="34" charset="-122"/>
                <a:cs typeface="Noto Sans CJK SC" pitchFamily="34" charset="-120"/>
              </a:rPr>
              <a:t>1</a:t>
            </a:r>
            <a:endParaRPr lang="en-US" sz="1600" dirty="0"/>
          </a:p>
        </p:txBody>
      </p:sp>
      <p:sp>
        <p:nvSpPr>
          <p:cNvPr id="17" name="Text 10">
            <a:extLst>
              <a:ext uri="{FF2B5EF4-FFF2-40B4-BE49-F238E27FC236}">
                <a16:creationId xmlns:a16="http://schemas.microsoft.com/office/drawing/2014/main" id="{AB0AABB5-6DC0-085A-D3DA-0A3FBF95C31E}"/>
              </a:ext>
            </a:extLst>
          </p:cNvPr>
          <p:cNvSpPr/>
          <p:nvPr/>
        </p:nvSpPr>
        <p:spPr>
          <a:xfrm>
            <a:off x="690372" y="1037844"/>
            <a:ext cx="5321808" cy="219456"/>
          </a:xfrm>
          <a:prstGeom prst="rect">
            <a:avLst/>
          </a:prstGeom>
          <a:noFill/>
          <a:ln/>
        </p:spPr>
        <p:txBody>
          <a:bodyPr wrap="square" lIns="0" tIns="0" rIns="0" bIns="0" rtlCol="0" anchor="ctr">
            <a:normAutofit lnSpcReduction="10000"/>
          </a:bodyPr>
          <a:lstStyle/>
          <a:p>
            <a:pPr marL="0" indent="0">
              <a:buNone/>
            </a:pPr>
            <a:r>
              <a:rPr lang="en-US" sz="1600" b="1" dirty="0">
                <a:solidFill>
                  <a:srgbClr val="1269B4"/>
                </a:solidFill>
                <a:latin typeface="Noto Sans CJK SC" pitchFamily="34" charset="0"/>
                <a:ea typeface="Noto Sans CJK SC" pitchFamily="34" charset="-122"/>
                <a:cs typeface="Noto Sans CJK SC" pitchFamily="34" charset="-120"/>
              </a:rPr>
              <a:t>问题背景</a:t>
            </a:r>
            <a:endParaRPr lang="en-US" sz="1600" dirty="0"/>
          </a:p>
        </p:txBody>
      </p:sp>
      <p:sp>
        <p:nvSpPr>
          <p:cNvPr id="18" name="Shape 11">
            <a:extLst>
              <a:ext uri="{FF2B5EF4-FFF2-40B4-BE49-F238E27FC236}">
                <a16:creationId xmlns:a16="http://schemas.microsoft.com/office/drawing/2014/main" id="{B9A414FA-B6CB-8DD5-56D9-4A8CC3417D06}"/>
              </a:ext>
            </a:extLst>
          </p:cNvPr>
          <p:cNvSpPr/>
          <p:nvPr/>
        </p:nvSpPr>
        <p:spPr>
          <a:xfrm>
            <a:off x="6272784" y="955548"/>
            <a:ext cx="5650992" cy="2258568"/>
          </a:xfrm>
          <a:prstGeom prst="roundRect">
            <a:avLst>
              <a:gd name="adj" fmla="val 4049"/>
            </a:avLst>
          </a:prstGeom>
          <a:solidFill>
            <a:srgbClr val="FFFFFF"/>
          </a:solidFill>
          <a:ln w="11430">
            <a:solidFill>
              <a:srgbClr val="F5CACD"/>
            </a:solidFill>
            <a:prstDash val="solid"/>
          </a:ln>
        </p:spPr>
      </p:sp>
      <p:sp>
        <p:nvSpPr>
          <p:cNvPr id="19" name="Shape 12">
            <a:extLst>
              <a:ext uri="{FF2B5EF4-FFF2-40B4-BE49-F238E27FC236}">
                <a16:creationId xmlns:a16="http://schemas.microsoft.com/office/drawing/2014/main" id="{6B72551E-D2CB-48EB-856C-B4A58D7F836A}"/>
              </a:ext>
            </a:extLst>
          </p:cNvPr>
          <p:cNvSpPr/>
          <p:nvPr/>
        </p:nvSpPr>
        <p:spPr>
          <a:xfrm>
            <a:off x="6285586" y="968350"/>
            <a:ext cx="5625389" cy="370332"/>
          </a:xfrm>
          <a:prstGeom prst="roundRect">
            <a:avLst>
              <a:gd name="adj" fmla="val 24691"/>
            </a:avLst>
          </a:prstGeom>
          <a:solidFill>
            <a:srgbClr val="FFF1F2"/>
          </a:solidFill>
          <a:ln w="12700">
            <a:solidFill>
              <a:srgbClr val="FFF1F2"/>
            </a:solidFill>
            <a:prstDash val="solid"/>
          </a:ln>
        </p:spPr>
      </p:sp>
      <p:sp>
        <p:nvSpPr>
          <p:cNvPr id="20" name="Shape 13">
            <a:extLst>
              <a:ext uri="{FF2B5EF4-FFF2-40B4-BE49-F238E27FC236}">
                <a16:creationId xmlns:a16="http://schemas.microsoft.com/office/drawing/2014/main" id="{3C615661-0DB1-BD76-90D1-DF75A6074142}"/>
              </a:ext>
            </a:extLst>
          </p:cNvPr>
          <p:cNvSpPr/>
          <p:nvPr/>
        </p:nvSpPr>
        <p:spPr>
          <a:xfrm>
            <a:off x="6285586" y="1239012"/>
            <a:ext cx="5625389" cy="105156"/>
          </a:xfrm>
          <a:prstGeom prst="rect">
            <a:avLst/>
          </a:prstGeom>
          <a:solidFill>
            <a:srgbClr val="FFF1F2"/>
          </a:solidFill>
          <a:ln w="12700">
            <a:solidFill>
              <a:srgbClr val="FFF1F2">
                <a:alpha val="0"/>
              </a:srgbClr>
            </a:solidFill>
            <a:prstDash val="solid"/>
          </a:ln>
        </p:spPr>
        <p:txBody>
          <a:bodyPr/>
          <a:lstStyle/>
          <a:p>
            <a:endParaRPr lang="zh-CN" altLang="en-US"/>
          </a:p>
        </p:txBody>
      </p:sp>
      <p:sp>
        <p:nvSpPr>
          <p:cNvPr id="21" name="Shape 14">
            <a:extLst>
              <a:ext uri="{FF2B5EF4-FFF2-40B4-BE49-F238E27FC236}">
                <a16:creationId xmlns:a16="http://schemas.microsoft.com/office/drawing/2014/main" id="{8CF7A167-8720-C581-C8D2-D3254DC999C8}"/>
              </a:ext>
            </a:extLst>
          </p:cNvPr>
          <p:cNvSpPr/>
          <p:nvPr/>
        </p:nvSpPr>
        <p:spPr>
          <a:xfrm>
            <a:off x="6332220" y="1012241"/>
            <a:ext cx="274320" cy="274320"/>
          </a:xfrm>
          <a:prstGeom prst="ellipse">
            <a:avLst/>
          </a:prstGeom>
          <a:solidFill>
            <a:srgbClr val="D92332"/>
          </a:solidFill>
          <a:ln w="12700">
            <a:solidFill>
              <a:srgbClr val="D92332"/>
            </a:solidFill>
            <a:prstDash val="solid"/>
          </a:ln>
        </p:spPr>
      </p:sp>
      <p:sp>
        <p:nvSpPr>
          <p:cNvPr id="22" name="Text 15">
            <a:extLst>
              <a:ext uri="{FF2B5EF4-FFF2-40B4-BE49-F238E27FC236}">
                <a16:creationId xmlns:a16="http://schemas.microsoft.com/office/drawing/2014/main" id="{711D5FC4-FA7A-0B46-5F3A-91A7819BBFB6}"/>
              </a:ext>
            </a:extLst>
          </p:cNvPr>
          <p:cNvSpPr/>
          <p:nvPr/>
        </p:nvSpPr>
        <p:spPr>
          <a:xfrm>
            <a:off x="6396228" y="1046074"/>
            <a:ext cx="150876" cy="196596"/>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FFFFFF"/>
                </a:solidFill>
                <a:latin typeface="Noto Sans CJK SC" pitchFamily="34" charset="0"/>
                <a:ea typeface="Noto Sans CJK SC" pitchFamily="34" charset="-122"/>
                <a:cs typeface="Noto Sans CJK SC" pitchFamily="34" charset="-120"/>
              </a:rPr>
              <a:t>2</a:t>
            </a:r>
            <a:endParaRPr lang="en-US" sz="1600" dirty="0"/>
          </a:p>
        </p:txBody>
      </p:sp>
      <p:sp>
        <p:nvSpPr>
          <p:cNvPr id="23" name="Text 16">
            <a:extLst>
              <a:ext uri="{FF2B5EF4-FFF2-40B4-BE49-F238E27FC236}">
                <a16:creationId xmlns:a16="http://schemas.microsoft.com/office/drawing/2014/main" id="{18DC2B02-0527-9A9B-ED2D-4C6EDF1CD825}"/>
              </a:ext>
            </a:extLst>
          </p:cNvPr>
          <p:cNvSpPr/>
          <p:nvPr/>
        </p:nvSpPr>
        <p:spPr>
          <a:xfrm>
            <a:off x="6707124" y="1037844"/>
            <a:ext cx="5056632" cy="219456"/>
          </a:xfrm>
          <a:prstGeom prst="rect">
            <a:avLst/>
          </a:prstGeom>
          <a:noFill/>
          <a:ln/>
        </p:spPr>
        <p:txBody>
          <a:bodyPr wrap="square" lIns="0" tIns="0" rIns="0" bIns="0" rtlCol="0" anchor="ctr">
            <a:normAutofit lnSpcReduction="10000"/>
          </a:bodyPr>
          <a:lstStyle/>
          <a:p>
            <a:pPr marL="0" indent="0">
              <a:buNone/>
            </a:pPr>
            <a:r>
              <a:rPr lang="en-US" sz="1600" b="1" dirty="0">
                <a:solidFill>
                  <a:srgbClr val="D92332"/>
                </a:solidFill>
                <a:latin typeface="Noto Sans CJK SC" pitchFamily="34" charset="0"/>
                <a:ea typeface="Noto Sans CJK SC" pitchFamily="34" charset="-122"/>
                <a:cs typeface="Noto Sans CJK SC" pitchFamily="34" charset="-120"/>
              </a:rPr>
              <a:t>根因分析</a:t>
            </a:r>
            <a:endParaRPr lang="en-US" sz="1600" dirty="0"/>
          </a:p>
        </p:txBody>
      </p:sp>
      <p:sp>
        <p:nvSpPr>
          <p:cNvPr id="24" name="Shape 17">
            <a:extLst>
              <a:ext uri="{FF2B5EF4-FFF2-40B4-BE49-F238E27FC236}">
                <a16:creationId xmlns:a16="http://schemas.microsoft.com/office/drawing/2014/main" id="{323ED9FD-FD89-A9E7-F92F-222DE88D0857}"/>
              </a:ext>
            </a:extLst>
          </p:cNvPr>
          <p:cNvSpPr/>
          <p:nvPr/>
        </p:nvSpPr>
        <p:spPr>
          <a:xfrm>
            <a:off x="256032" y="3337560"/>
            <a:ext cx="5916168" cy="3182112"/>
          </a:xfrm>
          <a:prstGeom prst="roundRect">
            <a:avLst>
              <a:gd name="adj" fmla="val 2874"/>
            </a:avLst>
          </a:prstGeom>
          <a:solidFill>
            <a:srgbClr val="FFFFFF"/>
          </a:solidFill>
          <a:ln w="11430">
            <a:solidFill>
              <a:srgbClr val="CEDFEB"/>
            </a:solidFill>
            <a:prstDash val="solid"/>
          </a:ln>
        </p:spPr>
      </p:sp>
      <p:sp>
        <p:nvSpPr>
          <p:cNvPr id="25" name="Shape 18">
            <a:extLst>
              <a:ext uri="{FF2B5EF4-FFF2-40B4-BE49-F238E27FC236}">
                <a16:creationId xmlns:a16="http://schemas.microsoft.com/office/drawing/2014/main" id="{AB8907CD-6EFC-8869-9220-D91264817AE5}"/>
              </a:ext>
            </a:extLst>
          </p:cNvPr>
          <p:cNvSpPr/>
          <p:nvPr/>
        </p:nvSpPr>
        <p:spPr>
          <a:xfrm>
            <a:off x="268834" y="3350362"/>
            <a:ext cx="5890565" cy="370332"/>
          </a:xfrm>
          <a:prstGeom prst="roundRect">
            <a:avLst>
              <a:gd name="adj" fmla="val 24691"/>
            </a:avLst>
          </a:prstGeom>
          <a:solidFill>
            <a:srgbClr val="EAF4FD"/>
          </a:solidFill>
          <a:ln w="12700">
            <a:solidFill>
              <a:srgbClr val="EAF4FD"/>
            </a:solidFill>
            <a:prstDash val="solid"/>
          </a:ln>
        </p:spPr>
      </p:sp>
      <p:sp>
        <p:nvSpPr>
          <p:cNvPr id="26" name="Shape 19">
            <a:extLst>
              <a:ext uri="{FF2B5EF4-FFF2-40B4-BE49-F238E27FC236}">
                <a16:creationId xmlns:a16="http://schemas.microsoft.com/office/drawing/2014/main" id="{762DA0F7-6CA6-9B93-0727-C50C57ECD4DD}"/>
              </a:ext>
            </a:extLst>
          </p:cNvPr>
          <p:cNvSpPr/>
          <p:nvPr/>
        </p:nvSpPr>
        <p:spPr>
          <a:xfrm>
            <a:off x="268834" y="3621024"/>
            <a:ext cx="5890565" cy="105156"/>
          </a:xfrm>
          <a:prstGeom prst="rect">
            <a:avLst/>
          </a:prstGeom>
          <a:solidFill>
            <a:srgbClr val="EAF4FD"/>
          </a:solidFill>
          <a:ln w="12700">
            <a:solidFill>
              <a:srgbClr val="EAF4FD">
                <a:alpha val="0"/>
              </a:srgbClr>
            </a:solidFill>
            <a:prstDash val="solid"/>
          </a:ln>
        </p:spPr>
      </p:sp>
      <p:sp>
        <p:nvSpPr>
          <p:cNvPr id="27" name="Shape 20">
            <a:extLst>
              <a:ext uri="{FF2B5EF4-FFF2-40B4-BE49-F238E27FC236}">
                <a16:creationId xmlns:a16="http://schemas.microsoft.com/office/drawing/2014/main" id="{4CDA4587-CF6A-B6BF-29E3-6B4E7A12E86D}"/>
              </a:ext>
            </a:extLst>
          </p:cNvPr>
          <p:cNvSpPr/>
          <p:nvPr/>
        </p:nvSpPr>
        <p:spPr>
          <a:xfrm>
            <a:off x="315468" y="3394253"/>
            <a:ext cx="274320" cy="274320"/>
          </a:xfrm>
          <a:prstGeom prst="ellipse">
            <a:avLst/>
          </a:prstGeom>
          <a:solidFill>
            <a:srgbClr val="1269B4"/>
          </a:solidFill>
          <a:ln w="12700">
            <a:solidFill>
              <a:srgbClr val="1269B4"/>
            </a:solidFill>
            <a:prstDash val="solid"/>
          </a:ln>
        </p:spPr>
      </p:sp>
      <p:sp>
        <p:nvSpPr>
          <p:cNvPr id="28" name="Text 21">
            <a:extLst>
              <a:ext uri="{FF2B5EF4-FFF2-40B4-BE49-F238E27FC236}">
                <a16:creationId xmlns:a16="http://schemas.microsoft.com/office/drawing/2014/main" id="{D6594454-9E52-8BC0-B51A-10D3E3477FD6}"/>
              </a:ext>
            </a:extLst>
          </p:cNvPr>
          <p:cNvSpPr/>
          <p:nvPr/>
        </p:nvSpPr>
        <p:spPr>
          <a:xfrm>
            <a:off x="379476" y="3428086"/>
            <a:ext cx="150876" cy="196596"/>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FFFFFF"/>
                </a:solidFill>
                <a:latin typeface="Noto Sans CJK SC" pitchFamily="34" charset="0"/>
                <a:ea typeface="Noto Sans CJK SC" pitchFamily="34" charset="-122"/>
                <a:cs typeface="Noto Sans CJK SC" pitchFamily="34" charset="-120"/>
              </a:rPr>
              <a:t>3</a:t>
            </a:r>
            <a:endParaRPr lang="en-US" sz="1600" dirty="0"/>
          </a:p>
        </p:txBody>
      </p:sp>
      <p:sp>
        <p:nvSpPr>
          <p:cNvPr id="29" name="Text 22">
            <a:extLst>
              <a:ext uri="{FF2B5EF4-FFF2-40B4-BE49-F238E27FC236}">
                <a16:creationId xmlns:a16="http://schemas.microsoft.com/office/drawing/2014/main" id="{70BEDB7E-D1C3-B537-BAA2-D18D1449B7B6}"/>
              </a:ext>
            </a:extLst>
          </p:cNvPr>
          <p:cNvSpPr/>
          <p:nvPr/>
        </p:nvSpPr>
        <p:spPr>
          <a:xfrm>
            <a:off x="690372" y="3419856"/>
            <a:ext cx="5321808" cy="219456"/>
          </a:xfrm>
          <a:prstGeom prst="rect">
            <a:avLst/>
          </a:prstGeom>
          <a:noFill/>
          <a:ln/>
        </p:spPr>
        <p:txBody>
          <a:bodyPr wrap="square" lIns="0" tIns="0" rIns="0" bIns="0" rtlCol="0" anchor="ctr">
            <a:normAutofit lnSpcReduction="10000"/>
          </a:bodyPr>
          <a:lstStyle/>
          <a:p>
            <a:pPr marL="0" indent="0">
              <a:buNone/>
            </a:pPr>
            <a:r>
              <a:rPr lang="en-US" sz="1600" b="1" dirty="0">
                <a:solidFill>
                  <a:srgbClr val="1269B4"/>
                </a:solidFill>
                <a:latin typeface="Noto Sans CJK SC" pitchFamily="34" charset="0"/>
                <a:ea typeface="Noto Sans CJK SC" pitchFamily="34" charset="-122"/>
                <a:cs typeface="Noto Sans CJK SC" pitchFamily="34" charset="-120"/>
              </a:rPr>
              <a:t>修复方案</a:t>
            </a:r>
            <a:endParaRPr lang="en-US" sz="1600" dirty="0"/>
          </a:p>
        </p:txBody>
      </p:sp>
      <p:sp>
        <p:nvSpPr>
          <p:cNvPr id="30" name="Shape 23">
            <a:extLst>
              <a:ext uri="{FF2B5EF4-FFF2-40B4-BE49-F238E27FC236}">
                <a16:creationId xmlns:a16="http://schemas.microsoft.com/office/drawing/2014/main" id="{E7CE8FD4-2941-7574-3944-257A9A336D73}"/>
              </a:ext>
            </a:extLst>
          </p:cNvPr>
          <p:cNvSpPr/>
          <p:nvPr/>
        </p:nvSpPr>
        <p:spPr>
          <a:xfrm>
            <a:off x="6272784" y="3337560"/>
            <a:ext cx="5650992" cy="3182112"/>
          </a:xfrm>
          <a:prstGeom prst="roundRect">
            <a:avLst>
              <a:gd name="adj" fmla="val 2874"/>
            </a:avLst>
          </a:prstGeom>
          <a:solidFill>
            <a:srgbClr val="FFFFFF"/>
          </a:solidFill>
          <a:ln w="11430">
            <a:solidFill>
              <a:srgbClr val="C3E8D8"/>
            </a:solidFill>
            <a:prstDash val="solid"/>
          </a:ln>
        </p:spPr>
      </p:sp>
      <p:sp>
        <p:nvSpPr>
          <p:cNvPr id="31" name="Shape 24">
            <a:extLst>
              <a:ext uri="{FF2B5EF4-FFF2-40B4-BE49-F238E27FC236}">
                <a16:creationId xmlns:a16="http://schemas.microsoft.com/office/drawing/2014/main" id="{9541B1D5-8314-DD66-8AF1-DB6DCAD770F8}"/>
              </a:ext>
            </a:extLst>
          </p:cNvPr>
          <p:cNvSpPr/>
          <p:nvPr/>
        </p:nvSpPr>
        <p:spPr>
          <a:xfrm>
            <a:off x="6285586" y="3350362"/>
            <a:ext cx="5625389" cy="370332"/>
          </a:xfrm>
          <a:prstGeom prst="roundRect">
            <a:avLst>
              <a:gd name="adj" fmla="val 24691"/>
            </a:avLst>
          </a:prstGeom>
          <a:solidFill>
            <a:srgbClr val="EAF8F2"/>
          </a:solidFill>
          <a:ln w="12700">
            <a:solidFill>
              <a:srgbClr val="EAF8F2"/>
            </a:solidFill>
            <a:prstDash val="solid"/>
          </a:ln>
        </p:spPr>
      </p:sp>
      <p:sp>
        <p:nvSpPr>
          <p:cNvPr id="32" name="Shape 25">
            <a:extLst>
              <a:ext uri="{FF2B5EF4-FFF2-40B4-BE49-F238E27FC236}">
                <a16:creationId xmlns:a16="http://schemas.microsoft.com/office/drawing/2014/main" id="{DCCE1AE1-CC31-09D9-DD7C-E43D61DA46C0}"/>
              </a:ext>
            </a:extLst>
          </p:cNvPr>
          <p:cNvSpPr/>
          <p:nvPr/>
        </p:nvSpPr>
        <p:spPr>
          <a:xfrm>
            <a:off x="6285586" y="3621024"/>
            <a:ext cx="5625389" cy="105156"/>
          </a:xfrm>
          <a:prstGeom prst="rect">
            <a:avLst/>
          </a:prstGeom>
          <a:solidFill>
            <a:srgbClr val="EAF8F2"/>
          </a:solidFill>
          <a:ln w="12700">
            <a:solidFill>
              <a:srgbClr val="EAF8F2">
                <a:alpha val="0"/>
              </a:srgbClr>
            </a:solidFill>
            <a:prstDash val="solid"/>
          </a:ln>
        </p:spPr>
      </p:sp>
      <p:sp>
        <p:nvSpPr>
          <p:cNvPr id="33" name="Shape 26">
            <a:extLst>
              <a:ext uri="{FF2B5EF4-FFF2-40B4-BE49-F238E27FC236}">
                <a16:creationId xmlns:a16="http://schemas.microsoft.com/office/drawing/2014/main" id="{44B7378E-DC31-48C3-4172-50708071A1A7}"/>
              </a:ext>
            </a:extLst>
          </p:cNvPr>
          <p:cNvSpPr/>
          <p:nvPr/>
        </p:nvSpPr>
        <p:spPr>
          <a:xfrm>
            <a:off x="6332220" y="3394253"/>
            <a:ext cx="274320" cy="274320"/>
          </a:xfrm>
          <a:prstGeom prst="ellipse">
            <a:avLst/>
          </a:prstGeom>
          <a:solidFill>
            <a:srgbClr val="098763"/>
          </a:solidFill>
          <a:ln w="12700">
            <a:solidFill>
              <a:srgbClr val="098763"/>
            </a:solidFill>
            <a:prstDash val="solid"/>
          </a:ln>
        </p:spPr>
      </p:sp>
      <p:sp>
        <p:nvSpPr>
          <p:cNvPr id="34" name="Text 27">
            <a:extLst>
              <a:ext uri="{FF2B5EF4-FFF2-40B4-BE49-F238E27FC236}">
                <a16:creationId xmlns:a16="http://schemas.microsoft.com/office/drawing/2014/main" id="{30527A11-D088-9770-BEE0-B3637D5514B8}"/>
              </a:ext>
            </a:extLst>
          </p:cNvPr>
          <p:cNvSpPr/>
          <p:nvPr/>
        </p:nvSpPr>
        <p:spPr>
          <a:xfrm>
            <a:off x="6396228" y="3428086"/>
            <a:ext cx="150876" cy="196596"/>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FFFFFF"/>
                </a:solidFill>
                <a:latin typeface="Noto Sans CJK SC" pitchFamily="34" charset="0"/>
                <a:ea typeface="Noto Sans CJK SC" pitchFamily="34" charset="-122"/>
                <a:cs typeface="Noto Sans CJK SC" pitchFamily="34" charset="-120"/>
              </a:rPr>
              <a:t>4</a:t>
            </a:r>
            <a:endParaRPr lang="en-US" sz="1600" dirty="0"/>
          </a:p>
        </p:txBody>
      </p:sp>
      <p:sp>
        <p:nvSpPr>
          <p:cNvPr id="35" name="Text 28">
            <a:extLst>
              <a:ext uri="{FF2B5EF4-FFF2-40B4-BE49-F238E27FC236}">
                <a16:creationId xmlns:a16="http://schemas.microsoft.com/office/drawing/2014/main" id="{A5C348B9-7F92-487D-396B-9E7125B00EC1}"/>
              </a:ext>
            </a:extLst>
          </p:cNvPr>
          <p:cNvSpPr/>
          <p:nvPr/>
        </p:nvSpPr>
        <p:spPr>
          <a:xfrm>
            <a:off x="6707124" y="3419856"/>
            <a:ext cx="5056632" cy="219456"/>
          </a:xfrm>
          <a:prstGeom prst="rect">
            <a:avLst/>
          </a:prstGeom>
          <a:noFill/>
          <a:ln/>
        </p:spPr>
        <p:txBody>
          <a:bodyPr wrap="square" lIns="0" tIns="0" rIns="0" bIns="0" rtlCol="0" anchor="ctr">
            <a:normAutofit lnSpcReduction="10000"/>
          </a:bodyPr>
          <a:lstStyle/>
          <a:p>
            <a:pPr marL="0" indent="0">
              <a:buNone/>
            </a:pPr>
            <a:r>
              <a:rPr lang="en-US" sz="1600" b="1" dirty="0">
                <a:solidFill>
                  <a:srgbClr val="098763"/>
                </a:solidFill>
                <a:latin typeface="Noto Sans CJK SC" pitchFamily="34" charset="0"/>
                <a:ea typeface="Noto Sans CJK SC" pitchFamily="34" charset="-122"/>
                <a:cs typeface="Noto Sans CJK SC" pitchFamily="34" charset="-120"/>
              </a:rPr>
              <a:t>修复后执行链与效果</a:t>
            </a:r>
            <a:endParaRPr lang="en-US" sz="1600" dirty="0"/>
          </a:p>
        </p:txBody>
      </p:sp>
      <p:sp>
        <p:nvSpPr>
          <p:cNvPr id="36" name="Shape 29">
            <a:extLst>
              <a:ext uri="{FF2B5EF4-FFF2-40B4-BE49-F238E27FC236}">
                <a16:creationId xmlns:a16="http://schemas.microsoft.com/office/drawing/2014/main" id="{8668107D-54B9-C22B-4F6C-90753974FBE6}"/>
              </a:ext>
            </a:extLst>
          </p:cNvPr>
          <p:cNvSpPr/>
          <p:nvPr/>
        </p:nvSpPr>
        <p:spPr>
          <a:xfrm>
            <a:off x="523951" y="1566367"/>
            <a:ext cx="67666" cy="67666"/>
          </a:xfrm>
          <a:prstGeom prst="ellipse">
            <a:avLst/>
          </a:prstGeom>
          <a:solidFill>
            <a:srgbClr val="1269B4"/>
          </a:solidFill>
          <a:ln w="12700">
            <a:solidFill>
              <a:srgbClr val="1269B4"/>
            </a:solidFill>
            <a:prstDash val="solid"/>
          </a:ln>
        </p:spPr>
      </p:sp>
      <p:sp>
        <p:nvSpPr>
          <p:cNvPr id="37" name="Text 30">
            <a:extLst>
              <a:ext uri="{FF2B5EF4-FFF2-40B4-BE49-F238E27FC236}">
                <a16:creationId xmlns:a16="http://schemas.microsoft.com/office/drawing/2014/main" id="{ACF74374-BE31-0446-8233-3B25AF4A3E59}"/>
              </a:ext>
            </a:extLst>
          </p:cNvPr>
          <p:cNvSpPr/>
          <p:nvPr/>
        </p:nvSpPr>
        <p:spPr>
          <a:xfrm>
            <a:off x="722376" y="1517904"/>
            <a:ext cx="2889504" cy="201168"/>
          </a:xfrm>
          <a:prstGeom prst="rect">
            <a:avLst/>
          </a:prstGeom>
          <a:noFill/>
          <a:ln/>
        </p:spPr>
        <p:txBody>
          <a:bodyPr wrap="square" lIns="0" tIns="0" rIns="0" bIns="0" rtlCol="0" anchor="ctr">
            <a:normAutofit/>
          </a:bodyPr>
          <a:lstStyle/>
          <a:p>
            <a:pPr marL="0" indent="0">
              <a:buNone/>
            </a:pPr>
            <a:r>
              <a:rPr lang="en-US" sz="1190" b="1" dirty="0">
                <a:solidFill>
                  <a:srgbClr val="20344D"/>
                </a:solidFill>
                <a:latin typeface="Noto Sans CJK SC" pitchFamily="34" charset="0"/>
                <a:ea typeface="Noto Sans CJK SC" pitchFamily="34" charset="-122"/>
                <a:cs typeface="Noto Sans CJK SC" pitchFamily="34" charset="-120"/>
              </a:rPr>
              <a:t>Gemma4 Vision Patch Embedder</a:t>
            </a:r>
            <a:endParaRPr lang="en-US" sz="1190" dirty="0"/>
          </a:p>
        </p:txBody>
      </p:sp>
      <p:sp>
        <p:nvSpPr>
          <p:cNvPr id="38" name="Text 31">
            <a:extLst>
              <a:ext uri="{FF2B5EF4-FFF2-40B4-BE49-F238E27FC236}">
                <a16:creationId xmlns:a16="http://schemas.microsoft.com/office/drawing/2014/main" id="{72AF89AE-10F4-C4FA-F57D-090667FDA906}"/>
              </a:ext>
            </a:extLst>
          </p:cNvPr>
          <p:cNvSpPr/>
          <p:nvPr/>
        </p:nvSpPr>
        <p:spPr>
          <a:xfrm>
            <a:off x="722376" y="1723644"/>
            <a:ext cx="2898648" cy="237744"/>
          </a:xfrm>
          <a:prstGeom prst="rect">
            <a:avLst/>
          </a:prstGeom>
          <a:noFill/>
          <a:ln/>
        </p:spPr>
        <p:txBody>
          <a:bodyPr wrap="square" lIns="0" tIns="0" rIns="0" bIns="0" rtlCol="0" anchor="ctr">
            <a:normAutofit/>
          </a:bodyPr>
          <a:lstStyle/>
          <a:p>
            <a:pPr marL="0" indent="0">
              <a:buNone/>
            </a:pPr>
            <a:r>
              <a:rPr lang="en-US" sz="1070" dirty="0">
                <a:solidFill>
                  <a:srgbClr val="66798E"/>
                </a:solidFill>
                <a:latin typeface="Noto Sans CJK SC" pitchFamily="34" charset="0"/>
                <a:ea typeface="Noto Sans CJK SC" pitchFamily="34" charset="-122"/>
                <a:cs typeface="Noto Sans CJK SC" pitchFamily="34" charset="-120"/>
              </a:rPr>
              <a:t>内部包含 input_proj Linear。</a:t>
            </a:r>
            <a:endParaRPr lang="en-US" sz="1070" dirty="0"/>
          </a:p>
        </p:txBody>
      </p:sp>
      <p:sp>
        <p:nvSpPr>
          <p:cNvPr id="39" name="Shape 32">
            <a:extLst>
              <a:ext uri="{FF2B5EF4-FFF2-40B4-BE49-F238E27FC236}">
                <a16:creationId xmlns:a16="http://schemas.microsoft.com/office/drawing/2014/main" id="{1C315589-9EE1-6669-1994-D0792C9499B2}"/>
              </a:ext>
            </a:extLst>
          </p:cNvPr>
          <p:cNvSpPr/>
          <p:nvPr/>
        </p:nvSpPr>
        <p:spPr>
          <a:xfrm>
            <a:off x="523951" y="2069287"/>
            <a:ext cx="67666" cy="67666"/>
          </a:xfrm>
          <a:prstGeom prst="ellipse">
            <a:avLst/>
          </a:prstGeom>
          <a:solidFill>
            <a:srgbClr val="1269B4"/>
          </a:solidFill>
          <a:ln w="12700">
            <a:solidFill>
              <a:srgbClr val="1269B4"/>
            </a:solidFill>
            <a:prstDash val="solid"/>
          </a:ln>
        </p:spPr>
      </p:sp>
      <p:sp>
        <p:nvSpPr>
          <p:cNvPr id="40" name="Text 33">
            <a:extLst>
              <a:ext uri="{FF2B5EF4-FFF2-40B4-BE49-F238E27FC236}">
                <a16:creationId xmlns:a16="http://schemas.microsoft.com/office/drawing/2014/main" id="{E58E19E6-59E7-F3D8-0A75-0CA1D8790896}"/>
              </a:ext>
            </a:extLst>
          </p:cNvPr>
          <p:cNvSpPr/>
          <p:nvPr/>
        </p:nvSpPr>
        <p:spPr>
          <a:xfrm>
            <a:off x="722376" y="2020824"/>
            <a:ext cx="2889504" cy="201168"/>
          </a:xfrm>
          <a:prstGeom prst="rect">
            <a:avLst/>
          </a:prstGeom>
          <a:noFill/>
          <a:ln/>
        </p:spPr>
        <p:txBody>
          <a:bodyPr wrap="square" lIns="0" tIns="0" rIns="0" bIns="0" rtlCol="0" anchor="ctr">
            <a:normAutofit/>
          </a:bodyPr>
          <a:lstStyle/>
          <a:p>
            <a:pPr marL="0" indent="0">
              <a:buNone/>
            </a:pPr>
            <a:r>
              <a:rPr lang="en-US" sz="1190" b="1" dirty="0">
                <a:solidFill>
                  <a:srgbClr val="20344D"/>
                </a:solidFill>
                <a:latin typeface="Noto Sans CJK SC" pitchFamily="34" charset="0"/>
                <a:ea typeface="Noto Sans CJK SC" pitchFamily="34" charset="-122"/>
                <a:cs typeface="Noto Sans CJK SC" pitchFamily="34" charset="-120"/>
              </a:rPr>
              <a:t>原始逻辑</a:t>
            </a:r>
            <a:endParaRPr lang="en-US" sz="1190" dirty="0"/>
          </a:p>
        </p:txBody>
      </p:sp>
      <p:sp>
        <p:nvSpPr>
          <p:cNvPr id="41" name="Text 34">
            <a:extLst>
              <a:ext uri="{FF2B5EF4-FFF2-40B4-BE49-F238E27FC236}">
                <a16:creationId xmlns:a16="http://schemas.microsoft.com/office/drawing/2014/main" id="{1B181F11-0165-0CE2-C182-E281492E4201}"/>
              </a:ext>
            </a:extLst>
          </p:cNvPr>
          <p:cNvSpPr/>
          <p:nvPr/>
        </p:nvSpPr>
        <p:spPr>
          <a:xfrm>
            <a:off x="722376" y="2226564"/>
            <a:ext cx="2828544" cy="237744"/>
          </a:xfrm>
          <a:prstGeom prst="rect">
            <a:avLst/>
          </a:prstGeom>
          <a:noFill/>
          <a:ln/>
        </p:spPr>
        <p:txBody>
          <a:bodyPr wrap="square" lIns="0" tIns="0" rIns="0" bIns="0" rtlCol="0" anchor="ctr">
            <a:normAutofit/>
          </a:bodyPr>
          <a:lstStyle/>
          <a:p>
            <a:pPr marL="0" indent="0">
              <a:buNone/>
            </a:pPr>
            <a:r>
              <a:rPr lang="en-US" sz="1070" dirty="0">
                <a:solidFill>
                  <a:srgbClr val="66798E"/>
                </a:solidFill>
                <a:latin typeface="Times New Roman" panose="02020603050405020304" pitchFamily="18" charset="0"/>
                <a:ea typeface="Noto Sans CJK SC" pitchFamily="34" charset="-122"/>
                <a:cs typeface="Times New Roman" panose="02020603050405020304" pitchFamily="18" charset="0"/>
              </a:rPr>
              <a:t>根据 input_proj.weight.dtype 转换 pixel_values。</a:t>
            </a:r>
            <a:endParaRPr lang="en-US" sz="1070" dirty="0">
              <a:latin typeface="Times New Roman" panose="02020603050405020304" pitchFamily="18" charset="0"/>
              <a:cs typeface="Times New Roman" panose="02020603050405020304" pitchFamily="18" charset="0"/>
            </a:endParaRPr>
          </a:p>
        </p:txBody>
      </p:sp>
      <p:sp>
        <p:nvSpPr>
          <p:cNvPr id="42" name="Shape 35">
            <a:extLst>
              <a:ext uri="{FF2B5EF4-FFF2-40B4-BE49-F238E27FC236}">
                <a16:creationId xmlns:a16="http://schemas.microsoft.com/office/drawing/2014/main" id="{A9AB0F77-4EF5-BC67-25DB-C409C2A5735A}"/>
              </a:ext>
            </a:extLst>
          </p:cNvPr>
          <p:cNvSpPr/>
          <p:nvPr/>
        </p:nvSpPr>
        <p:spPr>
          <a:xfrm>
            <a:off x="523951" y="2581351"/>
            <a:ext cx="67666" cy="67666"/>
          </a:xfrm>
          <a:prstGeom prst="ellipse">
            <a:avLst/>
          </a:prstGeom>
          <a:solidFill>
            <a:srgbClr val="1269B4"/>
          </a:solidFill>
          <a:ln w="12700">
            <a:solidFill>
              <a:srgbClr val="1269B4"/>
            </a:solidFill>
            <a:prstDash val="solid"/>
          </a:ln>
        </p:spPr>
      </p:sp>
      <p:sp>
        <p:nvSpPr>
          <p:cNvPr id="43" name="Text 36">
            <a:extLst>
              <a:ext uri="{FF2B5EF4-FFF2-40B4-BE49-F238E27FC236}">
                <a16:creationId xmlns:a16="http://schemas.microsoft.com/office/drawing/2014/main" id="{51FDFB2F-CAEB-F28E-5FFF-BB2536BE43C4}"/>
              </a:ext>
            </a:extLst>
          </p:cNvPr>
          <p:cNvSpPr/>
          <p:nvPr/>
        </p:nvSpPr>
        <p:spPr>
          <a:xfrm>
            <a:off x="722376" y="2532888"/>
            <a:ext cx="2889504" cy="201168"/>
          </a:xfrm>
          <a:prstGeom prst="rect">
            <a:avLst/>
          </a:prstGeom>
          <a:noFill/>
          <a:ln/>
        </p:spPr>
        <p:txBody>
          <a:bodyPr wrap="square" lIns="0" tIns="0" rIns="0" bIns="0" rtlCol="0" anchor="ctr">
            <a:normAutofit/>
          </a:bodyPr>
          <a:lstStyle/>
          <a:p>
            <a:pPr marL="0" indent="0">
              <a:buNone/>
            </a:pPr>
            <a:r>
              <a:rPr lang="en-US" sz="1190" b="1" dirty="0">
                <a:solidFill>
                  <a:srgbClr val="20344D"/>
                </a:solidFill>
                <a:latin typeface="Noto Sans CJK SC" pitchFamily="34" charset="0"/>
                <a:ea typeface="Noto Sans CJK SC" pitchFamily="34" charset="-122"/>
                <a:cs typeface="Noto Sans CJK SC" pitchFamily="34" charset="-120"/>
              </a:rPr>
              <a:t>量化场景</a:t>
            </a:r>
            <a:endParaRPr lang="en-US" sz="1190" dirty="0"/>
          </a:p>
        </p:txBody>
      </p:sp>
      <p:sp>
        <p:nvSpPr>
          <p:cNvPr id="44" name="Text 37">
            <a:extLst>
              <a:ext uri="{FF2B5EF4-FFF2-40B4-BE49-F238E27FC236}">
                <a16:creationId xmlns:a16="http://schemas.microsoft.com/office/drawing/2014/main" id="{2C36AA90-072E-4BD0-B7FA-7FE132D898DA}"/>
              </a:ext>
            </a:extLst>
          </p:cNvPr>
          <p:cNvSpPr/>
          <p:nvPr/>
        </p:nvSpPr>
        <p:spPr>
          <a:xfrm>
            <a:off x="722376" y="2738628"/>
            <a:ext cx="2898648" cy="237744"/>
          </a:xfrm>
          <a:prstGeom prst="rect">
            <a:avLst/>
          </a:prstGeom>
          <a:noFill/>
          <a:ln/>
        </p:spPr>
        <p:txBody>
          <a:bodyPr wrap="square" lIns="0" tIns="0" rIns="0" bIns="0" rtlCol="0" anchor="ctr">
            <a:normAutofit fontScale="85000" lnSpcReduction="20000"/>
          </a:bodyPr>
          <a:lstStyle/>
          <a:p>
            <a:pPr marL="0" indent="0">
              <a:buNone/>
            </a:pPr>
            <a:r>
              <a:rPr lang="en-US" sz="1070" dirty="0">
                <a:solidFill>
                  <a:srgbClr val="66798E"/>
                </a:solidFill>
                <a:latin typeface="Times New Roman" panose="02020603050405020304" pitchFamily="18" charset="0"/>
                <a:ea typeface="Noto Sans CJK SC" pitchFamily="34" charset="-122"/>
                <a:cs typeface="Times New Roman" panose="02020603050405020304" pitchFamily="18" charset="0"/>
              </a:rPr>
              <a:t>权重为 MXFP4 / MXFP8 存储类型，不能直接代表激活计算 dtype。</a:t>
            </a:r>
            <a:endParaRPr lang="en-US" sz="1070" dirty="0">
              <a:latin typeface="Times New Roman" panose="02020603050405020304" pitchFamily="18" charset="0"/>
              <a:cs typeface="Times New Roman" panose="02020603050405020304" pitchFamily="18" charset="0"/>
            </a:endParaRPr>
          </a:p>
        </p:txBody>
      </p:sp>
      <p:sp>
        <p:nvSpPr>
          <p:cNvPr id="45" name="Shape 38">
            <a:extLst>
              <a:ext uri="{FF2B5EF4-FFF2-40B4-BE49-F238E27FC236}">
                <a16:creationId xmlns:a16="http://schemas.microsoft.com/office/drawing/2014/main" id="{44394808-E323-E7A9-3F53-094994DDD88A}"/>
              </a:ext>
            </a:extLst>
          </p:cNvPr>
          <p:cNvSpPr/>
          <p:nvPr/>
        </p:nvSpPr>
        <p:spPr>
          <a:xfrm>
            <a:off x="3625597" y="1458468"/>
            <a:ext cx="1440180" cy="411480"/>
          </a:xfrm>
          <a:prstGeom prst="roundRect">
            <a:avLst>
              <a:gd name="adj" fmla="val 22222"/>
            </a:avLst>
          </a:prstGeom>
          <a:solidFill>
            <a:srgbClr val="F1F5F9"/>
          </a:solidFill>
          <a:ln w="9525">
            <a:solidFill>
              <a:srgbClr val="E2EAF1"/>
            </a:solidFill>
            <a:prstDash val="solid"/>
          </a:ln>
        </p:spPr>
        <p:txBody>
          <a:bodyPr/>
          <a:lstStyle/>
          <a:p>
            <a:endParaRPr lang="zh-CN" altLang="en-US"/>
          </a:p>
        </p:txBody>
      </p:sp>
      <p:sp>
        <p:nvSpPr>
          <p:cNvPr id="46" name="Text 39">
            <a:extLst>
              <a:ext uri="{FF2B5EF4-FFF2-40B4-BE49-F238E27FC236}">
                <a16:creationId xmlns:a16="http://schemas.microsoft.com/office/drawing/2014/main" id="{2F2702DC-EB50-F92D-6660-B05F251D4372}"/>
              </a:ext>
            </a:extLst>
          </p:cNvPr>
          <p:cNvSpPr/>
          <p:nvPr/>
        </p:nvSpPr>
        <p:spPr>
          <a:xfrm>
            <a:off x="3550920" y="1502664"/>
            <a:ext cx="1609344" cy="146304"/>
          </a:xfrm>
          <a:prstGeom prst="rect">
            <a:avLst/>
          </a:prstGeom>
          <a:noFill/>
          <a:ln/>
        </p:spPr>
        <p:txBody>
          <a:bodyPr wrap="square" lIns="0" tIns="0" rIns="0" bIns="0" rtlCol="0" anchor="ctr">
            <a:normAutofit lnSpcReduction="10000"/>
          </a:bodyPr>
          <a:lstStyle/>
          <a:p>
            <a:pPr marL="0" indent="0" algn="ctr">
              <a:buNone/>
            </a:pPr>
            <a:r>
              <a:rPr lang="en-US" sz="1010" b="1" dirty="0">
                <a:solidFill>
                  <a:srgbClr val="20344D"/>
                </a:solidFill>
                <a:latin typeface="Times New Roman" panose="02020603050405020304" pitchFamily="18" charset="0"/>
                <a:ea typeface="Noto Sans CJK SC" pitchFamily="34" charset="-122"/>
                <a:cs typeface="Times New Roman" panose="02020603050405020304" pitchFamily="18" charset="0"/>
              </a:rPr>
              <a:t>图像输入  pixel_values</a:t>
            </a:r>
            <a:endParaRPr lang="en-US" sz="1010" dirty="0">
              <a:latin typeface="Times New Roman" panose="02020603050405020304" pitchFamily="18" charset="0"/>
              <a:cs typeface="Times New Roman" panose="02020603050405020304" pitchFamily="18" charset="0"/>
            </a:endParaRPr>
          </a:p>
        </p:txBody>
      </p:sp>
      <p:sp>
        <p:nvSpPr>
          <p:cNvPr id="47" name="Text 40">
            <a:extLst>
              <a:ext uri="{FF2B5EF4-FFF2-40B4-BE49-F238E27FC236}">
                <a16:creationId xmlns:a16="http://schemas.microsoft.com/office/drawing/2014/main" id="{9705411B-0A0D-FA70-2DF4-45F2018D7052}"/>
              </a:ext>
            </a:extLst>
          </p:cNvPr>
          <p:cNvSpPr/>
          <p:nvPr/>
        </p:nvSpPr>
        <p:spPr>
          <a:xfrm>
            <a:off x="3550920" y="1684020"/>
            <a:ext cx="1609344" cy="118872"/>
          </a:xfrm>
          <a:prstGeom prst="rect">
            <a:avLst/>
          </a:prstGeom>
          <a:noFill/>
          <a:ln/>
        </p:spPr>
        <p:txBody>
          <a:bodyPr wrap="square" lIns="0" tIns="0" rIns="0" bIns="0" rtlCol="0" anchor="ctr">
            <a:normAutofit fontScale="92500" lnSpcReduction="10000"/>
          </a:bodyPr>
          <a:lstStyle/>
          <a:p>
            <a:pPr marL="0" indent="0" algn="ctr">
              <a:buNone/>
            </a:pPr>
            <a:r>
              <a:rPr lang="en-US" sz="890" dirty="0">
                <a:solidFill>
                  <a:srgbClr val="66798E"/>
                </a:solidFill>
                <a:latin typeface="DejaVu Sans Mono" pitchFamily="34" charset="0"/>
                <a:ea typeface="DejaVu Sans Mono" pitchFamily="34" charset="-122"/>
                <a:cs typeface="DejaVu Sans Mono" pitchFamily="34" charset="-120"/>
              </a:rPr>
              <a:t>FP32</a:t>
            </a:r>
            <a:endParaRPr lang="en-US" sz="890" dirty="0"/>
          </a:p>
        </p:txBody>
      </p:sp>
      <p:sp>
        <p:nvSpPr>
          <p:cNvPr id="48" name="Shape 41">
            <a:extLst>
              <a:ext uri="{FF2B5EF4-FFF2-40B4-BE49-F238E27FC236}">
                <a16:creationId xmlns:a16="http://schemas.microsoft.com/office/drawing/2014/main" id="{C6EC6A9F-0541-F13D-C581-BEA2A286FE9A}"/>
              </a:ext>
            </a:extLst>
          </p:cNvPr>
          <p:cNvSpPr/>
          <p:nvPr/>
        </p:nvSpPr>
        <p:spPr>
          <a:xfrm>
            <a:off x="4338828" y="1875130"/>
            <a:ext cx="0" cy="142646"/>
          </a:xfrm>
          <a:prstGeom prst="line">
            <a:avLst/>
          </a:prstGeom>
          <a:noFill/>
          <a:ln w="15240">
            <a:solidFill>
              <a:srgbClr val="102948"/>
            </a:solidFill>
            <a:prstDash val="solid"/>
            <a:headEnd type="none"/>
            <a:tailEnd type="triangle"/>
          </a:ln>
        </p:spPr>
        <p:txBody>
          <a:bodyPr/>
          <a:lstStyle/>
          <a:p>
            <a:endParaRPr lang="zh-CN" altLang="en-US"/>
          </a:p>
        </p:txBody>
      </p:sp>
      <p:sp>
        <p:nvSpPr>
          <p:cNvPr id="49" name="Shape 42">
            <a:extLst>
              <a:ext uri="{FF2B5EF4-FFF2-40B4-BE49-F238E27FC236}">
                <a16:creationId xmlns:a16="http://schemas.microsoft.com/office/drawing/2014/main" id="{A706ED07-49BD-E731-E226-B2083B377FC6}"/>
              </a:ext>
            </a:extLst>
          </p:cNvPr>
          <p:cNvSpPr/>
          <p:nvPr/>
        </p:nvSpPr>
        <p:spPr>
          <a:xfrm>
            <a:off x="3625596" y="2043684"/>
            <a:ext cx="1408172" cy="502920"/>
          </a:xfrm>
          <a:prstGeom prst="roundRect">
            <a:avLst>
              <a:gd name="adj" fmla="val 18182"/>
            </a:avLst>
          </a:prstGeom>
          <a:solidFill>
            <a:srgbClr val="FFF1F2"/>
          </a:solidFill>
          <a:ln w="13970">
            <a:solidFill>
              <a:srgbClr val="D92332"/>
            </a:solidFill>
            <a:prstDash val="solid"/>
          </a:ln>
        </p:spPr>
        <p:txBody>
          <a:bodyPr/>
          <a:lstStyle/>
          <a:p>
            <a:endParaRPr lang="zh-CN" altLang="en-US"/>
          </a:p>
        </p:txBody>
      </p:sp>
      <p:sp>
        <p:nvSpPr>
          <p:cNvPr id="50" name="Text 43">
            <a:extLst>
              <a:ext uri="{FF2B5EF4-FFF2-40B4-BE49-F238E27FC236}">
                <a16:creationId xmlns:a16="http://schemas.microsoft.com/office/drawing/2014/main" id="{5AAECAD8-C001-E781-2FE3-839F968D5D16}"/>
              </a:ext>
            </a:extLst>
          </p:cNvPr>
          <p:cNvSpPr/>
          <p:nvPr/>
        </p:nvSpPr>
        <p:spPr>
          <a:xfrm>
            <a:off x="3378705" y="2098853"/>
            <a:ext cx="1627632" cy="164592"/>
          </a:xfrm>
          <a:prstGeom prst="rect">
            <a:avLst/>
          </a:prstGeom>
          <a:noFill/>
          <a:ln/>
        </p:spPr>
        <p:txBody>
          <a:bodyPr wrap="square" lIns="0" tIns="0" rIns="0" bIns="0" rtlCol="0" anchor="ctr">
            <a:normAutofit lnSpcReduction="10000"/>
          </a:bodyPr>
          <a:lstStyle/>
          <a:p>
            <a:pPr marL="0" indent="0" algn="ctr">
              <a:buNone/>
            </a:pPr>
            <a:r>
              <a:rPr lang="en-US" sz="1140" b="1" dirty="0">
                <a:solidFill>
                  <a:srgbClr val="D92332"/>
                </a:solidFill>
                <a:latin typeface="Noto Sans CJK SC" pitchFamily="34" charset="0"/>
                <a:ea typeface="Noto Sans CJK SC" pitchFamily="34" charset="-122"/>
                <a:cs typeface="Noto Sans CJK SC" pitchFamily="34" charset="-120"/>
              </a:rPr>
              <a:t>Patch Embedder</a:t>
            </a:r>
            <a:endParaRPr lang="en-US" sz="1140" dirty="0"/>
          </a:p>
        </p:txBody>
      </p:sp>
      <p:sp>
        <p:nvSpPr>
          <p:cNvPr id="51" name="Text 44">
            <a:extLst>
              <a:ext uri="{FF2B5EF4-FFF2-40B4-BE49-F238E27FC236}">
                <a16:creationId xmlns:a16="http://schemas.microsoft.com/office/drawing/2014/main" id="{373ECA0C-F7F3-B645-5618-0F7F500AEF49}"/>
              </a:ext>
            </a:extLst>
          </p:cNvPr>
          <p:cNvSpPr/>
          <p:nvPr/>
        </p:nvSpPr>
        <p:spPr>
          <a:xfrm>
            <a:off x="3438145" y="2313279"/>
            <a:ext cx="1627632" cy="118872"/>
          </a:xfrm>
          <a:prstGeom prst="rect">
            <a:avLst/>
          </a:prstGeom>
          <a:noFill/>
          <a:ln/>
        </p:spPr>
        <p:txBody>
          <a:bodyPr wrap="square" lIns="0" tIns="0" rIns="0" bIns="0" rtlCol="0" anchor="ctr">
            <a:normAutofit fontScale="92500" lnSpcReduction="20000"/>
          </a:bodyPr>
          <a:lstStyle/>
          <a:p>
            <a:pPr marL="0" indent="0" algn="ctr">
              <a:buNone/>
            </a:pPr>
            <a:r>
              <a:rPr lang="en-US" sz="940" dirty="0">
                <a:solidFill>
                  <a:srgbClr val="20344D"/>
                </a:solidFill>
                <a:latin typeface="DejaVu Sans Mono" pitchFamily="34" charset="0"/>
                <a:ea typeface="DejaVu Sans Mono" pitchFamily="34" charset="-122"/>
                <a:cs typeface="DejaVu Sans Mono" pitchFamily="34" charset="-120"/>
              </a:rPr>
              <a:t>input_proj Linear</a:t>
            </a:r>
            <a:endParaRPr lang="en-US" sz="940" dirty="0"/>
          </a:p>
        </p:txBody>
      </p:sp>
      <p:sp>
        <p:nvSpPr>
          <p:cNvPr id="52" name="Shape 45">
            <a:extLst>
              <a:ext uri="{FF2B5EF4-FFF2-40B4-BE49-F238E27FC236}">
                <a16:creationId xmlns:a16="http://schemas.microsoft.com/office/drawing/2014/main" id="{63E3BA84-1E36-CFC9-C86F-75262EC9AC8C}"/>
              </a:ext>
            </a:extLst>
          </p:cNvPr>
          <p:cNvSpPr/>
          <p:nvPr/>
        </p:nvSpPr>
        <p:spPr>
          <a:xfrm>
            <a:off x="4338828" y="2564892"/>
            <a:ext cx="0" cy="146304"/>
          </a:xfrm>
          <a:prstGeom prst="line">
            <a:avLst/>
          </a:prstGeom>
          <a:noFill/>
          <a:ln w="15240">
            <a:solidFill>
              <a:srgbClr val="102948"/>
            </a:solidFill>
            <a:prstDash val="solid"/>
            <a:headEnd type="none"/>
            <a:tailEnd type="triangle"/>
          </a:ln>
        </p:spPr>
        <p:txBody>
          <a:bodyPr/>
          <a:lstStyle/>
          <a:p>
            <a:endParaRPr lang="zh-CN" altLang="en-US"/>
          </a:p>
        </p:txBody>
      </p:sp>
      <p:sp>
        <p:nvSpPr>
          <p:cNvPr id="53" name="Shape 46">
            <a:extLst>
              <a:ext uri="{FF2B5EF4-FFF2-40B4-BE49-F238E27FC236}">
                <a16:creationId xmlns:a16="http://schemas.microsoft.com/office/drawing/2014/main" id="{928C7A8D-D642-AE0A-9B4F-AFBE2E2C4B11}"/>
              </a:ext>
            </a:extLst>
          </p:cNvPr>
          <p:cNvSpPr/>
          <p:nvPr/>
        </p:nvSpPr>
        <p:spPr>
          <a:xfrm>
            <a:off x="3596335" y="2711196"/>
            <a:ext cx="1469440" cy="320040"/>
          </a:xfrm>
          <a:prstGeom prst="roundRect">
            <a:avLst>
              <a:gd name="adj" fmla="val 28571"/>
            </a:avLst>
          </a:prstGeom>
          <a:solidFill>
            <a:srgbClr val="F1F5F9"/>
          </a:solidFill>
          <a:ln w="8890">
            <a:solidFill>
              <a:srgbClr val="E2EAF1"/>
            </a:solidFill>
            <a:prstDash val="solid"/>
          </a:ln>
        </p:spPr>
        <p:txBody>
          <a:bodyPr/>
          <a:lstStyle/>
          <a:p>
            <a:endParaRPr lang="zh-CN" altLang="en-US"/>
          </a:p>
        </p:txBody>
      </p:sp>
      <p:sp>
        <p:nvSpPr>
          <p:cNvPr id="54" name="Text 47">
            <a:extLst>
              <a:ext uri="{FF2B5EF4-FFF2-40B4-BE49-F238E27FC236}">
                <a16:creationId xmlns:a16="http://schemas.microsoft.com/office/drawing/2014/main" id="{73809239-8AF5-C152-C1F6-C0812A1700BF}"/>
              </a:ext>
            </a:extLst>
          </p:cNvPr>
          <p:cNvSpPr/>
          <p:nvPr/>
        </p:nvSpPr>
        <p:spPr>
          <a:xfrm>
            <a:off x="3506722" y="2825496"/>
            <a:ext cx="1645920" cy="146304"/>
          </a:xfrm>
          <a:prstGeom prst="rect">
            <a:avLst/>
          </a:prstGeom>
          <a:noFill/>
          <a:ln/>
        </p:spPr>
        <p:txBody>
          <a:bodyPr wrap="square" lIns="0" tIns="0" rIns="0" bIns="0" rtlCol="0" anchor="ctr">
            <a:normAutofit lnSpcReduction="10000"/>
          </a:bodyPr>
          <a:lstStyle/>
          <a:p>
            <a:pPr algn="ctr"/>
            <a:r>
              <a:rPr lang="en-US" sz="1010" b="1">
                <a:solidFill>
                  <a:srgbClr val="20344D"/>
                </a:solidFill>
                <a:latin typeface="Times New Roman" panose="02020603050405020304" pitchFamily="18" charset="0"/>
                <a:ea typeface="Noto Sans CJK SC" pitchFamily="34" charset="-122"/>
                <a:cs typeface="Times New Roman" panose="02020603050405020304" pitchFamily="18" charset="0"/>
              </a:rPr>
              <a:t>ViT</a:t>
            </a:r>
            <a:r>
              <a:rPr lang="zh-CN" altLang="en-US" sz="1010" b="1">
                <a:solidFill>
                  <a:srgbClr val="20344D"/>
                </a:solidFill>
                <a:latin typeface="Times New Roman" panose="02020603050405020304" pitchFamily="18" charset="0"/>
                <a:ea typeface="Noto Sans CJK SC" pitchFamily="34" charset="-122"/>
                <a:cs typeface="Times New Roman" panose="02020603050405020304" pitchFamily="18" charset="0"/>
              </a:rPr>
              <a:t>视觉编码器</a:t>
            </a:r>
            <a:endParaRPr lang="en-US" sz="1010" b="1" dirty="0">
              <a:solidFill>
                <a:srgbClr val="20344D"/>
              </a:solidFill>
              <a:latin typeface="Times New Roman" panose="02020603050405020304" pitchFamily="18" charset="0"/>
              <a:ea typeface="Noto Sans CJK SC" pitchFamily="34" charset="-122"/>
              <a:cs typeface="Times New Roman" panose="02020603050405020304" pitchFamily="18" charset="0"/>
            </a:endParaRPr>
          </a:p>
        </p:txBody>
      </p:sp>
      <p:sp>
        <p:nvSpPr>
          <p:cNvPr id="55" name="Text 48">
            <a:extLst>
              <a:ext uri="{FF2B5EF4-FFF2-40B4-BE49-F238E27FC236}">
                <a16:creationId xmlns:a16="http://schemas.microsoft.com/office/drawing/2014/main" id="{CF71A33C-2958-ABE9-23D8-7715B3390D17}"/>
              </a:ext>
            </a:extLst>
          </p:cNvPr>
          <p:cNvSpPr/>
          <p:nvPr/>
        </p:nvSpPr>
        <p:spPr>
          <a:xfrm>
            <a:off x="6501384" y="1431036"/>
            <a:ext cx="4937760" cy="182880"/>
          </a:xfrm>
          <a:prstGeom prst="rect">
            <a:avLst/>
          </a:prstGeom>
          <a:noFill/>
          <a:ln/>
        </p:spPr>
        <p:txBody>
          <a:bodyPr wrap="square" lIns="0" tIns="0" rIns="0" bIns="0" rtlCol="0" anchor="ctr">
            <a:normAutofit lnSpcReduction="10000"/>
          </a:bodyPr>
          <a:lstStyle/>
          <a:p>
            <a:pPr marL="0" indent="0">
              <a:buNone/>
            </a:pPr>
            <a:r>
              <a:rPr lang="en-US" sz="1260" b="1" dirty="0">
                <a:solidFill>
                  <a:srgbClr val="D92332"/>
                </a:solidFill>
                <a:latin typeface="Noto Sans CJK SC" pitchFamily="34" charset="0"/>
                <a:ea typeface="Noto Sans CJK SC" pitchFamily="34" charset="-122"/>
                <a:cs typeface="Noto Sans CJK SC" pitchFamily="34" charset="-120"/>
              </a:rPr>
              <a:t>修改前的执行流程（存在问题）</a:t>
            </a:r>
            <a:endParaRPr lang="en-US" sz="1260" dirty="0"/>
          </a:p>
        </p:txBody>
      </p:sp>
      <p:sp>
        <p:nvSpPr>
          <p:cNvPr id="56" name="Shape 49">
            <a:extLst>
              <a:ext uri="{FF2B5EF4-FFF2-40B4-BE49-F238E27FC236}">
                <a16:creationId xmlns:a16="http://schemas.microsoft.com/office/drawing/2014/main" id="{60209730-2675-F4E0-9C9A-FE102B986671}"/>
              </a:ext>
            </a:extLst>
          </p:cNvPr>
          <p:cNvSpPr/>
          <p:nvPr/>
        </p:nvSpPr>
        <p:spPr>
          <a:xfrm>
            <a:off x="6501384" y="1700784"/>
            <a:ext cx="1243584" cy="466344"/>
          </a:xfrm>
          <a:prstGeom prst="roundRect">
            <a:avLst>
              <a:gd name="adj" fmla="val 19608"/>
            </a:avLst>
          </a:prstGeom>
          <a:solidFill>
            <a:srgbClr val="EAF4FD"/>
          </a:solidFill>
          <a:ln w="8255">
            <a:solidFill>
              <a:srgbClr val="D5E8F7"/>
            </a:solidFill>
            <a:prstDash val="solid"/>
          </a:ln>
        </p:spPr>
      </p:sp>
      <p:sp>
        <p:nvSpPr>
          <p:cNvPr id="57" name="Text 50">
            <a:extLst>
              <a:ext uri="{FF2B5EF4-FFF2-40B4-BE49-F238E27FC236}">
                <a16:creationId xmlns:a16="http://schemas.microsoft.com/office/drawing/2014/main" id="{1ED760A6-8CE1-9143-DEFE-532F2AF0EC71}"/>
              </a:ext>
            </a:extLst>
          </p:cNvPr>
          <p:cNvSpPr/>
          <p:nvPr/>
        </p:nvSpPr>
        <p:spPr>
          <a:xfrm>
            <a:off x="6574536" y="1783080"/>
            <a:ext cx="1097280" cy="146304"/>
          </a:xfrm>
          <a:prstGeom prst="rect">
            <a:avLst/>
          </a:prstGeom>
          <a:noFill/>
          <a:ln/>
        </p:spPr>
        <p:txBody>
          <a:bodyPr wrap="square" lIns="0" tIns="0" rIns="0" bIns="0" rtlCol="0" anchor="ctr">
            <a:normAutofit lnSpcReduction="10000"/>
          </a:bodyPr>
          <a:lstStyle/>
          <a:p>
            <a:pPr marL="0" indent="0" algn="ctr">
              <a:buNone/>
            </a:pPr>
            <a:r>
              <a:rPr lang="en-US" sz="1040" b="1" dirty="0">
                <a:solidFill>
                  <a:srgbClr val="102948"/>
                </a:solidFill>
                <a:latin typeface="DejaVu Sans Mono" pitchFamily="34" charset="0"/>
                <a:ea typeface="DejaVu Sans Mono" pitchFamily="34" charset="-122"/>
                <a:cs typeface="DejaVu Sans Mono" pitchFamily="34" charset="-120"/>
              </a:rPr>
              <a:t>pixel_values</a:t>
            </a:r>
            <a:endParaRPr lang="en-US" sz="1040" dirty="0"/>
          </a:p>
        </p:txBody>
      </p:sp>
      <p:sp>
        <p:nvSpPr>
          <p:cNvPr id="58" name="Text 51">
            <a:extLst>
              <a:ext uri="{FF2B5EF4-FFF2-40B4-BE49-F238E27FC236}">
                <a16:creationId xmlns:a16="http://schemas.microsoft.com/office/drawing/2014/main" id="{B9799002-F9A0-B5A0-4A71-ADBDB29EAB0B}"/>
              </a:ext>
            </a:extLst>
          </p:cNvPr>
          <p:cNvSpPr/>
          <p:nvPr/>
        </p:nvSpPr>
        <p:spPr>
          <a:xfrm>
            <a:off x="6574536" y="1956816"/>
            <a:ext cx="1097280" cy="128016"/>
          </a:xfrm>
          <a:prstGeom prst="rect">
            <a:avLst/>
          </a:prstGeom>
          <a:noFill/>
          <a:ln/>
        </p:spPr>
        <p:txBody>
          <a:bodyPr wrap="square" lIns="0" tIns="0" rIns="0" bIns="0" rtlCol="0" anchor="ctr">
            <a:normAutofit fontScale="92500" lnSpcReduction="10000"/>
          </a:bodyPr>
          <a:lstStyle/>
          <a:p>
            <a:pPr marL="0" indent="0" algn="ctr">
              <a:buNone/>
            </a:pPr>
            <a:r>
              <a:rPr lang="en-US" sz="940" dirty="0">
                <a:solidFill>
                  <a:srgbClr val="1269B4"/>
                </a:solidFill>
                <a:latin typeface="DejaVu Sans Mono" pitchFamily="34" charset="0"/>
                <a:ea typeface="DejaVu Sans Mono" pitchFamily="34" charset="-122"/>
                <a:cs typeface="DejaVu Sans Mono" pitchFamily="34" charset="-120"/>
              </a:rPr>
              <a:t>(FP32)</a:t>
            </a:r>
            <a:endParaRPr lang="en-US" sz="940" dirty="0"/>
          </a:p>
        </p:txBody>
      </p:sp>
      <p:sp>
        <p:nvSpPr>
          <p:cNvPr id="59" name="Shape 52">
            <a:extLst>
              <a:ext uri="{FF2B5EF4-FFF2-40B4-BE49-F238E27FC236}">
                <a16:creationId xmlns:a16="http://schemas.microsoft.com/office/drawing/2014/main" id="{A9C983F8-002E-B62E-D9ED-B92F0164AE4F}"/>
              </a:ext>
            </a:extLst>
          </p:cNvPr>
          <p:cNvSpPr/>
          <p:nvPr/>
        </p:nvSpPr>
        <p:spPr>
          <a:xfrm>
            <a:off x="7754112" y="1932127"/>
            <a:ext cx="256032" cy="0"/>
          </a:xfrm>
          <a:prstGeom prst="line">
            <a:avLst/>
          </a:prstGeom>
          <a:noFill/>
          <a:ln w="15240">
            <a:solidFill>
              <a:srgbClr val="102948"/>
            </a:solidFill>
            <a:prstDash val="solid"/>
            <a:headEnd type="none"/>
            <a:tailEnd type="triangle"/>
          </a:ln>
        </p:spPr>
      </p:sp>
      <p:sp>
        <p:nvSpPr>
          <p:cNvPr id="60" name="Shape 53">
            <a:extLst>
              <a:ext uri="{FF2B5EF4-FFF2-40B4-BE49-F238E27FC236}">
                <a16:creationId xmlns:a16="http://schemas.microsoft.com/office/drawing/2014/main" id="{5C2CA58D-8EE4-9BF6-739F-9C9AB9DC55BA}"/>
              </a:ext>
            </a:extLst>
          </p:cNvPr>
          <p:cNvSpPr/>
          <p:nvPr/>
        </p:nvSpPr>
        <p:spPr>
          <a:xfrm>
            <a:off x="8037576" y="1700784"/>
            <a:ext cx="2121408" cy="466344"/>
          </a:xfrm>
          <a:prstGeom prst="roundRect">
            <a:avLst>
              <a:gd name="adj" fmla="val 19608"/>
            </a:avLst>
          </a:prstGeom>
          <a:solidFill>
            <a:srgbClr val="FFF5F5"/>
          </a:solidFill>
          <a:ln w="12065">
            <a:solidFill>
              <a:srgbClr val="D92332"/>
            </a:solidFill>
            <a:prstDash val="solid"/>
          </a:ln>
        </p:spPr>
      </p:sp>
      <p:sp>
        <p:nvSpPr>
          <p:cNvPr id="61" name="Text 54">
            <a:extLst>
              <a:ext uri="{FF2B5EF4-FFF2-40B4-BE49-F238E27FC236}">
                <a16:creationId xmlns:a16="http://schemas.microsoft.com/office/drawing/2014/main" id="{EC92BA8D-DAAA-862E-8C42-70A6E989C5BB}"/>
              </a:ext>
            </a:extLst>
          </p:cNvPr>
          <p:cNvSpPr/>
          <p:nvPr/>
        </p:nvSpPr>
        <p:spPr>
          <a:xfrm>
            <a:off x="8101584" y="1865376"/>
            <a:ext cx="1993392" cy="164592"/>
          </a:xfrm>
          <a:prstGeom prst="rect">
            <a:avLst/>
          </a:prstGeom>
          <a:noFill/>
          <a:ln/>
        </p:spPr>
        <p:txBody>
          <a:bodyPr wrap="square" lIns="0" tIns="0" rIns="0" bIns="0" rtlCol="0" anchor="ctr">
            <a:normAutofit/>
          </a:bodyPr>
          <a:lstStyle/>
          <a:p>
            <a:pPr marL="0" indent="0" algn="ctr">
              <a:buNone/>
            </a:pPr>
            <a:r>
              <a:rPr lang="en-US" sz="890" b="1" dirty="0">
                <a:solidFill>
                  <a:srgbClr val="D92332"/>
                </a:solidFill>
                <a:latin typeface="DejaVu Sans Mono" pitchFamily="34" charset="0"/>
                <a:ea typeface="DejaVu Sans Mono" pitchFamily="34" charset="-122"/>
                <a:cs typeface="DejaVu Sans Mono" pitchFamily="34" charset="-120"/>
              </a:rPr>
              <a:t>to(input_proj.weight.dtype)</a:t>
            </a:r>
            <a:endParaRPr lang="en-US" sz="890" dirty="0"/>
          </a:p>
        </p:txBody>
      </p:sp>
      <p:sp>
        <p:nvSpPr>
          <p:cNvPr id="62" name="Text 55">
            <a:extLst>
              <a:ext uri="{FF2B5EF4-FFF2-40B4-BE49-F238E27FC236}">
                <a16:creationId xmlns:a16="http://schemas.microsoft.com/office/drawing/2014/main" id="{16E8EC2E-C4FB-84E4-E020-7A626DC01AB9}"/>
              </a:ext>
            </a:extLst>
          </p:cNvPr>
          <p:cNvSpPr/>
          <p:nvPr/>
        </p:nvSpPr>
        <p:spPr>
          <a:xfrm>
            <a:off x="8988552" y="1115569"/>
            <a:ext cx="612648" cy="585215"/>
          </a:xfrm>
          <a:prstGeom prst="rect">
            <a:avLst/>
          </a:prstGeom>
          <a:noFill/>
          <a:ln/>
        </p:spPr>
        <p:txBody>
          <a:bodyPr wrap="square" lIns="0" tIns="0" rIns="0" bIns="0" rtlCol="0" anchor="ctr">
            <a:normAutofit/>
          </a:bodyPr>
          <a:lstStyle/>
          <a:p>
            <a:pPr marL="0" indent="0" algn="ctr">
              <a:buNone/>
            </a:pPr>
            <a:r>
              <a:rPr lang="en-US" sz="3200" b="1" dirty="0">
                <a:solidFill>
                  <a:srgbClr val="D92332"/>
                </a:solidFill>
                <a:latin typeface="Noto Sans CJK SC" pitchFamily="34" charset="0"/>
                <a:ea typeface="Noto Sans CJK SC" pitchFamily="34" charset="-122"/>
                <a:cs typeface="Noto Sans CJK SC" pitchFamily="34" charset="-120"/>
              </a:rPr>
              <a:t>!</a:t>
            </a:r>
            <a:endParaRPr lang="en-US" sz="3200" dirty="0"/>
          </a:p>
        </p:txBody>
      </p:sp>
      <p:sp>
        <p:nvSpPr>
          <p:cNvPr id="63" name="Shape 56">
            <a:extLst>
              <a:ext uri="{FF2B5EF4-FFF2-40B4-BE49-F238E27FC236}">
                <a16:creationId xmlns:a16="http://schemas.microsoft.com/office/drawing/2014/main" id="{DEECB931-A834-2804-B9CC-197174704969}"/>
              </a:ext>
            </a:extLst>
          </p:cNvPr>
          <p:cNvSpPr/>
          <p:nvPr/>
        </p:nvSpPr>
        <p:spPr>
          <a:xfrm>
            <a:off x="10168128" y="1932127"/>
            <a:ext cx="256032" cy="0"/>
          </a:xfrm>
          <a:prstGeom prst="line">
            <a:avLst/>
          </a:prstGeom>
          <a:noFill/>
          <a:ln w="15240">
            <a:solidFill>
              <a:srgbClr val="102948"/>
            </a:solidFill>
            <a:prstDash val="solid"/>
            <a:headEnd type="none"/>
            <a:tailEnd type="triangle"/>
          </a:ln>
        </p:spPr>
      </p:sp>
      <p:sp>
        <p:nvSpPr>
          <p:cNvPr id="64" name="Shape 57">
            <a:extLst>
              <a:ext uri="{FF2B5EF4-FFF2-40B4-BE49-F238E27FC236}">
                <a16:creationId xmlns:a16="http://schemas.microsoft.com/office/drawing/2014/main" id="{527388BA-78BD-64AF-6504-0DD1990B5528}"/>
              </a:ext>
            </a:extLst>
          </p:cNvPr>
          <p:cNvSpPr/>
          <p:nvPr/>
        </p:nvSpPr>
        <p:spPr>
          <a:xfrm>
            <a:off x="10442448" y="1700784"/>
            <a:ext cx="1234440" cy="466344"/>
          </a:xfrm>
          <a:prstGeom prst="roundRect">
            <a:avLst>
              <a:gd name="adj" fmla="val 19608"/>
            </a:avLst>
          </a:prstGeom>
          <a:solidFill>
            <a:srgbClr val="F3F5F7"/>
          </a:solidFill>
          <a:ln w="9525">
            <a:solidFill>
              <a:srgbClr val="E6EBEF"/>
            </a:solidFill>
            <a:prstDash val="solid"/>
          </a:ln>
        </p:spPr>
      </p:sp>
      <p:sp>
        <p:nvSpPr>
          <p:cNvPr id="65" name="Text 58">
            <a:extLst>
              <a:ext uri="{FF2B5EF4-FFF2-40B4-BE49-F238E27FC236}">
                <a16:creationId xmlns:a16="http://schemas.microsoft.com/office/drawing/2014/main" id="{18E089BF-E8F3-79CB-786E-E6C8211515A5}"/>
              </a:ext>
            </a:extLst>
          </p:cNvPr>
          <p:cNvSpPr/>
          <p:nvPr/>
        </p:nvSpPr>
        <p:spPr>
          <a:xfrm>
            <a:off x="10515600" y="1792224"/>
            <a:ext cx="1069848" cy="146304"/>
          </a:xfrm>
          <a:prstGeom prst="rect">
            <a:avLst/>
          </a:prstGeom>
          <a:noFill/>
          <a:ln/>
        </p:spPr>
        <p:txBody>
          <a:bodyPr wrap="square" lIns="0" tIns="0" rIns="0" bIns="0" rtlCol="0" anchor="ctr">
            <a:normAutofit/>
          </a:bodyPr>
          <a:lstStyle/>
          <a:p>
            <a:pPr marL="0" indent="0" algn="ctr">
              <a:buNone/>
            </a:pPr>
            <a:r>
              <a:rPr lang="en-US" sz="950" b="1" dirty="0">
                <a:solidFill>
                  <a:srgbClr val="20344D"/>
                </a:solidFill>
                <a:latin typeface="DejaVu Sans Mono" pitchFamily="34" charset="0"/>
                <a:ea typeface="DejaVu Sans Mono" pitchFamily="34" charset="-122"/>
                <a:cs typeface="DejaVu Sans Mono" pitchFamily="34" charset="-120"/>
              </a:rPr>
              <a:t>input_proj</a:t>
            </a:r>
            <a:endParaRPr lang="en-US" sz="950" dirty="0"/>
          </a:p>
        </p:txBody>
      </p:sp>
      <p:sp>
        <p:nvSpPr>
          <p:cNvPr id="66" name="Text 59">
            <a:extLst>
              <a:ext uri="{FF2B5EF4-FFF2-40B4-BE49-F238E27FC236}">
                <a16:creationId xmlns:a16="http://schemas.microsoft.com/office/drawing/2014/main" id="{8C53952B-1D98-4E8B-C21D-914299E4A95F}"/>
              </a:ext>
            </a:extLst>
          </p:cNvPr>
          <p:cNvSpPr/>
          <p:nvPr/>
        </p:nvSpPr>
        <p:spPr>
          <a:xfrm>
            <a:off x="10515600" y="1961388"/>
            <a:ext cx="1069848" cy="128016"/>
          </a:xfrm>
          <a:prstGeom prst="rect">
            <a:avLst/>
          </a:prstGeom>
          <a:noFill/>
          <a:ln/>
        </p:spPr>
        <p:txBody>
          <a:bodyPr wrap="square" lIns="0" tIns="0" rIns="0" bIns="0" rtlCol="0" anchor="ctr">
            <a:normAutofit fontScale="92500" lnSpcReduction="10000"/>
          </a:bodyPr>
          <a:lstStyle/>
          <a:p>
            <a:pPr marL="0" indent="0" algn="ctr">
              <a:buNone/>
            </a:pPr>
            <a:r>
              <a:rPr lang="en-US" sz="990" dirty="0">
                <a:solidFill>
                  <a:srgbClr val="66798E"/>
                </a:solidFill>
                <a:latin typeface="Noto Sans CJK SC" pitchFamily="34" charset="0"/>
                <a:ea typeface="Noto Sans CJK SC" pitchFamily="34" charset="-122"/>
                <a:cs typeface="Noto Sans CJK SC" pitchFamily="34" charset="-120"/>
              </a:rPr>
              <a:t>量化 Linear</a:t>
            </a:r>
            <a:endParaRPr lang="en-US" sz="990" dirty="0"/>
          </a:p>
        </p:txBody>
      </p:sp>
      <p:sp>
        <p:nvSpPr>
          <p:cNvPr id="67" name="Text 60">
            <a:extLst>
              <a:ext uri="{FF2B5EF4-FFF2-40B4-BE49-F238E27FC236}">
                <a16:creationId xmlns:a16="http://schemas.microsoft.com/office/drawing/2014/main" id="{E1D53E79-719F-BF71-2B89-87658E781612}"/>
              </a:ext>
            </a:extLst>
          </p:cNvPr>
          <p:cNvSpPr/>
          <p:nvPr/>
        </p:nvSpPr>
        <p:spPr>
          <a:xfrm>
            <a:off x="8028432" y="2199132"/>
            <a:ext cx="2743200" cy="155448"/>
          </a:xfrm>
          <a:prstGeom prst="rect">
            <a:avLst/>
          </a:prstGeom>
          <a:noFill/>
          <a:ln/>
        </p:spPr>
        <p:txBody>
          <a:bodyPr wrap="square" lIns="0" tIns="0" rIns="0" bIns="0" rtlCol="0" anchor="ctr">
            <a:normAutofit/>
          </a:bodyPr>
          <a:lstStyle/>
          <a:p>
            <a:pPr marL="0" indent="0" algn="ctr">
              <a:buNone/>
            </a:pPr>
            <a:r>
              <a:rPr lang="en-US" sz="1000" b="1" dirty="0">
                <a:solidFill>
                  <a:srgbClr val="D92332"/>
                </a:solidFill>
                <a:latin typeface="Noto Sans CJK SC" pitchFamily="34" charset="0"/>
                <a:ea typeface="Noto Sans CJK SC" pitchFamily="34" charset="-122"/>
                <a:cs typeface="Noto Sans CJK SC" pitchFamily="34" charset="-120"/>
              </a:rPr>
              <a:t>可能误转为 FP8 / 特殊量化存储类型</a:t>
            </a:r>
            <a:endParaRPr lang="en-US" sz="1000" dirty="0"/>
          </a:p>
        </p:txBody>
      </p:sp>
      <p:sp>
        <p:nvSpPr>
          <p:cNvPr id="68" name="Shape 61">
            <a:extLst>
              <a:ext uri="{FF2B5EF4-FFF2-40B4-BE49-F238E27FC236}">
                <a16:creationId xmlns:a16="http://schemas.microsoft.com/office/drawing/2014/main" id="{997F3801-85E7-7504-D427-BE8683084332}"/>
              </a:ext>
            </a:extLst>
          </p:cNvPr>
          <p:cNvSpPr/>
          <p:nvPr/>
        </p:nvSpPr>
        <p:spPr>
          <a:xfrm>
            <a:off x="6494983" y="2398471"/>
            <a:ext cx="67666" cy="67666"/>
          </a:xfrm>
          <a:prstGeom prst="ellipse">
            <a:avLst/>
          </a:prstGeom>
          <a:solidFill>
            <a:srgbClr val="D92332"/>
          </a:solidFill>
          <a:ln w="12700">
            <a:solidFill>
              <a:srgbClr val="D92332"/>
            </a:solidFill>
            <a:prstDash val="solid"/>
          </a:ln>
        </p:spPr>
      </p:sp>
      <p:sp>
        <p:nvSpPr>
          <p:cNvPr id="69" name="Text 62">
            <a:extLst>
              <a:ext uri="{FF2B5EF4-FFF2-40B4-BE49-F238E27FC236}">
                <a16:creationId xmlns:a16="http://schemas.microsoft.com/office/drawing/2014/main" id="{65D50EBD-808A-4C3E-5647-A906AE19A73C}"/>
              </a:ext>
            </a:extLst>
          </p:cNvPr>
          <p:cNvSpPr/>
          <p:nvPr/>
        </p:nvSpPr>
        <p:spPr>
          <a:xfrm>
            <a:off x="6693408" y="2363724"/>
            <a:ext cx="4956048" cy="150876"/>
          </a:xfrm>
          <a:prstGeom prst="rect">
            <a:avLst/>
          </a:prstGeom>
          <a:noFill/>
          <a:ln/>
        </p:spPr>
        <p:txBody>
          <a:bodyPr wrap="square" lIns="0" tIns="0" rIns="0" bIns="0" rtlCol="0" anchor="ctr">
            <a:normAutofit lnSpcReduction="10000"/>
          </a:bodyPr>
          <a:lstStyle/>
          <a:p>
            <a:pPr marL="0" indent="0">
              <a:buNone/>
            </a:pPr>
            <a:r>
              <a:rPr lang="en-US" sz="1065" dirty="0">
                <a:solidFill>
                  <a:srgbClr val="20344D"/>
                </a:solidFill>
                <a:latin typeface="Noto Sans CJK SC" pitchFamily="34" charset="0"/>
                <a:ea typeface="Noto Sans CJK SC" pitchFamily="34" charset="-122"/>
                <a:cs typeface="Noto Sans CJK SC" pitchFamily="34" charset="-120"/>
              </a:rPr>
              <a:t>量化权重存储 dtype ≠ 激活计算 dtype</a:t>
            </a:r>
            <a:endParaRPr lang="en-US" sz="1065" dirty="0"/>
          </a:p>
        </p:txBody>
      </p:sp>
      <p:sp>
        <p:nvSpPr>
          <p:cNvPr id="70" name="Shape 63">
            <a:extLst>
              <a:ext uri="{FF2B5EF4-FFF2-40B4-BE49-F238E27FC236}">
                <a16:creationId xmlns:a16="http://schemas.microsoft.com/office/drawing/2014/main" id="{9DA2C9D3-0A8C-DDE4-B894-B389E9C81A68}"/>
              </a:ext>
            </a:extLst>
          </p:cNvPr>
          <p:cNvSpPr/>
          <p:nvPr/>
        </p:nvSpPr>
        <p:spPr>
          <a:xfrm>
            <a:off x="6494983" y="2576779"/>
            <a:ext cx="67666" cy="67666"/>
          </a:xfrm>
          <a:prstGeom prst="ellipse">
            <a:avLst/>
          </a:prstGeom>
          <a:solidFill>
            <a:srgbClr val="D92332"/>
          </a:solidFill>
          <a:ln w="12700">
            <a:solidFill>
              <a:srgbClr val="D92332"/>
            </a:solidFill>
            <a:prstDash val="solid"/>
          </a:ln>
        </p:spPr>
      </p:sp>
      <p:sp>
        <p:nvSpPr>
          <p:cNvPr id="71" name="Text 64">
            <a:extLst>
              <a:ext uri="{FF2B5EF4-FFF2-40B4-BE49-F238E27FC236}">
                <a16:creationId xmlns:a16="http://schemas.microsoft.com/office/drawing/2014/main" id="{3A887EB8-3C21-B55F-A8AC-6EB464C92EF0}"/>
              </a:ext>
            </a:extLst>
          </p:cNvPr>
          <p:cNvSpPr/>
          <p:nvPr/>
        </p:nvSpPr>
        <p:spPr>
          <a:xfrm>
            <a:off x="6693408" y="2542032"/>
            <a:ext cx="4956048" cy="150876"/>
          </a:xfrm>
          <a:prstGeom prst="rect">
            <a:avLst/>
          </a:prstGeom>
          <a:noFill/>
          <a:ln/>
        </p:spPr>
        <p:txBody>
          <a:bodyPr wrap="square" lIns="0" tIns="0" rIns="0" bIns="0" rtlCol="0" anchor="ctr">
            <a:normAutofit lnSpcReduction="10000"/>
          </a:bodyPr>
          <a:lstStyle/>
          <a:p>
            <a:pPr marL="0" indent="0">
              <a:buNone/>
            </a:pPr>
            <a:r>
              <a:rPr lang="en-US" sz="1065" dirty="0">
                <a:solidFill>
                  <a:srgbClr val="20344D"/>
                </a:solidFill>
                <a:latin typeface="Noto Sans CJK SC" pitchFamily="34" charset="0"/>
                <a:ea typeface="Noto Sans CJK SC" pitchFamily="34" charset="-122"/>
                <a:cs typeface="Noto Sans CJK SC" pitchFamily="34" charset="-120"/>
              </a:rPr>
              <a:t>直接沿用 weight.dtype，输入可能与 Dynamic Linear 预期不一致</a:t>
            </a:r>
            <a:endParaRPr lang="en-US" sz="1065" dirty="0"/>
          </a:p>
        </p:txBody>
      </p:sp>
      <p:sp>
        <p:nvSpPr>
          <p:cNvPr id="72" name="Shape 65">
            <a:extLst>
              <a:ext uri="{FF2B5EF4-FFF2-40B4-BE49-F238E27FC236}">
                <a16:creationId xmlns:a16="http://schemas.microsoft.com/office/drawing/2014/main" id="{C3AFCC62-2D99-FA56-4A7F-0C68630470D4}"/>
              </a:ext>
            </a:extLst>
          </p:cNvPr>
          <p:cNvSpPr/>
          <p:nvPr/>
        </p:nvSpPr>
        <p:spPr>
          <a:xfrm>
            <a:off x="6494983" y="2755087"/>
            <a:ext cx="67666" cy="67666"/>
          </a:xfrm>
          <a:prstGeom prst="ellipse">
            <a:avLst/>
          </a:prstGeom>
          <a:solidFill>
            <a:srgbClr val="D92332"/>
          </a:solidFill>
          <a:ln w="12700">
            <a:solidFill>
              <a:srgbClr val="D92332"/>
            </a:solidFill>
            <a:prstDash val="solid"/>
          </a:ln>
        </p:spPr>
      </p:sp>
      <p:sp>
        <p:nvSpPr>
          <p:cNvPr id="73" name="Text 66">
            <a:extLst>
              <a:ext uri="{FF2B5EF4-FFF2-40B4-BE49-F238E27FC236}">
                <a16:creationId xmlns:a16="http://schemas.microsoft.com/office/drawing/2014/main" id="{CAD0C53D-856A-2A81-42D2-C5EF3A42C456}"/>
              </a:ext>
            </a:extLst>
          </p:cNvPr>
          <p:cNvSpPr/>
          <p:nvPr/>
        </p:nvSpPr>
        <p:spPr>
          <a:xfrm>
            <a:off x="6693408" y="2720340"/>
            <a:ext cx="4956048" cy="150876"/>
          </a:xfrm>
          <a:prstGeom prst="rect">
            <a:avLst/>
          </a:prstGeom>
          <a:noFill/>
          <a:ln/>
        </p:spPr>
        <p:txBody>
          <a:bodyPr wrap="square" lIns="0" tIns="0" rIns="0" bIns="0" rtlCol="0" anchor="ctr">
            <a:normAutofit lnSpcReduction="10000"/>
          </a:bodyPr>
          <a:lstStyle/>
          <a:p>
            <a:pPr marL="0" indent="0">
              <a:buNone/>
            </a:pPr>
            <a:r>
              <a:rPr lang="en-US" sz="1065" dirty="0">
                <a:solidFill>
                  <a:srgbClr val="20344D"/>
                </a:solidFill>
                <a:latin typeface="Noto Sans CJK SC" pitchFamily="34" charset="0"/>
                <a:ea typeface="Noto Sans CJK SC" pitchFamily="34" charset="-122"/>
                <a:cs typeface="Noto Sans CJK SC" pitchFamily="34" charset="-120"/>
              </a:rPr>
              <a:t>问题发生在进入量化计算之前</a:t>
            </a:r>
            <a:endParaRPr lang="en-US" sz="1065" dirty="0"/>
          </a:p>
        </p:txBody>
      </p:sp>
      <p:sp>
        <p:nvSpPr>
          <p:cNvPr id="74" name="Shape 67">
            <a:extLst>
              <a:ext uri="{FF2B5EF4-FFF2-40B4-BE49-F238E27FC236}">
                <a16:creationId xmlns:a16="http://schemas.microsoft.com/office/drawing/2014/main" id="{6AF69F67-EE03-77D3-4E3D-5DBAFDFF6005}"/>
              </a:ext>
            </a:extLst>
          </p:cNvPr>
          <p:cNvSpPr/>
          <p:nvPr/>
        </p:nvSpPr>
        <p:spPr>
          <a:xfrm>
            <a:off x="6419088" y="2958084"/>
            <a:ext cx="5367528" cy="187452"/>
          </a:xfrm>
          <a:prstGeom prst="roundRect">
            <a:avLst>
              <a:gd name="adj" fmla="val 48780"/>
            </a:avLst>
          </a:prstGeom>
          <a:solidFill>
            <a:srgbClr val="FFF0F0"/>
          </a:solidFill>
          <a:ln w="12700">
            <a:solidFill>
              <a:srgbClr val="FFF0F0"/>
            </a:solidFill>
            <a:prstDash val="solid"/>
          </a:ln>
        </p:spPr>
      </p:sp>
      <p:sp>
        <p:nvSpPr>
          <p:cNvPr id="75" name="Text 68">
            <a:extLst>
              <a:ext uri="{FF2B5EF4-FFF2-40B4-BE49-F238E27FC236}">
                <a16:creationId xmlns:a16="http://schemas.microsoft.com/office/drawing/2014/main" id="{925F8429-B95B-3431-BE38-137536B6CADB}"/>
              </a:ext>
            </a:extLst>
          </p:cNvPr>
          <p:cNvSpPr/>
          <p:nvPr/>
        </p:nvSpPr>
        <p:spPr>
          <a:xfrm>
            <a:off x="6537960" y="2973629"/>
            <a:ext cx="5138928" cy="137160"/>
          </a:xfrm>
          <a:prstGeom prst="rect">
            <a:avLst/>
          </a:prstGeom>
          <a:noFill/>
          <a:ln/>
        </p:spPr>
        <p:txBody>
          <a:bodyPr wrap="square" lIns="0" tIns="0" rIns="0" bIns="0" rtlCol="0" anchor="ctr">
            <a:normAutofit fontScale="92500" lnSpcReduction="10000"/>
          </a:bodyPr>
          <a:lstStyle/>
          <a:p>
            <a:pPr marL="0" indent="0" algn="ctr">
              <a:buNone/>
            </a:pPr>
            <a:r>
              <a:rPr lang="en-US" sz="1065" b="1" dirty="0">
                <a:solidFill>
                  <a:srgbClr val="D92332"/>
                </a:solidFill>
                <a:latin typeface="Noto Sans CJK SC" pitchFamily="34" charset="0"/>
                <a:ea typeface="Noto Sans CJK SC" pitchFamily="34" charset="-122"/>
                <a:cs typeface="Noto Sans CJK SC" pitchFamily="34" charset="-120"/>
              </a:rPr>
              <a:t>本质问题：把量化权重的存储类型误当成激活计算类型。</a:t>
            </a:r>
            <a:endParaRPr lang="en-US" sz="1065" dirty="0"/>
          </a:p>
        </p:txBody>
      </p:sp>
      <p:sp>
        <p:nvSpPr>
          <p:cNvPr id="76" name="Shape 69">
            <a:extLst>
              <a:ext uri="{FF2B5EF4-FFF2-40B4-BE49-F238E27FC236}">
                <a16:creationId xmlns:a16="http://schemas.microsoft.com/office/drawing/2014/main" id="{1D4F817A-748B-C3C1-3B7E-41B2C0EB0EEA}"/>
              </a:ext>
            </a:extLst>
          </p:cNvPr>
          <p:cNvSpPr/>
          <p:nvPr/>
        </p:nvSpPr>
        <p:spPr>
          <a:xfrm>
            <a:off x="416052" y="3803904"/>
            <a:ext cx="210312" cy="210312"/>
          </a:xfrm>
          <a:prstGeom prst="ellipse">
            <a:avLst/>
          </a:prstGeom>
          <a:solidFill>
            <a:srgbClr val="1269B4"/>
          </a:solidFill>
          <a:ln w="12700">
            <a:solidFill>
              <a:srgbClr val="1269B4"/>
            </a:solidFill>
            <a:prstDash val="solid"/>
          </a:ln>
        </p:spPr>
      </p:sp>
      <p:sp>
        <p:nvSpPr>
          <p:cNvPr id="77" name="Text 70">
            <a:extLst>
              <a:ext uri="{FF2B5EF4-FFF2-40B4-BE49-F238E27FC236}">
                <a16:creationId xmlns:a16="http://schemas.microsoft.com/office/drawing/2014/main" id="{B5E14B21-2255-70AC-B0A0-975E907115FD}"/>
              </a:ext>
            </a:extLst>
          </p:cNvPr>
          <p:cNvSpPr/>
          <p:nvPr/>
        </p:nvSpPr>
        <p:spPr>
          <a:xfrm>
            <a:off x="454457" y="3854196"/>
            <a:ext cx="137160" cy="128016"/>
          </a:xfrm>
          <a:prstGeom prst="rect">
            <a:avLst/>
          </a:prstGeom>
          <a:noFill/>
          <a:ln/>
        </p:spPr>
        <p:txBody>
          <a:bodyPr wrap="square" lIns="0" tIns="0" rIns="0" bIns="0" rtlCol="0" anchor="ctr">
            <a:normAutofit fontScale="85000" lnSpcReduction="20000"/>
          </a:bodyPr>
          <a:lstStyle/>
          <a:p>
            <a:pPr marL="0" indent="0" algn="ctr">
              <a:buNone/>
            </a:pPr>
            <a:r>
              <a:rPr lang="en-US" sz="1140" b="1" dirty="0">
                <a:solidFill>
                  <a:srgbClr val="FFFFFF"/>
                </a:solidFill>
                <a:latin typeface="Noto Sans CJK SC" pitchFamily="34" charset="0"/>
                <a:ea typeface="Noto Sans CJK SC" pitchFamily="34" charset="-122"/>
                <a:cs typeface="Noto Sans CJK SC" pitchFamily="34" charset="-120"/>
              </a:rPr>
              <a:t>1</a:t>
            </a:r>
            <a:endParaRPr lang="en-US" sz="1140" dirty="0"/>
          </a:p>
        </p:txBody>
      </p:sp>
      <p:sp>
        <p:nvSpPr>
          <p:cNvPr id="78" name="Text 71">
            <a:extLst>
              <a:ext uri="{FF2B5EF4-FFF2-40B4-BE49-F238E27FC236}">
                <a16:creationId xmlns:a16="http://schemas.microsoft.com/office/drawing/2014/main" id="{414AACEF-2AF4-A61E-8AE4-795EE5CBEC13}"/>
              </a:ext>
            </a:extLst>
          </p:cNvPr>
          <p:cNvSpPr/>
          <p:nvPr/>
        </p:nvSpPr>
        <p:spPr>
          <a:xfrm>
            <a:off x="731520" y="3813048"/>
            <a:ext cx="5276088" cy="201168"/>
          </a:xfrm>
          <a:prstGeom prst="rect">
            <a:avLst/>
          </a:prstGeom>
          <a:noFill/>
          <a:ln/>
        </p:spPr>
        <p:txBody>
          <a:bodyPr wrap="square" lIns="0" tIns="0" rIns="0" bIns="0" rtlCol="0" anchor="ctr">
            <a:normAutofit/>
          </a:bodyPr>
          <a:lstStyle/>
          <a:p>
            <a:pPr marL="0" indent="0">
              <a:buNone/>
            </a:pPr>
            <a:r>
              <a:rPr lang="en-US" sz="1250" b="1" dirty="0">
                <a:solidFill>
                  <a:srgbClr val="102948"/>
                </a:solidFill>
                <a:latin typeface="Noto Sans CJK SC" pitchFamily="34" charset="0"/>
                <a:ea typeface="Noto Sans CJK SC" pitchFamily="34" charset="-122"/>
                <a:cs typeface="Noto Sans CJK SC" pitchFamily="34" charset="-120"/>
              </a:rPr>
              <a:t>获取模型计算 dtype</a:t>
            </a:r>
            <a:endParaRPr lang="en-US" sz="1250" dirty="0"/>
          </a:p>
        </p:txBody>
      </p:sp>
      <p:sp>
        <p:nvSpPr>
          <p:cNvPr id="79" name="Shape 72">
            <a:extLst>
              <a:ext uri="{FF2B5EF4-FFF2-40B4-BE49-F238E27FC236}">
                <a16:creationId xmlns:a16="http://schemas.microsoft.com/office/drawing/2014/main" id="{45FC0B42-5823-4D58-5D3B-0E198E98805A}"/>
              </a:ext>
            </a:extLst>
          </p:cNvPr>
          <p:cNvSpPr/>
          <p:nvPr/>
        </p:nvSpPr>
        <p:spPr>
          <a:xfrm>
            <a:off x="731520" y="4059936"/>
            <a:ext cx="5230368" cy="283464"/>
          </a:xfrm>
          <a:prstGeom prst="roundRect">
            <a:avLst>
              <a:gd name="adj" fmla="val 32258"/>
            </a:avLst>
          </a:prstGeom>
          <a:solidFill>
            <a:srgbClr val="F4F7FA"/>
          </a:solidFill>
          <a:ln w="8255">
            <a:solidFill>
              <a:srgbClr val="E0E7EF"/>
            </a:solidFill>
            <a:prstDash val="solid"/>
          </a:ln>
        </p:spPr>
      </p:sp>
      <p:sp>
        <p:nvSpPr>
          <p:cNvPr id="80" name="Text 73">
            <a:extLst>
              <a:ext uri="{FF2B5EF4-FFF2-40B4-BE49-F238E27FC236}">
                <a16:creationId xmlns:a16="http://schemas.microsoft.com/office/drawing/2014/main" id="{D244ED85-843F-4868-890E-96DC0D23C68C}"/>
              </a:ext>
            </a:extLst>
          </p:cNvPr>
          <p:cNvSpPr/>
          <p:nvPr/>
        </p:nvSpPr>
        <p:spPr>
          <a:xfrm>
            <a:off x="877824" y="4126687"/>
            <a:ext cx="4882896" cy="118872"/>
          </a:xfrm>
          <a:prstGeom prst="rect">
            <a:avLst/>
          </a:prstGeom>
          <a:noFill/>
          <a:ln/>
        </p:spPr>
        <p:txBody>
          <a:bodyPr wrap="square" lIns="0" tIns="0" rIns="0" bIns="0" rtlCol="0" anchor="ctr">
            <a:normAutofit fontScale="92500" lnSpcReduction="10000"/>
          </a:bodyPr>
          <a:lstStyle/>
          <a:p>
            <a:pPr marL="0" indent="0">
              <a:buNone/>
            </a:pPr>
            <a:r>
              <a:rPr lang="en-US" sz="905" dirty="0">
                <a:solidFill>
                  <a:srgbClr val="1269B4"/>
                </a:solidFill>
                <a:latin typeface="DejaVu Sans Mono" pitchFamily="34" charset="0"/>
                <a:ea typeface="DejaVu Sans Mono" pitchFamily="34" charset="-122"/>
                <a:cs typeface="DejaVu Sans Mono" pitchFamily="34" charset="-120"/>
              </a:rPr>
              <a:t>self.model_dtype = vllm_config.model_config.dtype</a:t>
            </a:r>
            <a:endParaRPr lang="en-US" sz="905" dirty="0"/>
          </a:p>
        </p:txBody>
      </p:sp>
      <p:sp>
        <p:nvSpPr>
          <p:cNvPr id="81" name="Shape 74">
            <a:extLst>
              <a:ext uri="{FF2B5EF4-FFF2-40B4-BE49-F238E27FC236}">
                <a16:creationId xmlns:a16="http://schemas.microsoft.com/office/drawing/2014/main" id="{FD13B5AD-9114-8A48-3F24-90150A8CE101}"/>
              </a:ext>
            </a:extLst>
          </p:cNvPr>
          <p:cNvSpPr/>
          <p:nvPr/>
        </p:nvSpPr>
        <p:spPr>
          <a:xfrm>
            <a:off x="416052" y="4416552"/>
            <a:ext cx="210312" cy="210312"/>
          </a:xfrm>
          <a:prstGeom prst="ellipse">
            <a:avLst/>
          </a:prstGeom>
          <a:solidFill>
            <a:srgbClr val="1269B4"/>
          </a:solidFill>
          <a:ln w="12700">
            <a:solidFill>
              <a:srgbClr val="1269B4"/>
            </a:solidFill>
            <a:prstDash val="solid"/>
          </a:ln>
        </p:spPr>
      </p:sp>
      <p:sp>
        <p:nvSpPr>
          <p:cNvPr id="82" name="Text 75">
            <a:extLst>
              <a:ext uri="{FF2B5EF4-FFF2-40B4-BE49-F238E27FC236}">
                <a16:creationId xmlns:a16="http://schemas.microsoft.com/office/drawing/2014/main" id="{66C2A7B7-CEC0-C3A6-4AE6-C096B5728CC7}"/>
              </a:ext>
            </a:extLst>
          </p:cNvPr>
          <p:cNvSpPr/>
          <p:nvPr/>
        </p:nvSpPr>
        <p:spPr>
          <a:xfrm>
            <a:off x="454457" y="4466844"/>
            <a:ext cx="137160" cy="128016"/>
          </a:xfrm>
          <a:prstGeom prst="rect">
            <a:avLst/>
          </a:prstGeom>
          <a:noFill/>
          <a:ln/>
        </p:spPr>
        <p:txBody>
          <a:bodyPr wrap="square" lIns="0" tIns="0" rIns="0" bIns="0" rtlCol="0" anchor="ctr">
            <a:normAutofit fontScale="85000" lnSpcReduction="20000"/>
          </a:bodyPr>
          <a:lstStyle/>
          <a:p>
            <a:pPr marL="0" indent="0" algn="ctr">
              <a:buNone/>
            </a:pPr>
            <a:r>
              <a:rPr lang="en-US" sz="1140" b="1" dirty="0">
                <a:solidFill>
                  <a:srgbClr val="FFFFFF"/>
                </a:solidFill>
                <a:latin typeface="Noto Sans CJK SC" pitchFamily="34" charset="0"/>
                <a:ea typeface="Noto Sans CJK SC" pitchFamily="34" charset="-122"/>
                <a:cs typeface="Noto Sans CJK SC" pitchFamily="34" charset="-120"/>
              </a:rPr>
              <a:t>2</a:t>
            </a:r>
            <a:endParaRPr lang="en-US" sz="1140" dirty="0"/>
          </a:p>
        </p:txBody>
      </p:sp>
      <p:sp>
        <p:nvSpPr>
          <p:cNvPr id="83" name="Text 76">
            <a:extLst>
              <a:ext uri="{FF2B5EF4-FFF2-40B4-BE49-F238E27FC236}">
                <a16:creationId xmlns:a16="http://schemas.microsoft.com/office/drawing/2014/main" id="{433FB63C-54D9-9EF6-2F3B-B6587D3CE8B0}"/>
              </a:ext>
            </a:extLst>
          </p:cNvPr>
          <p:cNvSpPr/>
          <p:nvPr/>
        </p:nvSpPr>
        <p:spPr>
          <a:xfrm>
            <a:off x="731520" y="4425696"/>
            <a:ext cx="5276088" cy="201168"/>
          </a:xfrm>
          <a:prstGeom prst="rect">
            <a:avLst/>
          </a:prstGeom>
          <a:noFill/>
          <a:ln/>
        </p:spPr>
        <p:txBody>
          <a:bodyPr wrap="square" lIns="0" tIns="0" rIns="0" bIns="0" rtlCol="0" anchor="ctr">
            <a:normAutofit/>
          </a:bodyPr>
          <a:lstStyle/>
          <a:p>
            <a:pPr marL="0" indent="0">
              <a:buNone/>
            </a:pPr>
            <a:r>
              <a:rPr lang="en-US" sz="1250" b="1" dirty="0">
                <a:solidFill>
                  <a:srgbClr val="102948"/>
                </a:solidFill>
                <a:latin typeface="Noto Sans CJK SC" pitchFamily="34" charset="0"/>
                <a:ea typeface="Noto Sans CJK SC" pitchFamily="34" charset="-122"/>
                <a:cs typeface="Noto Sans CJK SC" pitchFamily="34" charset="-120"/>
              </a:rPr>
              <a:t>识别实际量化方法</a:t>
            </a:r>
            <a:endParaRPr lang="en-US" sz="1250" dirty="0"/>
          </a:p>
        </p:txBody>
      </p:sp>
      <p:sp>
        <p:nvSpPr>
          <p:cNvPr id="84" name="Shape 77">
            <a:extLst>
              <a:ext uri="{FF2B5EF4-FFF2-40B4-BE49-F238E27FC236}">
                <a16:creationId xmlns:a16="http://schemas.microsoft.com/office/drawing/2014/main" id="{2AB7382C-039E-7A63-01F0-07AD1F19492B}"/>
              </a:ext>
            </a:extLst>
          </p:cNvPr>
          <p:cNvSpPr/>
          <p:nvPr/>
        </p:nvSpPr>
        <p:spPr>
          <a:xfrm>
            <a:off x="731520" y="4672584"/>
            <a:ext cx="5230368" cy="566928"/>
          </a:xfrm>
          <a:prstGeom prst="roundRect">
            <a:avLst>
              <a:gd name="adj" fmla="val 16129"/>
            </a:avLst>
          </a:prstGeom>
          <a:solidFill>
            <a:srgbClr val="F4F7FA"/>
          </a:solidFill>
          <a:ln w="8255">
            <a:solidFill>
              <a:srgbClr val="E0E7EF"/>
            </a:solidFill>
            <a:prstDash val="solid"/>
          </a:ln>
        </p:spPr>
      </p:sp>
      <p:sp>
        <p:nvSpPr>
          <p:cNvPr id="85" name="Text 78">
            <a:extLst>
              <a:ext uri="{FF2B5EF4-FFF2-40B4-BE49-F238E27FC236}">
                <a16:creationId xmlns:a16="http://schemas.microsoft.com/office/drawing/2014/main" id="{B9CB76D4-FDB5-8C17-DDD1-74676EC65A64}"/>
              </a:ext>
            </a:extLst>
          </p:cNvPr>
          <p:cNvSpPr/>
          <p:nvPr/>
        </p:nvSpPr>
        <p:spPr>
          <a:xfrm>
            <a:off x="886968" y="4768596"/>
            <a:ext cx="4837176" cy="137160"/>
          </a:xfrm>
          <a:prstGeom prst="rect">
            <a:avLst/>
          </a:prstGeom>
          <a:noFill/>
          <a:ln/>
        </p:spPr>
        <p:txBody>
          <a:bodyPr wrap="square" lIns="0" tIns="0" rIns="0" bIns="0" rtlCol="0" anchor="ctr">
            <a:normAutofit/>
          </a:bodyPr>
          <a:lstStyle/>
          <a:p>
            <a:pPr marL="0" indent="0">
              <a:buNone/>
            </a:pPr>
            <a:r>
              <a:rPr lang="en-US" sz="877" dirty="0">
                <a:solidFill>
                  <a:srgbClr val="20344D"/>
                </a:solidFill>
                <a:latin typeface="DejaVu Sans Mono" pitchFamily="34" charset="0"/>
                <a:ea typeface="DejaVu Sans Mono" pitchFamily="34" charset="-122"/>
                <a:cs typeface="DejaVu Sans Mono" pitchFamily="34" charset="-120"/>
              </a:rPr>
              <a:t>linear_method = patch_embedder.input_proj.quant_method</a:t>
            </a:r>
            <a:endParaRPr lang="en-US" sz="877" dirty="0"/>
          </a:p>
        </p:txBody>
      </p:sp>
      <p:sp>
        <p:nvSpPr>
          <p:cNvPr id="86" name="Text 79">
            <a:extLst>
              <a:ext uri="{FF2B5EF4-FFF2-40B4-BE49-F238E27FC236}">
                <a16:creationId xmlns:a16="http://schemas.microsoft.com/office/drawing/2014/main" id="{0B1F37F8-8649-FCBE-AB02-CDE4A2A9DF55}"/>
              </a:ext>
            </a:extLst>
          </p:cNvPr>
          <p:cNvSpPr/>
          <p:nvPr/>
        </p:nvSpPr>
        <p:spPr>
          <a:xfrm>
            <a:off x="886968" y="4956048"/>
            <a:ext cx="4846320" cy="146304"/>
          </a:xfrm>
          <a:prstGeom prst="rect">
            <a:avLst/>
          </a:prstGeom>
          <a:noFill/>
          <a:ln/>
        </p:spPr>
        <p:txBody>
          <a:bodyPr wrap="square" lIns="0" tIns="0" rIns="0" bIns="0" rtlCol="0" anchor="ctr">
            <a:normAutofit/>
          </a:bodyPr>
          <a:lstStyle/>
          <a:p>
            <a:pPr marL="0" indent="0">
              <a:buNone/>
            </a:pPr>
            <a:r>
              <a:rPr lang="en-US" sz="820" dirty="0">
                <a:solidFill>
                  <a:srgbClr val="1269B4"/>
                </a:solidFill>
                <a:latin typeface="DejaVu Sans Mono" pitchFamily="34" charset="0"/>
                <a:ea typeface="DejaVu Sans Mono" pitchFamily="34" charset="-122"/>
                <a:cs typeface="DejaVu Sans Mono" pitchFamily="34" charset="-120"/>
              </a:rPr>
              <a:t>actual_method = getattr(linear_method, "quant_method", linear_method)</a:t>
            </a:r>
            <a:endParaRPr lang="en-US" sz="820" dirty="0"/>
          </a:p>
        </p:txBody>
      </p:sp>
      <p:sp>
        <p:nvSpPr>
          <p:cNvPr id="87" name="Text 80">
            <a:extLst>
              <a:ext uri="{FF2B5EF4-FFF2-40B4-BE49-F238E27FC236}">
                <a16:creationId xmlns:a16="http://schemas.microsoft.com/office/drawing/2014/main" id="{8F615B77-E609-8E88-8313-877593464D2E}"/>
              </a:ext>
            </a:extLst>
          </p:cNvPr>
          <p:cNvSpPr/>
          <p:nvPr/>
        </p:nvSpPr>
        <p:spPr>
          <a:xfrm>
            <a:off x="777240" y="5287061"/>
            <a:ext cx="5120640" cy="155448"/>
          </a:xfrm>
          <a:prstGeom prst="rect">
            <a:avLst/>
          </a:prstGeom>
          <a:noFill/>
          <a:ln/>
        </p:spPr>
        <p:txBody>
          <a:bodyPr wrap="square" lIns="0" tIns="0" rIns="0" bIns="0" rtlCol="0" anchor="ctr">
            <a:normAutofit lnSpcReduction="10000"/>
          </a:bodyPr>
          <a:lstStyle/>
          <a:p>
            <a:pPr marL="0" indent="0">
              <a:buNone/>
            </a:pPr>
            <a:r>
              <a:rPr lang="en-US" sz="1030" b="1" dirty="0">
                <a:solidFill>
                  <a:srgbClr val="1269B4"/>
                </a:solidFill>
                <a:latin typeface="Noto Sans CJK SC" pitchFamily="34" charset="0"/>
                <a:ea typeface="Noto Sans CJK SC" pitchFamily="34" charset="-122"/>
                <a:cs typeface="Noto Sans CJK SC" pitchFamily="34" charset="-120"/>
              </a:rPr>
              <a:t>先解包 AscendLinearMethod，再判断 MXFP4 / MXFP8。</a:t>
            </a:r>
            <a:endParaRPr lang="en-US" sz="1030" dirty="0"/>
          </a:p>
        </p:txBody>
      </p:sp>
      <p:sp>
        <p:nvSpPr>
          <p:cNvPr id="88" name="Shape 81">
            <a:extLst>
              <a:ext uri="{FF2B5EF4-FFF2-40B4-BE49-F238E27FC236}">
                <a16:creationId xmlns:a16="http://schemas.microsoft.com/office/drawing/2014/main" id="{4D34B458-48D8-3DF9-378D-387FC6B9005D}"/>
              </a:ext>
            </a:extLst>
          </p:cNvPr>
          <p:cNvSpPr/>
          <p:nvPr/>
        </p:nvSpPr>
        <p:spPr>
          <a:xfrm>
            <a:off x="416052" y="5486400"/>
            <a:ext cx="210312" cy="210312"/>
          </a:xfrm>
          <a:prstGeom prst="ellipse">
            <a:avLst/>
          </a:prstGeom>
          <a:solidFill>
            <a:srgbClr val="1269B4"/>
          </a:solidFill>
          <a:ln w="12700">
            <a:solidFill>
              <a:srgbClr val="1269B4"/>
            </a:solidFill>
            <a:prstDash val="solid"/>
          </a:ln>
        </p:spPr>
      </p:sp>
      <p:sp>
        <p:nvSpPr>
          <p:cNvPr id="89" name="Text 82">
            <a:extLst>
              <a:ext uri="{FF2B5EF4-FFF2-40B4-BE49-F238E27FC236}">
                <a16:creationId xmlns:a16="http://schemas.microsoft.com/office/drawing/2014/main" id="{CF818886-8B96-CB21-5FB0-0441F69D19D6}"/>
              </a:ext>
            </a:extLst>
          </p:cNvPr>
          <p:cNvSpPr/>
          <p:nvPr/>
        </p:nvSpPr>
        <p:spPr>
          <a:xfrm>
            <a:off x="454457" y="5536692"/>
            <a:ext cx="137160" cy="128016"/>
          </a:xfrm>
          <a:prstGeom prst="rect">
            <a:avLst/>
          </a:prstGeom>
          <a:noFill/>
          <a:ln/>
        </p:spPr>
        <p:txBody>
          <a:bodyPr wrap="square" lIns="0" tIns="0" rIns="0" bIns="0" rtlCol="0" anchor="ctr">
            <a:normAutofit fontScale="85000" lnSpcReduction="20000"/>
          </a:bodyPr>
          <a:lstStyle/>
          <a:p>
            <a:pPr marL="0" indent="0" algn="ctr">
              <a:buNone/>
            </a:pPr>
            <a:r>
              <a:rPr lang="en-US" sz="1140" b="1" dirty="0">
                <a:solidFill>
                  <a:srgbClr val="FFFFFF"/>
                </a:solidFill>
                <a:latin typeface="Noto Sans CJK SC" pitchFamily="34" charset="0"/>
                <a:ea typeface="Noto Sans CJK SC" pitchFamily="34" charset="-122"/>
                <a:cs typeface="Noto Sans CJK SC" pitchFamily="34" charset="-120"/>
              </a:rPr>
              <a:t>3</a:t>
            </a:r>
            <a:endParaRPr lang="en-US" sz="1140" dirty="0"/>
          </a:p>
        </p:txBody>
      </p:sp>
      <p:sp>
        <p:nvSpPr>
          <p:cNvPr id="90" name="Text 83">
            <a:extLst>
              <a:ext uri="{FF2B5EF4-FFF2-40B4-BE49-F238E27FC236}">
                <a16:creationId xmlns:a16="http://schemas.microsoft.com/office/drawing/2014/main" id="{C43D6ACD-ED5D-3350-D906-5E3A3C5C6B84}"/>
              </a:ext>
            </a:extLst>
          </p:cNvPr>
          <p:cNvSpPr/>
          <p:nvPr/>
        </p:nvSpPr>
        <p:spPr>
          <a:xfrm>
            <a:off x="731520" y="5495544"/>
            <a:ext cx="5276088" cy="201168"/>
          </a:xfrm>
          <a:prstGeom prst="rect">
            <a:avLst/>
          </a:prstGeom>
          <a:noFill/>
          <a:ln/>
        </p:spPr>
        <p:txBody>
          <a:bodyPr wrap="square" lIns="0" tIns="0" rIns="0" bIns="0" rtlCol="0" anchor="ctr">
            <a:normAutofit/>
          </a:bodyPr>
          <a:lstStyle/>
          <a:p>
            <a:pPr marL="0" indent="0">
              <a:buNone/>
            </a:pPr>
            <a:r>
              <a:rPr lang="en-US" sz="1250" b="1" dirty="0">
                <a:solidFill>
                  <a:srgbClr val="102948"/>
                </a:solidFill>
                <a:latin typeface="Noto Sans CJK SC" pitchFamily="34" charset="0"/>
                <a:ea typeface="Noto Sans CJK SC" pitchFamily="34" charset="-122"/>
                <a:cs typeface="Noto Sans CJK SC" pitchFamily="34" charset="-120"/>
              </a:rPr>
              <a:t>替换 Patch Embedder Forward：修正激活 dtype</a:t>
            </a:r>
            <a:endParaRPr lang="en-US" sz="1250" dirty="0"/>
          </a:p>
        </p:txBody>
      </p:sp>
      <p:sp>
        <p:nvSpPr>
          <p:cNvPr id="91" name="Shape 84">
            <a:extLst>
              <a:ext uri="{FF2B5EF4-FFF2-40B4-BE49-F238E27FC236}">
                <a16:creationId xmlns:a16="http://schemas.microsoft.com/office/drawing/2014/main" id="{B762FC1F-C60A-B813-9822-2B0A4D6E84C8}"/>
              </a:ext>
            </a:extLst>
          </p:cNvPr>
          <p:cNvSpPr/>
          <p:nvPr/>
        </p:nvSpPr>
        <p:spPr>
          <a:xfrm>
            <a:off x="731520" y="5751576"/>
            <a:ext cx="2340864" cy="557784"/>
          </a:xfrm>
          <a:prstGeom prst="roundRect">
            <a:avLst>
              <a:gd name="adj" fmla="val 16393"/>
            </a:avLst>
          </a:prstGeom>
          <a:solidFill>
            <a:srgbClr val="F6F7F8"/>
          </a:solidFill>
          <a:ln w="8890">
            <a:solidFill>
              <a:srgbClr val="D9E1E8"/>
            </a:solidFill>
            <a:prstDash val="solid"/>
          </a:ln>
        </p:spPr>
      </p:sp>
      <p:sp>
        <p:nvSpPr>
          <p:cNvPr id="92" name="Shape 85">
            <a:extLst>
              <a:ext uri="{FF2B5EF4-FFF2-40B4-BE49-F238E27FC236}">
                <a16:creationId xmlns:a16="http://schemas.microsoft.com/office/drawing/2014/main" id="{4B6A3FED-CD60-AC1F-37BF-3291002CC03F}"/>
              </a:ext>
            </a:extLst>
          </p:cNvPr>
          <p:cNvSpPr/>
          <p:nvPr/>
        </p:nvSpPr>
        <p:spPr>
          <a:xfrm>
            <a:off x="731520" y="5751576"/>
            <a:ext cx="2340864" cy="164592"/>
          </a:xfrm>
          <a:prstGeom prst="roundRect">
            <a:avLst>
              <a:gd name="adj" fmla="val 55556"/>
            </a:avLst>
          </a:prstGeom>
          <a:solidFill>
            <a:srgbClr val="E5EBF1"/>
          </a:solidFill>
          <a:ln w="12700">
            <a:solidFill>
              <a:srgbClr val="E5EBF1"/>
            </a:solidFill>
            <a:prstDash val="solid"/>
          </a:ln>
        </p:spPr>
      </p:sp>
      <p:sp>
        <p:nvSpPr>
          <p:cNvPr id="93" name="Text 86">
            <a:extLst>
              <a:ext uri="{FF2B5EF4-FFF2-40B4-BE49-F238E27FC236}">
                <a16:creationId xmlns:a16="http://schemas.microsoft.com/office/drawing/2014/main" id="{3C71C789-463F-070C-85AF-FC35DD4D1A5D}"/>
              </a:ext>
            </a:extLst>
          </p:cNvPr>
          <p:cNvSpPr/>
          <p:nvPr/>
        </p:nvSpPr>
        <p:spPr>
          <a:xfrm>
            <a:off x="850392" y="5783580"/>
            <a:ext cx="2011680" cy="118872"/>
          </a:xfrm>
          <a:prstGeom prst="rect">
            <a:avLst/>
          </a:prstGeom>
          <a:noFill/>
          <a:ln/>
        </p:spPr>
        <p:txBody>
          <a:bodyPr wrap="square" lIns="0" tIns="0" rIns="0" bIns="0" rtlCol="0" anchor="ctr">
            <a:normAutofit fontScale="92500" lnSpcReduction="20000"/>
          </a:bodyPr>
          <a:lstStyle/>
          <a:p>
            <a:pPr marL="0" indent="0">
              <a:buNone/>
            </a:pPr>
            <a:r>
              <a:rPr lang="en-US" sz="970" b="1" dirty="0">
                <a:solidFill>
                  <a:srgbClr val="66798E"/>
                </a:solidFill>
                <a:latin typeface="Noto Sans CJK SC" pitchFamily="34" charset="0"/>
                <a:ea typeface="Noto Sans CJK SC" pitchFamily="34" charset="-122"/>
                <a:cs typeface="Noto Sans CJK SC" pitchFamily="34" charset="-120"/>
              </a:rPr>
              <a:t>修改前</a:t>
            </a:r>
            <a:endParaRPr lang="en-US" sz="970" dirty="0"/>
          </a:p>
        </p:txBody>
      </p:sp>
      <p:sp>
        <p:nvSpPr>
          <p:cNvPr id="94" name="Text 87">
            <a:extLst>
              <a:ext uri="{FF2B5EF4-FFF2-40B4-BE49-F238E27FC236}">
                <a16:creationId xmlns:a16="http://schemas.microsoft.com/office/drawing/2014/main" id="{DA5F9AD9-5B45-BB2E-128E-FC62E59A007D}"/>
              </a:ext>
            </a:extLst>
          </p:cNvPr>
          <p:cNvSpPr/>
          <p:nvPr/>
        </p:nvSpPr>
        <p:spPr>
          <a:xfrm>
            <a:off x="859536" y="5972861"/>
            <a:ext cx="2048256" cy="118872"/>
          </a:xfrm>
          <a:prstGeom prst="rect">
            <a:avLst/>
          </a:prstGeom>
          <a:noFill/>
          <a:ln/>
        </p:spPr>
        <p:txBody>
          <a:bodyPr wrap="square" lIns="0" tIns="0" rIns="0" bIns="0" rtlCol="0" anchor="ctr">
            <a:normAutofit fontScale="92500" lnSpcReduction="10000"/>
          </a:bodyPr>
          <a:lstStyle/>
          <a:p>
            <a:pPr marL="0" indent="0">
              <a:buNone/>
            </a:pPr>
            <a:r>
              <a:rPr lang="en-US" sz="900" dirty="0">
                <a:solidFill>
                  <a:srgbClr val="20344D"/>
                </a:solidFill>
                <a:latin typeface="DejaVu Sans Mono" pitchFamily="34" charset="0"/>
                <a:ea typeface="DejaVu Sans Mono" pitchFamily="34" charset="-122"/>
                <a:cs typeface="DejaVu Sans Mono" pitchFamily="34" charset="-120"/>
              </a:rPr>
              <a:t>pixel_values.to(</a:t>
            </a:r>
            <a:endParaRPr lang="en-US" sz="900" dirty="0"/>
          </a:p>
        </p:txBody>
      </p:sp>
      <p:sp>
        <p:nvSpPr>
          <p:cNvPr id="95" name="Text 88">
            <a:extLst>
              <a:ext uri="{FF2B5EF4-FFF2-40B4-BE49-F238E27FC236}">
                <a16:creationId xmlns:a16="http://schemas.microsoft.com/office/drawing/2014/main" id="{7C54FD6D-9E64-E90B-B0ED-F2DD90DE267F}"/>
              </a:ext>
            </a:extLst>
          </p:cNvPr>
          <p:cNvSpPr/>
          <p:nvPr/>
        </p:nvSpPr>
        <p:spPr>
          <a:xfrm>
            <a:off x="859536" y="6131052"/>
            <a:ext cx="2048256" cy="114300"/>
          </a:xfrm>
          <a:prstGeom prst="rect">
            <a:avLst/>
          </a:prstGeom>
          <a:noFill/>
          <a:ln/>
        </p:spPr>
        <p:txBody>
          <a:bodyPr wrap="square" lIns="0" tIns="0" rIns="0" bIns="0" rtlCol="0" anchor="ctr">
            <a:normAutofit fontScale="92500" lnSpcReduction="10000"/>
          </a:bodyPr>
          <a:lstStyle/>
          <a:p>
            <a:pPr marL="0" indent="0">
              <a:buNone/>
            </a:pPr>
            <a:r>
              <a:rPr lang="en-US" sz="870" b="1" dirty="0">
                <a:solidFill>
                  <a:srgbClr val="D92332"/>
                </a:solidFill>
                <a:latin typeface="DejaVu Sans Mono" pitchFamily="34" charset="0"/>
                <a:ea typeface="DejaVu Sans Mono" pitchFamily="34" charset="-122"/>
                <a:cs typeface="DejaVu Sans Mono" pitchFamily="34" charset="-120"/>
              </a:rPr>
              <a:t>  input_proj.weight.dtype)</a:t>
            </a:r>
            <a:endParaRPr lang="en-US" sz="870" dirty="0"/>
          </a:p>
        </p:txBody>
      </p:sp>
      <p:sp>
        <p:nvSpPr>
          <p:cNvPr id="96" name="Shape 89">
            <a:extLst>
              <a:ext uri="{FF2B5EF4-FFF2-40B4-BE49-F238E27FC236}">
                <a16:creationId xmlns:a16="http://schemas.microsoft.com/office/drawing/2014/main" id="{1F803676-0B90-C9C5-3A89-5B984F71BD54}"/>
              </a:ext>
            </a:extLst>
          </p:cNvPr>
          <p:cNvSpPr/>
          <p:nvPr/>
        </p:nvSpPr>
        <p:spPr>
          <a:xfrm>
            <a:off x="3145536" y="6053328"/>
            <a:ext cx="301752" cy="0"/>
          </a:xfrm>
          <a:prstGeom prst="line">
            <a:avLst/>
          </a:prstGeom>
          <a:noFill/>
          <a:ln w="21590">
            <a:solidFill>
              <a:srgbClr val="1269B4"/>
            </a:solidFill>
            <a:prstDash val="solid"/>
            <a:headEnd type="none"/>
            <a:tailEnd type="triangle"/>
          </a:ln>
        </p:spPr>
      </p:sp>
      <p:sp>
        <p:nvSpPr>
          <p:cNvPr id="97" name="Shape 90">
            <a:extLst>
              <a:ext uri="{FF2B5EF4-FFF2-40B4-BE49-F238E27FC236}">
                <a16:creationId xmlns:a16="http://schemas.microsoft.com/office/drawing/2014/main" id="{D312045D-F1C0-C588-B9E3-AF6526C38AE1}"/>
              </a:ext>
            </a:extLst>
          </p:cNvPr>
          <p:cNvSpPr/>
          <p:nvPr/>
        </p:nvSpPr>
        <p:spPr>
          <a:xfrm>
            <a:off x="3529584" y="5751576"/>
            <a:ext cx="2432304" cy="557784"/>
          </a:xfrm>
          <a:prstGeom prst="roundRect">
            <a:avLst>
              <a:gd name="adj" fmla="val 16393"/>
            </a:avLst>
          </a:prstGeom>
          <a:solidFill>
            <a:srgbClr val="F0F8FF"/>
          </a:solidFill>
          <a:ln w="8890">
            <a:solidFill>
              <a:srgbClr val="BEDCF3"/>
            </a:solidFill>
            <a:prstDash val="solid"/>
          </a:ln>
        </p:spPr>
      </p:sp>
      <p:sp>
        <p:nvSpPr>
          <p:cNvPr id="98" name="Shape 91">
            <a:extLst>
              <a:ext uri="{FF2B5EF4-FFF2-40B4-BE49-F238E27FC236}">
                <a16:creationId xmlns:a16="http://schemas.microsoft.com/office/drawing/2014/main" id="{59434956-0C55-4171-8383-45BA6F473C3E}"/>
              </a:ext>
            </a:extLst>
          </p:cNvPr>
          <p:cNvSpPr/>
          <p:nvPr/>
        </p:nvSpPr>
        <p:spPr>
          <a:xfrm>
            <a:off x="3529584" y="5751576"/>
            <a:ext cx="2432304" cy="164592"/>
          </a:xfrm>
          <a:prstGeom prst="roundRect">
            <a:avLst>
              <a:gd name="adj" fmla="val 55556"/>
            </a:avLst>
          </a:prstGeom>
          <a:solidFill>
            <a:srgbClr val="D8EEFF"/>
          </a:solidFill>
          <a:ln w="12700">
            <a:solidFill>
              <a:srgbClr val="D8EEFF"/>
            </a:solidFill>
            <a:prstDash val="solid"/>
          </a:ln>
        </p:spPr>
      </p:sp>
      <p:sp>
        <p:nvSpPr>
          <p:cNvPr id="99" name="Text 92">
            <a:extLst>
              <a:ext uri="{FF2B5EF4-FFF2-40B4-BE49-F238E27FC236}">
                <a16:creationId xmlns:a16="http://schemas.microsoft.com/office/drawing/2014/main" id="{1AAA0CF9-4FBA-5DEB-EDB7-D748D3674DA9}"/>
              </a:ext>
            </a:extLst>
          </p:cNvPr>
          <p:cNvSpPr/>
          <p:nvPr/>
        </p:nvSpPr>
        <p:spPr>
          <a:xfrm>
            <a:off x="3648456" y="5783580"/>
            <a:ext cx="2103120" cy="118872"/>
          </a:xfrm>
          <a:prstGeom prst="rect">
            <a:avLst/>
          </a:prstGeom>
          <a:noFill/>
          <a:ln/>
        </p:spPr>
        <p:txBody>
          <a:bodyPr wrap="square" lIns="0" tIns="0" rIns="0" bIns="0" rtlCol="0" anchor="ctr">
            <a:normAutofit fontScale="92500" lnSpcReduction="20000"/>
          </a:bodyPr>
          <a:lstStyle/>
          <a:p>
            <a:pPr marL="0" indent="0">
              <a:buNone/>
            </a:pPr>
            <a:r>
              <a:rPr lang="en-US" sz="970" b="1" dirty="0">
                <a:solidFill>
                  <a:srgbClr val="1269B4"/>
                </a:solidFill>
                <a:latin typeface="Noto Sans CJK SC" pitchFamily="34" charset="0"/>
                <a:ea typeface="Noto Sans CJK SC" pitchFamily="34" charset="-122"/>
                <a:cs typeface="Noto Sans CJK SC" pitchFamily="34" charset="-120"/>
              </a:rPr>
              <a:t>修改后</a:t>
            </a:r>
            <a:endParaRPr lang="en-US" sz="970" dirty="0"/>
          </a:p>
        </p:txBody>
      </p:sp>
      <p:sp>
        <p:nvSpPr>
          <p:cNvPr id="100" name="Text 93">
            <a:extLst>
              <a:ext uri="{FF2B5EF4-FFF2-40B4-BE49-F238E27FC236}">
                <a16:creationId xmlns:a16="http://schemas.microsoft.com/office/drawing/2014/main" id="{093B5E79-B911-9FE3-FC5B-BE1AB1771CE8}"/>
              </a:ext>
            </a:extLst>
          </p:cNvPr>
          <p:cNvSpPr/>
          <p:nvPr/>
        </p:nvSpPr>
        <p:spPr>
          <a:xfrm>
            <a:off x="3657600" y="5966460"/>
            <a:ext cx="2167128" cy="118872"/>
          </a:xfrm>
          <a:prstGeom prst="rect">
            <a:avLst/>
          </a:prstGeom>
          <a:noFill/>
          <a:ln/>
        </p:spPr>
        <p:txBody>
          <a:bodyPr wrap="square" lIns="0" tIns="0" rIns="0" bIns="0" rtlCol="0" anchor="ctr">
            <a:normAutofit fontScale="92500" lnSpcReduction="10000"/>
          </a:bodyPr>
          <a:lstStyle/>
          <a:p>
            <a:pPr marL="0" indent="0">
              <a:buNone/>
            </a:pPr>
            <a:r>
              <a:rPr lang="en-US" sz="900" dirty="0">
                <a:solidFill>
                  <a:srgbClr val="20344D"/>
                </a:solidFill>
                <a:latin typeface="DejaVu Sans Mono" pitchFamily="34" charset="0"/>
                <a:ea typeface="DejaVu Sans Mono" pitchFamily="34" charset="-122"/>
                <a:cs typeface="DejaVu Sans Mono" pitchFamily="34" charset="-120"/>
              </a:rPr>
              <a:t>pixel_values.to(</a:t>
            </a:r>
            <a:endParaRPr lang="en-US" sz="900" dirty="0"/>
          </a:p>
        </p:txBody>
      </p:sp>
      <p:sp>
        <p:nvSpPr>
          <p:cNvPr id="101" name="Text 94">
            <a:extLst>
              <a:ext uri="{FF2B5EF4-FFF2-40B4-BE49-F238E27FC236}">
                <a16:creationId xmlns:a16="http://schemas.microsoft.com/office/drawing/2014/main" id="{235DEB3D-5A1B-225C-C303-744FB8D6BDE2}"/>
              </a:ext>
            </a:extLst>
          </p:cNvPr>
          <p:cNvSpPr/>
          <p:nvPr/>
        </p:nvSpPr>
        <p:spPr>
          <a:xfrm>
            <a:off x="3657600" y="6130138"/>
            <a:ext cx="2176272" cy="118872"/>
          </a:xfrm>
          <a:prstGeom prst="rect">
            <a:avLst/>
          </a:prstGeom>
          <a:noFill/>
          <a:ln/>
        </p:spPr>
        <p:txBody>
          <a:bodyPr wrap="square" lIns="0" tIns="0" rIns="0" bIns="0" rtlCol="0" anchor="ctr">
            <a:normAutofit lnSpcReduction="10000"/>
          </a:bodyPr>
          <a:lstStyle/>
          <a:p>
            <a:pPr marL="0" indent="0">
              <a:buNone/>
            </a:pPr>
            <a:r>
              <a:rPr lang="en-US" sz="820" b="1" dirty="0">
                <a:solidFill>
                  <a:srgbClr val="1269B4"/>
                </a:solidFill>
                <a:latin typeface="DejaVu Sans Mono" pitchFamily="34" charset="0"/>
                <a:ea typeface="DejaVu Sans Mono" pitchFamily="34" charset="-122"/>
                <a:cs typeface="DejaVu Sans Mono" pitchFamily="34" charset="-120"/>
              </a:rPr>
              <a:t>  _ascend_activation_dtype)</a:t>
            </a:r>
            <a:endParaRPr lang="en-US" sz="820" dirty="0"/>
          </a:p>
        </p:txBody>
      </p:sp>
      <p:sp>
        <p:nvSpPr>
          <p:cNvPr id="102" name="Text 95">
            <a:extLst>
              <a:ext uri="{FF2B5EF4-FFF2-40B4-BE49-F238E27FC236}">
                <a16:creationId xmlns:a16="http://schemas.microsoft.com/office/drawing/2014/main" id="{E1F5FE53-F68F-C534-1803-50747B054B8F}"/>
              </a:ext>
            </a:extLst>
          </p:cNvPr>
          <p:cNvSpPr/>
          <p:nvPr/>
        </p:nvSpPr>
        <p:spPr>
          <a:xfrm>
            <a:off x="813816" y="6384341"/>
            <a:ext cx="5093208" cy="109728"/>
          </a:xfrm>
          <a:prstGeom prst="rect">
            <a:avLst/>
          </a:prstGeom>
          <a:noFill/>
          <a:ln/>
        </p:spPr>
        <p:txBody>
          <a:bodyPr wrap="square" lIns="0" tIns="0" rIns="0" bIns="0" rtlCol="0" anchor="ctr">
            <a:normAutofit fontScale="92500" lnSpcReduction="10000"/>
          </a:bodyPr>
          <a:lstStyle/>
          <a:p>
            <a:pPr marL="0" indent="0">
              <a:buNone/>
            </a:pPr>
            <a:r>
              <a:rPr lang="en-US" sz="910" dirty="0">
                <a:solidFill>
                  <a:srgbClr val="66798E"/>
                </a:solidFill>
                <a:latin typeface="Noto Sans CJK SC" pitchFamily="34" charset="0"/>
                <a:ea typeface="Noto Sans CJK SC" pitchFamily="34" charset="-122"/>
                <a:cs typeface="Noto Sans CJK SC" pitchFamily="34" charset="-120"/>
              </a:rPr>
              <a:t>位置编码转为 hidden_states.dtype，避免类型提升</a:t>
            </a:r>
            <a:endParaRPr lang="en-US" sz="910" dirty="0"/>
          </a:p>
        </p:txBody>
      </p:sp>
      <p:sp>
        <p:nvSpPr>
          <p:cNvPr id="103" name="Text 96">
            <a:extLst>
              <a:ext uri="{FF2B5EF4-FFF2-40B4-BE49-F238E27FC236}">
                <a16:creationId xmlns:a16="http://schemas.microsoft.com/office/drawing/2014/main" id="{89ECCCD1-CA18-9996-5D06-1FB31AB39D1E}"/>
              </a:ext>
            </a:extLst>
          </p:cNvPr>
          <p:cNvSpPr/>
          <p:nvPr/>
        </p:nvSpPr>
        <p:spPr>
          <a:xfrm>
            <a:off x="6492240" y="3822192"/>
            <a:ext cx="5166360" cy="173736"/>
          </a:xfrm>
          <a:prstGeom prst="rect">
            <a:avLst/>
          </a:prstGeom>
          <a:noFill/>
          <a:ln/>
        </p:spPr>
        <p:txBody>
          <a:bodyPr wrap="square" lIns="0" tIns="0" rIns="0" bIns="0" rtlCol="0" anchor="ctr">
            <a:normAutofit fontScale="92500" lnSpcReduction="10000"/>
          </a:bodyPr>
          <a:lstStyle/>
          <a:p>
            <a:pPr marL="0" indent="0">
              <a:buNone/>
            </a:pPr>
            <a:r>
              <a:rPr lang="en-US" sz="1270" b="1" dirty="0">
                <a:solidFill>
                  <a:srgbClr val="098763"/>
                </a:solidFill>
                <a:latin typeface="Noto Sans CJK SC" pitchFamily="34" charset="0"/>
                <a:ea typeface="Noto Sans CJK SC" pitchFamily="34" charset="-122"/>
                <a:cs typeface="Noto Sans CJK SC" pitchFamily="34" charset="-120"/>
              </a:rPr>
              <a:t>修改后的执行流程（正确）</a:t>
            </a:r>
            <a:endParaRPr lang="en-US" sz="1270" dirty="0"/>
          </a:p>
        </p:txBody>
      </p:sp>
      <p:sp>
        <p:nvSpPr>
          <p:cNvPr id="104" name="Shape 97">
            <a:extLst>
              <a:ext uri="{FF2B5EF4-FFF2-40B4-BE49-F238E27FC236}">
                <a16:creationId xmlns:a16="http://schemas.microsoft.com/office/drawing/2014/main" id="{1C6B746E-112A-F96A-874F-85B25A42F1D7}"/>
              </a:ext>
            </a:extLst>
          </p:cNvPr>
          <p:cNvSpPr/>
          <p:nvPr/>
        </p:nvSpPr>
        <p:spPr>
          <a:xfrm>
            <a:off x="6483096" y="4187952"/>
            <a:ext cx="914400" cy="557784"/>
          </a:xfrm>
          <a:prstGeom prst="roundRect">
            <a:avLst>
              <a:gd name="adj" fmla="val 16393"/>
            </a:avLst>
          </a:prstGeom>
          <a:solidFill>
            <a:srgbClr val="EAF4FD"/>
          </a:solidFill>
          <a:ln w="9144">
            <a:solidFill>
              <a:srgbClr val="D4E8F5"/>
            </a:solidFill>
            <a:prstDash val="solid"/>
          </a:ln>
        </p:spPr>
      </p:sp>
      <p:sp>
        <p:nvSpPr>
          <p:cNvPr id="105" name="Text 98">
            <a:extLst>
              <a:ext uri="{FF2B5EF4-FFF2-40B4-BE49-F238E27FC236}">
                <a16:creationId xmlns:a16="http://schemas.microsoft.com/office/drawing/2014/main" id="{0D340DAF-B40C-1D42-B56D-B60060115E30}"/>
              </a:ext>
            </a:extLst>
          </p:cNvPr>
          <p:cNvSpPr/>
          <p:nvPr/>
        </p:nvSpPr>
        <p:spPr>
          <a:xfrm>
            <a:off x="6519672" y="4297680"/>
            <a:ext cx="841248" cy="155448"/>
          </a:xfrm>
          <a:prstGeom prst="rect">
            <a:avLst/>
          </a:prstGeom>
          <a:noFill/>
          <a:ln/>
        </p:spPr>
        <p:txBody>
          <a:bodyPr wrap="square" lIns="0" tIns="0" rIns="0" bIns="0" rtlCol="0" anchor="ctr">
            <a:normAutofit/>
          </a:bodyPr>
          <a:lstStyle/>
          <a:p>
            <a:pPr marL="0" indent="0" algn="ctr">
              <a:buNone/>
            </a:pPr>
            <a:r>
              <a:rPr lang="en-US" sz="920" b="1" dirty="0">
                <a:solidFill>
                  <a:srgbClr val="102948"/>
                </a:solidFill>
                <a:latin typeface="DejaVu Sans Mono" pitchFamily="34" charset="0"/>
                <a:ea typeface="DejaVu Sans Mono" pitchFamily="34" charset="-122"/>
                <a:cs typeface="DejaVu Sans Mono" pitchFamily="34" charset="-120"/>
              </a:rPr>
              <a:t>pixel_values</a:t>
            </a:r>
            <a:endParaRPr lang="en-US" sz="920" dirty="0"/>
          </a:p>
        </p:txBody>
      </p:sp>
      <p:sp>
        <p:nvSpPr>
          <p:cNvPr id="106" name="Text 99">
            <a:extLst>
              <a:ext uri="{FF2B5EF4-FFF2-40B4-BE49-F238E27FC236}">
                <a16:creationId xmlns:a16="http://schemas.microsoft.com/office/drawing/2014/main" id="{C8B9A06D-0D3C-073B-AC04-773E82E12EC6}"/>
              </a:ext>
            </a:extLst>
          </p:cNvPr>
          <p:cNvSpPr/>
          <p:nvPr/>
        </p:nvSpPr>
        <p:spPr>
          <a:xfrm>
            <a:off x="6528816" y="4509821"/>
            <a:ext cx="822960" cy="146304"/>
          </a:xfrm>
          <a:prstGeom prst="rect">
            <a:avLst/>
          </a:prstGeom>
          <a:noFill/>
          <a:ln/>
        </p:spPr>
        <p:txBody>
          <a:bodyPr wrap="square" lIns="0" tIns="0" rIns="0" bIns="0" rtlCol="0" anchor="ctr">
            <a:normAutofit/>
          </a:bodyPr>
          <a:lstStyle/>
          <a:p>
            <a:pPr marL="0" indent="0" algn="ctr">
              <a:buNone/>
            </a:pPr>
            <a:r>
              <a:rPr lang="en-US" sz="950" dirty="0">
                <a:solidFill>
                  <a:srgbClr val="102948"/>
                </a:solidFill>
                <a:latin typeface="Noto Sans CJK SC" pitchFamily="34" charset="0"/>
                <a:ea typeface="Noto Sans CJK SC" pitchFamily="34" charset="-122"/>
                <a:cs typeface="Noto Sans CJK SC" pitchFamily="34" charset="-120"/>
              </a:rPr>
              <a:t>FP32</a:t>
            </a:r>
            <a:endParaRPr lang="en-US" sz="950" dirty="0"/>
          </a:p>
        </p:txBody>
      </p:sp>
      <p:sp>
        <p:nvSpPr>
          <p:cNvPr id="107" name="Shape 100">
            <a:extLst>
              <a:ext uri="{FF2B5EF4-FFF2-40B4-BE49-F238E27FC236}">
                <a16:creationId xmlns:a16="http://schemas.microsoft.com/office/drawing/2014/main" id="{79575741-0418-05F5-A8F4-A914ADEF3C56}"/>
              </a:ext>
            </a:extLst>
          </p:cNvPr>
          <p:cNvSpPr/>
          <p:nvPr/>
        </p:nvSpPr>
        <p:spPr>
          <a:xfrm>
            <a:off x="7415784" y="4462272"/>
            <a:ext cx="91440" cy="0"/>
          </a:xfrm>
          <a:prstGeom prst="line">
            <a:avLst/>
          </a:prstGeom>
          <a:noFill/>
          <a:ln w="15240">
            <a:solidFill>
              <a:srgbClr val="102948"/>
            </a:solidFill>
            <a:prstDash val="solid"/>
            <a:headEnd type="none"/>
            <a:tailEnd type="triangle"/>
          </a:ln>
        </p:spPr>
      </p:sp>
      <p:sp>
        <p:nvSpPr>
          <p:cNvPr id="108" name="Shape 101">
            <a:extLst>
              <a:ext uri="{FF2B5EF4-FFF2-40B4-BE49-F238E27FC236}">
                <a16:creationId xmlns:a16="http://schemas.microsoft.com/office/drawing/2014/main" id="{EC24E8CC-BAEC-CF96-0B4C-3BCE1CDF87F0}"/>
              </a:ext>
            </a:extLst>
          </p:cNvPr>
          <p:cNvSpPr/>
          <p:nvPr/>
        </p:nvSpPr>
        <p:spPr>
          <a:xfrm>
            <a:off x="7571232" y="4187952"/>
            <a:ext cx="914400" cy="557784"/>
          </a:xfrm>
          <a:prstGeom prst="roundRect">
            <a:avLst>
              <a:gd name="adj" fmla="val 16393"/>
            </a:avLst>
          </a:prstGeom>
          <a:solidFill>
            <a:srgbClr val="EAF4FD"/>
          </a:solidFill>
          <a:ln w="9144">
            <a:solidFill>
              <a:srgbClr val="D4E8F5"/>
            </a:solidFill>
            <a:prstDash val="solid"/>
          </a:ln>
        </p:spPr>
      </p:sp>
      <p:sp>
        <p:nvSpPr>
          <p:cNvPr id="109" name="Text 102">
            <a:extLst>
              <a:ext uri="{FF2B5EF4-FFF2-40B4-BE49-F238E27FC236}">
                <a16:creationId xmlns:a16="http://schemas.microsoft.com/office/drawing/2014/main" id="{F8A806B5-C775-ADF2-C428-F5C248E853D0}"/>
              </a:ext>
            </a:extLst>
          </p:cNvPr>
          <p:cNvSpPr/>
          <p:nvPr/>
        </p:nvSpPr>
        <p:spPr>
          <a:xfrm>
            <a:off x="7607808" y="4297680"/>
            <a:ext cx="841248" cy="155448"/>
          </a:xfrm>
          <a:prstGeom prst="rect">
            <a:avLst/>
          </a:prstGeom>
          <a:noFill/>
          <a:ln/>
        </p:spPr>
        <p:txBody>
          <a:bodyPr wrap="square" lIns="0" tIns="0" rIns="0" bIns="0" rtlCol="0" anchor="ctr">
            <a:normAutofit/>
          </a:bodyPr>
          <a:lstStyle/>
          <a:p>
            <a:pPr marL="0" indent="0" algn="ctr">
              <a:buNone/>
            </a:pPr>
            <a:r>
              <a:rPr lang="en-US" sz="920" b="1" dirty="0">
                <a:solidFill>
                  <a:srgbClr val="102948"/>
                </a:solidFill>
                <a:latin typeface="Noto Sans CJK SC" pitchFamily="34" charset="0"/>
                <a:ea typeface="Noto Sans CJK SC" pitchFamily="34" charset="-122"/>
                <a:cs typeface="Noto Sans CJK SC" pitchFamily="34" charset="-120"/>
              </a:rPr>
              <a:t>转为 BF16</a:t>
            </a:r>
            <a:endParaRPr lang="en-US" sz="920" dirty="0"/>
          </a:p>
        </p:txBody>
      </p:sp>
      <p:sp>
        <p:nvSpPr>
          <p:cNvPr id="110" name="Text 103">
            <a:extLst>
              <a:ext uri="{FF2B5EF4-FFF2-40B4-BE49-F238E27FC236}">
                <a16:creationId xmlns:a16="http://schemas.microsoft.com/office/drawing/2014/main" id="{A3CA9795-BF0A-20BF-A760-40628B930440}"/>
              </a:ext>
            </a:extLst>
          </p:cNvPr>
          <p:cNvSpPr/>
          <p:nvPr/>
        </p:nvSpPr>
        <p:spPr>
          <a:xfrm>
            <a:off x="7616952" y="4509821"/>
            <a:ext cx="822960" cy="146304"/>
          </a:xfrm>
          <a:prstGeom prst="rect">
            <a:avLst/>
          </a:prstGeom>
          <a:noFill/>
          <a:ln/>
        </p:spPr>
        <p:txBody>
          <a:bodyPr wrap="square" lIns="0" tIns="0" rIns="0" bIns="0" rtlCol="0" anchor="ctr">
            <a:normAutofit/>
          </a:bodyPr>
          <a:lstStyle/>
          <a:p>
            <a:pPr marL="0" indent="0" algn="ctr">
              <a:buNone/>
            </a:pPr>
            <a:r>
              <a:rPr lang="en-US" sz="820" dirty="0">
                <a:solidFill>
                  <a:srgbClr val="102948"/>
                </a:solidFill>
                <a:latin typeface="DejaVu Sans Mono" pitchFamily="34" charset="0"/>
                <a:ea typeface="DejaVu Sans Mono" pitchFamily="34" charset="-122"/>
                <a:cs typeface="DejaVu Sans Mono" pitchFamily="34" charset="-120"/>
              </a:rPr>
              <a:t>model_dtype</a:t>
            </a:r>
            <a:endParaRPr lang="en-US" sz="820" dirty="0"/>
          </a:p>
        </p:txBody>
      </p:sp>
      <p:sp>
        <p:nvSpPr>
          <p:cNvPr id="111" name="Shape 104">
            <a:extLst>
              <a:ext uri="{FF2B5EF4-FFF2-40B4-BE49-F238E27FC236}">
                <a16:creationId xmlns:a16="http://schemas.microsoft.com/office/drawing/2014/main" id="{FCCBC59A-CA84-A4E8-A719-7666D456E193}"/>
              </a:ext>
            </a:extLst>
          </p:cNvPr>
          <p:cNvSpPr/>
          <p:nvPr/>
        </p:nvSpPr>
        <p:spPr>
          <a:xfrm>
            <a:off x="8503920" y="4462272"/>
            <a:ext cx="109728" cy="0"/>
          </a:xfrm>
          <a:prstGeom prst="line">
            <a:avLst/>
          </a:prstGeom>
          <a:noFill/>
          <a:ln w="15240">
            <a:solidFill>
              <a:srgbClr val="102948"/>
            </a:solidFill>
            <a:prstDash val="solid"/>
            <a:headEnd type="none"/>
            <a:tailEnd type="triangle"/>
          </a:ln>
        </p:spPr>
      </p:sp>
      <p:sp>
        <p:nvSpPr>
          <p:cNvPr id="112" name="Shape 105">
            <a:extLst>
              <a:ext uri="{FF2B5EF4-FFF2-40B4-BE49-F238E27FC236}">
                <a16:creationId xmlns:a16="http://schemas.microsoft.com/office/drawing/2014/main" id="{C1EDCE25-0800-070A-F139-EA3B9CD6B83F}"/>
              </a:ext>
            </a:extLst>
          </p:cNvPr>
          <p:cNvSpPr/>
          <p:nvPr/>
        </p:nvSpPr>
        <p:spPr>
          <a:xfrm>
            <a:off x="8677656" y="4187952"/>
            <a:ext cx="914400" cy="557784"/>
          </a:xfrm>
          <a:prstGeom prst="roundRect">
            <a:avLst>
              <a:gd name="adj" fmla="val 16393"/>
            </a:avLst>
          </a:prstGeom>
          <a:solidFill>
            <a:srgbClr val="EAF8F2"/>
          </a:solidFill>
          <a:ln w="9144">
            <a:solidFill>
              <a:srgbClr val="C3E8D8"/>
            </a:solidFill>
            <a:prstDash val="solid"/>
          </a:ln>
        </p:spPr>
      </p:sp>
      <p:sp>
        <p:nvSpPr>
          <p:cNvPr id="113" name="Text 106">
            <a:extLst>
              <a:ext uri="{FF2B5EF4-FFF2-40B4-BE49-F238E27FC236}">
                <a16:creationId xmlns:a16="http://schemas.microsoft.com/office/drawing/2014/main" id="{C38E63D9-2144-0C9E-77F5-B722CBCA2554}"/>
              </a:ext>
            </a:extLst>
          </p:cNvPr>
          <p:cNvSpPr/>
          <p:nvPr/>
        </p:nvSpPr>
        <p:spPr>
          <a:xfrm>
            <a:off x="8714232" y="4297680"/>
            <a:ext cx="841248" cy="155448"/>
          </a:xfrm>
          <a:prstGeom prst="rect">
            <a:avLst/>
          </a:prstGeom>
          <a:noFill/>
          <a:ln/>
        </p:spPr>
        <p:txBody>
          <a:bodyPr wrap="square" lIns="0" tIns="0" rIns="0" bIns="0" rtlCol="0" anchor="ctr">
            <a:normAutofit/>
          </a:bodyPr>
          <a:lstStyle/>
          <a:p>
            <a:pPr marL="0" indent="0" algn="ctr">
              <a:buNone/>
            </a:pPr>
            <a:r>
              <a:rPr lang="en-US" sz="870" b="1" dirty="0">
                <a:solidFill>
                  <a:srgbClr val="098763"/>
                </a:solidFill>
                <a:latin typeface="DejaVu Sans Mono" pitchFamily="34" charset="0"/>
                <a:ea typeface="DejaVu Sans Mono" pitchFamily="34" charset="-122"/>
                <a:cs typeface="DejaVu Sans Mono" pitchFamily="34" charset="-120"/>
              </a:rPr>
              <a:t>quant_method</a:t>
            </a:r>
            <a:endParaRPr lang="en-US" sz="870" dirty="0"/>
          </a:p>
        </p:txBody>
      </p:sp>
      <p:sp>
        <p:nvSpPr>
          <p:cNvPr id="114" name="Text 107">
            <a:extLst>
              <a:ext uri="{FF2B5EF4-FFF2-40B4-BE49-F238E27FC236}">
                <a16:creationId xmlns:a16="http://schemas.microsoft.com/office/drawing/2014/main" id="{6191E862-EAB6-6D91-7496-D4270F4D4551}"/>
              </a:ext>
            </a:extLst>
          </p:cNvPr>
          <p:cNvSpPr/>
          <p:nvPr/>
        </p:nvSpPr>
        <p:spPr>
          <a:xfrm>
            <a:off x="8723376" y="4509821"/>
            <a:ext cx="822960" cy="146304"/>
          </a:xfrm>
          <a:prstGeom prst="rect">
            <a:avLst/>
          </a:prstGeom>
          <a:noFill/>
          <a:ln/>
        </p:spPr>
        <p:txBody>
          <a:bodyPr wrap="square" lIns="0" tIns="0" rIns="0" bIns="0" rtlCol="0" anchor="ctr">
            <a:normAutofit/>
          </a:bodyPr>
          <a:lstStyle/>
          <a:p>
            <a:pPr marL="0" indent="0" algn="ctr">
              <a:buNone/>
            </a:pPr>
            <a:r>
              <a:rPr lang="en-US" sz="950" dirty="0">
                <a:solidFill>
                  <a:srgbClr val="098763"/>
                </a:solidFill>
                <a:latin typeface="DejaVu Sans Mono" pitchFamily="34" charset="0"/>
                <a:ea typeface="DejaVu Sans Mono" pitchFamily="34" charset="-122"/>
                <a:cs typeface="DejaVu Sans Mono" pitchFamily="34" charset="-120"/>
              </a:rPr>
              <a:t>apply()</a:t>
            </a:r>
            <a:endParaRPr lang="en-US" sz="950" dirty="0"/>
          </a:p>
        </p:txBody>
      </p:sp>
      <p:sp>
        <p:nvSpPr>
          <p:cNvPr id="115" name="Shape 108">
            <a:extLst>
              <a:ext uri="{FF2B5EF4-FFF2-40B4-BE49-F238E27FC236}">
                <a16:creationId xmlns:a16="http://schemas.microsoft.com/office/drawing/2014/main" id="{04164887-22E5-B618-914D-CD82F17B96AF}"/>
              </a:ext>
            </a:extLst>
          </p:cNvPr>
          <p:cNvSpPr/>
          <p:nvPr/>
        </p:nvSpPr>
        <p:spPr>
          <a:xfrm>
            <a:off x="9610344" y="4462272"/>
            <a:ext cx="128016" cy="0"/>
          </a:xfrm>
          <a:prstGeom prst="line">
            <a:avLst/>
          </a:prstGeom>
          <a:noFill/>
          <a:ln w="15240">
            <a:solidFill>
              <a:srgbClr val="102948"/>
            </a:solidFill>
            <a:prstDash val="solid"/>
            <a:headEnd type="none"/>
            <a:tailEnd type="triangle"/>
          </a:ln>
        </p:spPr>
      </p:sp>
      <p:sp>
        <p:nvSpPr>
          <p:cNvPr id="116" name="Shape 109">
            <a:extLst>
              <a:ext uri="{FF2B5EF4-FFF2-40B4-BE49-F238E27FC236}">
                <a16:creationId xmlns:a16="http://schemas.microsoft.com/office/drawing/2014/main" id="{B6B7E4C7-BB8F-A32A-05FE-23D1D85B6CCA}"/>
              </a:ext>
            </a:extLst>
          </p:cNvPr>
          <p:cNvSpPr/>
          <p:nvPr/>
        </p:nvSpPr>
        <p:spPr>
          <a:xfrm>
            <a:off x="9802368" y="4187952"/>
            <a:ext cx="914400" cy="557784"/>
          </a:xfrm>
          <a:prstGeom prst="roundRect">
            <a:avLst>
              <a:gd name="adj" fmla="val 16393"/>
            </a:avLst>
          </a:prstGeom>
          <a:solidFill>
            <a:srgbClr val="EAF4FD"/>
          </a:solidFill>
          <a:ln w="9144">
            <a:solidFill>
              <a:srgbClr val="D4E8F5"/>
            </a:solidFill>
            <a:prstDash val="solid"/>
          </a:ln>
        </p:spPr>
      </p:sp>
      <p:sp>
        <p:nvSpPr>
          <p:cNvPr id="117" name="Text 110">
            <a:extLst>
              <a:ext uri="{FF2B5EF4-FFF2-40B4-BE49-F238E27FC236}">
                <a16:creationId xmlns:a16="http://schemas.microsoft.com/office/drawing/2014/main" id="{48A64711-A7BC-F124-D087-0560E5C348B0}"/>
              </a:ext>
            </a:extLst>
          </p:cNvPr>
          <p:cNvSpPr/>
          <p:nvPr/>
        </p:nvSpPr>
        <p:spPr>
          <a:xfrm>
            <a:off x="9838944" y="4297680"/>
            <a:ext cx="841248" cy="155448"/>
          </a:xfrm>
          <a:prstGeom prst="rect">
            <a:avLst/>
          </a:prstGeom>
          <a:noFill/>
          <a:ln/>
        </p:spPr>
        <p:txBody>
          <a:bodyPr wrap="square" lIns="0" tIns="0" rIns="0" bIns="0" rtlCol="0" anchor="ctr">
            <a:normAutofit/>
          </a:bodyPr>
          <a:lstStyle/>
          <a:p>
            <a:pPr marL="0" indent="0" algn="ctr">
              <a:buNone/>
            </a:pPr>
            <a:r>
              <a:rPr lang="en-US" sz="920" b="1" dirty="0">
                <a:solidFill>
                  <a:srgbClr val="102948"/>
                </a:solidFill>
                <a:latin typeface="Noto Sans CJK SC" pitchFamily="34" charset="0"/>
                <a:ea typeface="Noto Sans CJK SC" pitchFamily="34" charset="-122"/>
                <a:cs typeface="Noto Sans CJK SC" pitchFamily="34" charset="-120"/>
              </a:rPr>
              <a:t>NPU 量化</a:t>
            </a:r>
            <a:endParaRPr lang="en-US" sz="920" dirty="0"/>
          </a:p>
        </p:txBody>
      </p:sp>
      <p:sp>
        <p:nvSpPr>
          <p:cNvPr id="118" name="Text 111">
            <a:extLst>
              <a:ext uri="{FF2B5EF4-FFF2-40B4-BE49-F238E27FC236}">
                <a16:creationId xmlns:a16="http://schemas.microsoft.com/office/drawing/2014/main" id="{B514DF9E-EEDD-8858-C6A5-8D30EA1D1ED0}"/>
              </a:ext>
            </a:extLst>
          </p:cNvPr>
          <p:cNvSpPr/>
          <p:nvPr/>
        </p:nvSpPr>
        <p:spPr>
          <a:xfrm>
            <a:off x="9848088" y="4509821"/>
            <a:ext cx="822960" cy="146304"/>
          </a:xfrm>
          <a:prstGeom prst="rect">
            <a:avLst/>
          </a:prstGeom>
          <a:noFill/>
          <a:ln/>
        </p:spPr>
        <p:txBody>
          <a:bodyPr wrap="square" lIns="0" tIns="0" rIns="0" bIns="0" rtlCol="0" anchor="ctr">
            <a:normAutofit/>
          </a:bodyPr>
          <a:lstStyle/>
          <a:p>
            <a:pPr marL="0" indent="0" algn="ctr">
              <a:buNone/>
            </a:pPr>
            <a:r>
              <a:rPr lang="en-US" sz="950" dirty="0">
                <a:solidFill>
                  <a:srgbClr val="102948"/>
                </a:solidFill>
                <a:latin typeface="Noto Sans CJK SC" pitchFamily="34" charset="0"/>
                <a:ea typeface="Noto Sans CJK SC" pitchFamily="34" charset="-122"/>
                <a:cs typeface="Noto Sans CJK SC" pitchFamily="34" charset="-120"/>
              </a:rPr>
              <a:t>MatMul</a:t>
            </a:r>
            <a:endParaRPr lang="en-US" sz="950" dirty="0"/>
          </a:p>
        </p:txBody>
      </p:sp>
      <p:sp>
        <p:nvSpPr>
          <p:cNvPr id="119" name="Shape 112">
            <a:extLst>
              <a:ext uri="{FF2B5EF4-FFF2-40B4-BE49-F238E27FC236}">
                <a16:creationId xmlns:a16="http://schemas.microsoft.com/office/drawing/2014/main" id="{49DB363A-1A57-9D37-4D97-392A150AFF5D}"/>
              </a:ext>
            </a:extLst>
          </p:cNvPr>
          <p:cNvSpPr/>
          <p:nvPr/>
        </p:nvSpPr>
        <p:spPr>
          <a:xfrm>
            <a:off x="10735056" y="4462272"/>
            <a:ext cx="118872" cy="0"/>
          </a:xfrm>
          <a:prstGeom prst="line">
            <a:avLst/>
          </a:prstGeom>
          <a:noFill/>
          <a:ln w="15240">
            <a:solidFill>
              <a:srgbClr val="102948"/>
            </a:solidFill>
            <a:prstDash val="solid"/>
            <a:headEnd type="none"/>
            <a:tailEnd type="triangle"/>
          </a:ln>
        </p:spPr>
      </p:sp>
      <p:sp>
        <p:nvSpPr>
          <p:cNvPr id="120" name="Shape 113">
            <a:extLst>
              <a:ext uri="{FF2B5EF4-FFF2-40B4-BE49-F238E27FC236}">
                <a16:creationId xmlns:a16="http://schemas.microsoft.com/office/drawing/2014/main" id="{390A3121-E158-8BBF-2E2F-5B04207EA8FA}"/>
              </a:ext>
            </a:extLst>
          </p:cNvPr>
          <p:cNvSpPr/>
          <p:nvPr/>
        </p:nvSpPr>
        <p:spPr>
          <a:xfrm>
            <a:off x="10917936" y="4187952"/>
            <a:ext cx="914400" cy="557784"/>
          </a:xfrm>
          <a:prstGeom prst="roundRect">
            <a:avLst>
              <a:gd name="adj" fmla="val 16393"/>
            </a:avLst>
          </a:prstGeom>
          <a:solidFill>
            <a:srgbClr val="EAF4FD"/>
          </a:solidFill>
          <a:ln w="9144">
            <a:solidFill>
              <a:srgbClr val="D4E8F5"/>
            </a:solidFill>
            <a:prstDash val="solid"/>
          </a:ln>
        </p:spPr>
      </p:sp>
      <p:sp>
        <p:nvSpPr>
          <p:cNvPr id="121" name="Text 114">
            <a:extLst>
              <a:ext uri="{FF2B5EF4-FFF2-40B4-BE49-F238E27FC236}">
                <a16:creationId xmlns:a16="http://schemas.microsoft.com/office/drawing/2014/main" id="{E6E9AE20-AB41-395F-ABBE-A8B2F659E528}"/>
              </a:ext>
            </a:extLst>
          </p:cNvPr>
          <p:cNvSpPr/>
          <p:nvPr/>
        </p:nvSpPr>
        <p:spPr>
          <a:xfrm>
            <a:off x="10954512" y="4297680"/>
            <a:ext cx="841248" cy="155448"/>
          </a:xfrm>
          <a:prstGeom prst="rect">
            <a:avLst/>
          </a:prstGeom>
          <a:noFill/>
          <a:ln/>
        </p:spPr>
        <p:txBody>
          <a:bodyPr wrap="square" lIns="0" tIns="0" rIns="0" bIns="0" rtlCol="0" anchor="ctr">
            <a:normAutofit fontScale="85000" lnSpcReduction="10000"/>
          </a:bodyPr>
          <a:lstStyle/>
          <a:p>
            <a:pPr marL="0" indent="0" algn="ctr">
              <a:buNone/>
            </a:pPr>
            <a:r>
              <a:rPr lang="en-US" sz="920" b="1" dirty="0">
                <a:solidFill>
                  <a:srgbClr val="102948"/>
                </a:solidFill>
                <a:latin typeface="DejaVu Sans Mono" pitchFamily="34" charset="0"/>
                <a:ea typeface="DejaVu Sans Mono" pitchFamily="34" charset="-122"/>
                <a:cs typeface="DejaVu Sans Mono" pitchFamily="34" charset="-120"/>
              </a:rPr>
              <a:t>hidden_states</a:t>
            </a:r>
            <a:endParaRPr lang="en-US" sz="920" dirty="0"/>
          </a:p>
        </p:txBody>
      </p:sp>
      <p:sp>
        <p:nvSpPr>
          <p:cNvPr id="122" name="Text 115">
            <a:extLst>
              <a:ext uri="{FF2B5EF4-FFF2-40B4-BE49-F238E27FC236}">
                <a16:creationId xmlns:a16="http://schemas.microsoft.com/office/drawing/2014/main" id="{752ADB90-BB35-BFC0-398D-9F4E3F301E28}"/>
              </a:ext>
            </a:extLst>
          </p:cNvPr>
          <p:cNvSpPr/>
          <p:nvPr/>
        </p:nvSpPr>
        <p:spPr>
          <a:xfrm>
            <a:off x="10963656" y="4509821"/>
            <a:ext cx="822960" cy="146304"/>
          </a:xfrm>
          <a:prstGeom prst="rect">
            <a:avLst/>
          </a:prstGeom>
          <a:noFill/>
          <a:ln/>
        </p:spPr>
        <p:txBody>
          <a:bodyPr wrap="square" lIns="0" tIns="0" rIns="0" bIns="0" rtlCol="0" anchor="ctr">
            <a:normAutofit/>
          </a:bodyPr>
          <a:lstStyle/>
          <a:p>
            <a:pPr marL="0" indent="0" algn="ctr">
              <a:buNone/>
            </a:pPr>
            <a:r>
              <a:rPr lang="en-US" sz="950" dirty="0">
                <a:solidFill>
                  <a:srgbClr val="102948"/>
                </a:solidFill>
                <a:latin typeface="Noto Sans CJK SC" pitchFamily="34" charset="0"/>
                <a:ea typeface="Noto Sans CJK SC" pitchFamily="34" charset="-122"/>
                <a:cs typeface="Noto Sans CJK SC" pitchFamily="34" charset="-120"/>
              </a:rPr>
              <a:t>BF16</a:t>
            </a:r>
            <a:endParaRPr lang="en-US" sz="950" dirty="0"/>
          </a:p>
        </p:txBody>
      </p:sp>
      <p:sp>
        <p:nvSpPr>
          <p:cNvPr id="123" name="Text 116">
            <a:extLst>
              <a:ext uri="{FF2B5EF4-FFF2-40B4-BE49-F238E27FC236}">
                <a16:creationId xmlns:a16="http://schemas.microsoft.com/office/drawing/2014/main" id="{C73B8F39-4936-6D01-E768-67A7CA251FD1}"/>
              </a:ext>
            </a:extLst>
          </p:cNvPr>
          <p:cNvSpPr/>
          <p:nvPr/>
        </p:nvSpPr>
        <p:spPr>
          <a:xfrm>
            <a:off x="6565392" y="4837176"/>
            <a:ext cx="5001768" cy="192024"/>
          </a:xfrm>
          <a:prstGeom prst="rect">
            <a:avLst/>
          </a:prstGeom>
          <a:noFill/>
          <a:ln/>
        </p:spPr>
        <p:txBody>
          <a:bodyPr wrap="square" lIns="0" tIns="0" rIns="0" bIns="0" rtlCol="0" anchor="ctr">
            <a:normAutofit/>
          </a:bodyPr>
          <a:lstStyle/>
          <a:p>
            <a:pPr marL="0" indent="0" algn="ctr">
              <a:buNone/>
            </a:pPr>
            <a:r>
              <a:rPr lang="en-US" sz="1050" b="1" dirty="0">
                <a:solidFill>
                  <a:srgbClr val="098763"/>
                </a:solidFill>
                <a:latin typeface="Noto Sans CJK SC" pitchFamily="34" charset="0"/>
                <a:ea typeface="Noto Sans CJK SC" pitchFamily="34" charset="-122"/>
                <a:cs typeface="Noto Sans CJK SC" pitchFamily="34" charset="-120"/>
              </a:rPr>
              <a:t>量化方法内部：动态生成激活 Scale 并调用 NPU 量化算子</a:t>
            </a:r>
            <a:endParaRPr lang="en-US" sz="1050" dirty="0"/>
          </a:p>
        </p:txBody>
      </p:sp>
      <p:sp>
        <p:nvSpPr>
          <p:cNvPr id="124" name="Shape 117">
            <a:extLst>
              <a:ext uri="{FF2B5EF4-FFF2-40B4-BE49-F238E27FC236}">
                <a16:creationId xmlns:a16="http://schemas.microsoft.com/office/drawing/2014/main" id="{1CE47EA7-E11D-1961-CCCD-FAF8EE9D7080}"/>
              </a:ext>
            </a:extLst>
          </p:cNvPr>
          <p:cNvSpPr/>
          <p:nvPr/>
        </p:nvSpPr>
        <p:spPr>
          <a:xfrm>
            <a:off x="6547104" y="5111496"/>
            <a:ext cx="5084064" cy="0"/>
          </a:xfrm>
          <a:prstGeom prst="line">
            <a:avLst/>
          </a:prstGeom>
          <a:noFill/>
          <a:ln w="10160">
            <a:solidFill>
              <a:srgbClr val="D6E6DF"/>
            </a:solidFill>
            <a:prstDash val="solid"/>
          </a:ln>
        </p:spPr>
      </p:sp>
      <p:sp>
        <p:nvSpPr>
          <p:cNvPr id="125" name="Shape 118">
            <a:extLst>
              <a:ext uri="{FF2B5EF4-FFF2-40B4-BE49-F238E27FC236}">
                <a16:creationId xmlns:a16="http://schemas.microsoft.com/office/drawing/2014/main" id="{67F25736-D8B9-AA47-B94C-21E95473F467}"/>
              </a:ext>
            </a:extLst>
          </p:cNvPr>
          <p:cNvSpPr/>
          <p:nvPr/>
        </p:nvSpPr>
        <p:spPr>
          <a:xfrm>
            <a:off x="6549847" y="5315407"/>
            <a:ext cx="140818" cy="140818"/>
          </a:xfrm>
          <a:prstGeom prst="ellipse">
            <a:avLst/>
          </a:prstGeom>
          <a:solidFill>
            <a:srgbClr val="098763"/>
          </a:solidFill>
          <a:ln w="12700">
            <a:solidFill>
              <a:srgbClr val="098763"/>
            </a:solidFill>
            <a:prstDash val="solid"/>
          </a:ln>
        </p:spPr>
      </p:sp>
      <p:sp>
        <p:nvSpPr>
          <p:cNvPr id="126" name="Text 119">
            <a:extLst>
              <a:ext uri="{FF2B5EF4-FFF2-40B4-BE49-F238E27FC236}">
                <a16:creationId xmlns:a16="http://schemas.microsoft.com/office/drawing/2014/main" id="{5D6BA997-D1AF-CC64-9619-84CEA2977F46}"/>
              </a:ext>
            </a:extLst>
          </p:cNvPr>
          <p:cNvSpPr/>
          <p:nvPr/>
        </p:nvSpPr>
        <p:spPr>
          <a:xfrm>
            <a:off x="6567221" y="5329123"/>
            <a:ext cx="104242" cy="106070"/>
          </a:xfrm>
          <a:prstGeom prst="rect">
            <a:avLst/>
          </a:prstGeom>
          <a:noFill/>
          <a:ln/>
        </p:spPr>
        <p:txBody>
          <a:bodyPr wrap="square" lIns="0" tIns="0" rIns="0" bIns="0" rtlCol="0" anchor="ctr">
            <a:normAutofit fontScale="77500" lnSpcReduction="20000"/>
          </a:bodyPr>
          <a:lstStyle/>
          <a:p>
            <a:pPr marL="0" indent="0" algn="ctr">
              <a:buNone/>
            </a:pPr>
            <a:r>
              <a:rPr lang="en-US" sz="1060" b="1" dirty="0">
                <a:solidFill>
                  <a:srgbClr val="FFFFFF"/>
                </a:solidFill>
                <a:latin typeface="Noto Sans CJK SC" pitchFamily="34" charset="0"/>
                <a:ea typeface="Noto Sans CJK SC" pitchFamily="34" charset="-122"/>
                <a:cs typeface="Noto Sans CJK SC" pitchFamily="34" charset="-120"/>
              </a:rPr>
              <a:t>✓</a:t>
            </a:r>
            <a:endParaRPr lang="en-US" sz="1060" dirty="0"/>
          </a:p>
        </p:txBody>
      </p:sp>
      <p:sp>
        <p:nvSpPr>
          <p:cNvPr id="127" name="Text 120">
            <a:extLst>
              <a:ext uri="{FF2B5EF4-FFF2-40B4-BE49-F238E27FC236}">
                <a16:creationId xmlns:a16="http://schemas.microsoft.com/office/drawing/2014/main" id="{10EB01F4-BD5B-0BF0-D586-16A5A7993A61}"/>
              </a:ext>
            </a:extLst>
          </p:cNvPr>
          <p:cNvSpPr/>
          <p:nvPr/>
        </p:nvSpPr>
        <p:spPr>
          <a:xfrm>
            <a:off x="6839712" y="5321808"/>
            <a:ext cx="4791456" cy="169164"/>
          </a:xfrm>
          <a:prstGeom prst="rect">
            <a:avLst/>
          </a:prstGeom>
          <a:noFill/>
          <a:ln/>
        </p:spPr>
        <p:txBody>
          <a:bodyPr wrap="square" lIns="0" tIns="0" rIns="0" bIns="0" rtlCol="0" anchor="ctr">
            <a:normAutofit/>
          </a:bodyPr>
          <a:lstStyle/>
          <a:p>
            <a:pPr marL="0" indent="0">
              <a:buNone/>
            </a:pPr>
            <a:r>
              <a:rPr lang="en-US" sz="1110" dirty="0">
                <a:solidFill>
                  <a:srgbClr val="20344D"/>
                </a:solidFill>
                <a:latin typeface="Noto Sans CJK SC" pitchFamily="34" charset="0"/>
                <a:ea typeface="Noto Sans CJK SC" pitchFamily="34" charset="-122"/>
                <a:cs typeface="Noto Sans CJK SC" pitchFamily="34" charset="-120"/>
              </a:rPr>
              <a:t>激活输入按模型计算 dtype 转换（如 BF16）</a:t>
            </a:r>
            <a:endParaRPr lang="en-US" sz="1110" dirty="0"/>
          </a:p>
        </p:txBody>
      </p:sp>
      <p:sp>
        <p:nvSpPr>
          <p:cNvPr id="128" name="Shape 121">
            <a:extLst>
              <a:ext uri="{FF2B5EF4-FFF2-40B4-BE49-F238E27FC236}">
                <a16:creationId xmlns:a16="http://schemas.microsoft.com/office/drawing/2014/main" id="{15BCB942-CC1E-2413-28B9-5938E133A061}"/>
              </a:ext>
            </a:extLst>
          </p:cNvPr>
          <p:cNvSpPr/>
          <p:nvPr/>
        </p:nvSpPr>
        <p:spPr>
          <a:xfrm>
            <a:off x="6549847" y="5567782"/>
            <a:ext cx="140818" cy="140818"/>
          </a:xfrm>
          <a:prstGeom prst="ellipse">
            <a:avLst/>
          </a:prstGeom>
          <a:solidFill>
            <a:srgbClr val="098763"/>
          </a:solidFill>
          <a:ln w="12700">
            <a:solidFill>
              <a:srgbClr val="098763"/>
            </a:solidFill>
            <a:prstDash val="solid"/>
          </a:ln>
        </p:spPr>
      </p:sp>
      <p:sp>
        <p:nvSpPr>
          <p:cNvPr id="129" name="Text 122">
            <a:extLst>
              <a:ext uri="{FF2B5EF4-FFF2-40B4-BE49-F238E27FC236}">
                <a16:creationId xmlns:a16="http://schemas.microsoft.com/office/drawing/2014/main" id="{99A08BFD-3188-7729-6A5F-0F408C0B4C6C}"/>
              </a:ext>
            </a:extLst>
          </p:cNvPr>
          <p:cNvSpPr/>
          <p:nvPr/>
        </p:nvSpPr>
        <p:spPr>
          <a:xfrm>
            <a:off x="6567221" y="5581498"/>
            <a:ext cx="104242" cy="106070"/>
          </a:xfrm>
          <a:prstGeom prst="rect">
            <a:avLst/>
          </a:prstGeom>
          <a:noFill/>
          <a:ln/>
        </p:spPr>
        <p:txBody>
          <a:bodyPr wrap="square" lIns="0" tIns="0" rIns="0" bIns="0" rtlCol="0" anchor="ctr">
            <a:normAutofit fontScale="77500" lnSpcReduction="20000"/>
          </a:bodyPr>
          <a:lstStyle/>
          <a:p>
            <a:pPr marL="0" indent="0" algn="ctr">
              <a:buNone/>
            </a:pPr>
            <a:r>
              <a:rPr lang="en-US" sz="1060" b="1" dirty="0">
                <a:solidFill>
                  <a:srgbClr val="FFFFFF"/>
                </a:solidFill>
                <a:latin typeface="Noto Sans CJK SC" pitchFamily="34" charset="0"/>
                <a:ea typeface="Noto Sans CJK SC" pitchFamily="34" charset="-122"/>
                <a:cs typeface="Noto Sans CJK SC" pitchFamily="34" charset="-120"/>
              </a:rPr>
              <a:t>✓</a:t>
            </a:r>
            <a:endParaRPr lang="en-US" sz="1060" dirty="0"/>
          </a:p>
        </p:txBody>
      </p:sp>
      <p:sp>
        <p:nvSpPr>
          <p:cNvPr id="130" name="Text 123">
            <a:extLst>
              <a:ext uri="{FF2B5EF4-FFF2-40B4-BE49-F238E27FC236}">
                <a16:creationId xmlns:a16="http://schemas.microsoft.com/office/drawing/2014/main" id="{152D8983-2D3B-CC53-8BF6-037A9A918B02}"/>
              </a:ext>
            </a:extLst>
          </p:cNvPr>
          <p:cNvSpPr/>
          <p:nvPr/>
        </p:nvSpPr>
        <p:spPr>
          <a:xfrm>
            <a:off x="6839712" y="5574182"/>
            <a:ext cx="4791456" cy="169164"/>
          </a:xfrm>
          <a:prstGeom prst="rect">
            <a:avLst/>
          </a:prstGeom>
          <a:noFill/>
          <a:ln/>
        </p:spPr>
        <p:txBody>
          <a:bodyPr wrap="square" lIns="0" tIns="0" rIns="0" bIns="0" rtlCol="0" anchor="ctr">
            <a:normAutofit/>
          </a:bodyPr>
          <a:lstStyle/>
          <a:p>
            <a:pPr marL="0" indent="0">
              <a:buNone/>
            </a:pPr>
            <a:r>
              <a:rPr lang="en-US" sz="1110" dirty="0">
                <a:solidFill>
                  <a:srgbClr val="20344D"/>
                </a:solidFill>
                <a:latin typeface="Noto Sans CJK SC" pitchFamily="34" charset="0"/>
                <a:ea typeface="Noto Sans CJK SC" pitchFamily="34" charset="-122"/>
                <a:cs typeface="Noto Sans CJK SC" pitchFamily="34" charset="-120"/>
              </a:rPr>
              <a:t>MXFP4 / MXFP8 Dynamic 方法负责真正的激活量化</a:t>
            </a:r>
            <a:endParaRPr lang="en-US" sz="1110" dirty="0"/>
          </a:p>
        </p:txBody>
      </p:sp>
      <p:sp>
        <p:nvSpPr>
          <p:cNvPr id="131" name="Shape 124">
            <a:extLst>
              <a:ext uri="{FF2B5EF4-FFF2-40B4-BE49-F238E27FC236}">
                <a16:creationId xmlns:a16="http://schemas.microsoft.com/office/drawing/2014/main" id="{875B180A-A903-1131-1D2A-CB26399A3EF8}"/>
              </a:ext>
            </a:extLst>
          </p:cNvPr>
          <p:cNvSpPr/>
          <p:nvPr/>
        </p:nvSpPr>
        <p:spPr>
          <a:xfrm>
            <a:off x="6549847" y="5820156"/>
            <a:ext cx="140818" cy="140818"/>
          </a:xfrm>
          <a:prstGeom prst="ellipse">
            <a:avLst/>
          </a:prstGeom>
          <a:solidFill>
            <a:srgbClr val="098763"/>
          </a:solidFill>
          <a:ln w="12700">
            <a:solidFill>
              <a:srgbClr val="098763"/>
            </a:solidFill>
            <a:prstDash val="solid"/>
          </a:ln>
        </p:spPr>
      </p:sp>
      <p:sp>
        <p:nvSpPr>
          <p:cNvPr id="132" name="Text 125">
            <a:extLst>
              <a:ext uri="{FF2B5EF4-FFF2-40B4-BE49-F238E27FC236}">
                <a16:creationId xmlns:a16="http://schemas.microsoft.com/office/drawing/2014/main" id="{058A4EEB-B753-6B08-9550-7989543ACFBE}"/>
              </a:ext>
            </a:extLst>
          </p:cNvPr>
          <p:cNvSpPr/>
          <p:nvPr/>
        </p:nvSpPr>
        <p:spPr>
          <a:xfrm>
            <a:off x="6567221" y="5833872"/>
            <a:ext cx="104242" cy="106070"/>
          </a:xfrm>
          <a:prstGeom prst="rect">
            <a:avLst/>
          </a:prstGeom>
          <a:noFill/>
          <a:ln/>
        </p:spPr>
        <p:txBody>
          <a:bodyPr wrap="square" lIns="0" tIns="0" rIns="0" bIns="0" rtlCol="0" anchor="ctr">
            <a:normAutofit fontScale="77500" lnSpcReduction="20000"/>
          </a:bodyPr>
          <a:lstStyle/>
          <a:p>
            <a:pPr marL="0" indent="0" algn="ctr">
              <a:buNone/>
            </a:pPr>
            <a:r>
              <a:rPr lang="en-US" sz="1060" b="1" dirty="0">
                <a:solidFill>
                  <a:srgbClr val="FFFFFF"/>
                </a:solidFill>
                <a:latin typeface="Noto Sans CJK SC" pitchFamily="34" charset="0"/>
                <a:ea typeface="Noto Sans CJK SC" pitchFamily="34" charset="-122"/>
                <a:cs typeface="Noto Sans CJK SC" pitchFamily="34" charset="-120"/>
              </a:rPr>
              <a:t>✓</a:t>
            </a:r>
            <a:endParaRPr lang="en-US" sz="1060" dirty="0"/>
          </a:p>
        </p:txBody>
      </p:sp>
      <p:sp>
        <p:nvSpPr>
          <p:cNvPr id="133" name="Text 126">
            <a:extLst>
              <a:ext uri="{FF2B5EF4-FFF2-40B4-BE49-F238E27FC236}">
                <a16:creationId xmlns:a16="http://schemas.microsoft.com/office/drawing/2014/main" id="{92E77AAF-12BF-DD45-DCA4-204A04EB68CA}"/>
              </a:ext>
            </a:extLst>
          </p:cNvPr>
          <p:cNvSpPr/>
          <p:nvPr/>
        </p:nvSpPr>
        <p:spPr>
          <a:xfrm>
            <a:off x="6839712" y="5826557"/>
            <a:ext cx="4791456" cy="169164"/>
          </a:xfrm>
          <a:prstGeom prst="rect">
            <a:avLst/>
          </a:prstGeom>
          <a:noFill/>
          <a:ln/>
        </p:spPr>
        <p:txBody>
          <a:bodyPr wrap="square" lIns="0" tIns="0" rIns="0" bIns="0" rtlCol="0" anchor="ctr">
            <a:normAutofit/>
          </a:bodyPr>
          <a:lstStyle/>
          <a:p>
            <a:pPr marL="0" indent="0">
              <a:buNone/>
            </a:pPr>
            <a:r>
              <a:rPr lang="en-US" sz="1110" dirty="0">
                <a:solidFill>
                  <a:srgbClr val="20344D"/>
                </a:solidFill>
                <a:latin typeface="Noto Sans CJK SC" pitchFamily="34" charset="0"/>
                <a:ea typeface="Noto Sans CJK SC" pitchFamily="34" charset="-122"/>
                <a:cs typeface="Noto Sans CJK SC" pitchFamily="34" charset="-120"/>
              </a:rPr>
              <a:t>位置编码显式对齐 hidden_states.dtype</a:t>
            </a:r>
            <a:endParaRPr lang="en-US" sz="1110" dirty="0"/>
          </a:p>
        </p:txBody>
      </p:sp>
      <p:sp>
        <p:nvSpPr>
          <p:cNvPr id="134" name="Shape 127">
            <a:extLst>
              <a:ext uri="{FF2B5EF4-FFF2-40B4-BE49-F238E27FC236}">
                <a16:creationId xmlns:a16="http://schemas.microsoft.com/office/drawing/2014/main" id="{292293E9-5405-C978-6952-DCE4A2689EBA}"/>
              </a:ext>
            </a:extLst>
          </p:cNvPr>
          <p:cNvSpPr/>
          <p:nvPr/>
        </p:nvSpPr>
        <p:spPr>
          <a:xfrm>
            <a:off x="6455664" y="6163056"/>
            <a:ext cx="5294376" cy="249631"/>
          </a:xfrm>
          <a:prstGeom prst="roundRect">
            <a:avLst>
              <a:gd name="adj" fmla="val 36630"/>
            </a:avLst>
          </a:prstGeom>
          <a:solidFill>
            <a:srgbClr val="EAF4FD"/>
          </a:solidFill>
          <a:ln w="12700">
            <a:solidFill>
              <a:srgbClr val="EAF4FD"/>
            </a:solidFill>
            <a:prstDash val="solid"/>
          </a:ln>
        </p:spPr>
      </p:sp>
      <p:sp>
        <p:nvSpPr>
          <p:cNvPr id="135" name="Text 128">
            <a:extLst>
              <a:ext uri="{FF2B5EF4-FFF2-40B4-BE49-F238E27FC236}">
                <a16:creationId xmlns:a16="http://schemas.microsoft.com/office/drawing/2014/main" id="{AD52D4B6-32DA-2CC1-2F8C-F36759E0D19B}"/>
              </a:ext>
            </a:extLst>
          </p:cNvPr>
          <p:cNvSpPr/>
          <p:nvPr/>
        </p:nvSpPr>
        <p:spPr>
          <a:xfrm>
            <a:off x="6556248" y="6226150"/>
            <a:ext cx="5084064" cy="132588"/>
          </a:xfrm>
          <a:prstGeom prst="rect">
            <a:avLst/>
          </a:prstGeom>
          <a:noFill/>
          <a:ln/>
        </p:spPr>
        <p:txBody>
          <a:bodyPr wrap="square" lIns="0" tIns="0" rIns="0" bIns="0" rtlCol="0" anchor="ctr">
            <a:normAutofit fontScale="92500" lnSpcReduction="20000"/>
          </a:bodyPr>
          <a:lstStyle/>
          <a:p>
            <a:pPr marL="0" indent="0" algn="ctr">
              <a:buNone/>
            </a:pPr>
            <a:r>
              <a:rPr lang="en-US" sz="1045" b="1" dirty="0">
                <a:solidFill>
                  <a:srgbClr val="1269B4"/>
                </a:solidFill>
                <a:latin typeface="Noto Sans CJK SC" pitchFamily="34" charset="0"/>
                <a:ea typeface="Noto Sans CJK SC" pitchFamily="34" charset="-122"/>
                <a:cs typeface="Noto Sans CJK SC" pitchFamily="34" charset="-120"/>
              </a:rPr>
              <a:t>核心：存储 dtype ≠ 计算 dtype；动态量化交给 quant_method.apply()。</a:t>
            </a:r>
            <a:endParaRPr lang="en-US" sz="1045" dirty="0"/>
          </a:p>
        </p:txBody>
      </p:sp>
      <p:sp>
        <p:nvSpPr>
          <p:cNvPr id="142" name="灯片编号占位符 1">
            <a:extLst>
              <a:ext uri="{FF2B5EF4-FFF2-40B4-BE49-F238E27FC236}">
                <a16:creationId xmlns:a16="http://schemas.microsoft.com/office/drawing/2014/main" id="{B83D9145-A965-4E5C-E80F-5607ECA2790E}"/>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62B6538A-33AE-45EB-868C-14B9E34ED961}" type="slidenum">
              <a:rPr lang="zh-CN" altLang="en-US" smtClean="0">
                <a:solidFill>
                  <a:prstClr val="black">
                    <a:tint val="75000"/>
                  </a:prstClr>
                </a:solidFill>
                <a:latin typeface="Calibri" panose="020F0502020204030204"/>
                <a:ea typeface="宋体" panose="02010600030101010101" pitchFamily="2" charset="-122"/>
              </a:rPr>
              <a:pPr>
                <a:defRPr/>
              </a:pPr>
              <a:t>12</a:t>
            </a:fld>
            <a:endParaRPr lang="zh-CN" altLang="en-US">
              <a:solidFill>
                <a:prstClr val="black">
                  <a:tint val="75000"/>
                </a:prstClr>
              </a:solidFill>
              <a:latin typeface="Calibri" panose="020F0502020204030204"/>
              <a:ea typeface="宋体" panose="02010600030101010101" pitchFamily="2" charset="-122"/>
            </a:endParaRPr>
          </a:p>
        </p:txBody>
      </p:sp>
      <p:sp>
        <p:nvSpPr>
          <p:cNvPr id="143" name="Shape 0">
            <a:extLst>
              <a:ext uri="{FF2B5EF4-FFF2-40B4-BE49-F238E27FC236}">
                <a16:creationId xmlns:a16="http://schemas.microsoft.com/office/drawing/2014/main" id="{B7596208-648A-1387-8047-C5D7E074EB15}"/>
              </a:ext>
            </a:extLst>
          </p:cNvPr>
          <p:cNvSpPr/>
          <p:nvPr/>
        </p:nvSpPr>
        <p:spPr>
          <a:xfrm>
            <a:off x="0" y="0"/>
            <a:ext cx="12191695" cy="59436"/>
          </a:xfrm>
          <a:prstGeom prst="rect">
            <a:avLst/>
          </a:prstGeom>
          <a:solidFill>
            <a:srgbClr val="1675C6"/>
          </a:solidFill>
          <a:ln w="12700">
            <a:solidFill>
              <a:srgbClr val="1675C6">
                <a:alpha val="0"/>
              </a:srgbClr>
            </a:solidFill>
            <a:prstDash val="solid"/>
          </a:ln>
        </p:spPr>
        <p:txBody>
          <a:bodyPr/>
          <a:lstStyle/>
          <a:p>
            <a:endParaRPr lang="zh-CN" altLang="en-US"/>
          </a:p>
        </p:txBody>
      </p:sp>
      <p:pic>
        <p:nvPicPr>
          <p:cNvPr id="145" name="图片 144" descr="竖版华为公司标志 Vertical Version of Huawei Corporate Logo_2018">
            <a:extLst>
              <a:ext uri="{FF2B5EF4-FFF2-40B4-BE49-F238E27FC236}">
                <a16:creationId xmlns:a16="http://schemas.microsoft.com/office/drawing/2014/main" id="{1A46226B-BC52-15A6-1857-2F7CB51C92C4}"/>
              </a:ext>
            </a:extLst>
          </p:cNvPr>
          <p:cNvPicPr>
            <a:picLocks noChangeAspect="1"/>
          </p:cNvPicPr>
          <p:nvPr/>
        </p:nvPicPr>
        <p:blipFill>
          <a:blip r:embed="rId2"/>
          <a:stretch>
            <a:fillRect/>
          </a:stretch>
        </p:blipFill>
        <p:spPr>
          <a:xfrm>
            <a:off x="10780956" y="87585"/>
            <a:ext cx="810588" cy="802246"/>
          </a:xfrm>
          <a:prstGeom prst="rect">
            <a:avLst/>
          </a:prstGeom>
        </p:spPr>
      </p:pic>
      <p:sp>
        <p:nvSpPr>
          <p:cNvPr id="146" name="Shape 1">
            <a:extLst>
              <a:ext uri="{FF2B5EF4-FFF2-40B4-BE49-F238E27FC236}">
                <a16:creationId xmlns:a16="http://schemas.microsoft.com/office/drawing/2014/main" id="{57A092B9-8ED0-365F-D860-9025E190A6BE}"/>
              </a:ext>
            </a:extLst>
          </p:cNvPr>
          <p:cNvSpPr/>
          <p:nvPr/>
        </p:nvSpPr>
        <p:spPr>
          <a:xfrm>
            <a:off x="539496" y="292608"/>
            <a:ext cx="59436" cy="365760"/>
          </a:xfrm>
          <a:prstGeom prst="rect">
            <a:avLst/>
          </a:prstGeom>
          <a:solidFill>
            <a:srgbClr val="D81921"/>
          </a:solidFill>
          <a:ln w="12700">
            <a:solidFill>
              <a:srgbClr val="D81921">
                <a:alpha val="0"/>
              </a:srgbClr>
            </a:solidFill>
            <a:prstDash val="solid"/>
          </a:ln>
        </p:spPr>
        <p:txBody>
          <a:bodyPr/>
          <a:lstStyle/>
          <a:p>
            <a:endParaRPr lang="zh-CN" altLang="en-US"/>
          </a:p>
        </p:txBody>
      </p:sp>
      <p:sp>
        <p:nvSpPr>
          <p:cNvPr id="5" name="Shape 3">
            <a:extLst>
              <a:ext uri="{FF2B5EF4-FFF2-40B4-BE49-F238E27FC236}">
                <a16:creationId xmlns:a16="http://schemas.microsoft.com/office/drawing/2014/main" id="{4B98B8E4-E9BA-2019-75B6-42C38FEB097C}"/>
              </a:ext>
            </a:extLst>
          </p:cNvPr>
          <p:cNvSpPr/>
          <p:nvPr/>
        </p:nvSpPr>
        <p:spPr>
          <a:xfrm>
            <a:off x="8607325" y="361487"/>
            <a:ext cx="2011680" cy="283464"/>
          </a:xfrm>
          <a:prstGeom prst="roundRect">
            <a:avLst>
              <a:gd name="adj" fmla="val 25806"/>
            </a:avLst>
          </a:prstGeom>
          <a:solidFill>
            <a:srgbClr val="E8F3FF"/>
          </a:solidFill>
          <a:ln w="12700">
            <a:solidFill>
              <a:srgbClr val="E8F3FF">
                <a:alpha val="0"/>
              </a:srgbClr>
            </a:solidFill>
            <a:prstDash val="solid"/>
          </a:ln>
        </p:spPr>
        <p:txBody>
          <a:bodyPr/>
          <a:lstStyle/>
          <a:p>
            <a:endParaRPr lang="zh-CN" altLang="en-US"/>
          </a:p>
        </p:txBody>
      </p:sp>
      <p:sp>
        <p:nvSpPr>
          <p:cNvPr id="6" name="Text 4">
            <a:extLst>
              <a:ext uri="{FF2B5EF4-FFF2-40B4-BE49-F238E27FC236}">
                <a16:creationId xmlns:a16="http://schemas.microsoft.com/office/drawing/2014/main" id="{4DCDE7AD-017A-CC5D-0684-6B7B7B5C5A95}"/>
              </a:ext>
            </a:extLst>
          </p:cNvPr>
          <p:cNvSpPr txBox="1"/>
          <p:nvPr/>
        </p:nvSpPr>
        <p:spPr>
          <a:xfrm>
            <a:off x="8616352" y="433426"/>
            <a:ext cx="1883664" cy="228600"/>
          </a:xfrm>
          <a:prstGeom prst="rect">
            <a:avLst/>
          </a:prstGeom>
          <a:noFill/>
          <a:ln/>
        </p:spPr>
        <p:txBody>
          <a:bodyPr wrap="square" lIns="0" tIns="0" rIns="0" bIns="0" rtlCol="0" anchor="ctr">
            <a:normAutofit/>
          </a:bodyPr>
          <a:lstStyle/>
          <a:p>
            <a:pPr marL="0" indent="0" algn="ctr">
              <a:lnSpc>
                <a:spcPct val="100000"/>
              </a:lnSpc>
              <a:buNone/>
            </a:pPr>
            <a:r>
              <a:rPr lang="en-US" sz="1010" b="1" dirty="0">
                <a:solidFill>
                  <a:srgbClr val="0A5AA0"/>
                </a:solidFill>
                <a:latin typeface="Microsoft YaHei" pitchFamily="34" charset="0"/>
                <a:ea typeface="Microsoft YaHei" pitchFamily="34" charset="-122"/>
                <a:cs typeface="Microsoft YaHei" pitchFamily="34" charset="-120"/>
              </a:rPr>
              <a:t>vLLM-Ascend · PR #14607</a:t>
            </a:r>
            <a:endParaRPr lang="en-US" sz="1010" dirty="0"/>
          </a:p>
        </p:txBody>
      </p:sp>
      <p:sp>
        <p:nvSpPr>
          <p:cNvPr id="7" name="Shape 46">
            <a:extLst>
              <a:ext uri="{FF2B5EF4-FFF2-40B4-BE49-F238E27FC236}">
                <a16:creationId xmlns:a16="http://schemas.microsoft.com/office/drawing/2014/main" id="{98E8F1A9-7ACE-3FF6-53BC-362F4DCF7854}"/>
              </a:ext>
            </a:extLst>
          </p:cNvPr>
          <p:cNvSpPr/>
          <p:nvPr/>
        </p:nvSpPr>
        <p:spPr>
          <a:xfrm>
            <a:off x="5140454" y="1453744"/>
            <a:ext cx="967738" cy="1632356"/>
          </a:xfrm>
          <a:prstGeom prst="roundRect">
            <a:avLst>
              <a:gd name="adj" fmla="val 28571"/>
            </a:avLst>
          </a:prstGeom>
          <a:solidFill>
            <a:srgbClr val="F1F5F9"/>
          </a:solidFill>
          <a:ln w="8890">
            <a:solidFill>
              <a:srgbClr val="E2EAF1"/>
            </a:solidFill>
            <a:prstDash val="solid"/>
          </a:ln>
        </p:spPr>
        <p:txBody>
          <a:bodyPr/>
          <a:lstStyle/>
          <a:p>
            <a:endParaRPr lang="zh-CN" altLang="en-US"/>
          </a:p>
        </p:txBody>
      </p:sp>
      <p:sp>
        <p:nvSpPr>
          <p:cNvPr id="10" name="文本框 9">
            <a:extLst>
              <a:ext uri="{FF2B5EF4-FFF2-40B4-BE49-F238E27FC236}">
                <a16:creationId xmlns:a16="http://schemas.microsoft.com/office/drawing/2014/main" id="{10A2463C-F433-329A-3BAB-E68C6FCB6E0B}"/>
              </a:ext>
            </a:extLst>
          </p:cNvPr>
          <p:cNvSpPr txBox="1"/>
          <p:nvPr/>
        </p:nvSpPr>
        <p:spPr>
          <a:xfrm>
            <a:off x="5110504" y="1511871"/>
            <a:ext cx="1093700" cy="403187"/>
          </a:xfrm>
          <a:prstGeom prst="rect">
            <a:avLst/>
          </a:prstGeom>
          <a:noFill/>
        </p:spPr>
        <p:txBody>
          <a:bodyPr wrap="square">
            <a:spAutoFit/>
          </a:bodyPr>
          <a:lstStyle/>
          <a:p>
            <a:pPr algn="ctr"/>
            <a:r>
              <a:rPr lang="en-US" altLang="zh-CN" sz="1010" b="1">
                <a:solidFill>
                  <a:srgbClr val="20344D"/>
                </a:solidFill>
                <a:latin typeface="Times New Roman" panose="02020603050405020304" pitchFamily="18" charset="0"/>
                <a:ea typeface="Noto Sans CJK SC" pitchFamily="34" charset="-122"/>
                <a:cs typeface="Times New Roman" panose="02020603050405020304" pitchFamily="18" charset="0"/>
              </a:rPr>
              <a:t>embed_vision</a:t>
            </a:r>
          </a:p>
          <a:p>
            <a:pPr algn="ctr"/>
            <a:r>
              <a:rPr lang="zh-CN" altLang="en-US" sz="1010" b="1">
                <a:solidFill>
                  <a:srgbClr val="20344D"/>
                </a:solidFill>
                <a:latin typeface="Times New Roman" panose="02020603050405020304" pitchFamily="18" charset="0"/>
                <a:ea typeface="Noto Sans CJK SC" pitchFamily="34" charset="-122"/>
                <a:cs typeface="Times New Roman" panose="02020603050405020304" pitchFamily="18" charset="0"/>
              </a:rPr>
              <a:t>（视觉投影模块）</a:t>
            </a:r>
          </a:p>
        </p:txBody>
      </p:sp>
      <p:sp>
        <p:nvSpPr>
          <p:cNvPr id="137" name="文本框 136">
            <a:extLst>
              <a:ext uri="{FF2B5EF4-FFF2-40B4-BE49-F238E27FC236}">
                <a16:creationId xmlns:a16="http://schemas.microsoft.com/office/drawing/2014/main" id="{6C8D7502-2D65-BA9A-6AB2-78FD93228E70}"/>
              </a:ext>
            </a:extLst>
          </p:cNvPr>
          <p:cNvSpPr txBox="1"/>
          <p:nvPr/>
        </p:nvSpPr>
        <p:spPr>
          <a:xfrm>
            <a:off x="5068823" y="2161032"/>
            <a:ext cx="1130809" cy="1024896"/>
          </a:xfrm>
          <a:prstGeom prst="rect">
            <a:avLst/>
          </a:prstGeom>
          <a:noFill/>
        </p:spPr>
        <p:txBody>
          <a:bodyPr wrap="square">
            <a:spAutoFit/>
          </a:bodyPr>
          <a:lstStyle/>
          <a:p>
            <a:pPr algn="ctr"/>
            <a:r>
              <a:rPr lang="en-US" altLang="zh-CN" sz="1010" b="1">
                <a:solidFill>
                  <a:srgbClr val="20344D"/>
                </a:solidFill>
                <a:latin typeface="Times New Roman" panose="02020603050405020304" pitchFamily="18" charset="0"/>
                <a:ea typeface="Noto Sans CJK SC" pitchFamily="34" charset="-122"/>
                <a:cs typeface="Times New Roman" panose="02020603050405020304" pitchFamily="18" charset="0"/>
              </a:rPr>
              <a:t>Language Model</a:t>
            </a:r>
            <a:r>
              <a:rPr lang="zh-CN" altLang="en-US" sz="1010" b="1">
                <a:solidFill>
                  <a:srgbClr val="20344D"/>
                </a:solidFill>
                <a:latin typeface="Times New Roman" panose="02020603050405020304" pitchFamily="18" charset="0"/>
                <a:ea typeface="Noto Sans CJK SC" pitchFamily="34" charset="-122"/>
                <a:cs typeface="Times New Roman" panose="02020603050405020304" pitchFamily="18" charset="0"/>
              </a:rPr>
              <a:t>（ </a:t>
            </a:r>
            <a:r>
              <a:rPr lang="en-US" altLang="zh-CN" sz="1010" b="1">
                <a:solidFill>
                  <a:srgbClr val="20344D"/>
                </a:solidFill>
                <a:latin typeface="Times New Roman" panose="02020603050405020304" pitchFamily="18" charset="0"/>
                <a:ea typeface="Noto Sans CJK SC" pitchFamily="34" charset="-122"/>
                <a:cs typeface="Times New Roman" panose="02020603050405020304" pitchFamily="18" charset="0"/>
              </a:rPr>
              <a:t>Embeddings </a:t>
            </a:r>
            <a:r>
              <a:rPr lang="zh-CN" altLang="en-US" sz="1010" b="1">
                <a:solidFill>
                  <a:srgbClr val="20344D"/>
                </a:solidFill>
                <a:latin typeface="Times New Roman" panose="02020603050405020304" pitchFamily="18" charset="0"/>
                <a:ea typeface="Noto Sans CJK SC" pitchFamily="34" charset="-122"/>
                <a:cs typeface="Times New Roman" panose="02020603050405020304" pitchFamily="18" charset="0"/>
              </a:rPr>
              <a:t>组合后进行推理 </a:t>
            </a:r>
            <a:r>
              <a:rPr lang="en-US" altLang="zh-CN" sz="1010" b="1">
                <a:solidFill>
                  <a:srgbClr val="20344D"/>
                </a:solidFill>
                <a:latin typeface="Times New Roman" panose="02020603050405020304" pitchFamily="18" charset="0"/>
                <a:ea typeface="Noto Sans CJK SC" pitchFamily="34" charset="-122"/>
                <a:cs typeface="Times New Roman" panose="02020603050405020304" pitchFamily="18" charset="0"/>
              </a:rPr>
              <a:t>Transformer Decoder </a:t>
            </a:r>
            <a:r>
              <a:rPr lang="zh-CN" altLang="en-US" sz="1010" b="1">
                <a:solidFill>
                  <a:srgbClr val="20344D"/>
                </a:solidFill>
                <a:latin typeface="Times New Roman" panose="02020603050405020304" pitchFamily="18" charset="0"/>
                <a:ea typeface="Noto Sans CJK SC" pitchFamily="34" charset="-122"/>
                <a:cs typeface="Times New Roman" panose="02020603050405020304" pitchFamily="18" charset="0"/>
              </a:rPr>
              <a:t>）</a:t>
            </a:r>
          </a:p>
          <a:p>
            <a:pPr algn="ctr"/>
            <a:endParaRPr lang="zh-CN" altLang="en-US" sz="1010" b="1">
              <a:solidFill>
                <a:srgbClr val="20344D"/>
              </a:solidFill>
              <a:latin typeface="Times New Roman" panose="02020603050405020304" pitchFamily="18" charset="0"/>
              <a:ea typeface="Noto Sans CJK SC" pitchFamily="34" charset="-122"/>
              <a:cs typeface="Times New Roman" panose="02020603050405020304" pitchFamily="18" charset="0"/>
            </a:endParaRPr>
          </a:p>
        </p:txBody>
      </p:sp>
      <p:sp>
        <p:nvSpPr>
          <p:cNvPr id="138" name="Shape 41">
            <a:extLst>
              <a:ext uri="{FF2B5EF4-FFF2-40B4-BE49-F238E27FC236}">
                <a16:creationId xmlns:a16="http://schemas.microsoft.com/office/drawing/2014/main" id="{95ACE67B-DA53-38EB-7A62-19F62FC5BE22}"/>
              </a:ext>
            </a:extLst>
          </p:cNvPr>
          <p:cNvSpPr/>
          <p:nvPr/>
        </p:nvSpPr>
        <p:spPr>
          <a:xfrm>
            <a:off x="5611368" y="1919326"/>
            <a:ext cx="0" cy="247802"/>
          </a:xfrm>
          <a:prstGeom prst="line">
            <a:avLst/>
          </a:prstGeom>
          <a:noFill/>
          <a:ln w="15240">
            <a:solidFill>
              <a:srgbClr val="102948"/>
            </a:solidFill>
            <a:prstDash val="solid"/>
            <a:headEnd type="none"/>
            <a:tailEnd type="triangle"/>
          </a:ln>
        </p:spPr>
        <p:txBody>
          <a:bodyPr/>
          <a:lstStyle/>
          <a:p>
            <a:endParaRPr lang="zh-CN" altLang="en-US"/>
          </a:p>
        </p:txBody>
      </p:sp>
    </p:spTree>
    <p:extLst>
      <p:ext uri="{BB962C8B-B14F-4D97-AF65-F5344CB8AC3E}">
        <p14:creationId xmlns:p14="http://schemas.microsoft.com/office/powerpoint/2010/main" val="683068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C4D5C-94F7-20F7-EA0F-30F628FD96A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36A1A4B-225E-BB27-0F4C-5BE482F6F651}"/>
              </a:ext>
            </a:extLst>
          </p:cNvPr>
          <p:cNvSpPr>
            <a:spLocks noGrp="1"/>
          </p:cNvSpPr>
          <p:nvPr>
            <p:ph type="sldNum" sz="quarter" idx="12"/>
          </p:nvPr>
        </p:nvSpPr>
        <p:spPr/>
        <p:txBody>
          <a:bodyPr/>
          <a:lstStyle/>
          <a:p>
            <a:fld id="{62B6538A-33AE-45EB-868C-14B9E34ED961}" type="slidenum">
              <a:rPr lang="zh-CN" altLang="en-US" smtClean="0"/>
              <a:t>13</a:t>
            </a:fld>
            <a:endParaRPr lang="zh-CN" altLang="en-US"/>
          </a:p>
        </p:txBody>
      </p:sp>
      <p:sp>
        <p:nvSpPr>
          <p:cNvPr id="3" name="PA_矩形 7">
            <a:extLst>
              <a:ext uri="{FF2B5EF4-FFF2-40B4-BE49-F238E27FC236}">
                <a16:creationId xmlns:a16="http://schemas.microsoft.com/office/drawing/2014/main" id="{5F9B3470-4514-7179-AF87-E7EAE027AF55}"/>
              </a:ext>
            </a:extLst>
          </p:cNvPr>
          <p:cNvSpPr/>
          <p:nvPr>
            <p:custDataLst>
              <p:tags r:id="rId1"/>
            </p:custDataLst>
          </p:nvPr>
        </p:nvSpPr>
        <p:spPr>
          <a:xfrm>
            <a:off x="0" y="0"/>
            <a:ext cx="4314548" cy="6858000"/>
          </a:xfrm>
          <a:prstGeom prst="rect">
            <a:avLst/>
          </a:prstGeom>
          <a:solidFill>
            <a:schemeClr val="accent5">
              <a:lumMod val="75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8">
            <a:extLst>
              <a:ext uri="{FF2B5EF4-FFF2-40B4-BE49-F238E27FC236}">
                <a16:creationId xmlns:a16="http://schemas.microsoft.com/office/drawing/2014/main" id="{52AFE488-26AA-F0EB-0762-1BB74BC3290B}"/>
              </a:ext>
            </a:extLst>
          </p:cNvPr>
          <p:cNvSpPr txBox="1"/>
          <p:nvPr/>
        </p:nvSpPr>
        <p:spPr>
          <a:xfrm>
            <a:off x="514383" y="2136764"/>
            <a:ext cx="3125983" cy="2831544"/>
          </a:xfrm>
          <a:prstGeom prst="rect">
            <a:avLst/>
          </a:prstGeom>
          <a:noFill/>
        </p:spPr>
        <p:txBody>
          <a:bodyPr wrap="square" lIns="0" tIns="0" rIns="0" bIns="0" rtlCol="0" anchor="ctr">
            <a:spAutoFit/>
          </a:bodyPr>
          <a:lstStyle/>
          <a:p>
            <a:pPr algn="ctr"/>
            <a:r>
              <a:rPr lang="zh-CN" altLang="en-US" sz="60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endParaRPr lang="en-US" altLang="zh-CN" sz="6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endParaRPr lang="en-US" altLang="zh-CN" sz="32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en-US" altLang="zh-CN" sz="32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p>
          <a:p>
            <a:pPr algn="ctr"/>
            <a:endParaRPr lang="zh-CN" altLang="en-US" sz="6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7" name="Group 5">
            <a:extLst>
              <a:ext uri="{FF2B5EF4-FFF2-40B4-BE49-F238E27FC236}">
                <a16:creationId xmlns:a16="http://schemas.microsoft.com/office/drawing/2014/main" id="{BE6FC7DC-8EF0-3AB1-E405-406EEDC2645F}"/>
              </a:ext>
            </a:extLst>
          </p:cNvPr>
          <p:cNvGrpSpPr/>
          <p:nvPr/>
        </p:nvGrpSpPr>
        <p:grpSpPr>
          <a:xfrm>
            <a:off x="5386029" y="1335079"/>
            <a:ext cx="4430625" cy="707887"/>
            <a:chOff x="1598315" y="1418185"/>
            <a:chExt cx="4430626" cy="707886"/>
          </a:xfrm>
        </p:grpSpPr>
        <p:sp>
          <p:nvSpPr>
            <p:cNvPr id="8" name="TextBox 6">
              <a:extLst>
                <a:ext uri="{FF2B5EF4-FFF2-40B4-BE49-F238E27FC236}">
                  <a16:creationId xmlns:a16="http://schemas.microsoft.com/office/drawing/2014/main" id="{CADEDA8B-4907-311A-6452-6A407754D9E4}"/>
                </a:ext>
              </a:extLst>
            </p:cNvPr>
            <p:cNvSpPr txBox="1"/>
            <p:nvPr/>
          </p:nvSpPr>
          <p:spPr>
            <a:xfrm>
              <a:off x="1598315" y="1418185"/>
              <a:ext cx="655949" cy="707886"/>
            </a:xfrm>
            <a:prstGeom prst="rect">
              <a:avLst/>
            </a:prstGeom>
            <a:noFill/>
          </p:spPr>
          <p:txBody>
            <a:bodyPr wrap="none" anchor="ctr">
              <a:normAutofit fontScale="85000" lnSpcReduction="20000"/>
            </a:bodyPr>
            <a:lstStyle/>
            <a:p>
              <a:pPr defTabSz="1219200"/>
              <a:r>
                <a:rPr lang="en-US" altLang="zh-CN" sz="5335" dirty="0">
                  <a:solidFill>
                    <a:schemeClr val="accent1">
                      <a:lumMod val="50000"/>
                    </a:schemeClr>
                  </a:solidFill>
                  <a:latin typeface="Impact" panose="020B0806030902050204" pitchFamily="34" charset="0"/>
                  <a:ea typeface="宋体" panose="02010600030101010101" pitchFamily="2" charset="-122"/>
                </a:rPr>
                <a:t>01</a:t>
              </a:r>
            </a:p>
          </p:txBody>
        </p:sp>
        <p:grpSp>
          <p:nvGrpSpPr>
            <p:cNvPr id="9" name="Group 7">
              <a:extLst>
                <a:ext uri="{FF2B5EF4-FFF2-40B4-BE49-F238E27FC236}">
                  <a16:creationId xmlns:a16="http://schemas.microsoft.com/office/drawing/2014/main" id="{CBA6A7B2-ED66-A77E-5666-09A4E5A83914}"/>
                </a:ext>
              </a:extLst>
            </p:cNvPr>
            <p:cNvGrpSpPr/>
            <p:nvPr/>
          </p:nvGrpSpPr>
          <p:grpSpPr>
            <a:xfrm>
              <a:off x="2066367" y="1529264"/>
              <a:ext cx="3962574" cy="563232"/>
              <a:chOff x="3943834" y="704409"/>
              <a:chExt cx="3962574" cy="563232"/>
            </a:xfrm>
          </p:grpSpPr>
          <p:sp>
            <p:nvSpPr>
              <p:cNvPr id="10" name="TextBox 8">
                <a:extLst>
                  <a:ext uri="{FF2B5EF4-FFF2-40B4-BE49-F238E27FC236}">
                    <a16:creationId xmlns:a16="http://schemas.microsoft.com/office/drawing/2014/main" id="{1DE59DB4-7BA4-DAEA-CC5C-E2AB546E4451}"/>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dirty="0">
                    <a:solidFill>
                      <a:schemeClr val="accent1">
                        <a:lumMod val="50000"/>
                      </a:schemeClr>
                    </a:solidFill>
                    <a:latin typeface="Calibri" panose="020F0502020204030204"/>
                    <a:ea typeface="宋体" panose="02010600030101010101" pitchFamily="2" charset="-122"/>
                  </a:rPr>
                  <a:t>个人简介</a:t>
                </a:r>
              </a:p>
            </p:txBody>
          </p:sp>
          <p:sp>
            <p:nvSpPr>
              <p:cNvPr id="11" name="TextBox 9">
                <a:extLst>
                  <a:ext uri="{FF2B5EF4-FFF2-40B4-BE49-F238E27FC236}">
                    <a16:creationId xmlns:a16="http://schemas.microsoft.com/office/drawing/2014/main" id="{B2B05BBE-CD9A-75D4-F678-E52F2261AA3E}"/>
                  </a:ext>
                </a:extLst>
              </p:cNvPr>
              <p:cNvSpPr txBox="1"/>
              <p:nvPr/>
            </p:nvSpPr>
            <p:spPr>
              <a:xfrm>
                <a:off x="3943834" y="947273"/>
                <a:ext cx="3962574" cy="320368"/>
              </a:xfrm>
              <a:prstGeom prst="rect">
                <a:avLst/>
              </a:prstGeom>
            </p:spPr>
            <p:txBody>
              <a:bodyPr vert="horz" wrap="square" lIns="480000" tIns="0" rIns="0" bIns="0" anchor="ctr" anchorCtr="0">
                <a:normAutofit/>
              </a:bodyPr>
              <a:lstStyle/>
              <a:p>
                <a:pPr defTabSz="1219200">
                  <a:lnSpc>
                    <a:spcPct val="120000"/>
                  </a:lnSpc>
                </a:pPr>
                <a:r>
                  <a:rPr lang="en-US" altLang="zh-CN" sz="1600">
                    <a:solidFill>
                      <a:schemeClr val="accent1">
                        <a:lumMod val="50000"/>
                      </a:schemeClr>
                    </a:solidFill>
                    <a:latin typeface="Calibri" panose="020F0502020204030204"/>
                    <a:ea typeface="宋体" panose="02010600030101010101" pitchFamily="2" charset="-122"/>
                  </a:rPr>
                  <a:t>Introduction</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12" name="Group 10">
            <a:extLst>
              <a:ext uri="{FF2B5EF4-FFF2-40B4-BE49-F238E27FC236}">
                <a16:creationId xmlns:a16="http://schemas.microsoft.com/office/drawing/2014/main" id="{97154480-D97F-2AD9-F080-CC2233C83C47}"/>
              </a:ext>
            </a:extLst>
          </p:cNvPr>
          <p:cNvGrpSpPr/>
          <p:nvPr/>
        </p:nvGrpSpPr>
        <p:grpSpPr>
          <a:xfrm>
            <a:off x="5386029" y="2310193"/>
            <a:ext cx="5126765" cy="707887"/>
            <a:chOff x="1598315" y="2786337"/>
            <a:chExt cx="5053548" cy="707886"/>
          </a:xfrm>
        </p:grpSpPr>
        <p:sp>
          <p:nvSpPr>
            <p:cNvPr id="13" name="TextBox 11">
              <a:extLst>
                <a:ext uri="{FF2B5EF4-FFF2-40B4-BE49-F238E27FC236}">
                  <a16:creationId xmlns:a16="http://schemas.microsoft.com/office/drawing/2014/main" id="{B25B25B4-90F8-BE03-D06D-BC7C5C714F2B}"/>
                </a:ext>
              </a:extLst>
            </p:cNvPr>
            <p:cNvSpPr txBox="1"/>
            <p:nvPr/>
          </p:nvSpPr>
          <p:spPr>
            <a:xfrm>
              <a:off x="1598315" y="2786337"/>
              <a:ext cx="718466" cy="707886"/>
            </a:xfrm>
            <a:prstGeom prst="rect">
              <a:avLst/>
            </a:prstGeom>
            <a:noFill/>
          </p:spPr>
          <p:txBody>
            <a:bodyPr wrap="none" anchor="ctr">
              <a:noAutofit/>
            </a:bodyPr>
            <a:lstStyle/>
            <a:p>
              <a:pPr defTabSz="1219200"/>
              <a:r>
                <a:rPr lang="en-US" altLang="zh-CN" sz="4500" dirty="0">
                  <a:solidFill>
                    <a:schemeClr val="accent1">
                      <a:lumMod val="50000"/>
                    </a:schemeClr>
                  </a:solidFill>
                  <a:latin typeface="Impact" panose="020B0806030902050204" pitchFamily="34" charset="0"/>
                  <a:ea typeface="宋体" panose="02010600030101010101" pitchFamily="2" charset="-122"/>
                </a:rPr>
                <a:t>02</a:t>
              </a:r>
            </a:p>
          </p:txBody>
        </p:sp>
        <p:grpSp>
          <p:nvGrpSpPr>
            <p:cNvPr id="14" name="Group 12">
              <a:extLst>
                <a:ext uri="{FF2B5EF4-FFF2-40B4-BE49-F238E27FC236}">
                  <a16:creationId xmlns:a16="http://schemas.microsoft.com/office/drawing/2014/main" id="{6ECF3EC7-E595-57DC-AEF6-5791C34BEA56}"/>
                </a:ext>
              </a:extLst>
            </p:cNvPr>
            <p:cNvGrpSpPr/>
            <p:nvPr/>
          </p:nvGrpSpPr>
          <p:grpSpPr>
            <a:xfrm>
              <a:off x="2066367" y="2897416"/>
              <a:ext cx="4585496" cy="563232"/>
              <a:chOff x="3943834" y="704409"/>
              <a:chExt cx="4585496" cy="563232"/>
            </a:xfrm>
          </p:grpSpPr>
          <p:sp>
            <p:nvSpPr>
              <p:cNvPr id="15" name="TextBox 13">
                <a:extLst>
                  <a:ext uri="{FF2B5EF4-FFF2-40B4-BE49-F238E27FC236}">
                    <a16:creationId xmlns:a16="http://schemas.microsoft.com/office/drawing/2014/main" id="{81959876-E8CA-916A-6C11-13980C1AD69F}"/>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企业实习经历</a:t>
                </a:r>
                <a:endParaRPr lang="zh-CN" altLang="en-US" sz="2400" b="1" dirty="0">
                  <a:solidFill>
                    <a:schemeClr val="accent1">
                      <a:lumMod val="50000"/>
                    </a:schemeClr>
                  </a:solidFill>
                  <a:latin typeface="Calibri" panose="020F0502020204030204"/>
                  <a:ea typeface="宋体" panose="02010600030101010101" pitchFamily="2" charset="-122"/>
                </a:endParaRPr>
              </a:p>
            </p:txBody>
          </p:sp>
          <p:sp>
            <p:nvSpPr>
              <p:cNvPr id="16" name="TextBox 14">
                <a:extLst>
                  <a:ext uri="{FF2B5EF4-FFF2-40B4-BE49-F238E27FC236}">
                    <a16:creationId xmlns:a16="http://schemas.microsoft.com/office/drawing/2014/main" id="{44543AFF-FC86-4D00-43F4-1993E8BEFBCA}"/>
                  </a:ext>
                </a:extLst>
              </p:cNvPr>
              <p:cNvSpPr txBox="1"/>
              <p:nvPr/>
            </p:nvSpPr>
            <p:spPr>
              <a:xfrm>
                <a:off x="3943834" y="947273"/>
                <a:ext cx="4585496" cy="320368"/>
              </a:xfrm>
              <a:prstGeom prst="rect">
                <a:avLst/>
              </a:prstGeom>
            </p:spPr>
            <p:txBody>
              <a:bodyPr vert="horz" wrap="square" lIns="480000" tIns="0" rIns="0" bIns="0" anchor="ctr" anchorCtr="0">
                <a:noAutofit/>
              </a:bodyPr>
              <a:lstStyle/>
              <a:p>
                <a:pPr defTabSz="1219200">
                  <a:lnSpc>
                    <a:spcPct val="120000"/>
                  </a:lnSpc>
                </a:pPr>
                <a:r>
                  <a:rPr lang="en-US" altLang="zh-CN" sz="1600">
                    <a:solidFill>
                      <a:schemeClr val="accent1">
                        <a:lumMod val="50000"/>
                      </a:schemeClr>
                    </a:solidFill>
                  </a:rPr>
                  <a:t>Internship</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17" name="Group 15">
            <a:extLst>
              <a:ext uri="{FF2B5EF4-FFF2-40B4-BE49-F238E27FC236}">
                <a16:creationId xmlns:a16="http://schemas.microsoft.com/office/drawing/2014/main" id="{3E811132-45E1-D4FE-2187-D2497D571579}"/>
              </a:ext>
            </a:extLst>
          </p:cNvPr>
          <p:cNvGrpSpPr/>
          <p:nvPr/>
        </p:nvGrpSpPr>
        <p:grpSpPr>
          <a:xfrm>
            <a:off x="5386029" y="4260421"/>
            <a:ext cx="4430625" cy="707887"/>
            <a:chOff x="1598315" y="4154489"/>
            <a:chExt cx="4430626" cy="707886"/>
          </a:xfrm>
        </p:grpSpPr>
        <p:sp>
          <p:nvSpPr>
            <p:cNvPr id="18" name="TextBox 16">
              <a:extLst>
                <a:ext uri="{FF2B5EF4-FFF2-40B4-BE49-F238E27FC236}">
                  <a16:creationId xmlns:a16="http://schemas.microsoft.com/office/drawing/2014/main" id="{3424CECD-0A8C-4582-D2E4-45959137D706}"/>
                </a:ext>
              </a:extLst>
            </p:cNvPr>
            <p:cNvSpPr txBox="1"/>
            <p:nvPr/>
          </p:nvSpPr>
          <p:spPr>
            <a:xfrm>
              <a:off x="1598315" y="4154489"/>
              <a:ext cx="732893" cy="707886"/>
            </a:xfrm>
            <a:prstGeom prst="rect">
              <a:avLst/>
            </a:prstGeom>
            <a:noFill/>
          </p:spPr>
          <p:txBody>
            <a:bodyPr wrap="none" anchor="ctr">
              <a:normAutofit fontScale="85000" lnSpcReduction="20000"/>
            </a:bodyPr>
            <a:lstStyle/>
            <a:p>
              <a:pPr defTabSz="1219200"/>
              <a:r>
                <a:rPr lang="en-US" altLang="zh-CN" sz="5335">
                  <a:solidFill>
                    <a:schemeClr val="accent1">
                      <a:lumMod val="50000"/>
                    </a:schemeClr>
                  </a:solidFill>
                  <a:latin typeface="Impact" panose="020B0806030902050204" pitchFamily="34" charset="0"/>
                  <a:ea typeface="宋体" panose="02010600030101010101" pitchFamily="2" charset="-122"/>
                </a:rPr>
                <a:t>04</a:t>
              </a:r>
              <a:endParaRPr lang="en-US" altLang="zh-CN" sz="5335" dirty="0">
                <a:solidFill>
                  <a:schemeClr val="accent1">
                    <a:lumMod val="50000"/>
                  </a:schemeClr>
                </a:solidFill>
                <a:latin typeface="Impact" panose="020B0806030902050204" pitchFamily="34" charset="0"/>
                <a:ea typeface="宋体" panose="02010600030101010101" pitchFamily="2" charset="-122"/>
              </a:endParaRPr>
            </a:p>
          </p:txBody>
        </p:sp>
        <p:grpSp>
          <p:nvGrpSpPr>
            <p:cNvPr id="19" name="Group 17">
              <a:extLst>
                <a:ext uri="{FF2B5EF4-FFF2-40B4-BE49-F238E27FC236}">
                  <a16:creationId xmlns:a16="http://schemas.microsoft.com/office/drawing/2014/main" id="{F7DB7A54-927B-224F-8643-04D5AAAE2394}"/>
                </a:ext>
              </a:extLst>
            </p:cNvPr>
            <p:cNvGrpSpPr/>
            <p:nvPr/>
          </p:nvGrpSpPr>
          <p:grpSpPr>
            <a:xfrm>
              <a:off x="2066367" y="4265568"/>
              <a:ext cx="3962574" cy="563232"/>
              <a:chOff x="3943834" y="704409"/>
              <a:chExt cx="3962574" cy="563232"/>
            </a:xfrm>
          </p:grpSpPr>
          <p:sp>
            <p:nvSpPr>
              <p:cNvPr id="20" name="TextBox 18">
                <a:extLst>
                  <a:ext uri="{FF2B5EF4-FFF2-40B4-BE49-F238E27FC236}">
                    <a16:creationId xmlns:a16="http://schemas.microsoft.com/office/drawing/2014/main" id="{6ABDC225-41D4-9660-22BC-883EB816B5CB}"/>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竞赛项目经历</a:t>
                </a:r>
                <a:endParaRPr lang="zh-CN" altLang="en-US" sz="2400" b="1" dirty="0">
                  <a:solidFill>
                    <a:schemeClr val="accent1">
                      <a:lumMod val="50000"/>
                    </a:schemeClr>
                  </a:solidFill>
                </a:endParaRPr>
              </a:p>
            </p:txBody>
          </p:sp>
          <p:sp>
            <p:nvSpPr>
              <p:cNvPr id="21" name="TextBox 19">
                <a:extLst>
                  <a:ext uri="{FF2B5EF4-FFF2-40B4-BE49-F238E27FC236}">
                    <a16:creationId xmlns:a16="http://schemas.microsoft.com/office/drawing/2014/main" id="{C5BE237E-FE51-EB18-EF2D-065DE2A5A8BE}"/>
                  </a:ext>
                </a:extLst>
              </p:cNvPr>
              <p:cNvSpPr txBox="1"/>
              <p:nvPr/>
            </p:nvSpPr>
            <p:spPr>
              <a:xfrm>
                <a:off x="3943834" y="947273"/>
                <a:ext cx="3962574" cy="320368"/>
              </a:xfrm>
              <a:prstGeom prst="rect">
                <a:avLst/>
              </a:prstGeom>
            </p:spPr>
            <p:txBody>
              <a:bodyPr vert="horz" wrap="square" lIns="480000" tIns="0" rIns="0" bIns="0" anchor="ctr" anchorCtr="0">
                <a:normAutofit/>
              </a:bodyPr>
              <a:lstStyle/>
              <a:p>
                <a:pPr defTabSz="1219200">
                  <a:lnSpc>
                    <a:spcPct val="120000"/>
                  </a:lnSpc>
                </a:pPr>
                <a:r>
                  <a:rPr lang="en-US" altLang="zh-CN" sz="1600" dirty="0">
                    <a:solidFill>
                      <a:schemeClr val="accent1">
                        <a:lumMod val="50000"/>
                      </a:schemeClr>
                    </a:solidFill>
                    <a:latin typeface="Calibri" panose="020F0502020204030204"/>
                    <a:ea typeface="宋体" panose="02010600030101010101" pitchFamily="2" charset="-122"/>
                  </a:rPr>
                  <a:t>Personal quality and development</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5" name="Group 10">
            <a:extLst>
              <a:ext uri="{FF2B5EF4-FFF2-40B4-BE49-F238E27FC236}">
                <a16:creationId xmlns:a16="http://schemas.microsoft.com/office/drawing/2014/main" id="{4CC57920-C8D1-AE9E-4B48-C8C9F486E3AB}"/>
              </a:ext>
            </a:extLst>
          </p:cNvPr>
          <p:cNvGrpSpPr/>
          <p:nvPr/>
        </p:nvGrpSpPr>
        <p:grpSpPr>
          <a:xfrm>
            <a:off x="5386029" y="3285307"/>
            <a:ext cx="5126765" cy="707887"/>
            <a:chOff x="1598315" y="2786337"/>
            <a:chExt cx="5053548" cy="707886"/>
          </a:xfrm>
        </p:grpSpPr>
        <p:sp>
          <p:nvSpPr>
            <p:cNvPr id="6" name="TextBox 11">
              <a:extLst>
                <a:ext uri="{FF2B5EF4-FFF2-40B4-BE49-F238E27FC236}">
                  <a16:creationId xmlns:a16="http://schemas.microsoft.com/office/drawing/2014/main" id="{7D5BD609-7D5A-8EF1-7818-34DC6798A71F}"/>
                </a:ext>
              </a:extLst>
            </p:cNvPr>
            <p:cNvSpPr txBox="1"/>
            <p:nvPr/>
          </p:nvSpPr>
          <p:spPr>
            <a:xfrm>
              <a:off x="1598315" y="2786337"/>
              <a:ext cx="718466" cy="707886"/>
            </a:xfrm>
            <a:prstGeom prst="rect">
              <a:avLst/>
            </a:prstGeom>
            <a:noFill/>
          </p:spPr>
          <p:txBody>
            <a:bodyPr wrap="none" anchor="ctr">
              <a:normAutofit fontScale="85000" lnSpcReduction="20000"/>
            </a:bodyPr>
            <a:lstStyle/>
            <a:p>
              <a:pPr defTabSz="1219200"/>
              <a:r>
                <a:rPr lang="en-US" altLang="zh-CN" sz="5335">
                  <a:solidFill>
                    <a:srgbClr val="FF0000"/>
                  </a:solidFill>
                  <a:latin typeface="Impact" panose="020B0806030902050204" pitchFamily="34" charset="0"/>
                  <a:ea typeface="宋体" panose="02010600030101010101" pitchFamily="2" charset="-122"/>
                </a:rPr>
                <a:t>03</a:t>
              </a:r>
              <a:endParaRPr lang="en-US" altLang="zh-CN" sz="5335" dirty="0">
                <a:solidFill>
                  <a:srgbClr val="FF0000"/>
                </a:solidFill>
                <a:latin typeface="Impact" panose="020B0806030902050204" pitchFamily="34" charset="0"/>
                <a:ea typeface="宋体" panose="02010600030101010101" pitchFamily="2" charset="-122"/>
              </a:endParaRPr>
            </a:p>
          </p:txBody>
        </p:sp>
        <p:grpSp>
          <p:nvGrpSpPr>
            <p:cNvPr id="22" name="Group 12">
              <a:extLst>
                <a:ext uri="{FF2B5EF4-FFF2-40B4-BE49-F238E27FC236}">
                  <a16:creationId xmlns:a16="http://schemas.microsoft.com/office/drawing/2014/main" id="{E97C32A4-5438-4625-ADB7-283FC33574F6}"/>
                </a:ext>
              </a:extLst>
            </p:cNvPr>
            <p:cNvGrpSpPr/>
            <p:nvPr/>
          </p:nvGrpSpPr>
          <p:grpSpPr>
            <a:xfrm>
              <a:off x="2066367" y="2897416"/>
              <a:ext cx="4585496" cy="563232"/>
              <a:chOff x="3943834" y="704409"/>
              <a:chExt cx="4585496" cy="563232"/>
            </a:xfrm>
          </p:grpSpPr>
          <p:sp>
            <p:nvSpPr>
              <p:cNvPr id="23" name="TextBox 13">
                <a:extLst>
                  <a:ext uri="{FF2B5EF4-FFF2-40B4-BE49-F238E27FC236}">
                    <a16:creationId xmlns:a16="http://schemas.microsoft.com/office/drawing/2014/main" id="{D4619B0A-557E-76DD-4939-7B72C8875394}"/>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科研实习经历</a:t>
                </a:r>
                <a:endParaRPr lang="zh-CN" altLang="en-US" sz="2400" b="1" dirty="0">
                  <a:solidFill>
                    <a:schemeClr val="accent1">
                      <a:lumMod val="50000"/>
                    </a:schemeClr>
                  </a:solidFill>
                  <a:latin typeface="Calibri" panose="020F0502020204030204"/>
                  <a:ea typeface="宋体" panose="02010600030101010101" pitchFamily="2" charset="-122"/>
                </a:endParaRPr>
              </a:p>
            </p:txBody>
          </p:sp>
          <p:sp>
            <p:nvSpPr>
              <p:cNvPr id="24" name="TextBox 14">
                <a:extLst>
                  <a:ext uri="{FF2B5EF4-FFF2-40B4-BE49-F238E27FC236}">
                    <a16:creationId xmlns:a16="http://schemas.microsoft.com/office/drawing/2014/main" id="{885EFF0B-7FC2-AFD6-B48C-71BCC46D92B3}"/>
                  </a:ext>
                </a:extLst>
              </p:cNvPr>
              <p:cNvSpPr txBox="1"/>
              <p:nvPr/>
            </p:nvSpPr>
            <p:spPr>
              <a:xfrm>
                <a:off x="3943834" y="947273"/>
                <a:ext cx="4585496" cy="320368"/>
              </a:xfrm>
              <a:prstGeom prst="rect">
                <a:avLst/>
              </a:prstGeom>
            </p:spPr>
            <p:txBody>
              <a:bodyPr vert="horz" wrap="square" lIns="480000" tIns="0" rIns="0" bIns="0" anchor="ctr" anchorCtr="0">
                <a:noAutofit/>
              </a:bodyPr>
              <a:lstStyle/>
              <a:p>
                <a:pPr defTabSz="1219200">
                  <a:lnSpc>
                    <a:spcPct val="120000"/>
                  </a:lnSpc>
                </a:pPr>
                <a:r>
                  <a:rPr lang="en-US" altLang="zh-CN" sz="1600" dirty="0">
                    <a:solidFill>
                      <a:schemeClr val="accent1">
                        <a:lumMod val="50000"/>
                      </a:schemeClr>
                    </a:solidFill>
                  </a:rPr>
                  <a:t>Competitions and scientific </a:t>
                </a:r>
                <a:r>
                  <a:rPr lang="en-US" altLang="zh-CN" sz="1600" dirty="0">
                    <a:solidFill>
                      <a:schemeClr val="accent1">
                        <a:lumMod val="50000"/>
                      </a:schemeClr>
                    </a:solidFill>
                    <a:latin typeface="Calibri" panose="020F0502020204030204"/>
                    <a:ea typeface="宋体" panose="02010600030101010101" pitchFamily="2" charset="-122"/>
                  </a:rPr>
                  <a:t>research</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pic>
        <p:nvPicPr>
          <p:cNvPr id="25" name="图片 24">
            <a:extLst>
              <a:ext uri="{FF2B5EF4-FFF2-40B4-BE49-F238E27FC236}">
                <a16:creationId xmlns:a16="http://schemas.microsoft.com/office/drawing/2014/main" id="{ACA800C9-5990-97D9-3244-9B1316D400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6980" y="115635"/>
            <a:ext cx="1857628" cy="2035885"/>
          </a:xfrm>
          <a:prstGeom prst="rect">
            <a:avLst/>
          </a:prstGeom>
        </p:spPr>
      </p:pic>
    </p:spTree>
    <p:extLst>
      <p:ext uri="{BB962C8B-B14F-4D97-AF65-F5344CB8AC3E}">
        <p14:creationId xmlns:p14="http://schemas.microsoft.com/office/powerpoint/2010/main" val="3871074159"/>
      </p:ext>
    </p:extLst>
  </p:cSld>
  <p:clrMapOvr>
    <a:masterClrMapping/>
  </p:clrMapOvr>
  <p:transition spd="slow" advTm="11272">
    <p:wip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34000">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14:bounceEnd="34000">
                                          <p:cBhvr additive="base">
                                            <p:cTn id="7" dur="500" fill="hold"/>
                                            <p:tgtEl>
                                              <p:spTgt spid="7"/>
                                            </p:tgtEl>
                                            <p:attrNameLst>
                                              <p:attrName>ppt_x</p:attrName>
                                            </p:attrNameLst>
                                          </p:cBhvr>
                                          <p:tavLst>
                                            <p:tav tm="0">
                                              <p:val>
                                                <p:strVal val="1+#ppt_w/2"/>
                                              </p:val>
                                            </p:tav>
                                            <p:tav tm="100000">
                                              <p:val>
                                                <p:strVal val="#ppt_x"/>
                                              </p:val>
                                            </p:tav>
                                          </p:tavLst>
                                        </p:anim>
                                        <p:anim calcmode="lin" valueType="num" p14:bounceEnd="34000">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14:presetBounceEnd="34000">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14:bounceEnd="34000">
                                          <p:cBhvr additive="base">
                                            <p:cTn id="12" dur="5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14:presetBounceEnd="34000">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14:bounceEnd="34000">
                                          <p:cBhvr additive="base">
                                            <p:cTn id="17" dur="500" fill="hold"/>
                                            <p:tgtEl>
                                              <p:spTgt spid="17"/>
                                            </p:tgtEl>
                                            <p:attrNameLst>
                                              <p:attrName>ppt_x</p:attrName>
                                            </p:attrNameLst>
                                          </p:cBhvr>
                                          <p:tavLst>
                                            <p:tav tm="0">
                                              <p:val>
                                                <p:strVal val="1+#ppt_w/2"/>
                                              </p:val>
                                            </p:tav>
                                            <p:tav tm="100000">
                                              <p:val>
                                                <p:strVal val="#ppt_x"/>
                                              </p:val>
                                            </p:tav>
                                          </p:tavLst>
                                        </p:anim>
                                        <p:anim calcmode="lin" valueType="num" p14:bounceEnd="34000">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14:presetBounceEnd="34000">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14:bounceEnd="34000">
                                          <p:cBhvr additive="base">
                                            <p:cTn id="22" dur="500" fill="hold"/>
                                            <p:tgtEl>
                                              <p:spTgt spid="5"/>
                                            </p:tgtEl>
                                            <p:attrNameLst>
                                              <p:attrName>ppt_x</p:attrName>
                                            </p:attrNameLst>
                                          </p:cBhvr>
                                          <p:tavLst>
                                            <p:tav tm="0">
                                              <p:val>
                                                <p:strVal val="1+#ppt_w/2"/>
                                              </p:val>
                                            </p:tav>
                                            <p:tav tm="100000">
                                              <p:val>
                                                <p:strVal val="#ppt_x"/>
                                              </p:val>
                                            </p:tav>
                                          </p:tavLst>
                                        </p:anim>
                                        <p:anim calcmode="lin" valueType="num" p14:bounceEnd="34000">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1+#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1+#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432955" y="129715"/>
            <a:ext cx="5563509"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国家科技创新</a:t>
            </a:r>
            <a:r>
              <a:rPr kumimoji="0" lang="en-US" altLang="zh-CN"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2030</a:t>
            </a: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重大项目课题：</a:t>
            </a:r>
            <a:endParaRPr kumimoji="0" lang="en-US" altLang="zh-CN"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数据知识双驱的合成逆合成全流程求解优化架构</a:t>
            </a:r>
          </a:p>
        </p:txBody>
      </p:sp>
      <p:sp>
        <p:nvSpPr>
          <p:cNvPr id="2" name="任意多边形: 形状 1">
            <a:extLst>
              <a:ext uri="{FF2B5EF4-FFF2-40B4-BE49-F238E27FC236}">
                <a16:creationId xmlns:a16="http://schemas.microsoft.com/office/drawing/2014/main" id="{E8CDBE03-7082-2DE0-EC45-82FB1E313151}"/>
              </a:ext>
            </a:extLst>
          </p:cNvPr>
          <p:cNvSpPr/>
          <p:nvPr/>
        </p:nvSpPr>
        <p:spPr>
          <a:xfrm>
            <a:off x="432954" y="845751"/>
            <a:ext cx="11426658" cy="108000"/>
          </a:xfrm>
          <a:custGeom>
            <a:avLst/>
            <a:gdLst>
              <a:gd name="connsiteX0" fmla="*/ 2 w 11426658"/>
              <a:gd name="connsiteY0" fmla="*/ 0 h 108000"/>
              <a:gd name="connsiteX1" fmla="*/ 2164018 w 11426658"/>
              <a:gd name="connsiteY1" fmla="*/ 0 h 108000"/>
              <a:gd name="connsiteX2" fmla="*/ 2228214 w 11426658"/>
              <a:gd name="connsiteY2" fmla="*/ 55065 h 108000"/>
              <a:gd name="connsiteX3" fmla="*/ 11426658 w 11426658"/>
              <a:gd name="connsiteY3" fmla="*/ 55065 h 108000"/>
              <a:gd name="connsiteX4" fmla="*/ 11426658 w 11426658"/>
              <a:gd name="connsiteY4" fmla="*/ 108000 h 108000"/>
              <a:gd name="connsiteX5" fmla="*/ 2289926 w 11426658"/>
              <a:gd name="connsiteY5" fmla="*/ 108000 h 108000"/>
              <a:gd name="connsiteX6" fmla="*/ 2 w 11426658"/>
              <a:gd name="connsiteY6" fmla="*/ 108000 h 108000"/>
              <a:gd name="connsiteX7" fmla="*/ 0 w 11426658"/>
              <a:gd name="connsiteY7" fmla="*/ 108000 h 108000"/>
              <a:gd name="connsiteX8" fmla="*/ 0 w 11426658"/>
              <a:gd name="connsiteY8" fmla="*/ 55065 h 108000"/>
              <a:gd name="connsiteX9" fmla="*/ 2 w 11426658"/>
              <a:gd name="connsiteY9" fmla="*/ 55065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26658" h="108000">
                <a:moveTo>
                  <a:pt x="2" y="0"/>
                </a:moveTo>
                <a:lnTo>
                  <a:pt x="2164018" y="0"/>
                </a:lnTo>
                <a:lnTo>
                  <a:pt x="2228214" y="55065"/>
                </a:lnTo>
                <a:lnTo>
                  <a:pt x="11426658" y="55065"/>
                </a:lnTo>
                <a:lnTo>
                  <a:pt x="11426658" y="108000"/>
                </a:lnTo>
                <a:lnTo>
                  <a:pt x="2289926" y="108000"/>
                </a:lnTo>
                <a:lnTo>
                  <a:pt x="2" y="108000"/>
                </a:lnTo>
                <a:lnTo>
                  <a:pt x="0" y="108000"/>
                </a:lnTo>
                <a:lnTo>
                  <a:pt x="0" y="55065"/>
                </a:lnTo>
                <a:lnTo>
                  <a:pt x="2" y="55065"/>
                </a:lnTo>
                <a:close/>
              </a:path>
            </a:pathLst>
          </a:custGeom>
          <a:gradFill>
            <a:gsLst>
              <a:gs pos="0">
                <a:srgbClr val="003DA6"/>
              </a:gs>
              <a:gs pos="20000">
                <a:srgbClr val="009BD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white"/>
              </a:solidFill>
              <a:effectLst/>
              <a:uLnTx/>
              <a:uFillTx/>
              <a:latin typeface="Calibri" panose="020F0502020204030204" pitchFamily="34" charset="0"/>
              <a:ea typeface="黑体" panose="02010609060101010101" pitchFamily="49" charset="-122"/>
              <a:cs typeface="Calibri" panose="020F0502020204030204" pitchFamily="34" charset="0"/>
            </a:endParaRPr>
          </a:p>
        </p:txBody>
      </p:sp>
      <p:sp>
        <p:nvSpPr>
          <p:cNvPr id="138" name="Text Placeholder 1">
            <a:extLst>
              <a:ext uri="{FF2B5EF4-FFF2-40B4-BE49-F238E27FC236}">
                <a16:creationId xmlns:a16="http://schemas.microsoft.com/office/drawing/2014/main" id="{D6EDEF01-FE8E-4772-68BE-C8A6106EAAA2}"/>
              </a:ext>
            </a:extLst>
          </p:cNvPr>
          <p:cNvSpPr txBox="1"/>
          <p:nvPr/>
        </p:nvSpPr>
        <p:spPr bwMode="gray">
          <a:xfrm>
            <a:off x="1053525" y="1011738"/>
            <a:ext cx="10930770" cy="424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noAutofit/>
          </a:bodyPr>
          <a:lstStyle>
            <a:lvl1pPr marL="0" indent="0" algn="l" rtl="0" eaLnBrk="1" fontAlgn="base" hangingPunct="1">
              <a:spcBef>
                <a:spcPts val="0"/>
              </a:spcBef>
              <a:spcAft>
                <a:spcPct val="0"/>
              </a:spcAft>
              <a:buNone/>
              <a:defRPr sz="2800">
                <a:solidFill>
                  <a:schemeClr val="tx2"/>
                </a:solidFill>
                <a:latin typeface="+mn-lt"/>
                <a:ea typeface="+mn-ea"/>
                <a:cs typeface="+mn-cs"/>
                <a:sym typeface="Arial" panose="020B0604020202020204"/>
              </a:defRPr>
            </a:lvl1pPr>
            <a:lvl2pPr marL="0" indent="0" algn="l" rtl="0" eaLnBrk="1" fontAlgn="base" hangingPunct="1">
              <a:spcBef>
                <a:spcPts val="0"/>
              </a:spcBef>
              <a:spcAft>
                <a:spcPct val="0"/>
              </a:spcAft>
              <a:buFont typeface="Arial" panose="020B0604020202020204" pitchFamily="34" charset="0"/>
              <a:buNone/>
              <a:defRPr sz="2800">
                <a:solidFill>
                  <a:schemeClr val="accent1"/>
                </a:solidFill>
                <a:latin typeface="+mn-lt"/>
                <a:cs typeface="+mn-cs"/>
                <a:sym typeface="Arial" panose="020B0604020202020204"/>
              </a:defRPr>
            </a:lvl2pPr>
            <a:lvl3pPr marL="516255" indent="-171450"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3pPr>
            <a:lvl4pPr marL="684530" indent="-16700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4pPr>
            <a:lvl5pPr marL="8591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sym typeface="Arial" panose="020B0604020202020204"/>
              </a:defRPr>
            </a:lvl5pPr>
            <a:lvl6pPr marL="13163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6pPr>
            <a:lvl7pPr marL="17735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7pPr>
            <a:lvl8pPr marL="22307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8pPr>
            <a:lvl9pPr marL="2687955" indent="-173355" algn="l" rtl="0" eaLnBrk="1" fontAlgn="base" hangingPunct="1">
              <a:spcBef>
                <a:spcPct val="20000"/>
              </a:spcBef>
              <a:spcAft>
                <a:spcPct val="0"/>
              </a:spcAft>
              <a:buFont typeface="Arial" panose="020B0604020202020204" pitchFamily="34" charset="0"/>
              <a:buChar char="-"/>
              <a:defRPr sz="1600">
                <a:solidFill>
                  <a:schemeClr val="tx1"/>
                </a:solidFill>
                <a:latin typeface="+mn-lt"/>
                <a:cs typeface="+mn-cs"/>
              </a:defRPr>
            </a:lvl9pPr>
          </a:lstStyle>
          <a:p>
            <a:pPr marL="0" marR="0" lvl="0" indent="0" algn="l" defTabSz="914400" rtl="0" eaLnBrk="1" fontAlgn="base" latinLnBrk="0" hangingPunct="1">
              <a:lnSpc>
                <a:spcPct val="100000"/>
              </a:lnSpc>
              <a:spcBef>
                <a:spcPct val="60000"/>
              </a:spcBef>
              <a:spcAft>
                <a:spcPct val="0"/>
              </a:spcAft>
              <a:buClrTx/>
              <a:buSzTx/>
              <a:buFontTx/>
              <a:buNone/>
              <a:tabLst/>
              <a:defRPr/>
            </a:pPr>
            <a:r>
              <a:rPr kumimoji="0" lang="zh-CN" altLang="en-US" sz="3200" b="1" i="0" u="none" strike="noStrike" kern="0" cap="none" spc="0" normalizeH="0" baseline="0" noProof="0" dirty="0">
                <a:ln>
                  <a:noFill/>
                </a:ln>
                <a:solidFill>
                  <a:srgbClr val="0339A6"/>
                </a:solidFill>
                <a:effectLst/>
                <a:uLnTx/>
                <a:uFillTx/>
                <a:latin typeface="微软雅黑" panose="020B0503020204020204" pitchFamily="34" charset="-122"/>
                <a:ea typeface="微软雅黑" panose="020B0503020204020204" pitchFamily="34" charset="-122"/>
                <a:cs typeface="+mn-cs"/>
                <a:sym typeface="Arial" panose="020B0604020202020204"/>
              </a:rPr>
              <a:t>项目背景</a:t>
            </a:r>
          </a:p>
        </p:txBody>
      </p:sp>
      <p:sp>
        <p:nvSpPr>
          <p:cNvPr id="139" name="圆角矩形 22">
            <a:extLst>
              <a:ext uri="{FF2B5EF4-FFF2-40B4-BE49-F238E27FC236}">
                <a16:creationId xmlns:a16="http://schemas.microsoft.com/office/drawing/2014/main" id="{BF743615-8973-DED4-9857-55C7FF5CDA8C}"/>
              </a:ext>
            </a:extLst>
          </p:cNvPr>
          <p:cNvSpPr/>
          <p:nvPr/>
        </p:nvSpPr>
        <p:spPr>
          <a:xfrm>
            <a:off x="318743" y="1539866"/>
            <a:ext cx="3645535" cy="4591685"/>
          </a:xfrm>
          <a:prstGeom prst="roundRect">
            <a:avLst>
              <a:gd name="adj" fmla="val 6183"/>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40" name="圆角矩形 23">
            <a:extLst>
              <a:ext uri="{FF2B5EF4-FFF2-40B4-BE49-F238E27FC236}">
                <a16:creationId xmlns:a16="http://schemas.microsoft.com/office/drawing/2014/main" id="{C74FF1B5-ED13-A905-D4D0-67EF36ACD0E3}"/>
              </a:ext>
            </a:extLst>
          </p:cNvPr>
          <p:cNvSpPr/>
          <p:nvPr/>
        </p:nvSpPr>
        <p:spPr>
          <a:xfrm>
            <a:off x="466725" y="2724150"/>
            <a:ext cx="3350260" cy="3344545"/>
          </a:xfrm>
          <a:prstGeom prst="roundRect">
            <a:avLst>
              <a:gd name="adj" fmla="val 5600"/>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141" name="图片 140" descr="截屏2023-11-09 21.04.04">
            <a:extLst>
              <a:ext uri="{FF2B5EF4-FFF2-40B4-BE49-F238E27FC236}">
                <a16:creationId xmlns:a16="http://schemas.microsoft.com/office/drawing/2014/main" id="{63D8AED7-148F-9518-0D52-097CAD0CD774}"/>
              </a:ext>
            </a:extLst>
          </p:cNvPr>
          <p:cNvPicPr>
            <a:picLocks noChangeAspect="1"/>
          </p:cNvPicPr>
          <p:nvPr>
            <p:custDataLst>
              <p:tags r:id="rId1"/>
            </p:custDataLst>
          </p:nvPr>
        </p:nvPicPr>
        <p:blipFill>
          <a:blip r:embed="rId17"/>
          <a:stretch>
            <a:fillRect/>
          </a:stretch>
        </p:blipFill>
        <p:spPr>
          <a:xfrm>
            <a:off x="2622550" y="3794125"/>
            <a:ext cx="1017905" cy="904875"/>
          </a:xfrm>
          <a:prstGeom prst="rect">
            <a:avLst/>
          </a:prstGeom>
        </p:spPr>
      </p:pic>
      <p:pic>
        <p:nvPicPr>
          <p:cNvPr id="142" name="图片 141" descr="截屏2023-11-09 21.04.25">
            <a:extLst>
              <a:ext uri="{FF2B5EF4-FFF2-40B4-BE49-F238E27FC236}">
                <a16:creationId xmlns:a16="http://schemas.microsoft.com/office/drawing/2014/main" id="{92116694-0F6D-BA65-DC70-7CF860F5B68B}"/>
              </a:ext>
            </a:extLst>
          </p:cNvPr>
          <p:cNvPicPr>
            <a:picLocks noChangeAspect="1"/>
          </p:cNvPicPr>
          <p:nvPr>
            <p:custDataLst>
              <p:tags r:id="rId2"/>
            </p:custDataLst>
          </p:nvPr>
        </p:nvPicPr>
        <p:blipFill>
          <a:blip r:embed="rId18"/>
          <a:stretch>
            <a:fillRect/>
          </a:stretch>
        </p:blipFill>
        <p:spPr>
          <a:xfrm>
            <a:off x="1487805" y="4473575"/>
            <a:ext cx="852170" cy="694690"/>
          </a:xfrm>
          <a:prstGeom prst="rect">
            <a:avLst/>
          </a:prstGeom>
        </p:spPr>
      </p:pic>
      <p:pic>
        <p:nvPicPr>
          <p:cNvPr id="143" name="图片 142" descr="截屏2023-11-09 21.04.36">
            <a:extLst>
              <a:ext uri="{FF2B5EF4-FFF2-40B4-BE49-F238E27FC236}">
                <a16:creationId xmlns:a16="http://schemas.microsoft.com/office/drawing/2014/main" id="{60342F11-C24A-FCF9-E76E-68BD74B60770}"/>
              </a:ext>
            </a:extLst>
          </p:cNvPr>
          <p:cNvPicPr>
            <a:picLocks noChangeAspect="1"/>
          </p:cNvPicPr>
          <p:nvPr>
            <p:custDataLst>
              <p:tags r:id="rId3"/>
            </p:custDataLst>
          </p:nvPr>
        </p:nvPicPr>
        <p:blipFill>
          <a:blip r:embed="rId19"/>
          <a:stretch>
            <a:fillRect/>
          </a:stretch>
        </p:blipFill>
        <p:spPr>
          <a:xfrm>
            <a:off x="683260" y="4091940"/>
            <a:ext cx="384810" cy="368300"/>
          </a:xfrm>
          <a:prstGeom prst="rect">
            <a:avLst/>
          </a:prstGeom>
        </p:spPr>
      </p:pic>
      <p:sp>
        <p:nvSpPr>
          <p:cNvPr id="144" name="文本框 143">
            <a:extLst>
              <a:ext uri="{FF2B5EF4-FFF2-40B4-BE49-F238E27FC236}">
                <a16:creationId xmlns:a16="http://schemas.microsoft.com/office/drawing/2014/main" id="{12569281-BB05-0B40-1A07-F6381FA4A5E5}"/>
              </a:ext>
            </a:extLst>
          </p:cNvPr>
          <p:cNvSpPr txBox="1"/>
          <p:nvPr/>
        </p:nvSpPr>
        <p:spPr>
          <a:xfrm>
            <a:off x="242570" y="1630680"/>
            <a:ext cx="3818890" cy="1031051"/>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合成与逆合成是</a:t>
            </a:r>
            <a:endParaRPr kumimoji="0" lang="en-US" altLang="zh-CN" sz="2800" b="1" i="0" u="none" strike="noStrike" kern="1200" cap="none" spc="0" normalizeH="0" baseline="0" noProof="0" dirty="0">
              <a:ln>
                <a:noFill/>
              </a:ln>
              <a:solidFill>
                <a:prstClr val="white"/>
              </a:solidFill>
              <a:effectLst/>
              <a:uLnTx/>
              <a:uFillTx/>
              <a:latin typeface="微软雅黑" charset="0"/>
              <a:ea typeface="微软雅黑" charset="0"/>
              <a:cs typeface="+mn-cs"/>
            </a:endParaRPr>
          </a:p>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有机化学重要研究方向</a:t>
            </a:r>
          </a:p>
        </p:txBody>
      </p:sp>
      <p:sp>
        <p:nvSpPr>
          <p:cNvPr id="145" name="文本框 144">
            <a:extLst>
              <a:ext uri="{FF2B5EF4-FFF2-40B4-BE49-F238E27FC236}">
                <a16:creationId xmlns:a16="http://schemas.microsoft.com/office/drawing/2014/main" id="{ECDA2268-0EA6-39C6-9BDB-F452C09388EE}"/>
              </a:ext>
            </a:extLst>
          </p:cNvPr>
          <p:cNvSpPr txBox="1"/>
          <p:nvPr/>
        </p:nvSpPr>
        <p:spPr>
          <a:xfrm>
            <a:off x="2372995" y="4631690"/>
            <a:ext cx="1553210"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800" b="0" i="0" u="none" strike="noStrike" kern="1200" cap="none" spc="0" normalizeH="0" baseline="0" noProof="0">
                <a:ln>
                  <a:noFill/>
                </a:ln>
                <a:solidFill>
                  <a:srgbClr val="7161C6"/>
                </a:solidFill>
                <a:effectLst/>
                <a:uLnTx/>
                <a:uFillTx/>
                <a:latin typeface="微软雅黑" charset="0"/>
                <a:ea typeface="微软雅黑" charset="0"/>
                <a:cs typeface="+mn-cs"/>
              </a:rPr>
              <a:t>目标化合物</a:t>
            </a:r>
          </a:p>
        </p:txBody>
      </p:sp>
      <p:sp>
        <p:nvSpPr>
          <p:cNvPr id="146" name="文本框 145">
            <a:extLst>
              <a:ext uri="{FF2B5EF4-FFF2-40B4-BE49-F238E27FC236}">
                <a16:creationId xmlns:a16="http://schemas.microsoft.com/office/drawing/2014/main" id="{74E08EE5-A91D-5F44-D071-297CD455D66F}"/>
              </a:ext>
            </a:extLst>
          </p:cNvPr>
          <p:cNvSpPr txBox="1"/>
          <p:nvPr/>
        </p:nvSpPr>
        <p:spPr>
          <a:xfrm>
            <a:off x="389255" y="4544060"/>
            <a:ext cx="943610"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800" b="0" i="0" u="none" strike="noStrike" kern="1200" cap="none" spc="0" normalizeH="0" baseline="0" noProof="0" dirty="0">
                <a:ln>
                  <a:noFill/>
                </a:ln>
                <a:solidFill>
                  <a:srgbClr val="FF0000"/>
                </a:solidFill>
                <a:effectLst/>
                <a:uLnTx/>
                <a:uFillTx/>
                <a:latin typeface="微软雅黑" charset="0"/>
                <a:ea typeface="微软雅黑" charset="0"/>
                <a:cs typeface="+mn-cs"/>
              </a:rPr>
              <a:t>原料</a:t>
            </a:r>
          </a:p>
        </p:txBody>
      </p:sp>
      <p:pic>
        <p:nvPicPr>
          <p:cNvPr id="147" name="图片 146" descr="截屏2023-11-09 21.15.32">
            <a:extLst>
              <a:ext uri="{FF2B5EF4-FFF2-40B4-BE49-F238E27FC236}">
                <a16:creationId xmlns:a16="http://schemas.microsoft.com/office/drawing/2014/main" id="{E27AD8C7-5B53-5EF7-E518-A38B0A38838E}"/>
              </a:ext>
            </a:extLst>
          </p:cNvPr>
          <p:cNvPicPr>
            <a:picLocks noChangeAspect="1"/>
          </p:cNvPicPr>
          <p:nvPr>
            <p:custDataLst>
              <p:tags r:id="rId4"/>
            </p:custDataLst>
          </p:nvPr>
        </p:nvPicPr>
        <p:blipFill>
          <a:blip r:embed="rId20"/>
          <a:stretch>
            <a:fillRect/>
          </a:stretch>
        </p:blipFill>
        <p:spPr>
          <a:xfrm>
            <a:off x="1466850" y="3538855"/>
            <a:ext cx="873125" cy="921385"/>
          </a:xfrm>
          <a:prstGeom prst="rect">
            <a:avLst/>
          </a:prstGeom>
        </p:spPr>
      </p:pic>
      <p:cxnSp>
        <p:nvCxnSpPr>
          <p:cNvPr id="148" name="直接箭头连接符 147">
            <a:extLst>
              <a:ext uri="{FF2B5EF4-FFF2-40B4-BE49-F238E27FC236}">
                <a16:creationId xmlns:a16="http://schemas.microsoft.com/office/drawing/2014/main" id="{F502748B-C4B4-B67D-EE55-E974595F0610}"/>
              </a:ext>
            </a:extLst>
          </p:cNvPr>
          <p:cNvCxnSpPr>
            <a:stCxn id="143" idx="3"/>
            <a:endCxn id="147" idx="1"/>
          </p:cNvCxnSpPr>
          <p:nvPr/>
        </p:nvCxnSpPr>
        <p:spPr>
          <a:xfrm flipV="1">
            <a:off x="1068070" y="3999865"/>
            <a:ext cx="398780" cy="276225"/>
          </a:xfrm>
          <a:prstGeom prst="straightConnector1">
            <a:avLst/>
          </a:prstGeom>
          <a:ln w="19050" cap="flat" cmpd="sng">
            <a:solidFill>
              <a:schemeClr val="accent2"/>
            </a:solidFill>
            <a:prstDash val="solid"/>
            <a:miter lim="800000"/>
            <a:headEnd type="none"/>
            <a:tailEnd type="arrow" w="med" len="med"/>
          </a:ln>
        </p:spPr>
        <p:style>
          <a:lnRef idx="2">
            <a:schemeClr val="accent1"/>
          </a:lnRef>
          <a:fillRef idx="0">
            <a:srgbClr val="FFFFFF"/>
          </a:fillRef>
          <a:effectRef idx="0">
            <a:srgbClr val="FFFFFF"/>
          </a:effectRef>
          <a:fontRef idx="minor">
            <a:schemeClr val="tx1"/>
          </a:fontRef>
        </p:style>
      </p:cxnSp>
      <p:cxnSp>
        <p:nvCxnSpPr>
          <p:cNvPr id="149" name="直接箭头连接符 148">
            <a:extLst>
              <a:ext uri="{FF2B5EF4-FFF2-40B4-BE49-F238E27FC236}">
                <a16:creationId xmlns:a16="http://schemas.microsoft.com/office/drawing/2014/main" id="{3D66E70B-F428-F091-6D18-7C3EC269DB95}"/>
              </a:ext>
            </a:extLst>
          </p:cNvPr>
          <p:cNvCxnSpPr>
            <a:stCxn id="143" idx="3"/>
            <a:endCxn id="142" idx="1"/>
          </p:cNvCxnSpPr>
          <p:nvPr/>
        </p:nvCxnSpPr>
        <p:spPr>
          <a:xfrm>
            <a:off x="1068070" y="4276090"/>
            <a:ext cx="419735" cy="544830"/>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50" name="直接箭头连接符 149">
            <a:extLst>
              <a:ext uri="{FF2B5EF4-FFF2-40B4-BE49-F238E27FC236}">
                <a16:creationId xmlns:a16="http://schemas.microsoft.com/office/drawing/2014/main" id="{F1C532FE-8DBB-461E-B0A1-FBE965888951}"/>
              </a:ext>
            </a:extLst>
          </p:cNvPr>
          <p:cNvCxnSpPr>
            <a:stCxn id="142" idx="3"/>
            <a:endCxn id="141" idx="1"/>
          </p:cNvCxnSpPr>
          <p:nvPr/>
        </p:nvCxnSpPr>
        <p:spPr>
          <a:xfrm flipV="1">
            <a:off x="2339975" y="4246880"/>
            <a:ext cx="282575" cy="574040"/>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cxnSp>
        <p:nvCxnSpPr>
          <p:cNvPr id="151" name="直接箭头连接符 150">
            <a:extLst>
              <a:ext uri="{FF2B5EF4-FFF2-40B4-BE49-F238E27FC236}">
                <a16:creationId xmlns:a16="http://schemas.microsoft.com/office/drawing/2014/main" id="{86D468A0-076F-42C6-558D-5AB07637957B}"/>
              </a:ext>
            </a:extLst>
          </p:cNvPr>
          <p:cNvCxnSpPr>
            <a:stCxn id="147" idx="3"/>
            <a:endCxn id="141" idx="1"/>
          </p:cNvCxnSpPr>
          <p:nvPr/>
        </p:nvCxnSpPr>
        <p:spPr>
          <a:xfrm>
            <a:off x="2339975" y="3999865"/>
            <a:ext cx="282575" cy="247015"/>
          </a:xfrm>
          <a:prstGeom prst="straightConnector1">
            <a:avLst/>
          </a:prstGeom>
          <a:ln w="19050" cap="flat" cmpd="sng">
            <a:solidFill>
              <a:schemeClr val="accent2"/>
            </a:solidFill>
            <a:prstDash val="solid"/>
            <a:miter lim="800000"/>
            <a:headEnd type="none"/>
            <a:tailEnd type="arrow" w="med" len="med"/>
          </a:ln>
        </p:spPr>
        <p:style>
          <a:lnRef idx="2">
            <a:schemeClr val="accent1"/>
          </a:lnRef>
          <a:fillRef idx="0">
            <a:srgbClr val="FFFFFF"/>
          </a:fillRef>
          <a:effectRef idx="0">
            <a:srgbClr val="FFFFFF"/>
          </a:effectRef>
          <a:fontRef idx="minor">
            <a:schemeClr val="tx1"/>
          </a:fontRef>
        </p:style>
      </p:cxnSp>
      <p:sp>
        <p:nvSpPr>
          <p:cNvPr id="152" name="文本框 151">
            <a:extLst>
              <a:ext uri="{FF2B5EF4-FFF2-40B4-BE49-F238E27FC236}">
                <a16:creationId xmlns:a16="http://schemas.microsoft.com/office/drawing/2014/main" id="{C04D4E6D-AE52-4B7A-09BC-9E8F710F7DB3}"/>
              </a:ext>
            </a:extLst>
          </p:cNvPr>
          <p:cNvSpPr txBox="1"/>
          <p:nvPr/>
        </p:nvSpPr>
        <p:spPr>
          <a:xfrm>
            <a:off x="1636422" y="3302000"/>
            <a:ext cx="851535" cy="30670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400" b="0" i="0" u="none" strike="noStrike" kern="1200" cap="none" spc="0" normalizeH="0" baseline="0" noProof="0" dirty="0">
                <a:ln>
                  <a:noFill/>
                </a:ln>
                <a:solidFill>
                  <a:srgbClr val="ED7D31"/>
                </a:solidFill>
                <a:effectLst/>
                <a:uLnTx/>
                <a:uFillTx/>
                <a:latin typeface="微软雅黑" charset="0"/>
                <a:ea typeface="微软雅黑" charset="0"/>
                <a:cs typeface="+mn-cs"/>
              </a:rPr>
              <a:t>路径</a:t>
            </a:r>
            <a:r>
              <a:rPr kumimoji="0" lang="en-US" altLang="zh-CN" sz="1400" b="0" i="0" u="none" strike="noStrike" kern="1200" cap="none" spc="0" normalizeH="0" baseline="0" noProof="0" dirty="0">
                <a:ln>
                  <a:noFill/>
                </a:ln>
                <a:solidFill>
                  <a:srgbClr val="ED7D31"/>
                </a:solidFill>
                <a:effectLst/>
                <a:uLnTx/>
                <a:uFillTx/>
                <a:latin typeface="微软雅黑" charset="0"/>
                <a:ea typeface="微软雅黑" charset="0"/>
                <a:cs typeface="+mn-cs"/>
              </a:rPr>
              <a:t>1</a:t>
            </a:r>
          </a:p>
        </p:txBody>
      </p:sp>
      <p:sp>
        <p:nvSpPr>
          <p:cNvPr id="153" name="文本框 152">
            <a:extLst>
              <a:ext uri="{FF2B5EF4-FFF2-40B4-BE49-F238E27FC236}">
                <a16:creationId xmlns:a16="http://schemas.microsoft.com/office/drawing/2014/main" id="{15DC6F8A-F158-B274-E7E3-D4FB10A90E3F}"/>
              </a:ext>
            </a:extLst>
          </p:cNvPr>
          <p:cNvSpPr txBox="1"/>
          <p:nvPr/>
        </p:nvSpPr>
        <p:spPr>
          <a:xfrm>
            <a:off x="1636422" y="5180330"/>
            <a:ext cx="872490" cy="30670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400" b="0" i="0" u="none" strike="noStrike" kern="1200" cap="none" spc="0" normalizeH="0" baseline="0" noProof="0" dirty="0">
                <a:ln>
                  <a:noFill/>
                </a:ln>
                <a:solidFill>
                  <a:srgbClr val="0070C0"/>
                </a:solidFill>
                <a:effectLst/>
                <a:uLnTx/>
                <a:uFillTx/>
                <a:latin typeface="微软雅黑" charset="0"/>
                <a:ea typeface="微软雅黑" charset="0"/>
                <a:cs typeface="+mn-cs"/>
              </a:rPr>
              <a:t>路径</a:t>
            </a:r>
            <a:r>
              <a:rPr kumimoji="0" lang="en-US" altLang="zh-CN" sz="1400" b="0" i="0" u="none" strike="noStrike" kern="1200" cap="none" spc="0" normalizeH="0" baseline="0" noProof="0" dirty="0">
                <a:ln>
                  <a:noFill/>
                </a:ln>
                <a:solidFill>
                  <a:srgbClr val="0070C0"/>
                </a:solidFill>
                <a:effectLst/>
                <a:uLnTx/>
                <a:uFillTx/>
                <a:latin typeface="微软雅黑" charset="0"/>
                <a:ea typeface="微软雅黑" charset="0"/>
                <a:cs typeface="+mn-cs"/>
              </a:rPr>
              <a:t>2</a:t>
            </a:r>
          </a:p>
        </p:txBody>
      </p:sp>
      <p:sp>
        <p:nvSpPr>
          <p:cNvPr id="154" name="上弧形箭头 17">
            <a:extLst>
              <a:ext uri="{FF2B5EF4-FFF2-40B4-BE49-F238E27FC236}">
                <a16:creationId xmlns:a16="http://schemas.microsoft.com/office/drawing/2014/main" id="{E299E8B3-C38E-B398-EC9C-26CAE6D4CCDC}"/>
              </a:ext>
            </a:extLst>
          </p:cNvPr>
          <p:cNvSpPr/>
          <p:nvPr/>
        </p:nvSpPr>
        <p:spPr>
          <a:xfrm>
            <a:off x="843915" y="3253105"/>
            <a:ext cx="2512695" cy="506095"/>
          </a:xfrm>
          <a:prstGeom prst="curvedDownArrow">
            <a:avLst>
              <a:gd name="adj1" fmla="val 25000"/>
              <a:gd name="adj2" fmla="val 60976"/>
              <a:gd name="adj3" fmla="val 35885"/>
            </a:avLst>
          </a:prstGeom>
          <a:gradFill>
            <a:gsLst>
              <a:gs pos="0">
                <a:srgbClr val="B9261A"/>
              </a:gs>
              <a:gs pos="100000">
                <a:srgbClr val="7161C6"/>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55" name="上弧形箭头 18">
            <a:extLst>
              <a:ext uri="{FF2B5EF4-FFF2-40B4-BE49-F238E27FC236}">
                <a16:creationId xmlns:a16="http://schemas.microsoft.com/office/drawing/2014/main" id="{0919BA35-D925-87B5-D471-30EB8FDFE001}"/>
              </a:ext>
            </a:extLst>
          </p:cNvPr>
          <p:cNvSpPr/>
          <p:nvPr/>
        </p:nvSpPr>
        <p:spPr>
          <a:xfrm rot="10800000">
            <a:off x="717550" y="4988560"/>
            <a:ext cx="2560955" cy="555625"/>
          </a:xfrm>
          <a:prstGeom prst="curvedDownArrow">
            <a:avLst>
              <a:gd name="adj1" fmla="val 25000"/>
              <a:gd name="adj2" fmla="val 63618"/>
              <a:gd name="adj3" fmla="val 33142"/>
            </a:avLst>
          </a:prstGeom>
          <a:gradFill>
            <a:gsLst>
              <a:gs pos="0">
                <a:srgbClr val="7161C6"/>
              </a:gs>
              <a:gs pos="100000">
                <a:srgbClr val="C00000"/>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
        <p:nvSpPr>
          <p:cNvPr id="156" name="文本框 155">
            <a:extLst>
              <a:ext uri="{FF2B5EF4-FFF2-40B4-BE49-F238E27FC236}">
                <a16:creationId xmlns:a16="http://schemas.microsoft.com/office/drawing/2014/main" id="{6931202D-AA8C-6BF6-1F7C-93DB39D9CF01}"/>
              </a:ext>
            </a:extLst>
          </p:cNvPr>
          <p:cNvSpPr txBox="1"/>
          <p:nvPr/>
        </p:nvSpPr>
        <p:spPr>
          <a:xfrm>
            <a:off x="1254760" y="2792730"/>
            <a:ext cx="1824355" cy="368300"/>
          </a:xfrm>
          <a:prstGeom prst="rect">
            <a:avLst/>
          </a:prstGeom>
          <a:noFill/>
          <a:ln w="19050">
            <a:solidFill>
              <a:schemeClr val="accent1"/>
            </a:solidFill>
          </a:ln>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800" b="1" i="0" u="none" strike="noStrike" kern="1200" cap="none" spc="0" normalizeH="0" baseline="0" noProof="0">
                <a:ln>
                  <a:noFill/>
                </a:ln>
                <a:solidFill>
                  <a:prstClr val="black"/>
                </a:solidFill>
                <a:effectLst/>
                <a:uLnTx/>
                <a:uFillTx/>
                <a:latin typeface="微软雅黑" charset="0"/>
                <a:ea typeface="微软雅黑" charset="0"/>
                <a:cs typeface="+mn-cs"/>
              </a:rPr>
              <a:t>合成：构建分子</a:t>
            </a:r>
          </a:p>
        </p:txBody>
      </p:sp>
      <p:sp>
        <p:nvSpPr>
          <p:cNvPr id="157" name="文本框 156">
            <a:extLst>
              <a:ext uri="{FF2B5EF4-FFF2-40B4-BE49-F238E27FC236}">
                <a16:creationId xmlns:a16="http://schemas.microsoft.com/office/drawing/2014/main" id="{4B441CCE-B379-B3C6-EE00-0C993B32906C}"/>
              </a:ext>
            </a:extLst>
          </p:cNvPr>
          <p:cNvSpPr txBox="1"/>
          <p:nvPr/>
        </p:nvSpPr>
        <p:spPr>
          <a:xfrm>
            <a:off x="1097280" y="5613400"/>
            <a:ext cx="2139315" cy="368300"/>
          </a:xfrm>
          <a:prstGeom prst="rect">
            <a:avLst/>
          </a:prstGeom>
          <a:noFill/>
          <a:ln w="19050">
            <a:solidFill>
              <a:schemeClr val="accent1"/>
            </a:solidFill>
          </a:ln>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800" b="1" i="0" u="none" strike="noStrike" kern="1200" cap="none" spc="0" normalizeH="0" baseline="0" noProof="0" dirty="0">
                <a:ln>
                  <a:noFill/>
                </a:ln>
                <a:solidFill>
                  <a:prstClr val="black"/>
                </a:solidFill>
                <a:effectLst/>
                <a:uLnTx/>
                <a:uFillTx/>
                <a:latin typeface="微软雅黑" charset="0"/>
                <a:ea typeface="微软雅黑" charset="0"/>
                <a:cs typeface="+mn-cs"/>
              </a:rPr>
              <a:t>逆合成：逆向分析</a:t>
            </a:r>
          </a:p>
        </p:txBody>
      </p:sp>
      <p:sp>
        <p:nvSpPr>
          <p:cNvPr id="158" name="圆角矩形 24">
            <a:extLst>
              <a:ext uri="{FF2B5EF4-FFF2-40B4-BE49-F238E27FC236}">
                <a16:creationId xmlns:a16="http://schemas.microsoft.com/office/drawing/2014/main" id="{8242DD0C-8894-C95F-0945-865982865661}"/>
              </a:ext>
            </a:extLst>
          </p:cNvPr>
          <p:cNvSpPr/>
          <p:nvPr/>
        </p:nvSpPr>
        <p:spPr>
          <a:xfrm>
            <a:off x="4083050" y="3773170"/>
            <a:ext cx="7793990" cy="2957830"/>
          </a:xfrm>
          <a:prstGeom prst="roundRect">
            <a:avLst>
              <a:gd name="adj" fmla="val 7578"/>
            </a:avLst>
          </a:prstGeom>
          <a:solidFill>
            <a:srgbClr val="B9261A"/>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59" name="圆角矩形 25">
            <a:extLst>
              <a:ext uri="{FF2B5EF4-FFF2-40B4-BE49-F238E27FC236}">
                <a16:creationId xmlns:a16="http://schemas.microsoft.com/office/drawing/2014/main" id="{1C83921F-9144-51C0-20C8-0F6E5746A171}"/>
              </a:ext>
            </a:extLst>
          </p:cNvPr>
          <p:cNvSpPr/>
          <p:nvPr/>
        </p:nvSpPr>
        <p:spPr>
          <a:xfrm>
            <a:off x="4095750" y="1118235"/>
            <a:ext cx="7780655" cy="2509520"/>
          </a:xfrm>
          <a:prstGeom prst="roundRect">
            <a:avLst>
              <a:gd name="adj" fmla="val 7236"/>
            </a:avLst>
          </a:prstGeom>
          <a:solidFill>
            <a:schemeClr val="accent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0" name="圆角矩形 26">
            <a:extLst>
              <a:ext uri="{FF2B5EF4-FFF2-40B4-BE49-F238E27FC236}">
                <a16:creationId xmlns:a16="http://schemas.microsoft.com/office/drawing/2014/main" id="{E5ACBA9E-7124-7ABB-72A6-4D8557BE3B09}"/>
              </a:ext>
            </a:extLst>
          </p:cNvPr>
          <p:cNvSpPr/>
          <p:nvPr/>
        </p:nvSpPr>
        <p:spPr>
          <a:xfrm>
            <a:off x="4744085" y="1156970"/>
            <a:ext cx="7099935" cy="2437130"/>
          </a:xfrm>
          <a:prstGeom prst="roundRect">
            <a:avLst>
              <a:gd name="adj" fmla="val 7529"/>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1" name="圆角矩形 27">
            <a:extLst>
              <a:ext uri="{FF2B5EF4-FFF2-40B4-BE49-F238E27FC236}">
                <a16:creationId xmlns:a16="http://schemas.microsoft.com/office/drawing/2014/main" id="{63AE3789-2E7A-4F5F-A2E4-A591E869DBA7}"/>
              </a:ext>
            </a:extLst>
          </p:cNvPr>
          <p:cNvSpPr/>
          <p:nvPr/>
        </p:nvSpPr>
        <p:spPr>
          <a:xfrm>
            <a:off x="4731385" y="3800475"/>
            <a:ext cx="7112635" cy="2886710"/>
          </a:xfrm>
          <a:prstGeom prst="roundRect">
            <a:avLst>
              <a:gd name="adj" fmla="val 6379"/>
            </a:avLst>
          </a:prstGeom>
          <a:solidFill>
            <a:srgbClr val="F6FDF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62" name="文本框 161">
            <a:extLst>
              <a:ext uri="{FF2B5EF4-FFF2-40B4-BE49-F238E27FC236}">
                <a16:creationId xmlns:a16="http://schemas.microsoft.com/office/drawing/2014/main" id="{7C473CB4-EEEE-F7C2-6CE3-8305BB97997E}"/>
              </a:ext>
            </a:extLst>
          </p:cNvPr>
          <p:cNvSpPr txBox="1"/>
          <p:nvPr/>
        </p:nvSpPr>
        <p:spPr>
          <a:xfrm>
            <a:off x="4170680" y="1360805"/>
            <a:ext cx="4064000" cy="204533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应</a:t>
            </a:r>
          </a:p>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用</a:t>
            </a:r>
          </a:p>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领</a:t>
            </a:r>
          </a:p>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域</a:t>
            </a:r>
          </a:p>
        </p:txBody>
      </p:sp>
      <p:sp>
        <p:nvSpPr>
          <p:cNvPr id="163" name="文本框 162">
            <a:extLst>
              <a:ext uri="{FF2B5EF4-FFF2-40B4-BE49-F238E27FC236}">
                <a16:creationId xmlns:a16="http://schemas.microsoft.com/office/drawing/2014/main" id="{11C0A60A-C560-9F26-8BED-1F560523255B}"/>
              </a:ext>
            </a:extLst>
          </p:cNvPr>
          <p:cNvSpPr txBox="1"/>
          <p:nvPr/>
        </p:nvSpPr>
        <p:spPr>
          <a:xfrm>
            <a:off x="4150360" y="4237990"/>
            <a:ext cx="4064000" cy="2046714"/>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面</a:t>
            </a:r>
            <a:endParaRPr kumimoji="0" lang="en-US" altLang="zh-CN" sz="2800" b="1" i="0" u="none" strike="noStrike" kern="1200" cap="none" spc="0" normalizeH="0" baseline="0" noProof="0" dirty="0">
              <a:ln>
                <a:noFill/>
              </a:ln>
              <a:solidFill>
                <a:prstClr val="white"/>
              </a:solidFill>
              <a:effectLst/>
              <a:uLnTx/>
              <a:uFillTx/>
              <a:latin typeface="微软雅黑" charset="0"/>
              <a:ea typeface="微软雅黑" charset="0"/>
              <a:cs typeface="+mn-cs"/>
            </a:endParaRPr>
          </a:p>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临</a:t>
            </a:r>
            <a:endParaRPr kumimoji="0" lang="en-US" altLang="zh-CN" sz="2800" b="1" i="0" u="none" strike="noStrike" kern="1200" cap="none" spc="0" normalizeH="0" baseline="0" noProof="0" dirty="0">
              <a:ln>
                <a:noFill/>
              </a:ln>
              <a:solidFill>
                <a:prstClr val="white"/>
              </a:solidFill>
              <a:effectLst/>
              <a:uLnTx/>
              <a:uFillTx/>
              <a:latin typeface="微软雅黑" charset="0"/>
              <a:ea typeface="微软雅黑" charset="0"/>
              <a:cs typeface="+mn-cs"/>
            </a:endParaRPr>
          </a:p>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问</a:t>
            </a:r>
            <a:endParaRPr kumimoji="0" lang="en-US" altLang="zh-CN" sz="2800" b="1" i="0" u="none" strike="noStrike" kern="1200" cap="none" spc="0" normalizeH="0" baseline="0" noProof="0" dirty="0">
              <a:ln>
                <a:noFill/>
              </a:ln>
              <a:solidFill>
                <a:prstClr val="white"/>
              </a:solidFill>
              <a:effectLst/>
              <a:uLnTx/>
              <a:uFillTx/>
              <a:latin typeface="微软雅黑" charset="0"/>
              <a:ea typeface="微软雅黑" charset="0"/>
              <a:cs typeface="+mn-cs"/>
            </a:endParaRPr>
          </a:p>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prstClr val="white"/>
                </a:solidFill>
                <a:effectLst/>
                <a:uLnTx/>
                <a:uFillTx/>
                <a:latin typeface="微软雅黑" charset="0"/>
                <a:ea typeface="微软雅黑" charset="0"/>
                <a:cs typeface="+mn-cs"/>
              </a:rPr>
              <a:t>题</a:t>
            </a:r>
            <a:endParaRPr kumimoji="0" lang="en-US" altLang="zh-CN" sz="2800" b="1" i="0" u="none" strike="noStrike" kern="1200" cap="none" spc="0" normalizeH="0" baseline="0" noProof="0" dirty="0">
              <a:ln>
                <a:noFill/>
              </a:ln>
              <a:solidFill>
                <a:prstClr val="white"/>
              </a:solidFill>
              <a:effectLst/>
              <a:uLnTx/>
              <a:uFillTx/>
              <a:latin typeface="微软雅黑" charset="0"/>
              <a:ea typeface="微软雅黑" charset="0"/>
              <a:cs typeface="+mn-cs"/>
            </a:endParaRPr>
          </a:p>
        </p:txBody>
      </p:sp>
      <p:pic>
        <p:nvPicPr>
          <p:cNvPr id="164" name="图片 163">
            <a:extLst>
              <a:ext uri="{FF2B5EF4-FFF2-40B4-BE49-F238E27FC236}">
                <a16:creationId xmlns:a16="http://schemas.microsoft.com/office/drawing/2014/main" id="{A3E925AB-9CA8-2FC2-3E37-58442C223A67}"/>
              </a:ext>
            </a:extLst>
          </p:cNvPr>
          <p:cNvPicPr>
            <a:picLocks noChangeAspect="1"/>
          </p:cNvPicPr>
          <p:nvPr>
            <p:custDataLst>
              <p:tags r:id="rId5"/>
            </p:custDataLst>
          </p:nvPr>
        </p:nvPicPr>
        <p:blipFill>
          <a:blip r:embed="rId21"/>
          <a:srcRect l="17714" r="17714"/>
          <a:stretch>
            <a:fillRect/>
          </a:stretch>
        </p:blipFill>
        <p:spPr>
          <a:xfrm>
            <a:off x="8355965" y="1646238"/>
            <a:ext cx="1553210" cy="1600835"/>
          </a:xfrm>
          <a:prstGeom prst="rect">
            <a:avLst/>
          </a:prstGeom>
          <a:effectLst>
            <a:softEdge rad="63500"/>
          </a:effectLst>
        </p:spPr>
      </p:pic>
      <p:sp>
        <p:nvSpPr>
          <p:cNvPr id="165" name="文本框 164">
            <a:extLst>
              <a:ext uri="{FF2B5EF4-FFF2-40B4-BE49-F238E27FC236}">
                <a16:creationId xmlns:a16="http://schemas.microsoft.com/office/drawing/2014/main" id="{2FDEEF66-2E64-1F0D-EFD5-232D10DA20DB}"/>
              </a:ext>
            </a:extLst>
          </p:cNvPr>
          <p:cNvSpPr txBox="1"/>
          <p:nvPr/>
        </p:nvSpPr>
        <p:spPr>
          <a:xfrm>
            <a:off x="8397240" y="1225233"/>
            <a:ext cx="1471930" cy="398780"/>
          </a:xfrm>
          <a:prstGeom prst="rect">
            <a:avLst/>
          </a:prstGeom>
          <a:noFill/>
          <a:ln w="19050">
            <a:solidFill>
              <a:schemeClr val="accent6"/>
            </a:solidFill>
          </a:ln>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a:ln>
                  <a:noFill/>
                </a:ln>
                <a:solidFill>
                  <a:prstClr val="black"/>
                </a:solidFill>
                <a:effectLst/>
                <a:uLnTx/>
                <a:uFillTx/>
                <a:latin typeface="微软雅黑" charset="0"/>
                <a:ea typeface="微软雅黑" charset="0"/>
                <a:cs typeface="+mn-cs"/>
              </a:rPr>
              <a:t>农业现代化</a:t>
            </a:r>
          </a:p>
        </p:txBody>
      </p:sp>
      <p:pic>
        <p:nvPicPr>
          <p:cNvPr id="166" name="图片 165">
            <a:extLst>
              <a:ext uri="{FF2B5EF4-FFF2-40B4-BE49-F238E27FC236}">
                <a16:creationId xmlns:a16="http://schemas.microsoft.com/office/drawing/2014/main" id="{1AC0DE7C-A9C2-F80A-269F-23A2A031D2C5}"/>
              </a:ext>
            </a:extLst>
          </p:cNvPr>
          <p:cNvPicPr>
            <a:picLocks noChangeAspect="1"/>
          </p:cNvPicPr>
          <p:nvPr>
            <p:custDataLst>
              <p:tags r:id="rId6"/>
            </p:custDataLst>
          </p:nvPr>
        </p:nvPicPr>
        <p:blipFill>
          <a:blip r:embed="rId22"/>
          <a:srcRect l="13308" r="14829"/>
          <a:stretch>
            <a:fillRect/>
          </a:stretch>
        </p:blipFill>
        <p:spPr>
          <a:xfrm>
            <a:off x="4899025" y="1648143"/>
            <a:ext cx="1504315" cy="1597025"/>
          </a:xfrm>
          <a:prstGeom prst="rect">
            <a:avLst/>
          </a:prstGeom>
          <a:effectLst>
            <a:softEdge rad="63500"/>
          </a:effectLst>
        </p:spPr>
      </p:pic>
      <p:sp>
        <p:nvSpPr>
          <p:cNvPr id="167" name="文本框 166">
            <a:extLst>
              <a:ext uri="{FF2B5EF4-FFF2-40B4-BE49-F238E27FC236}">
                <a16:creationId xmlns:a16="http://schemas.microsoft.com/office/drawing/2014/main" id="{69E7704B-A060-2803-CD99-2DE4F1F25649}"/>
              </a:ext>
            </a:extLst>
          </p:cNvPr>
          <p:cNvSpPr txBox="1"/>
          <p:nvPr/>
        </p:nvSpPr>
        <p:spPr>
          <a:xfrm>
            <a:off x="4935855" y="1225233"/>
            <a:ext cx="1414145" cy="398780"/>
          </a:xfrm>
          <a:prstGeom prst="rect">
            <a:avLst/>
          </a:prstGeom>
          <a:noFill/>
          <a:ln w="19050">
            <a:solidFill>
              <a:schemeClr val="accent6"/>
            </a:solidFill>
          </a:ln>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a:ln>
                  <a:noFill/>
                </a:ln>
                <a:solidFill>
                  <a:prstClr val="black"/>
                </a:solidFill>
                <a:effectLst/>
                <a:uLnTx/>
                <a:uFillTx/>
                <a:latin typeface="微软雅黑" charset="0"/>
                <a:ea typeface="微软雅黑" charset="0"/>
                <a:cs typeface="+mn-cs"/>
              </a:rPr>
              <a:t>尖端材料</a:t>
            </a:r>
          </a:p>
        </p:txBody>
      </p:sp>
      <p:sp>
        <p:nvSpPr>
          <p:cNvPr id="168" name="文本框 167">
            <a:extLst>
              <a:ext uri="{FF2B5EF4-FFF2-40B4-BE49-F238E27FC236}">
                <a16:creationId xmlns:a16="http://schemas.microsoft.com/office/drawing/2014/main" id="{1D85A94F-0E73-B428-13CE-0B882D171F67}"/>
              </a:ext>
            </a:extLst>
          </p:cNvPr>
          <p:cNvSpPr txBox="1"/>
          <p:nvPr/>
        </p:nvSpPr>
        <p:spPr>
          <a:xfrm>
            <a:off x="8142605" y="3220641"/>
            <a:ext cx="1915160" cy="39878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0" i="1" u="none" strike="noStrike" kern="1200" cap="none" spc="0" normalizeH="0" baseline="0" noProof="0">
                <a:ln>
                  <a:noFill/>
                </a:ln>
                <a:solidFill>
                  <a:prstClr val="black"/>
                </a:solidFill>
                <a:effectLst/>
                <a:uLnTx/>
                <a:uFillTx/>
                <a:latin typeface="微软雅黑" charset="0"/>
                <a:ea typeface="微软雅黑" charset="0"/>
                <a:cs typeface="+mn-cs"/>
              </a:rPr>
              <a:t>国家重大需求</a:t>
            </a:r>
          </a:p>
        </p:txBody>
      </p:sp>
      <p:sp>
        <p:nvSpPr>
          <p:cNvPr id="169" name="文本框 168">
            <a:extLst>
              <a:ext uri="{FF2B5EF4-FFF2-40B4-BE49-F238E27FC236}">
                <a16:creationId xmlns:a16="http://schemas.microsoft.com/office/drawing/2014/main" id="{5C07FC04-BD96-9BD1-8107-1CCE82604BC2}"/>
              </a:ext>
            </a:extLst>
          </p:cNvPr>
          <p:cNvSpPr txBox="1"/>
          <p:nvPr/>
        </p:nvSpPr>
        <p:spPr>
          <a:xfrm>
            <a:off x="4601210" y="3220641"/>
            <a:ext cx="2057400" cy="39878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0" i="1" u="none" strike="noStrike" kern="1200" cap="none" spc="0" normalizeH="0" baseline="0" noProof="0">
                <a:ln>
                  <a:noFill/>
                </a:ln>
                <a:solidFill>
                  <a:prstClr val="black"/>
                </a:solidFill>
                <a:effectLst/>
                <a:uLnTx/>
                <a:uFillTx/>
                <a:latin typeface="微软雅黑" charset="0"/>
                <a:ea typeface="微软雅黑" charset="0"/>
                <a:cs typeface="+mn-cs"/>
              </a:rPr>
              <a:t>世界科技前沿</a:t>
            </a:r>
          </a:p>
        </p:txBody>
      </p:sp>
      <p:pic>
        <p:nvPicPr>
          <p:cNvPr id="170" name="图片 169">
            <a:extLst>
              <a:ext uri="{FF2B5EF4-FFF2-40B4-BE49-F238E27FC236}">
                <a16:creationId xmlns:a16="http://schemas.microsoft.com/office/drawing/2014/main" id="{238CD441-3632-0006-5AC7-DAFB35764340}"/>
              </a:ext>
            </a:extLst>
          </p:cNvPr>
          <p:cNvPicPr>
            <a:picLocks noChangeAspect="1"/>
          </p:cNvPicPr>
          <p:nvPr>
            <p:custDataLst>
              <p:tags r:id="rId7"/>
            </p:custDataLst>
          </p:nvPr>
        </p:nvPicPr>
        <p:blipFill>
          <a:blip r:embed="rId23"/>
          <a:srcRect r="45644"/>
          <a:stretch>
            <a:fillRect/>
          </a:stretch>
        </p:blipFill>
        <p:spPr>
          <a:xfrm>
            <a:off x="6661150" y="1646555"/>
            <a:ext cx="1553210" cy="1600200"/>
          </a:xfrm>
          <a:prstGeom prst="rect">
            <a:avLst/>
          </a:prstGeom>
          <a:effectLst>
            <a:softEdge rad="63500"/>
          </a:effectLst>
        </p:spPr>
      </p:pic>
      <p:sp>
        <p:nvSpPr>
          <p:cNvPr id="171" name="文本框 170">
            <a:extLst>
              <a:ext uri="{FF2B5EF4-FFF2-40B4-BE49-F238E27FC236}">
                <a16:creationId xmlns:a16="http://schemas.microsoft.com/office/drawing/2014/main" id="{537715BA-972A-2AC1-EAE1-9460408AAB76}"/>
              </a:ext>
            </a:extLst>
          </p:cNvPr>
          <p:cNvSpPr txBox="1"/>
          <p:nvPr/>
        </p:nvSpPr>
        <p:spPr>
          <a:xfrm>
            <a:off x="6696075" y="1225233"/>
            <a:ext cx="1478915" cy="398780"/>
          </a:xfrm>
          <a:prstGeom prst="rect">
            <a:avLst/>
          </a:prstGeom>
          <a:noFill/>
          <a:ln w="19050">
            <a:solidFill>
              <a:schemeClr val="accent6"/>
            </a:solidFill>
          </a:ln>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a:ln>
                  <a:noFill/>
                </a:ln>
                <a:solidFill>
                  <a:prstClr val="black"/>
                </a:solidFill>
                <a:effectLst/>
                <a:uLnTx/>
                <a:uFillTx/>
                <a:latin typeface="微软雅黑" charset="0"/>
                <a:ea typeface="微软雅黑" charset="0"/>
                <a:cs typeface="+mn-cs"/>
              </a:rPr>
              <a:t>新能源</a:t>
            </a:r>
          </a:p>
        </p:txBody>
      </p:sp>
      <p:sp>
        <p:nvSpPr>
          <p:cNvPr id="172" name="文本框 171">
            <a:extLst>
              <a:ext uri="{FF2B5EF4-FFF2-40B4-BE49-F238E27FC236}">
                <a16:creationId xmlns:a16="http://schemas.microsoft.com/office/drawing/2014/main" id="{9FDDEA5F-22B9-2A61-9C2C-246C4EB0EBF4}"/>
              </a:ext>
            </a:extLst>
          </p:cNvPr>
          <p:cNvSpPr txBox="1"/>
          <p:nvPr/>
        </p:nvSpPr>
        <p:spPr>
          <a:xfrm>
            <a:off x="6583045" y="3220641"/>
            <a:ext cx="1645920" cy="39878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0" i="1" u="none" strike="noStrike" kern="1200" cap="none" spc="0" normalizeH="0" baseline="0" noProof="0">
                <a:ln>
                  <a:noFill/>
                </a:ln>
                <a:solidFill>
                  <a:prstClr val="black"/>
                </a:solidFill>
                <a:effectLst/>
                <a:uLnTx/>
                <a:uFillTx/>
                <a:latin typeface="微软雅黑" charset="0"/>
                <a:ea typeface="微软雅黑" charset="0"/>
                <a:cs typeface="+mn-cs"/>
              </a:rPr>
              <a:t>经济主战场</a:t>
            </a:r>
          </a:p>
        </p:txBody>
      </p:sp>
      <p:pic>
        <p:nvPicPr>
          <p:cNvPr id="173" name="图片 172">
            <a:extLst>
              <a:ext uri="{FF2B5EF4-FFF2-40B4-BE49-F238E27FC236}">
                <a16:creationId xmlns:a16="http://schemas.microsoft.com/office/drawing/2014/main" id="{1CA1B803-B102-54C4-51F1-8EEE9B1B80DF}"/>
              </a:ext>
            </a:extLst>
          </p:cNvPr>
          <p:cNvPicPr>
            <a:picLocks noChangeAspect="1"/>
          </p:cNvPicPr>
          <p:nvPr>
            <p:custDataLst>
              <p:tags r:id="rId8"/>
            </p:custDataLst>
          </p:nvPr>
        </p:nvPicPr>
        <p:blipFill>
          <a:blip r:embed="rId24"/>
          <a:srcRect l="16933" r="28711"/>
          <a:stretch>
            <a:fillRect/>
          </a:stretch>
        </p:blipFill>
        <p:spPr>
          <a:xfrm>
            <a:off x="10111105" y="1646555"/>
            <a:ext cx="1553210" cy="1600200"/>
          </a:xfrm>
          <a:prstGeom prst="rect">
            <a:avLst/>
          </a:prstGeom>
          <a:effectLst>
            <a:softEdge rad="63500"/>
          </a:effectLst>
        </p:spPr>
      </p:pic>
      <p:sp>
        <p:nvSpPr>
          <p:cNvPr id="174" name="文本框 173">
            <a:extLst>
              <a:ext uri="{FF2B5EF4-FFF2-40B4-BE49-F238E27FC236}">
                <a16:creationId xmlns:a16="http://schemas.microsoft.com/office/drawing/2014/main" id="{31CF62FD-89EE-6A0E-9E96-FE2966F23E67}"/>
              </a:ext>
            </a:extLst>
          </p:cNvPr>
          <p:cNvSpPr txBox="1"/>
          <p:nvPr/>
        </p:nvSpPr>
        <p:spPr>
          <a:xfrm>
            <a:off x="10171430" y="1225233"/>
            <a:ext cx="1414145" cy="398780"/>
          </a:xfrm>
          <a:prstGeom prst="rect">
            <a:avLst/>
          </a:prstGeom>
          <a:noFill/>
          <a:ln w="19050">
            <a:solidFill>
              <a:schemeClr val="accent6"/>
            </a:solidFill>
          </a:ln>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a:ln>
                  <a:noFill/>
                </a:ln>
                <a:solidFill>
                  <a:prstClr val="black"/>
                </a:solidFill>
                <a:effectLst/>
                <a:uLnTx/>
                <a:uFillTx/>
                <a:latin typeface="微软雅黑" charset="0"/>
                <a:ea typeface="微软雅黑" charset="0"/>
                <a:cs typeface="+mn-cs"/>
              </a:rPr>
              <a:t>生物医疗</a:t>
            </a:r>
          </a:p>
        </p:txBody>
      </p:sp>
      <p:sp>
        <p:nvSpPr>
          <p:cNvPr id="175" name="文本框 174">
            <a:extLst>
              <a:ext uri="{FF2B5EF4-FFF2-40B4-BE49-F238E27FC236}">
                <a16:creationId xmlns:a16="http://schemas.microsoft.com/office/drawing/2014/main" id="{C5672CCC-1FD6-260F-6157-E4DA70E77452}"/>
              </a:ext>
            </a:extLst>
          </p:cNvPr>
          <p:cNvSpPr txBox="1"/>
          <p:nvPr/>
        </p:nvSpPr>
        <p:spPr>
          <a:xfrm>
            <a:off x="9923145" y="3220641"/>
            <a:ext cx="1882140" cy="39878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0" i="1" u="none" strike="noStrike" kern="1200" cap="none" spc="0" normalizeH="0" baseline="0" noProof="0">
                <a:ln>
                  <a:noFill/>
                </a:ln>
                <a:solidFill>
                  <a:prstClr val="black"/>
                </a:solidFill>
                <a:effectLst/>
                <a:uLnTx/>
                <a:uFillTx/>
                <a:latin typeface="微软雅黑" charset="0"/>
                <a:ea typeface="微软雅黑" charset="0"/>
                <a:cs typeface="+mn-cs"/>
              </a:rPr>
              <a:t>人民身体健康</a:t>
            </a:r>
          </a:p>
        </p:txBody>
      </p:sp>
      <p:sp>
        <p:nvSpPr>
          <p:cNvPr id="176" name="文本框 175">
            <a:extLst>
              <a:ext uri="{FF2B5EF4-FFF2-40B4-BE49-F238E27FC236}">
                <a16:creationId xmlns:a16="http://schemas.microsoft.com/office/drawing/2014/main" id="{1AD18149-DED5-7660-B299-90D8670045DE}"/>
              </a:ext>
            </a:extLst>
          </p:cNvPr>
          <p:cNvSpPr txBox="1"/>
          <p:nvPr/>
        </p:nvSpPr>
        <p:spPr>
          <a:xfrm>
            <a:off x="7402830" y="5834380"/>
            <a:ext cx="1758315" cy="783590"/>
          </a:xfrm>
          <a:prstGeom prst="rect">
            <a:avLst/>
          </a:prstGeom>
          <a:solidFill>
            <a:schemeClr val="bg1"/>
          </a:solidFill>
          <a:ln w="19050">
            <a:solidFill>
              <a:srgbClr val="C00000"/>
            </a:solidFill>
          </a:ln>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dirty="0">
                <a:ln>
                  <a:noFill/>
                </a:ln>
                <a:solidFill>
                  <a:prstClr val="black"/>
                </a:solidFill>
                <a:effectLst/>
                <a:uLnTx/>
                <a:uFillTx/>
                <a:latin typeface="微软雅黑" charset="0"/>
                <a:ea typeface="微软雅黑" charset="0"/>
                <a:cs typeface="+mn-cs"/>
              </a:rPr>
              <a:t>化学信息复杂</a:t>
            </a:r>
          </a:p>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dirty="0">
                <a:ln>
                  <a:noFill/>
                </a:ln>
                <a:solidFill>
                  <a:prstClr val="black"/>
                </a:solidFill>
                <a:effectLst/>
                <a:uLnTx/>
                <a:uFillTx/>
                <a:latin typeface="微软雅黑" charset="0"/>
                <a:ea typeface="微软雅黑" charset="0"/>
                <a:cs typeface="+mn-cs"/>
              </a:rPr>
              <a:t>表示模态交织</a:t>
            </a:r>
          </a:p>
        </p:txBody>
      </p:sp>
      <p:sp>
        <p:nvSpPr>
          <p:cNvPr id="177" name="文本框 176">
            <a:extLst>
              <a:ext uri="{FF2B5EF4-FFF2-40B4-BE49-F238E27FC236}">
                <a16:creationId xmlns:a16="http://schemas.microsoft.com/office/drawing/2014/main" id="{9E70B4BB-531A-DDE6-4F96-66A50736435B}"/>
              </a:ext>
            </a:extLst>
          </p:cNvPr>
          <p:cNvSpPr txBox="1"/>
          <p:nvPr/>
        </p:nvSpPr>
        <p:spPr>
          <a:xfrm>
            <a:off x="9750342" y="5832475"/>
            <a:ext cx="1757680" cy="783590"/>
          </a:xfrm>
          <a:prstGeom prst="rect">
            <a:avLst/>
          </a:prstGeom>
          <a:solidFill>
            <a:schemeClr val="bg1"/>
          </a:solidFill>
          <a:ln w="19050">
            <a:solidFill>
              <a:srgbClr val="C00000"/>
            </a:solidFill>
          </a:ln>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a:ln>
                  <a:noFill/>
                </a:ln>
                <a:solidFill>
                  <a:prstClr val="black"/>
                </a:solidFill>
                <a:effectLst/>
                <a:uLnTx/>
                <a:uFillTx/>
                <a:latin typeface="微软雅黑" charset="0"/>
                <a:ea typeface="微软雅黑" charset="0"/>
                <a:cs typeface="+mn-cs"/>
              </a:rPr>
              <a:t>模型知识不足</a:t>
            </a:r>
          </a:p>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a:ln>
                  <a:noFill/>
                </a:ln>
                <a:solidFill>
                  <a:prstClr val="black"/>
                </a:solidFill>
                <a:effectLst/>
                <a:uLnTx/>
                <a:uFillTx/>
                <a:latin typeface="微软雅黑" charset="0"/>
                <a:ea typeface="微软雅黑" charset="0"/>
                <a:cs typeface="+mn-cs"/>
              </a:rPr>
              <a:t>专家干预困难</a:t>
            </a:r>
          </a:p>
        </p:txBody>
      </p:sp>
      <p:sp>
        <p:nvSpPr>
          <p:cNvPr id="178" name="圆角矩形 63">
            <a:extLst>
              <a:ext uri="{FF2B5EF4-FFF2-40B4-BE49-F238E27FC236}">
                <a16:creationId xmlns:a16="http://schemas.microsoft.com/office/drawing/2014/main" id="{F97471D4-026D-6EB5-1AE7-96444CE1DFA2}"/>
              </a:ext>
            </a:extLst>
          </p:cNvPr>
          <p:cNvSpPr/>
          <p:nvPr/>
        </p:nvSpPr>
        <p:spPr>
          <a:xfrm>
            <a:off x="7404100" y="4951095"/>
            <a:ext cx="1758315" cy="845185"/>
          </a:xfrm>
          <a:prstGeom prst="roundRect">
            <a:avLst>
              <a:gd name="adj" fmla="val 10225"/>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79" name="圆角矩形 64">
            <a:extLst>
              <a:ext uri="{FF2B5EF4-FFF2-40B4-BE49-F238E27FC236}">
                <a16:creationId xmlns:a16="http://schemas.microsoft.com/office/drawing/2014/main" id="{BBC16D37-A6D7-9C55-FD6E-1C3748F75ACE}"/>
              </a:ext>
            </a:extLst>
          </p:cNvPr>
          <p:cNvSpPr/>
          <p:nvPr/>
        </p:nvSpPr>
        <p:spPr>
          <a:xfrm>
            <a:off x="7404100" y="3861435"/>
            <a:ext cx="1757680" cy="1191895"/>
          </a:xfrm>
          <a:prstGeom prst="roundRect">
            <a:avLst>
              <a:gd name="adj" fmla="val 10225"/>
            </a:avLst>
          </a:prstGeom>
          <a:solidFill>
            <a:srgbClr val="F2F2F2"/>
          </a:solidFill>
          <a:ln w="381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80" name="圆角矩形 65">
            <a:extLst>
              <a:ext uri="{FF2B5EF4-FFF2-40B4-BE49-F238E27FC236}">
                <a16:creationId xmlns:a16="http://schemas.microsoft.com/office/drawing/2014/main" id="{8E2D9375-4D15-5F04-F1A7-23B256B99251}"/>
              </a:ext>
            </a:extLst>
          </p:cNvPr>
          <p:cNvSpPr/>
          <p:nvPr/>
        </p:nvSpPr>
        <p:spPr>
          <a:xfrm>
            <a:off x="4817110" y="3917315"/>
            <a:ext cx="2444115" cy="1795780"/>
          </a:xfrm>
          <a:prstGeom prst="roundRect">
            <a:avLst>
              <a:gd name="adj" fmla="val 10225"/>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181" name="图片 180" descr="截屏2023-11-10 14.51.22">
            <a:extLst>
              <a:ext uri="{FF2B5EF4-FFF2-40B4-BE49-F238E27FC236}">
                <a16:creationId xmlns:a16="http://schemas.microsoft.com/office/drawing/2014/main" id="{3DBAD133-CD37-EBE8-43C8-24D67C7B69FA}"/>
              </a:ext>
            </a:extLst>
          </p:cNvPr>
          <p:cNvPicPr>
            <a:picLocks noChangeAspect="1"/>
          </p:cNvPicPr>
          <p:nvPr>
            <p:custDataLst>
              <p:tags r:id="rId9"/>
            </p:custDataLst>
          </p:nvPr>
        </p:nvPicPr>
        <p:blipFill>
          <a:blip r:embed="rId25"/>
          <a:srcRect r="63295"/>
          <a:stretch>
            <a:fillRect/>
          </a:stretch>
        </p:blipFill>
        <p:spPr>
          <a:xfrm>
            <a:off x="7589520" y="4418330"/>
            <a:ext cx="677545" cy="392430"/>
          </a:xfrm>
          <a:prstGeom prst="rect">
            <a:avLst/>
          </a:prstGeom>
        </p:spPr>
      </p:pic>
      <p:pic>
        <p:nvPicPr>
          <p:cNvPr id="182" name="图片 181" descr="截屏2023-11-10 14.51.22">
            <a:extLst>
              <a:ext uri="{FF2B5EF4-FFF2-40B4-BE49-F238E27FC236}">
                <a16:creationId xmlns:a16="http://schemas.microsoft.com/office/drawing/2014/main" id="{804C8F03-6333-959A-E3D8-6B800B4C0FB9}"/>
              </a:ext>
            </a:extLst>
          </p:cNvPr>
          <p:cNvPicPr>
            <a:picLocks noChangeAspect="1"/>
          </p:cNvPicPr>
          <p:nvPr>
            <p:custDataLst>
              <p:tags r:id="rId10"/>
            </p:custDataLst>
          </p:nvPr>
        </p:nvPicPr>
        <p:blipFill>
          <a:blip r:embed="rId25"/>
          <a:srcRect l="68662"/>
          <a:stretch>
            <a:fillRect/>
          </a:stretch>
        </p:blipFill>
        <p:spPr>
          <a:xfrm>
            <a:off x="8030845" y="3877310"/>
            <a:ext cx="578485" cy="392430"/>
          </a:xfrm>
          <a:prstGeom prst="rect">
            <a:avLst/>
          </a:prstGeom>
        </p:spPr>
      </p:pic>
      <p:pic>
        <p:nvPicPr>
          <p:cNvPr id="183" name="图片 182" descr="截屏2023-11-10 14.51.22">
            <a:extLst>
              <a:ext uri="{FF2B5EF4-FFF2-40B4-BE49-F238E27FC236}">
                <a16:creationId xmlns:a16="http://schemas.microsoft.com/office/drawing/2014/main" id="{135CDC44-9C13-5553-B25B-800E31E1A017}"/>
              </a:ext>
            </a:extLst>
          </p:cNvPr>
          <p:cNvPicPr>
            <a:picLocks noChangeAspect="1"/>
          </p:cNvPicPr>
          <p:nvPr>
            <p:custDataLst>
              <p:tags r:id="rId11"/>
            </p:custDataLst>
          </p:nvPr>
        </p:nvPicPr>
        <p:blipFill>
          <a:blip r:embed="rId25"/>
          <a:srcRect l="36704" r="31579"/>
          <a:stretch>
            <a:fillRect/>
          </a:stretch>
        </p:blipFill>
        <p:spPr>
          <a:xfrm>
            <a:off x="8397240" y="4418330"/>
            <a:ext cx="585470" cy="392430"/>
          </a:xfrm>
          <a:prstGeom prst="rect">
            <a:avLst/>
          </a:prstGeom>
        </p:spPr>
      </p:pic>
      <p:sp>
        <p:nvSpPr>
          <p:cNvPr id="184" name="文本框 183">
            <a:extLst>
              <a:ext uri="{FF2B5EF4-FFF2-40B4-BE49-F238E27FC236}">
                <a16:creationId xmlns:a16="http://schemas.microsoft.com/office/drawing/2014/main" id="{FD4E59A2-94FD-951B-9D9F-51D475CC8110}"/>
              </a:ext>
            </a:extLst>
          </p:cNvPr>
          <p:cNvSpPr txBox="1"/>
          <p:nvPr/>
        </p:nvSpPr>
        <p:spPr>
          <a:xfrm>
            <a:off x="7838440" y="4236085"/>
            <a:ext cx="1018540" cy="306705"/>
          </a:xfrm>
          <a:prstGeom prst="rect">
            <a:avLst/>
          </a:prstGeom>
          <a:noFill/>
          <a:effectLst>
            <a:outerShdw blurRad="50800" dist="38100" dir="2700000" algn="tl" rotWithShape="0">
              <a:schemeClr val="bg1">
                <a:alpha val="40000"/>
              </a:schemeClr>
            </a:outerShdw>
          </a:effectLst>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1" i="0" u="none" strike="noStrike" kern="1200" cap="none" spc="0" normalizeH="0" baseline="0" noProof="0">
                <a:ln>
                  <a:noFill/>
                </a:ln>
                <a:solidFill>
                  <a:prstClr val="black"/>
                </a:solidFill>
                <a:effectLst/>
                <a:uLnTx/>
                <a:uFillTx/>
                <a:latin typeface="微软雅黑" charset="0"/>
                <a:ea typeface="微软雅黑" charset="0"/>
                <a:cs typeface="+mn-cs"/>
              </a:rPr>
              <a:t>高维表示</a:t>
            </a:r>
          </a:p>
        </p:txBody>
      </p:sp>
      <p:sp>
        <p:nvSpPr>
          <p:cNvPr id="185" name="文本框 184">
            <a:extLst>
              <a:ext uri="{FF2B5EF4-FFF2-40B4-BE49-F238E27FC236}">
                <a16:creationId xmlns:a16="http://schemas.microsoft.com/office/drawing/2014/main" id="{E6582724-114E-2830-E57B-0EFF6E2E0149}"/>
              </a:ext>
            </a:extLst>
          </p:cNvPr>
          <p:cNvSpPr txBox="1"/>
          <p:nvPr/>
        </p:nvSpPr>
        <p:spPr>
          <a:xfrm>
            <a:off x="7461250" y="4724400"/>
            <a:ext cx="1018540" cy="306705"/>
          </a:xfrm>
          <a:prstGeom prst="rect">
            <a:avLst/>
          </a:prstGeom>
          <a:noFill/>
          <a:effectLst>
            <a:outerShdw blurRad="50800" dist="38100" dir="2700000" algn="tl" rotWithShape="0">
              <a:schemeClr val="bg1">
                <a:alpha val="40000"/>
              </a:schemeClr>
            </a:outerShdw>
          </a:effectLst>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1" i="0" u="none" strike="noStrike" kern="1200" cap="none" spc="0" normalizeH="0" baseline="0" noProof="0">
                <a:ln>
                  <a:noFill/>
                </a:ln>
                <a:solidFill>
                  <a:prstClr val="black"/>
                </a:solidFill>
                <a:effectLst/>
                <a:uLnTx/>
                <a:uFillTx/>
                <a:latin typeface="微软雅黑" charset="0"/>
                <a:ea typeface="微软雅黑" charset="0"/>
                <a:cs typeface="+mn-cs"/>
              </a:rPr>
              <a:t>一维表示</a:t>
            </a:r>
          </a:p>
        </p:txBody>
      </p:sp>
      <p:sp>
        <p:nvSpPr>
          <p:cNvPr id="186" name="文本框 185">
            <a:extLst>
              <a:ext uri="{FF2B5EF4-FFF2-40B4-BE49-F238E27FC236}">
                <a16:creationId xmlns:a16="http://schemas.microsoft.com/office/drawing/2014/main" id="{C0BADEA3-4C75-C79E-B236-FAF802183908}"/>
              </a:ext>
            </a:extLst>
          </p:cNvPr>
          <p:cNvSpPr txBox="1"/>
          <p:nvPr/>
        </p:nvSpPr>
        <p:spPr>
          <a:xfrm>
            <a:off x="8257540" y="4727575"/>
            <a:ext cx="1018540" cy="306705"/>
          </a:xfrm>
          <a:prstGeom prst="rect">
            <a:avLst/>
          </a:prstGeom>
          <a:noFill/>
          <a:effectLst>
            <a:outerShdw blurRad="50800" dist="38100" dir="2700000" algn="tl" rotWithShape="0">
              <a:schemeClr val="bg1">
                <a:alpha val="40000"/>
              </a:schemeClr>
            </a:outerShdw>
          </a:effectLst>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1" i="0" u="none" strike="noStrike" kern="1200" cap="none" spc="0" normalizeH="0" baseline="0" noProof="0">
                <a:ln>
                  <a:noFill/>
                </a:ln>
                <a:solidFill>
                  <a:prstClr val="black"/>
                </a:solidFill>
                <a:effectLst/>
                <a:uLnTx/>
                <a:uFillTx/>
                <a:latin typeface="微软雅黑" charset="0"/>
                <a:ea typeface="微软雅黑" charset="0"/>
                <a:cs typeface="+mn-cs"/>
              </a:rPr>
              <a:t>二维表示</a:t>
            </a:r>
          </a:p>
        </p:txBody>
      </p:sp>
      <p:sp>
        <p:nvSpPr>
          <p:cNvPr id="187" name="文本框 186">
            <a:extLst>
              <a:ext uri="{FF2B5EF4-FFF2-40B4-BE49-F238E27FC236}">
                <a16:creationId xmlns:a16="http://schemas.microsoft.com/office/drawing/2014/main" id="{6BB29947-1984-4F26-740E-A5281BB62155}"/>
              </a:ext>
            </a:extLst>
          </p:cNvPr>
          <p:cNvSpPr txBox="1"/>
          <p:nvPr/>
        </p:nvSpPr>
        <p:spPr>
          <a:xfrm>
            <a:off x="7369810" y="5558155"/>
            <a:ext cx="1018540" cy="30670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1" i="0" u="none" strike="noStrike" kern="1200" cap="none" spc="0" normalizeH="0" baseline="0" noProof="0">
                <a:ln>
                  <a:noFill/>
                </a:ln>
                <a:solidFill>
                  <a:prstClr val="black"/>
                </a:solidFill>
                <a:effectLst/>
                <a:uLnTx/>
                <a:uFillTx/>
                <a:latin typeface="微软雅黑" charset="0"/>
                <a:ea typeface="微软雅黑" charset="0"/>
                <a:cs typeface="+mn-cs"/>
              </a:rPr>
              <a:t>文本描述</a:t>
            </a:r>
          </a:p>
        </p:txBody>
      </p:sp>
      <p:sp>
        <p:nvSpPr>
          <p:cNvPr id="188" name="文本框 187">
            <a:extLst>
              <a:ext uri="{FF2B5EF4-FFF2-40B4-BE49-F238E27FC236}">
                <a16:creationId xmlns:a16="http://schemas.microsoft.com/office/drawing/2014/main" id="{7F52BB8B-FAEC-C6D4-2749-470804174A94}"/>
              </a:ext>
            </a:extLst>
          </p:cNvPr>
          <p:cNvSpPr txBox="1"/>
          <p:nvPr/>
        </p:nvSpPr>
        <p:spPr>
          <a:xfrm>
            <a:off x="8228330" y="5558155"/>
            <a:ext cx="1018540" cy="30670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1" i="0" u="none" strike="noStrike" kern="1200" cap="none" spc="0" normalizeH="0" baseline="0" noProof="0">
                <a:ln>
                  <a:noFill/>
                </a:ln>
                <a:solidFill>
                  <a:prstClr val="black"/>
                </a:solidFill>
                <a:effectLst/>
                <a:uLnTx/>
                <a:uFillTx/>
                <a:latin typeface="微软雅黑" charset="0"/>
                <a:ea typeface="微软雅黑" charset="0"/>
                <a:cs typeface="+mn-cs"/>
              </a:rPr>
              <a:t>文献插图</a:t>
            </a:r>
          </a:p>
        </p:txBody>
      </p:sp>
      <p:pic>
        <p:nvPicPr>
          <p:cNvPr id="189" name="图片 188" descr="截屏2023-11-10 14.50.25">
            <a:extLst>
              <a:ext uri="{FF2B5EF4-FFF2-40B4-BE49-F238E27FC236}">
                <a16:creationId xmlns:a16="http://schemas.microsoft.com/office/drawing/2014/main" id="{82B9D270-2EAF-5DE3-E7D2-339B3D419BCB}"/>
              </a:ext>
            </a:extLst>
          </p:cNvPr>
          <p:cNvPicPr>
            <a:picLocks noChangeAspect="1"/>
          </p:cNvPicPr>
          <p:nvPr>
            <p:custDataLst>
              <p:tags r:id="rId12"/>
            </p:custDataLst>
          </p:nvPr>
        </p:nvPicPr>
        <p:blipFill>
          <a:blip r:embed="rId26"/>
          <a:stretch>
            <a:fillRect/>
          </a:stretch>
        </p:blipFill>
        <p:spPr>
          <a:xfrm>
            <a:off x="7444105" y="5019675"/>
            <a:ext cx="1661160" cy="600710"/>
          </a:xfrm>
          <a:prstGeom prst="rect">
            <a:avLst/>
          </a:prstGeom>
        </p:spPr>
      </p:pic>
      <p:sp>
        <p:nvSpPr>
          <p:cNvPr id="190" name="圆角矩形 67">
            <a:extLst>
              <a:ext uri="{FF2B5EF4-FFF2-40B4-BE49-F238E27FC236}">
                <a16:creationId xmlns:a16="http://schemas.microsoft.com/office/drawing/2014/main" id="{142F6FA1-6E11-FCE7-8F2A-5158E4D227D8}"/>
              </a:ext>
            </a:extLst>
          </p:cNvPr>
          <p:cNvSpPr/>
          <p:nvPr/>
        </p:nvSpPr>
        <p:spPr>
          <a:xfrm>
            <a:off x="9546590" y="3934460"/>
            <a:ext cx="2139315" cy="1836420"/>
          </a:xfrm>
          <a:prstGeom prst="roundRect">
            <a:avLst>
              <a:gd name="adj" fmla="val 10225"/>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91" name="文本框 190">
            <a:extLst>
              <a:ext uri="{FF2B5EF4-FFF2-40B4-BE49-F238E27FC236}">
                <a16:creationId xmlns:a16="http://schemas.microsoft.com/office/drawing/2014/main" id="{8D2F231C-D198-9D80-AB72-0D288E6E5106}"/>
              </a:ext>
            </a:extLst>
          </p:cNvPr>
          <p:cNvSpPr txBox="1"/>
          <p:nvPr/>
        </p:nvSpPr>
        <p:spPr>
          <a:xfrm>
            <a:off x="5127542" y="5834380"/>
            <a:ext cx="1758315" cy="783590"/>
          </a:xfrm>
          <a:prstGeom prst="rect">
            <a:avLst/>
          </a:prstGeom>
          <a:solidFill>
            <a:schemeClr val="bg1"/>
          </a:solidFill>
          <a:ln w="19050">
            <a:solidFill>
              <a:srgbClr val="C00000"/>
            </a:solidFill>
          </a:ln>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dirty="0">
                <a:ln>
                  <a:noFill/>
                </a:ln>
                <a:solidFill>
                  <a:prstClr val="black"/>
                </a:solidFill>
                <a:effectLst/>
                <a:uLnTx/>
                <a:uFillTx/>
                <a:latin typeface="微软雅黑" charset="0"/>
                <a:ea typeface="微软雅黑" charset="0"/>
                <a:cs typeface="+mn-cs"/>
              </a:rPr>
              <a:t>化学空间巨大</a:t>
            </a:r>
          </a:p>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000" b="1" i="0" u="none" strike="noStrike" kern="1200" cap="none" spc="0" normalizeH="0" baseline="0" noProof="0" dirty="0">
                <a:ln>
                  <a:noFill/>
                </a:ln>
                <a:solidFill>
                  <a:prstClr val="black"/>
                </a:solidFill>
                <a:effectLst/>
                <a:uLnTx/>
                <a:uFillTx/>
                <a:latin typeface="微软雅黑" charset="0"/>
                <a:ea typeface="微软雅黑" charset="0"/>
                <a:cs typeface="+mn-cs"/>
              </a:rPr>
              <a:t>反应路径多样</a:t>
            </a:r>
          </a:p>
        </p:txBody>
      </p:sp>
      <p:pic>
        <p:nvPicPr>
          <p:cNvPr id="192" name="图片 191" descr="截屏2023-11-10 14.41.38">
            <a:extLst>
              <a:ext uri="{FF2B5EF4-FFF2-40B4-BE49-F238E27FC236}">
                <a16:creationId xmlns:a16="http://schemas.microsoft.com/office/drawing/2014/main" id="{58F7D278-2E4C-7435-A685-2743D183454F}"/>
              </a:ext>
            </a:extLst>
          </p:cNvPr>
          <p:cNvPicPr>
            <a:picLocks noChangeAspect="1"/>
          </p:cNvPicPr>
          <p:nvPr>
            <p:custDataLst>
              <p:tags r:id="rId13"/>
            </p:custDataLst>
          </p:nvPr>
        </p:nvPicPr>
        <p:blipFill>
          <a:blip r:embed="rId27"/>
          <a:stretch>
            <a:fillRect/>
          </a:stretch>
        </p:blipFill>
        <p:spPr>
          <a:xfrm>
            <a:off x="5037455" y="4290695"/>
            <a:ext cx="2057400" cy="1132840"/>
          </a:xfrm>
          <a:prstGeom prst="rect">
            <a:avLst/>
          </a:prstGeom>
        </p:spPr>
      </p:pic>
      <p:sp>
        <p:nvSpPr>
          <p:cNvPr id="193" name="文本框 192">
            <a:extLst>
              <a:ext uri="{FF2B5EF4-FFF2-40B4-BE49-F238E27FC236}">
                <a16:creationId xmlns:a16="http://schemas.microsoft.com/office/drawing/2014/main" id="{7567BE2C-9CE3-1EFF-3AAF-A2D28E774620}"/>
              </a:ext>
            </a:extLst>
          </p:cNvPr>
          <p:cNvSpPr txBox="1"/>
          <p:nvPr/>
        </p:nvSpPr>
        <p:spPr>
          <a:xfrm>
            <a:off x="5175250" y="3989070"/>
            <a:ext cx="1553210" cy="33718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600" b="0" i="0" u="none" strike="noStrike" kern="1200" cap="none" spc="0" normalizeH="0" baseline="0" noProof="0" dirty="0">
                <a:ln>
                  <a:noFill/>
                </a:ln>
                <a:solidFill>
                  <a:srgbClr val="7161C6"/>
                </a:solidFill>
                <a:effectLst/>
                <a:uLnTx/>
                <a:uFillTx/>
                <a:latin typeface="微软雅黑" charset="0"/>
                <a:ea typeface="微软雅黑" charset="0"/>
                <a:cs typeface="+mn-cs"/>
              </a:rPr>
              <a:t>目标化合物</a:t>
            </a:r>
          </a:p>
        </p:txBody>
      </p:sp>
      <p:sp>
        <p:nvSpPr>
          <p:cNvPr id="194" name="文本框 193">
            <a:extLst>
              <a:ext uri="{FF2B5EF4-FFF2-40B4-BE49-F238E27FC236}">
                <a16:creationId xmlns:a16="http://schemas.microsoft.com/office/drawing/2014/main" id="{2299BE3A-253D-26B4-FE3D-7EF013076688}"/>
              </a:ext>
            </a:extLst>
          </p:cNvPr>
          <p:cNvSpPr txBox="1"/>
          <p:nvPr/>
        </p:nvSpPr>
        <p:spPr>
          <a:xfrm>
            <a:off x="4621530" y="5160645"/>
            <a:ext cx="943610" cy="30670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400" b="0" i="0" u="none" strike="noStrike" kern="1200" cap="none" spc="0" normalizeH="0" baseline="0" noProof="0">
                <a:ln>
                  <a:noFill/>
                </a:ln>
                <a:solidFill>
                  <a:srgbClr val="FF0000"/>
                </a:solidFill>
                <a:effectLst/>
                <a:uLnTx/>
                <a:uFillTx/>
                <a:latin typeface="微软雅黑" charset="0"/>
                <a:ea typeface="微软雅黑" charset="0"/>
                <a:cs typeface="+mn-cs"/>
              </a:rPr>
              <a:t>原料</a:t>
            </a:r>
            <a:r>
              <a:rPr kumimoji="0" lang="en-US" altLang="zh-CN" sz="1400" b="0" i="0" u="none" strike="noStrike" kern="1200" cap="none" spc="0" normalizeH="0" baseline="0" noProof="0">
                <a:ln>
                  <a:noFill/>
                </a:ln>
                <a:solidFill>
                  <a:srgbClr val="FF0000"/>
                </a:solidFill>
                <a:effectLst/>
                <a:uLnTx/>
                <a:uFillTx/>
                <a:latin typeface="微软雅黑" charset="0"/>
                <a:ea typeface="微软雅黑" charset="0"/>
                <a:cs typeface="+mn-cs"/>
              </a:rPr>
              <a:t>1</a:t>
            </a:r>
          </a:p>
        </p:txBody>
      </p:sp>
      <p:sp>
        <p:nvSpPr>
          <p:cNvPr id="195" name="文本框 194">
            <a:extLst>
              <a:ext uri="{FF2B5EF4-FFF2-40B4-BE49-F238E27FC236}">
                <a16:creationId xmlns:a16="http://schemas.microsoft.com/office/drawing/2014/main" id="{321AF903-AEAF-9A57-F069-B10D761758F3}"/>
              </a:ext>
            </a:extLst>
          </p:cNvPr>
          <p:cNvSpPr txBox="1"/>
          <p:nvPr/>
        </p:nvSpPr>
        <p:spPr>
          <a:xfrm>
            <a:off x="5058410" y="5315585"/>
            <a:ext cx="943610" cy="30670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400" b="0" i="0" u="none" strike="noStrike" kern="1200" cap="none" spc="0" normalizeH="0" baseline="0" noProof="0">
                <a:ln>
                  <a:noFill/>
                </a:ln>
                <a:solidFill>
                  <a:srgbClr val="FF0000"/>
                </a:solidFill>
                <a:effectLst/>
                <a:uLnTx/>
                <a:uFillTx/>
                <a:latin typeface="微软雅黑" charset="0"/>
                <a:ea typeface="微软雅黑" charset="0"/>
                <a:cs typeface="+mn-cs"/>
              </a:rPr>
              <a:t>原料</a:t>
            </a:r>
            <a:r>
              <a:rPr kumimoji="0" lang="en-US" altLang="zh-CN" sz="1400" b="0" i="0" u="none" strike="noStrike" kern="1200" cap="none" spc="0" normalizeH="0" baseline="0" noProof="0">
                <a:ln>
                  <a:noFill/>
                </a:ln>
                <a:solidFill>
                  <a:srgbClr val="FF0000"/>
                </a:solidFill>
                <a:effectLst/>
                <a:uLnTx/>
                <a:uFillTx/>
                <a:latin typeface="微软雅黑" charset="0"/>
                <a:ea typeface="微软雅黑" charset="0"/>
                <a:cs typeface="+mn-cs"/>
              </a:rPr>
              <a:t>2</a:t>
            </a:r>
          </a:p>
        </p:txBody>
      </p:sp>
      <p:sp>
        <p:nvSpPr>
          <p:cNvPr id="196" name="文本框 195">
            <a:extLst>
              <a:ext uri="{FF2B5EF4-FFF2-40B4-BE49-F238E27FC236}">
                <a16:creationId xmlns:a16="http://schemas.microsoft.com/office/drawing/2014/main" id="{B7EF8E1F-6767-0A6F-D8CB-43A5A15FFF3B}"/>
              </a:ext>
            </a:extLst>
          </p:cNvPr>
          <p:cNvSpPr txBox="1"/>
          <p:nvPr/>
        </p:nvSpPr>
        <p:spPr>
          <a:xfrm>
            <a:off x="5598795" y="5398770"/>
            <a:ext cx="943610" cy="30670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400" b="0" i="0" u="none" strike="noStrike" kern="1200" cap="none" spc="0" normalizeH="0" baseline="0" noProof="0">
                <a:ln>
                  <a:noFill/>
                </a:ln>
                <a:solidFill>
                  <a:srgbClr val="FF0000"/>
                </a:solidFill>
                <a:effectLst/>
                <a:uLnTx/>
                <a:uFillTx/>
                <a:latin typeface="微软雅黑" charset="0"/>
                <a:ea typeface="微软雅黑" charset="0"/>
                <a:cs typeface="+mn-cs"/>
              </a:rPr>
              <a:t>原料</a:t>
            </a:r>
            <a:r>
              <a:rPr kumimoji="0" lang="en-US" altLang="zh-CN" sz="1400" b="0" i="0" u="none" strike="noStrike" kern="1200" cap="none" spc="0" normalizeH="0" baseline="0" noProof="0">
                <a:ln>
                  <a:noFill/>
                </a:ln>
                <a:solidFill>
                  <a:srgbClr val="FF0000"/>
                </a:solidFill>
                <a:effectLst/>
                <a:uLnTx/>
                <a:uFillTx/>
                <a:latin typeface="微软雅黑" charset="0"/>
                <a:ea typeface="微软雅黑" charset="0"/>
                <a:cs typeface="+mn-cs"/>
              </a:rPr>
              <a:t>3</a:t>
            </a:r>
          </a:p>
        </p:txBody>
      </p:sp>
      <p:sp>
        <p:nvSpPr>
          <p:cNvPr id="197" name="文本框 196">
            <a:extLst>
              <a:ext uri="{FF2B5EF4-FFF2-40B4-BE49-F238E27FC236}">
                <a16:creationId xmlns:a16="http://schemas.microsoft.com/office/drawing/2014/main" id="{94235C35-7CCC-EDF1-9C3F-525510B24537}"/>
              </a:ext>
            </a:extLst>
          </p:cNvPr>
          <p:cNvSpPr txBox="1"/>
          <p:nvPr/>
        </p:nvSpPr>
        <p:spPr>
          <a:xfrm>
            <a:off x="6206490" y="5308600"/>
            <a:ext cx="943610" cy="30670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400" b="0" i="0" u="none" strike="noStrike" kern="1200" cap="none" spc="0" normalizeH="0" baseline="0" noProof="0">
                <a:ln>
                  <a:noFill/>
                </a:ln>
                <a:solidFill>
                  <a:srgbClr val="FF0000"/>
                </a:solidFill>
                <a:effectLst/>
                <a:uLnTx/>
                <a:uFillTx/>
                <a:latin typeface="微软雅黑" charset="0"/>
                <a:ea typeface="微软雅黑" charset="0"/>
                <a:cs typeface="+mn-cs"/>
              </a:rPr>
              <a:t>原料</a:t>
            </a:r>
            <a:r>
              <a:rPr kumimoji="0" lang="en-US" altLang="zh-CN" sz="1400" b="0" i="0" u="none" strike="noStrike" kern="1200" cap="none" spc="0" normalizeH="0" baseline="0" noProof="0">
                <a:ln>
                  <a:noFill/>
                </a:ln>
                <a:solidFill>
                  <a:srgbClr val="FF0000"/>
                </a:solidFill>
                <a:effectLst/>
                <a:uLnTx/>
                <a:uFillTx/>
                <a:latin typeface="微软雅黑" charset="0"/>
                <a:ea typeface="微软雅黑" charset="0"/>
                <a:cs typeface="+mn-cs"/>
              </a:rPr>
              <a:t>4</a:t>
            </a:r>
          </a:p>
        </p:txBody>
      </p:sp>
      <p:sp>
        <p:nvSpPr>
          <p:cNvPr id="198" name="文本框 197">
            <a:extLst>
              <a:ext uri="{FF2B5EF4-FFF2-40B4-BE49-F238E27FC236}">
                <a16:creationId xmlns:a16="http://schemas.microsoft.com/office/drawing/2014/main" id="{55E9C926-75E2-D31F-547D-018D20CDE7A1}"/>
              </a:ext>
            </a:extLst>
          </p:cNvPr>
          <p:cNvSpPr txBox="1"/>
          <p:nvPr/>
        </p:nvSpPr>
        <p:spPr>
          <a:xfrm rot="19440000">
            <a:off x="4789805" y="4427855"/>
            <a:ext cx="1018540" cy="30670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1" i="0" u="none" strike="noStrike" kern="1200" cap="none" spc="0" normalizeH="0" baseline="0" noProof="0">
                <a:ln>
                  <a:noFill/>
                </a:ln>
                <a:solidFill>
                  <a:prstClr val="black"/>
                </a:solidFill>
                <a:effectLst/>
                <a:uLnTx/>
                <a:uFillTx/>
                <a:latin typeface="微软雅黑" charset="0"/>
                <a:ea typeface="微软雅黑" charset="0"/>
                <a:cs typeface="+mn-cs"/>
              </a:rPr>
              <a:t>路径多样</a:t>
            </a:r>
          </a:p>
        </p:txBody>
      </p:sp>
      <p:sp>
        <p:nvSpPr>
          <p:cNvPr id="199" name="文本框 198">
            <a:extLst>
              <a:ext uri="{FF2B5EF4-FFF2-40B4-BE49-F238E27FC236}">
                <a16:creationId xmlns:a16="http://schemas.microsoft.com/office/drawing/2014/main" id="{7E29AA6F-4188-7D98-16C3-DD907CE9EA00}"/>
              </a:ext>
            </a:extLst>
          </p:cNvPr>
          <p:cNvSpPr txBox="1"/>
          <p:nvPr/>
        </p:nvSpPr>
        <p:spPr>
          <a:xfrm rot="1740000">
            <a:off x="6333490" y="4354195"/>
            <a:ext cx="1018540" cy="30670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1" i="0" u="none" strike="noStrike" kern="1200" cap="none" spc="0" normalizeH="0" baseline="0" noProof="0">
                <a:ln>
                  <a:noFill/>
                </a:ln>
                <a:solidFill>
                  <a:prstClr val="black"/>
                </a:solidFill>
                <a:effectLst/>
                <a:uLnTx/>
                <a:uFillTx/>
                <a:latin typeface="微软雅黑" charset="0"/>
                <a:ea typeface="微软雅黑" charset="0"/>
                <a:cs typeface="+mn-cs"/>
              </a:rPr>
              <a:t>产物复杂</a:t>
            </a:r>
          </a:p>
        </p:txBody>
      </p:sp>
      <p:sp>
        <p:nvSpPr>
          <p:cNvPr id="200" name="文本框 199">
            <a:extLst>
              <a:ext uri="{FF2B5EF4-FFF2-40B4-BE49-F238E27FC236}">
                <a16:creationId xmlns:a16="http://schemas.microsoft.com/office/drawing/2014/main" id="{DA6CE892-D727-1053-FA63-BD21BB5E5C28}"/>
              </a:ext>
            </a:extLst>
          </p:cNvPr>
          <p:cNvSpPr txBox="1"/>
          <p:nvPr/>
        </p:nvSpPr>
        <p:spPr>
          <a:xfrm>
            <a:off x="6518910" y="4792345"/>
            <a:ext cx="943610" cy="306705"/>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1400" b="0" i="0" u="none" strike="noStrike" kern="1200" cap="none" spc="0" normalizeH="0" baseline="0" noProof="0">
                <a:ln>
                  <a:noFill/>
                </a:ln>
                <a:solidFill>
                  <a:srgbClr val="FF0000"/>
                </a:solidFill>
                <a:effectLst/>
                <a:uLnTx/>
                <a:uFillTx/>
                <a:latin typeface="微软雅黑" charset="0"/>
                <a:ea typeface="微软雅黑" charset="0"/>
                <a:cs typeface="+mn-cs"/>
              </a:rPr>
              <a:t>原料</a:t>
            </a:r>
            <a:r>
              <a:rPr kumimoji="0" lang="en-US" altLang="zh-CN" sz="1400" b="0" i="0" u="none" strike="noStrike" kern="1200" cap="none" spc="0" normalizeH="0" baseline="0" noProof="0">
                <a:ln>
                  <a:noFill/>
                </a:ln>
                <a:solidFill>
                  <a:srgbClr val="FF0000"/>
                </a:solidFill>
                <a:effectLst/>
                <a:uLnTx/>
                <a:uFillTx/>
                <a:latin typeface="微软雅黑" charset="0"/>
                <a:ea typeface="微软雅黑" charset="0"/>
                <a:cs typeface="+mn-cs"/>
              </a:rPr>
              <a:t>5</a:t>
            </a:r>
          </a:p>
        </p:txBody>
      </p:sp>
      <p:pic>
        <p:nvPicPr>
          <p:cNvPr id="201" name="图片 200">
            <a:extLst>
              <a:ext uri="{FF2B5EF4-FFF2-40B4-BE49-F238E27FC236}">
                <a16:creationId xmlns:a16="http://schemas.microsoft.com/office/drawing/2014/main" id="{4DAD1144-EB09-CFB8-EF03-BDB91C61A932}"/>
              </a:ext>
            </a:extLst>
          </p:cNvPr>
          <p:cNvPicPr>
            <a:picLocks noChangeAspect="1"/>
          </p:cNvPicPr>
          <p:nvPr>
            <p:custDataLst>
              <p:tags r:id="rId14"/>
            </p:custDataLst>
          </p:nvPr>
        </p:nvPicPr>
        <p:blipFill>
          <a:blip r:embed="rId28"/>
          <a:srcRect l="7609" r="9966"/>
          <a:stretch>
            <a:fillRect/>
          </a:stretch>
        </p:blipFill>
        <p:spPr>
          <a:xfrm>
            <a:off x="9609455" y="4030345"/>
            <a:ext cx="2005330" cy="1664970"/>
          </a:xfrm>
          <a:prstGeom prst="rect">
            <a:avLst/>
          </a:prstGeom>
        </p:spPr>
      </p:pic>
      <p:sp>
        <p:nvSpPr>
          <p:cNvPr id="202" name="文本框 201">
            <a:extLst>
              <a:ext uri="{FF2B5EF4-FFF2-40B4-BE49-F238E27FC236}">
                <a16:creationId xmlns:a16="http://schemas.microsoft.com/office/drawing/2014/main" id="{E0034C6A-A630-4C77-877A-58D165D1558E}"/>
              </a:ext>
            </a:extLst>
          </p:cNvPr>
          <p:cNvSpPr txBox="1"/>
          <p:nvPr/>
        </p:nvSpPr>
        <p:spPr>
          <a:xfrm>
            <a:off x="9792335" y="5314950"/>
            <a:ext cx="943610" cy="276860"/>
          </a:xfrm>
          <a:prstGeom prst="rect">
            <a:avLst/>
          </a:prstGeom>
        </p:spPr>
        <p:style>
          <a:lnRef idx="2">
            <a:schemeClr val="lt1"/>
          </a:lnRef>
          <a:fillRef idx="1">
            <a:schemeClr val="accent1"/>
          </a:fillRef>
          <a:effectRef idx="1">
            <a:schemeClr val="accent1"/>
          </a:effectRef>
          <a:fontRef idx="minor">
            <a:schemeClr val="lt1"/>
          </a:fontRef>
        </p:style>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0" i="0" u="none" strike="noStrike" kern="1200" cap="none" spc="0" normalizeH="0" baseline="0" noProof="0">
                <a:ln>
                  <a:noFill/>
                </a:ln>
                <a:solidFill>
                  <a:prstClr val="white"/>
                </a:solidFill>
                <a:effectLst/>
                <a:uLnTx/>
                <a:uFillTx/>
                <a:latin typeface="微软雅黑" charset="0"/>
                <a:ea typeface="微软雅黑" charset="0"/>
                <a:cs typeface="+mn-cs"/>
              </a:rPr>
              <a:t>化学知识</a:t>
            </a:r>
          </a:p>
        </p:txBody>
      </p:sp>
      <p:sp>
        <p:nvSpPr>
          <p:cNvPr id="203" name="文本框 202">
            <a:extLst>
              <a:ext uri="{FF2B5EF4-FFF2-40B4-BE49-F238E27FC236}">
                <a16:creationId xmlns:a16="http://schemas.microsoft.com/office/drawing/2014/main" id="{AED15CE7-B8EA-CFC3-EF31-214A1D4CBDC9}"/>
              </a:ext>
            </a:extLst>
          </p:cNvPr>
          <p:cNvSpPr txBox="1"/>
          <p:nvPr/>
        </p:nvSpPr>
        <p:spPr>
          <a:xfrm>
            <a:off x="10914380" y="4352925"/>
            <a:ext cx="562610" cy="276860"/>
          </a:xfrm>
          <a:prstGeom prst="rect">
            <a:avLst/>
          </a:prstGeom>
        </p:spPr>
        <p:style>
          <a:lnRef idx="2">
            <a:schemeClr val="lt1"/>
          </a:lnRef>
          <a:fillRef idx="1">
            <a:schemeClr val="accent1"/>
          </a:fillRef>
          <a:effectRef idx="1">
            <a:schemeClr val="accent1"/>
          </a:effectRef>
          <a:fontRef idx="minor">
            <a:schemeClr val="lt1"/>
          </a:fontRef>
        </p:style>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0" i="0" u="none" strike="noStrike" kern="1200" cap="none" spc="0" normalizeH="0" baseline="0" noProof="0">
                <a:ln>
                  <a:noFill/>
                </a:ln>
                <a:solidFill>
                  <a:prstClr val="white"/>
                </a:solidFill>
                <a:effectLst/>
                <a:uLnTx/>
                <a:uFillTx/>
                <a:latin typeface="微软雅黑" charset="0"/>
                <a:ea typeface="微软雅黑" charset="0"/>
                <a:cs typeface="+mn-cs"/>
              </a:rPr>
              <a:t>专家</a:t>
            </a:r>
          </a:p>
        </p:txBody>
      </p:sp>
      <p:grpSp>
        <p:nvGrpSpPr>
          <p:cNvPr id="204" name="组合 203">
            <a:extLst>
              <a:ext uri="{FF2B5EF4-FFF2-40B4-BE49-F238E27FC236}">
                <a16:creationId xmlns:a16="http://schemas.microsoft.com/office/drawing/2014/main" id="{F231C089-1FCD-33D9-988C-1776F6F57E5F}"/>
              </a:ext>
            </a:extLst>
          </p:cNvPr>
          <p:cNvGrpSpPr/>
          <p:nvPr/>
        </p:nvGrpSpPr>
        <p:grpSpPr>
          <a:xfrm>
            <a:off x="10357830" y="4382837"/>
            <a:ext cx="586105" cy="521935"/>
            <a:chOff x="16470" y="6371"/>
            <a:chExt cx="548" cy="488"/>
          </a:xfrm>
        </p:grpSpPr>
        <p:sp>
          <p:nvSpPr>
            <p:cNvPr id="205" name="椭圆 204">
              <a:extLst>
                <a:ext uri="{FF2B5EF4-FFF2-40B4-BE49-F238E27FC236}">
                  <a16:creationId xmlns:a16="http://schemas.microsoft.com/office/drawing/2014/main" id="{7BE432CF-E56B-C8FA-A43A-7E631A6B864F}"/>
                </a:ext>
              </a:extLst>
            </p:cNvPr>
            <p:cNvSpPr/>
            <p:nvPr/>
          </p:nvSpPr>
          <p:spPr>
            <a:xfrm>
              <a:off x="16500" y="6375"/>
              <a:ext cx="438" cy="438"/>
            </a:xfrm>
            <a:prstGeom prst="ellipse">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06" name="文本框 205">
              <a:extLst>
                <a:ext uri="{FF2B5EF4-FFF2-40B4-BE49-F238E27FC236}">
                  <a16:creationId xmlns:a16="http://schemas.microsoft.com/office/drawing/2014/main" id="{4B77476A-D1F7-071C-FFF8-70BCBBB0FEEC}"/>
                </a:ext>
              </a:extLst>
            </p:cNvPr>
            <p:cNvSpPr txBox="1"/>
            <p:nvPr/>
          </p:nvSpPr>
          <p:spPr>
            <a:xfrm>
              <a:off x="16470" y="6371"/>
              <a:ext cx="548" cy="488"/>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600"/>
                </a:spcBef>
                <a:spcAft>
                  <a:spcPts val="0"/>
                </a:spcAft>
                <a:buClrTx/>
                <a:buSzTx/>
                <a:buFont typeface="Wingdings" panose="05000000000000000000" charset="0"/>
                <a:buNone/>
                <a:tabLst/>
                <a:defRPr/>
              </a:pPr>
              <a:r>
                <a:rPr kumimoji="0" lang="zh-CN" altLang="en-US" sz="2800" b="1" i="0" u="none" strike="noStrike" kern="1200" cap="none" spc="0" normalizeH="0" baseline="0" noProof="0" dirty="0">
                  <a:ln>
                    <a:noFill/>
                  </a:ln>
                  <a:solidFill>
                    <a:srgbClr val="C00000"/>
                  </a:solidFill>
                  <a:effectLst/>
                  <a:uLnTx/>
                  <a:uFillTx/>
                  <a:latin typeface="微软雅黑" charset="0"/>
                  <a:ea typeface="微软雅黑" charset="0"/>
                  <a:cs typeface="+mn-cs"/>
                </a:rPr>
                <a:t>？</a:t>
              </a:r>
            </a:p>
          </p:txBody>
        </p:sp>
      </p:grpSp>
      <p:cxnSp>
        <p:nvCxnSpPr>
          <p:cNvPr id="207" name="曲线连接符 81">
            <a:extLst>
              <a:ext uri="{FF2B5EF4-FFF2-40B4-BE49-F238E27FC236}">
                <a16:creationId xmlns:a16="http://schemas.microsoft.com/office/drawing/2014/main" id="{459C0BE9-A65A-6959-882B-79708E1D8CEA}"/>
              </a:ext>
            </a:extLst>
          </p:cNvPr>
          <p:cNvCxnSpPr>
            <a:stCxn id="203" idx="0"/>
            <a:endCxn id="211" idx="0"/>
          </p:cNvCxnSpPr>
          <p:nvPr/>
        </p:nvCxnSpPr>
        <p:spPr>
          <a:xfrm rot="16200000" flipV="1">
            <a:off x="10360025" y="3517265"/>
            <a:ext cx="309245" cy="1361440"/>
          </a:xfrm>
          <a:prstGeom prst="curvedConnector3">
            <a:avLst>
              <a:gd name="adj1" fmla="val 130492"/>
            </a:avLst>
          </a:prstGeom>
          <a:ln w="38100">
            <a:solidFill>
              <a:srgbClr val="C00000"/>
            </a:solidFill>
            <a:tailEnd type="triangle"/>
          </a:ln>
        </p:spPr>
        <p:style>
          <a:lnRef idx="2">
            <a:schemeClr val="accent1"/>
          </a:lnRef>
          <a:fillRef idx="0">
            <a:srgbClr val="FFFFFF"/>
          </a:fillRef>
          <a:effectRef idx="0">
            <a:srgbClr val="FFFFFF"/>
          </a:effectRef>
          <a:fontRef idx="minor">
            <a:schemeClr val="tx1"/>
          </a:fontRef>
        </p:style>
      </p:cxnSp>
      <p:cxnSp>
        <p:nvCxnSpPr>
          <p:cNvPr id="208" name="曲线连接符 82">
            <a:extLst>
              <a:ext uri="{FF2B5EF4-FFF2-40B4-BE49-F238E27FC236}">
                <a16:creationId xmlns:a16="http://schemas.microsoft.com/office/drawing/2014/main" id="{CDEB9165-15B9-4BBC-8CE1-D5F5C493F33D}"/>
              </a:ext>
            </a:extLst>
          </p:cNvPr>
          <p:cNvCxnSpPr>
            <a:stCxn id="202" idx="1"/>
          </p:cNvCxnSpPr>
          <p:nvPr/>
        </p:nvCxnSpPr>
        <p:spPr>
          <a:xfrm rot="10800000">
            <a:off x="9692640" y="4361815"/>
            <a:ext cx="99695" cy="1091565"/>
          </a:xfrm>
          <a:prstGeom prst="curvedConnector3">
            <a:avLst>
              <a:gd name="adj1" fmla="val 338854"/>
            </a:avLst>
          </a:prstGeom>
          <a:ln w="38100">
            <a:solidFill>
              <a:srgbClr val="C00000"/>
            </a:solidFill>
            <a:tailEnd type="triangle"/>
          </a:ln>
        </p:spPr>
        <p:style>
          <a:lnRef idx="2">
            <a:schemeClr val="accent1"/>
          </a:lnRef>
          <a:fillRef idx="0">
            <a:srgbClr val="FFFFFF"/>
          </a:fillRef>
          <a:effectRef idx="0">
            <a:srgbClr val="FFFFFF"/>
          </a:effectRef>
          <a:fontRef idx="minor">
            <a:schemeClr val="tx1"/>
          </a:fontRef>
        </p:style>
      </p:cxnSp>
      <p:sp>
        <p:nvSpPr>
          <p:cNvPr id="209" name="文本框 208">
            <a:extLst>
              <a:ext uri="{FF2B5EF4-FFF2-40B4-BE49-F238E27FC236}">
                <a16:creationId xmlns:a16="http://schemas.microsoft.com/office/drawing/2014/main" id="{34984CD7-8C7F-02B7-4934-CBABD7CE912E}"/>
              </a:ext>
            </a:extLst>
          </p:cNvPr>
          <p:cNvSpPr txBox="1"/>
          <p:nvPr/>
        </p:nvSpPr>
        <p:spPr>
          <a:xfrm rot="600000">
            <a:off x="10235565" y="3879850"/>
            <a:ext cx="784860" cy="276860"/>
          </a:xfrm>
          <a:prstGeom prst="roundRect">
            <a:avLst/>
          </a:prstGeom>
          <a:solidFill>
            <a:schemeClr val="bg1"/>
          </a:solidFill>
          <a:ln w="15875">
            <a:solidFill>
              <a:schemeClr val="tx1"/>
            </a:solidFill>
          </a:ln>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1" i="0" u="none" strike="noStrike" kern="1200" cap="none" spc="0" normalizeH="0" baseline="0" noProof="0">
                <a:ln>
                  <a:noFill/>
                </a:ln>
                <a:solidFill>
                  <a:prstClr val="black"/>
                </a:solidFill>
                <a:effectLst/>
                <a:uLnTx/>
                <a:uFillTx/>
                <a:latin typeface="微软雅黑" charset="0"/>
                <a:ea typeface="微软雅黑" charset="0"/>
                <a:cs typeface="+mn-cs"/>
              </a:rPr>
              <a:t>指导难</a:t>
            </a:r>
          </a:p>
        </p:txBody>
      </p:sp>
      <p:sp>
        <p:nvSpPr>
          <p:cNvPr id="210" name="文本框 209">
            <a:extLst>
              <a:ext uri="{FF2B5EF4-FFF2-40B4-BE49-F238E27FC236}">
                <a16:creationId xmlns:a16="http://schemas.microsoft.com/office/drawing/2014/main" id="{C9D4D1CF-1E28-7EF8-9C8F-7586B9E9382C}"/>
              </a:ext>
            </a:extLst>
          </p:cNvPr>
          <p:cNvSpPr txBox="1"/>
          <p:nvPr/>
        </p:nvSpPr>
        <p:spPr>
          <a:xfrm>
            <a:off x="9357360" y="4583430"/>
            <a:ext cx="287655" cy="718185"/>
          </a:xfrm>
          <a:prstGeom prst="roundRect">
            <a:avLst/>
          </a:prstGeom>
          <a:solidFill>
            <a:schemeClr val="bg1"/>
          </a:solidFill>
          <a:ln w="15875">
            <a:solidFill>
              <a:schemeClr val="tx1"/>
            </a:solidFill>
          </a:ln>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1" i="0" u="none" strike="noStrike" kern="1200" cap="none" spc="0" normalizeH="0" baseline="0" noProof="0">
                <a:ln>
                  <a:noFill/>
                </a:ln>
                <a:solidFill>
                  <a:prstClr val="black"/>
                </a:solidFill>
                <a:effectLst/>
                <a:uLnTx/>
                <a:uFillTx/>
                <a:latin typeface="微软雅黑" charset="0"/>
                <a:ea typeface="微软雅黑" charset="0"/>
                <a:cs typeface="+mn-cs"/>
              </a:rPr>
              <a:t>注入难</a:t>
            </a:r>
          </a:p>
        </p:txBody>
      </p:sp>
      <p:sp>
        <p:nvSpPr>
          <p:cNvPr id="211" name="文本框 210">
            <a:extLst>
              <a:ext uri="{FF2B5EF4-FFF2-40B4-BE49-F238E27FC236}">
                <a16:creationId xmlns:a16="http://schemas.microsoft.com/office/drawing/2014/main" id="{5251442B-D71A-BFDB-AB74-77D9B7A917E4}"/>
              </a:ext>
            </a:extLst>
          </p:cNvPr>
          <p:cNvSpPr txBox="1"/>
          <p:nvPr/>
        </p:nvSpPr>
        <p:spPr>
          <a:xfrm>
            <a:off x="9692640" y="4043680"/>
            <a:ext cx="282575" cy="915035"/>
          </a:xfrm>
          <a:prstGeom prst="rect">
            <a:avLst/>
          </a:prstGeom>
        </p:spPr>
        <p:style>
          <a:lnRef idx="2">
            <a:schemeClr val="lt1"/>
          </a:lnRef>
          <a:fillRef idx="1">
            <a:schemeClr val="accent1"/>
          </a:fillRef>
          <a:effectRef idx="1">
            <a:schemeClr val="accent1"/>
          </a:effectRef>
          <a:fontRef idx="minor">
            <a:schemeClr val="lt1"/>
          </a:fontRef>
        </p:style>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0" i="0" u="none" strike="noStrike" kern="1200" cap="none" spc="0" normalizeH="0" baseline="0" noProof="0">
                <a:ln>
                  <a:noFill/>
                </a:ln>
                <a:solidFill>
                  <a:prstClr val="white"/>
                </a:solidFill>
                <a:effectLst/>
                <a:uLnTx/>
                <a:uFillTx/>
                <a:latin typeface="微软雅黑" charset="0"/>
                <a:ea typeface="微软雅黑" charset="0"/>
                <a:cs typeface="+mn-cs"/>
              </a:rPr>
              <a:t>基础模</a:t>
            </a:r>
          </a:p>
          <a:p>
            <a:pPr marL="0" marR="0" lvl="0" indent="0" algn="ctr" defTabSz="914400" rtl="0" eaLnBrk="1" fontAlgn="auto" latinLnBrk="0" hangingPunct="1">
              <a:lnSpc>
                <a:spcPct val="100000"/>
              </a:lnSpc>
              <a:spcBef>
                <a:spcPts val="0"/>
              </a:spcBef>
              <a:spcAft>
                <a:spcPts val="0"/>
              </a:spcAft>
              <a:buClrTx/>
              <a:buSzTx/>
              <a:buFont typeface="Wingdings" panose="05000000000000000000" charset="0"/>
              <a:buNone/>
              <a:tabLst/>
              <a:defRPr/>
            </a:pPr>
            <a:r>
              <a:rPr kumimoji="0" lang="zh-CN" altLang="en-US" sz="1400" b="0" i="0" u="none" strike="noStrike" kern="1200" cap="none" spc="0" normalizeH="0" baseline="0" noProof="0">
                <a:ln>
                  <a:noFill/>
                </a:ln>
                <a:solidFill>
                  <a:prstClr val="white"/>
                </a:solidFill>
                <a:effectLst/>
                <a:uLnTx/>
                <a:uFillTx/>
                <a:latin typeface="微软雅黑" charset="0"/>
                <a:ea typeface="微软雅黑" charset="0"/>
                <a:cs typeface="+mn-cs"/>
              </a:rPr>
              <a:t>型</a:t>
            </a:r>
          </a:p>
        </p:txBody>
      </p:sp>
      <p:pic>
        <p:nvPicPr>
          <p:cNvPr id="3" name="Graphic 5">
            <a:extLst>
              <a:ext uri="{FF2B5EF4-FFF2-40B4-BE49-F238E27FC236}">
                <a16:creationId xmlns:a16="http://schemas.microsoft.com/office/drawing/2014/main" id="{1A0B90C5-6F6C-0540-9204-4BFD7C7F5B9F}"/>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l="6226" t="13310" r="8094" b="10241"/>
          <a:stretch/>
        </p:blipFill>
        <p:spPr>
          <a:xfrm>
            <a:off x="6039167" y="179979"/>
            <a:ext cx="1835308" cy="594813"/>
          </a:xfrm>
          <a:prstGeom prst="rect">
            <a:avLst/>
          </a:prstGeom>
        </p:spPr>
      </p:pic>
      <p:pic>
        <p:nvPicPr>
          <p:cNvPr id="4" name="图片 10" descr="武汉大学logo-02">
            <a:extLst>
              <a:ext uri="{FF2B5EF4-FFF2-40B4-BE49-F238E27FC236}">
                <a16:creationId xmlns:a16="http://schemas.microsoft.com/office/drawing/2014/main" id="{47BBF632-C303-282C-164C-975BCA89F25C}"/>
              </a:ext>
            </a:extLst>
          </p:cNvPr>
          <p:cNvPicPr>
            <a:picLocks noChangeAspect="1"/>
          </p:cNvPicPr>
          <p:nvPr/>
        </p:nvPicPr>
        <p:blipFill>
          <a:blip r:embed="rId31"/>
          <a:stretch>
            <a:fillRect/>
          </a:stretch>
        </p:blipFill>
        <p:spPr>
          <a:xfrm>
            <a:off x="8030845" y="95351"/>
            <a:ext cx="2045273" cy="763686"/>
          </a:xfrm>
          <a:prstGeom prst="rect">
            <a:avLst/>
          </a:prstGeom>
        </p:spPr>
      </p:pic>
      <p:pic>
        <p:nvPicPr>
          <p:cNvPr id="5" name="Picture 2">
            <a:extLst>
              <a:ext uri="{FF2B5EF4-FFF2-40B4-BE49-F238E27FC236}">
                <a16:creationId xmlns:a16="http://schemas.microsoft.com/office/drawing/2014/main" id="{561FB518-3C84-FB40-E326-9E0470E33E5D}"/>
              </a:ext>
            </a:extLst>
          </p:cNvPr>
          <p:cNvPicPr>
            <a:picLocks noChangeAspect="1" noChangeArrowheads="1"/>
          </p:cNvPicPr>
          <p:nvPr/>
        </p:nvPicPr>
        <p:blipFill>
          <a:blip r:embed="rId32" cstate="print">
            <a:extLst>
              <a:ext uri="{28A0092B-C50C-407E-A947-70E740481C1C}">
                <a14:useLocalDpi xmlns:a14="http://schemas.microsoft.com/office/drawing/2010/main" val="0"/>
              </a:ext>
            </a:extLst>
          </a:blip>
          <a:srcRect/>
          <a:stretch>
            <a:fillRect/>
          </a:stretch>
        </p:blipFill>
        <p:spPr bwMode="auto">
          <a:xfrm>
            <a:off x="10100248" y="108547"/>
            <a:ext cx="1820671" cy="623011"/>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1">
            <a:extLst>
              <a:ext uri="{FF2B5EF4-FFF2-40B4-BE49-F238E27FC236}">
                <a16:creationId xmlns:a16="http://schemas.microsoft.com/office/drawing/2014/main" id="{10E462D3-69D8-D3FC-22C6-DF7ADC7D036D}"/>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20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62B6538A-33AE-45EB-868C-14B9E34ED961}" type="slidenum">
              <a:rPr lang="zh-CN" altLang="en-US" sz="1200" smtClean="0">
                <a:solidFill>
                  <a:prstClr val="black">
                    <a:tint val="75000"/>
                  </a:prstClr>
                </a:solidFill>
                <a:latin typeface="Calibri" panose="020F0502020204030204"/>
                <a:ea typeface="宋体" panose="02010600030101010101" pitchFamily="2" charset="-122"/>
              </a:rPr>
              <a:pPr>
                <a:defRPr/>
              </a:pPr>
              <a:t>14</a:t>
            </a:fld>
            <a:endParaRPr lang="zh-CN" altLang="en-US" sz="1200">
              <a:solidFill>
                <a:prstClr val="black">
                  <a:tint val="75000"/>
                </a:prstClr>
              </a:solidFill>
              <a:latin typeface="Calibri" panose="020F0502020204030204"/>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432955" y="129715"/>
            <a:ext cx="133473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国家科技创新</a:t>
            </a:r>
            <a:r>
              <a:rPr kumimoji="0" lang="en-US" altLang="zh-CN"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2030</a:t>
            </a: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重大项目课题：</a:t>
            </a:r>
            <a:endParaRPr kumimoji="0" lang="en-US" altLang="zh-CN"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数据知识双驱的合成逆合成全流程求解优化架构</a:t>
            </a:r>
          </a:p>
        </p:txBody>
      </p:sp>
      <p:sp>
        <p:nvSpPr>
          <p:cNvPr id="2" name="任意多边形: 形状 1">
            <a:extLst>
              <a:ext uri="{FF2B5EF4-FFF2-40B4-BE49-F238E27FC236}">
                <a16:creationId xmlns:a16="http://schemas.microsoft.com/office/drawing/2014/main" id="{E8CDBE03-7082-2DE0-EC45-82FB1E313151}"/>
              </a:ext>
            </a:extLst>
          </p:cNvPr>
          <p:cNvSpPr/>
          <p:nvPr/>
        </p:nvSpPr>
        <p:spPr>
          <a:xfrm>
            <a:off x="432954" y="845751"/>
            <a:ext cx="11426658" cy="108000"/>
          </a:xfrm>
          <a:custGeom>
            <a:avLst/>
            <a:gdLst>
              <a:gd name="connsiteX0" fmla="*/ 2 w 11426658"/>
              <a:gd name="connsiteY0" fmla="*/ 0 h 108000"/>
              <a:gd name="connsiteX1" fmla="*/ 2164018 w 11426658"/>
              <a:gd name="connsiteY1" fmla="*/ 0 h 108000"/>
              <a:gd name="connsiteX2" fmla="*/ 2228214 w 11426658"/>
              <a:gd name="connsiteY2" fmla="*/ 55065 h 108000"/>
              <a:gd name="connsiteX3" fmla="*/ 11426658 w 11426658"/>
              <a:gd name="connsiteY3" fmla="*/ 55065 h 108000"/>
              <a:gd name="connsiteX4" fmla="*/ 11426658 w 11426658"/>
              <a:gd name="connsiteY4" fmla="*/ 108000 h 108000"/>
              <a:gd name="connsiteX5" fmla="*/ 2289926 w 11426658"/>
              <a:gd name="connsiteY5" fmla="*/ 108000 h 108000"/>
              <a:gd name="connsiteX6" fmla="*/ 2 w 11426658"/>
              <a:gd name="connsiteY6" fmla="*/ 108000 h 108000"/>
              <a:gd name="connsiteX7" fmla="*/ 0 w 11426658"/>
              <a:gd name="connsiteY7" fmla="*/ 108000 h 108000"/>
              <a:gd name="connsiteX8" fmla="*/ 0 w 11426658"/>
              <a:gd name="connsiteY8" fmla="*/ 55065 h 108000"/>
              <a:gd name="connsiteX9" fmla="*/ 2 w 11426658"/>
              <a:gd name="connsiteY9" fmla="*/ 55065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26658" h="108000">
                <a:moveTo>
                  <a:pt x="2" y="0"/>
                </a:moveTo>
                <a:lnTo>
                  <a:pt x="2164018" y="0"/>
                </a:lnTo>
                <a:lnTo>
                  <a:pt x="2228214" y="55065"/>
                </a:lnTo>
                <a:lnTo>
                  <a:pt x="11426658" y="55065"/>
                </a:lnTo>
                <a:lnTo>
                  <a:pt x="11426658" y="108000"/>
                </a:lnTo>
                <a:lnTo>
                  <a:pt x="2289926" y="108000"/>
                </a:lnTo>
                <a:lnTo>
                  <a:pt x="2" y="108000"/>
                </a:lnTo>
                <a:lnTo>
                  <a:pt x="0" y="108000"/>
                </a:lnTo>
                <a:lnTo>
                  <a:pt x="0" y="55065"/>
                </a:lnTo>
                <a:lnTo>
                  <a:pt x="2" y="55065"/>
                </a:lnTo>
                <a:close/>
              </a:path>
            </a:pathLst>
          </a:custGeom>
          <a:gradFill>
            <a:gsLst>
              <a:gs pos="0">
                <a:srgbClr val="003DA6"/>
              </a:gs>
              <a:gs pos="20000">
                <a:srgbClr val="009BD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white"/>
              </a:solidFill>
              <a:effectLst/>
              <a:uLnTx/>
              <a:uFillTx/>
              <a:latin typeface="Calibri" panose="020F0502020204030204" pitchFamily="34" charset="0"/>
              <a:ea typeface="黑体" panose="02010609060101010101" pitchFamily="49" charset="-122"/>
              <a:cs typeface="Calibri" panose="020F0502020204030204" pitchFamily="34" charset="0"/>
            </a:endParaRPr>
          </a:p>
        </p:txBody>
      </p:sp>
      <p:sp>
        <p:nvSpPr>
          <p:cNvPr id="11" name="矩形: 圆角 114"/>
          <p:cNvSpPr/>
          <p:nvPr>
            <p:custDataLst>
              <p:tags r:id="rId1"/>
            </p:custDataLst>
          </p:nvPr>
        </p:nvSpPr>
        <p:spPr>
          <a:xfrm>
            <a:off x="9358347" y="1874137"/>
            <a:ext cx="2501265" cy="4332605"/>
          </a:xfrm>
          <a:prstGeom prst="roundRect">
            <a:avLst>
              <a:gd name="adj" fmla="val 4906"/>
            </a:avLst>
          </a:prstGeom>
          <a:noFill/>
          <a:ln w="9525"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800" b="1"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12" name="矩形: 圆角 115"/>
          <p:cNvSpPr/>
          <p:nvPr/>
        </p:nvSpPr>
        <p:spPr>
          <a:xfrm>
            <a:off x="3814929" y="1874137"/>
            <a:ext cx="5338445" cy="4332605"/>
          </a:xfrm>
          <a:prstGeom prst="roundRect">
            <a:avLst>
              <a:gd name="adj" fmla="val 2492"/>
            </a:avLst>
          </a:prstGeom>
          <a:solidFill>
            <a:sysClr val="window" lastClr="FFFFFF"/>
          </a:solidFill>
          <a:ln w="19050" cap="flat" cmpd="sng" algn="ctr">
            <a:solidFill>
              <a:srgbClr val="4472C4"/>
            </a:solidFill>
            <a:prstDash val="solid"/>
            <a:miter lim="800000"/>
          </a:ln>
          <a:effectLst>
            <a:outerShdw blurRad="63500" sx="101000" sy="101000" algn="ctr" rotWithShape="0">
              <a:srgbClr val="4472C4">
                <a:alpha val="4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14" name="矩形: 圆角 154"/>
          <p:cNvSpPr/>
          <p:nvPr>
            <p:custDataLst>
              <p:tags r:id="rId2"/>
            </p:custDataLst>
          </p:nvPr>
        </p:nvSpPr>
        <p:spPr>
          <a:xfrm>
            <a:off x="3879567" y="4776511"/>
            <a:ext cx="5194935" cy="1321435"/>
          </a:xfrm>
          <a:prstGeom prst="roundRect">
            <a:avLst>
              <a:gd name="adj" fmla="val 10640"/>
            </a:avLst>
          </a:prstGeom>
          <a:solidFill>
            <a:schemeClr val="accent1">
              <a:lumMod val="20000"/>
              <a:lumOff val="80000"/>
              <a:alpha val="60000"/>
            </a:schemeClr>
          </a:solidFill>
          <a:ln w="12700" cap="flat" cmpd="sng" algn="ctr">
            <a:solidFill>
              <a:schemeClr val="accent1"/>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sp>
        <p:nvSpPr>
          <p:cNvPr id="15" name="矩形: 圆角 119"/>
          <p:cNvSpPr/>
          <p:nvPr/>
        </p:nvSpPr>
        <p:spPr>
          <a:xfrm>
            <a:off x="245462" y="1872867"/>
            <a:ext cx="3333115" cy="4332605"/>
          </a:xfrm>
          <a:prstGeom prst="roundRect">
            <a:avLst>
              <a:gd name="adj" fmla="val 2765"/>
            </a:avLst>
          </a:prstGeom>
          <a:solidFill>
            <a:schemeClr val="accent4">
              <a:alpha val="9352"/>
            </a:schemeClr>
          </a:solidFill>
          <a:ln w="9525" cap="flat" cmpd="sng" algn="ctr">
            <a:solidFill>
              <a:schemeClr val="accent2"/>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rPr>
              <a:t>协作态（层</a:t>
            </a:r>
            <a:r>
              <a:rPr kumimoji="0" lang="en-US" altLang="zh-CN" sz="1800" b="1"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rPr>
              <a:t>)</a:t>
            </a:r>
            <a:endParaRPr kumimoji="0" lang="en-US" altLang="zh-CN" sz="1800" b="1"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16" name="矩形: 圆角 154"/>
          <p:cNvSpPr/>
          <p:nvPr>
            <p:custDataLst>
              <p:tags r:id="rId3"/>
            </p:custDataLst>
          </p:nvPr>
        </p:nvSpPr>
        <p:spPr>
          <a:xfrm>
            <a:off x="3879567" y="3388612"/>
            <a:ext cx="5205730" cy="1321435"/>
          </a:xfrm>
          <a:prstGeom prst="roundRect">
            <a:avLst>
              <a:gd name="adj" fmla="val 10640"/>
            </a:avLst>
          </a:prstGeom>
          <a:solidFill>
            <a:schemeClr val="accent1">
              <a:lumMod val="20000"/>
              <a:lumOff val="80000"/>
              <a:alpha val="60000"/>
            </a:schemeClr>
          </a:solidFill>
          <a:ln w="12700" cap="flat" cmpd="sng" algn="ctr">
            <a:solidFill>
              <a:schemeClr val="accent1"/>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sp>
        <p:nvSpPr>
          <p:cNvPr id="17" name="矩形 120"/>
          <p:cNvSpPr/>
          <p:nvPr/>
        </p:nvSpPr>
        <p:spPr>
          <a:xfrm>
            <a:off x="244136" y="1431202"/>
            <a:ext cx="3333116"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Calibri" panose="020F0502020204030204" charset="0"/>
              </a:rPr>
              <a:t>现状</a:t>
            </a:r>
            <a:endParaRPr kumimoji="0"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19" name="矩形 121"/>
          <p:cNvSpPr/>
          <p:nvPr/>
        </p:nvSpPr>
        <p:spPr>
          <a:xfrm>
            <a:off x="9355171" y="1431847"/>
            <a:ext cx="2501265" cy="46037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Calibri" panose="020F0502020204030204" charset="0"/>
              </a:rPr>
              <a:t>研究目标</a:t>
            </a:r>
            <a:endParaRPr kumimoji="0" lang="zh-CN" altLang="en-US" sz="2400" b="0"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20" name="矩形: 圆角 134"/>
          <p:cNvSpPr/>
          <p:nvPr/>
        </p:nvSpPr>
        <p:spPr>
          <a:xfrm>
            <a:off x="287372" y="2112549"/>
            <a:ext cx="3252470" cy="1145887"/>
          </a:xfrm>
          <a:prstGeom prst="roundRect">
            <a:avLst>
              <a:gd name="adj" fmla="val 12724"/>
            </a:avLst>
          </a:prstGeom>
          <a:solidFill>
            <a:schemeClr val="bg1"/>
          </a:solidFill>
          <a:ln w="12700" cap="flat" cmpd="sng" algn="ctr">
            <a:solidFill>
              <a:schemeClr val="accent2"/>
            </a:solid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22" name="矩形: 圆角 135"/>
          <p:cNvSpPr/>
          <p:nvPr/>
        </p:nvSpPr>
        <p:spPr>
          <a:xfrm>
            <a:off x="287372" y="3468586"/>
            <a:ext cx="3252470" cy="1150687"/>
          </a:xfrm>
          <a:prstGeom prst="roundRect">
            <a:avLst>
              <a:gd name="adj" fmla="val 12368"/>
            </a:avLst>
          </a:prstGeom>
          <a:solidFill>
            <a:schemeClr val="bg1"/>
          </a:solidFill>
          <a:ln w="12700" cap="flat" cmpd="sng" algn="ctr">
            <a:solidFill>
              <a:schemeClr val="accent2"/>
            </a:solid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23" name="矩形: 圆角 136"/>
          <p:cNvSpPr/>
          <p:nvPr/>
        </p:nvSpPr>
        <p:spPr>
          <a:xfrm>
            <a:off x="287372" y="4854191"/>
            <a:ext cx="3251835" cy="1145223"/>
          </a:xfrm>
          <a:prstGeom prst="roundRect">
            <a:avLst>
              <a:gd name="adj" fmla="val 10464"/>
            </a:avLst>
          </a:prstGeom>
          <a:solidFill>
            <a:schemeClr val="bg1"/>
          </a:solidFill>
          <a:ln w="12700" cap="flat" cmpd="sng" algn="ctr">
            <a:solidFill>
              <a:schemeClr val="accent2"/>
            </a:solid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600" b="0"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24" name="矩形: 圆角 154"/>
          <p:cNvSpPr/>
          <p:nvPr/>
        </p:nvSpPr>
        <p:spPr>
          <a:xfrm>
            <a:off x="3879567" y="2010662"/>
            <a:ext cx="5194300" cy="1321435"/>
          </a:xfrm>
          <a:prstGeom prst="roundRect">
            <a:avLst>
              <a:gd name="adj" fmla="val 10640"/>
            </a:avLst>
          </a:prstGeom>
          <a:solidFill>
            <a:schemeClr val="accent1">
              <a:lumMod val="20000"/>
              <a:lumOff val="80000"/>
              <a:alpha val="60000"/>
            </a:schemeClr>
          </a:solidFill>
          <a:ln w="12700" cap="flat" cmpd="sng" algn="ctr">
            <a:solidFill>
              <a:schemeClr val="accent1"/>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sp>
        <p:nvSpPr>
          <p:cNvPr id="25" name="矩形 155"/>
          <p:cNvSpPr/>
          <p:nvPr/>
        </p:nvSpPr>
        <p:spPr>
          <a:xfrm>
            <a:off x="3814929" y="1431202"/>
            <a:ext cx="5338445"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主要研究内容</a:t>
            </a:r>
          </a:p>
        </p:txBody>
      </p:sp>
      <p:sp>
        <p:nvSpPr>
          <p:cNvPr id="31" name="箭头: 右 116"/>
          <p:cNvSpPr/>
          <p:nvPr/>
        </p:nvSpPr>
        <p:spPr>
          <a:xfrm>
            <a:off x="3595405" y="2450720"/>
            <a:ext cx="205105" cy="502920"/>
          </a:xfrm>
          <a:prstGeom prst="rightArrow">
            <a:avLst/>
          </a:prstGeom>
          <a:gradFill>
            <a:gsLst>
              <a:gs pos="0">
                <a:srgbClr val="4472C4">
                  <a:lumMod val="20000"/>
                  <a:lumOff val="80000"/>
                </a:srgbClr>
              </a:gs>
              <a:gs pos="99000">
                <a:srgbClr val="4472C4">
                  <a:lumMod val="60000"/>
                  <a:lumOff val="40000"/>
                </a:srgbClr>
              </a:gs>
            </a:gsLst>
            <a:lin ang="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54" name="箭头: 右 116"/>
          <p:cNvSpPr/>
          <p:nvPr>
            <p:custDataLst>
              <p:tags r:id="rId4"/>
            </p:custDataLst>
          </p:nvPr>
        </p:nvSpPr>
        <p:spPr>
          <a:xfrm>
            <a:off x="3595405" y="3797554"/>
            <a:ext cx="205105" cy="502920"/>
          </a:xfrm>
          <a:prstGeom prst="rightArrow">
            <a:avLst/>
          </a:prstGeom>
          <a:gradFill>
            <a:gsLst>
              <a:gs pos="0">
                <a:srgbClr val="4472C4">
                  <a:lumMod val="20000"/>
                  <a:lumOff val="80000"/>
                </a:srgbClr>
              </a:gs>
              <a:gs pos="99000">
                <a:srgbClr val="4472C4">
                  <a:lumMod val="60000"/>
                  <a:lumOff val="40000"/>
                </a:srgbClr>
              </a:gs>
            </a:gsLst>
            <a:lin ang="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55" name="箭头: 右 116"/>
          <p:cNvSpPr/>
          <p:nvPr>
            <p:custDataLst>
              <p:tags r:id="rId5"/>
            </p:custDataLst>
          </p:nvPr>
        </p:nvSpPr>
        <p:spPr>
          <a:xfrm>
            <a:off x="3595405" y="5184819"/>
            <a:ext cx="205105" cy="502920"/>
          </a:xfrm>
          <a:prstGeom prst="rightArrow">
            <a:avLst/>
          </a:prstGeom>
          <a:gradFill>
            <a:gsLst>
              <a:gs pos="0">
                <a:srgbClr val="4472C4">
                  <a:lumMod val="20000"/>
                  <a:lumOff val="80000"/>
                </a:srgbClr>
              </a:gs>
              <a:gs pos="99000">
                <a:srgbClr val="4472C4">
                  <a:lumMod val="60000"/>
                  <a:lumOff val="40000"/>
                </a:srgbClr>
              </a:gs>
            </a:gsLst>
            <a:lin ang="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56" name="箭头: 右 116"/>
          <p:cNvSpPr/>
          <p:nvPr>
            <p:custDataLst>
              <p:tags r:id="rId6"/>
            </p:custDataLst>
          </p:nvPr>
        </p:nvSpPr>
        <p:spPr>
          <a:xfrm>
            <a:off x="9207535" y="2425319"/>
            <a:ext cx="147955" cy="502920"/>
          </a:xfrm>
          <a:prstGeom prst="rightArrow">
            <a:avLst/>
          </a:prstGeom>
          <a:gradFill>
            <a:gsLst>
              <a:gs pos="0">
                <a:srgbClr val="4472C4">
                  <a:lumMod val="20000"/>
                  <a:lumOff val="80000"/>
                </a:srgbClr>
              </a:gs>
              <a:gs pos="99000">
                <a:srgbClr val="4472C4">
                  <a:lumMod val="60000"/>
                  <a:lumOff val="40000"/>
                </a:srgbClr>
              </a:gs>
            </a:gsLst>
            <a:lin ang="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57" name="箭头: 右 116"/>
          <p:cNvSpPr/>
          <p:nvPr>
            <p:custDataLst>
              <p:tags r:id="rId7"/>
            </p:custDataLst>
          </p:nvPr>
        </p:nvSpPr>
        <p:spPr>
          <a:xfrm>
            <a:off x="9207535" y="3839889"/>
            <a:ext cx="147955" cy="502920"/>
          </a:xfrm>
          <a:prstGeom prst="rightArrow">
            <a:avLst/>
          </a:prstGeom>
          <a:gradFill>
            <a:gsLst>
              <a:gs pos="0">
                <a:srgbClr val="4472C4">
                  <a:lumMod val="20000"/>
                  <a:lumOff val="80000"/>
                </a:srgbClr>
              </a:gs>
              <a:gs pos="99000">
                <a:srgbClr val="4472C4">
                  <a:lumMod val="60000"/>
                  <a:lumOff val="40000"/>
                </a:srgbClr>
              </a:gs>
            </a:gsLst>
            <a:lin ang="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58" name="箭头: 右 116"/>
          <p:cNvSpPr/>
          <p:nvPr>
            <p:custDataLst>
              <p:tags r:id="rId8"/>
            </p:custDataLst>
          </p:nvPr>
        </p:nvSpPr>
        <p:spPr>
          <a:xfrm>
            <a:off x="9207535" y="5198575"/>
            <a:ext cx="147955" cy="502920"/>
          </a:xfrm>
          <a:prstGeom prst="rightArrow">
            <a:avLst/>
          </a:prstGeom>
          <a:gradFill>
            <a:gsLst>
              <a:gs pos="0">
                <a:srgbClr val="4472C4">
                  <a:lumMod val="20000"/>
                  <a:lumOff val="80000"/>
                </a:srgbClr>
              </a:gs>
              <a:gs pos="99000">
                <a:srgbClr val="4472C4">
                  <a:lumMod val="60000"/>
                  <a:lumOff val="40000"/>
                </a:srgbClr>
              </a:gs>
            </a:gsLst>
            <a:lin ang="0" scaled="0"/>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26" name="文本框 2">
            <a:extLst>
              <a:ext uri="{FF2B5EF4-FFF2-40B4-BE49-F238E27FC236}">
                <a16:creationId xmlns:a16="http://schemas.microsoft.com/office/drawing/2014/main" id="{9F629E03-F22D-23DF-8096-B2E2E66A1AD5}"/>
              </a:ext>
            </a:extLst>
          </p:cNvPr>
          <p:cNvSpPr txBox="1"/>
          <p:nvPr>
            <p:custDataLst>
              <p:tags r:id="rId9"/>
            </p:custDataLst>
          </p:nvPr>
        </p:nvSpPr>
        <p:spPr>
          <a:xfrm>
            <a:off x="773643" y="2137662"/>
            <a:ext cx="2298041" cy="36004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基础模型</a:t>
            </a:r>
            <a:r>
              <a:rPr kumimoji="0" lang="en-US" altLang="zh-CN" sz="1800" b="1" i="0" u="none" strike="noStrike" kern="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 </a:t>
            </a:r>
            <a:r>
              <a:rPr kumimoji="0" lang="zh-CN" altLang="en-US" sz="1800" b="1" i="0" u="none" strike="noStrike" kern="0" cap="none" spc="0" normalizeH="0" baseline="0" noProof="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知识</a:t>
            </a:r>
            <a:r>
              <a:rPr kumimoji="0" lang="zh-CN" altLang="en-US" sz="1800" b="1"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少</a:t>
            </a:r>
          </a:p>
        </p:txBody>
      </p:sp>
      <p:sp>
        <p:nvSpPr>
          <p:cNvPr id="32" name="文本框 31">
            <a:extLst>
              <a:ext uri="{FF2B5EF4-FFF2-40B4-BE49-F238E27FC236}">
                <a16:creationId xmlns:a16="http://schemas.microsoft.com/office/drawing/2014/main" id="{4282F6A7-7C0D-31AE-77A2-0F00600196A9}"/>
              </a:ext>
            </a:extLst>
          </p:cNvPr>
          <p:cNvSpPr txBox="1"/>
          <p:nvPr>
            <p:custDataLst>
              <p:tags r:id="rId10"/>
            </p:custDataLst>
          </p:nvPr>
        </p:nvSpPr>
        <p:spPr>
          <a:xfrm>
            <a:off x="834318" y="2698367"/>
            <a:ext cx="702179" cy="245110"/>
          </a:xfrm>
          <a:prstGeom prst="rect">
            <a:avLst/>
          </a:prstGeom>
          <a:noFill/>
          <a:ln>
            <a:solidFill>
              <a:schemeClr val="tx1">
                <a:lumMod val="95000"/>
                <a:lumOff val="5000"/>
              </a:schemeClr>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构效关系</a:t>
            </a:r>
          </a:p>
        </p:txBody>
      </p:sp>
      <p:pic>
        <p:nvPicPr>
          <p:cNvPr id="33" name="图片 18" descr="3b343634393530393bbfc6d1a7">
            <a:extLst>
              <a:ext uri="{FF2B5EF4-FFF2-40B4-BE49-F238E27FC236}">
                <a16:creationId xmlns:a16="http://schemas.microsoft.com/office/drawing/2014/main" id="{6E996A4A-CC74-D97D-E9C1-4496C660BF74}"/>
              </a:ext>
            </a:extLst>
          </p:cNvPr>
          <p:cNvPicPr>
            <a:picLocks noChangeAspect="1"/>
          </p:cNvPicPr>
          <p:nvPr>
            <p:custDataLst>
              <p:tags r:id="rId11"/>
            </p:custDataLst>
          </p:nvPr>
        </p:nvPicPr>
        <p:blipFill>
          <a:blip r:embed="rId42">
            <a:extLst>
              <a:ext uri="{96DAC541-7B7A-43D3-8B79-37D633B846F1}">
                <asvg:svgBlip xmlns:asvg="http://schemas.microsoft.com/office/drawing/2016/SVG/main" r:embed="rId43"/>
              </a:ext>
            </a:extLst>
          </a:blip>
          <a:stretch>
            <a:fillRect/>
          </a:stretch>
        </p:blipFill>
        <p:spPr>
          <a:xfrm>
            <a:off x="1585163" y="2486912"/>
            <a:ext cx="685115" cy="688340"/>
          </a:xfrm>
          <a:prstGeom prst="rect">
            <a:avLst/>
          </a:prstGeom>
        </p:spPr>
      </p:pic>
      <p:sp>
        <p:nvSpPr>
          <p:cNvPr id="37" name="文本框 36">
            <a:extLst>
              <a:ext uri="{FF2B5EF4-FFF2-40B4-BE49-F238E27FC236}">
                <a16:creationId xmlns:a16="http://schemas.microsoft.com/office/drawing/2014/main" id="{008432F4-1056-4731-D2A6-3BF7D948DE19}"/>
              </a:ext>
            </a:extLst>
          </p:cNvPr>
          <p:cNvSpPr txBox="1"/>
          <p:nvPr>
            <p:custDataLst>
              <p:tags r:id="rId12"/>
            </p:custDataLst>
          </p:nvPr>
        </p:nvSpPr>
        <p:spPr>
          <a:xfrm>
            <a:off x="2357497" y="2709797"/>
            <a:ext cx="699651" cy="245110"/>
          </a:xfrm>
          <a:prstGeom prst="rect">
            <a:avLst/>
          </a:prstGeom>
          <a:noFill/>
          <a:ln>
            <a:solidFill>
              <a:schemeClr val="tx1">
                <a:lumMod val="95000"/>
                <a:lumOff val="5000"/>
              </a:schemeClr>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rPr>
              <a:t>反应机制</a:t>
            </a:r>
          </a:p>
        </p:txBody>
      </p:sp>
      <p:pic>
        <p:nvPicPr>
          <p:cNvPr id="38" name="图片 41" descr="神经网络">
            <a:extLst>
              <a:ext uri="{FF2B5EF4-FFF2-40B4-BE49-F238E27FC236}">
                <a16:creationId xmlns:a16="http://schemas.microsoft.com/office/drawing/2014/main" id="{0CC4A271-F7C7-308B-7E92-8F897191EBCA}"/>
              </a:ext>
            </a:extLst>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784251" y="2694557"/>
            <a:ext cx="274931" cy="276225"/>
          </a:xfrm>
          <a:prstGeom prst="rect">
            <a:avLst/>
          </a:prstGeom>
        </p:spPr>
      </p:pic>
      <p:sp>
        <p:nvSpPr>
          <p:cNvPr id="69" name="文本框 2">
            <a:extLst>
              <a:ext uri="{FF2B5EF4-FFF2-40B4-BE49-F238E27FC236}">
                <a16:creationId xmlns:a16="http://schemas.microsoft.com/office/drawing/2014/main" id="{2C579800-F5EF-25E3-EFAA-D23CBA3CFE03}"/>
              </a:ext>
            </a:extLst>
          </p:cNvPr>
          <p:cNvSpPr txBox="1"/>
          <p:nvPr>
            <p:custDataLst>
              <p:tags r:id="rId13"/>
            </p:custDataLst>
          </p:nvPr>
        </p:nvSpPr>
        <p:spPr>
          <a:xfrm>
            <a:off x="636154" y="4932296"/>
            <a:ext cx="2606558" cy="36004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构</a:t>
            </a:r>
            <a:r>
              <a:rPr kumimoji="0" lang="zh-CN" altLang="en-US" sz="1800" b="1" i="0" u="none" strike="noStrike" kern="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效关系</a:t>
            </a:r>
            <a:r>
              <a:rPr kumimoji="0" lang="en-US" altLang="zh-CN" sz="1800" b="1" i="0" u="none" strike="noStrike" kern="0" cap="none" spc="0" normalizeH="0" baseline="0" noProof="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 </a:t>
            </a:r>
            <a:r>
              <a:rPr kumimoji="0" lang="zh-CN" altLang="en-US" sz="1800" b="1" i="0" u="none" strike="noStrike" kern="0" cap="none" spc="0" normalizeH="0" baseline="0" noProof="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泛化</a:t>
            </a:r>
            <a:r>
              <a:rPr kumimoji="0" lang="zh-CN" altLang="en-US" sz="1800" b="1"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差</a:t>
            </a:r>
          </a:p>
        </p:txBody>
      </p:sp>
      <p:sp>
        <p:nvSpPr>
          <p:cNvPr id="71" name="文本框 2">
            <a:extLst>
              <a:ext uri="{FF2B5EF4-FFF2-40B4-BE49-F238E27FC236}">
                <a16:creationId xmlns:a16="http://schemas.microsoft.com/office/drawing/2014/main" id="{DB5F8A70-2D39-2202-1C1B-0872B96CD004}"/>
              </a:ext>
            </a:extLst>
          </p:cNvPr>
          <p:cNvSpPr txBox="1"/>
          <p:nvPr>
            <p:custDataLst>
              <p:tags r:id="rId14"/>
            </p:custDataLst>
          </p:nvPr>
        </p:nvSpPr>
        <p:spPr>
          <a:xfrm>
            <a:off x="618630" y="3521962"/>
            <a:ext cx="2621915" cy="36004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专家实验</a:t>
            </a:r>
            <a:r>
              <a:rPr kumimoji="0" lang="en-US" altLang="zh-CN" sz="1800" b="1" i="0" u="none" strike="noStrike" kern="0" cap="none" spc="0" normalizeH="0" baseline="0" noProof="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 </a:t>
            </a:r>
            <a:r>
              <a:rPr kumimoji="0" lang="zh-CN" altLang="en-US" sz="1800" b="1" i="0" u="none" strike="noStrike" kern="0" cap="none" spc="0" normalizeH="0" baseline="0" noProof="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反馈</a:t>
            </a:r>
            <a:r>
              <a:rPr kumimoji="0" lang="zh-CN" altLang="en-US" sz="1800" b="1"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sym typeface="+mn-ea"/>
              </a:rPr>
              <a:t>难</a:t>
            </a:r>
          </a:p>
        </p:txBody>
      </p:sp>
      <p:pic>
        <p:nvPicPr>
          <p:cNvPr id="73" name="图片 48" descr="化学实验">
            <a:extLst>
              <a:ext uri="{FF2B5EF4-FFF2-40B4-BE49-F238E27FC236}">
                <a16:creationId xmlns:a16="http://schemas.microsoft.com/office/drawing/2014/main" id="{14BCCAFF-A322-1C15-4AB6-23BB4BED2D72}"/>
              </a:ext>
            </a:extLst>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2627135" y="3943602"/>
            <a:ext cx="546735" cy="546735"/>
          </a:xfrm>
          <a:prstGeom prst="rect">
            <a:avLst/>
          </a:prstGeom>
        </p:spPr>
      </p:pic>
      <p:pic>
        <p:nvPicPr>
          <p:cNvPr id="74" name="图片 49" descr="uniE63B">
            <a:extLst>
              <a:ext uri="{FF2B5EF4-FFF2-40B4-BE49-F238E27FC236}">
                <a16:creationId xmlns:a16="http://schemas.microsoft.com/office/drawing/2014/main" id="{5706F654-46CC-EE9F-5D50-67817ABF07B4}"/>
              </a:ext>
            </a:extLst>
          </p:cNvPr>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758965" y="4082667"/>
            <a:ext cx="330835" cy="330835"/>
          </a:xfrm>
          <a:prstGeom prst="rect">
            <a:avLst/>
          </a:prstGeom>
        </p:spPr>
      </p:pic>
      <p:pic>
        <p:nvPicPr>
          <p:cNvPr id="75" name="图片 50" descr="neural-network">
            <a:extLst>
              <a:ext uri="{FF2B5EF4-FFF2-40B4-BE49-F238E27FC236}">
                <a16:creationId xmlns:a16="http://schemas.microsoft.com/office/drawing/2014/main" id="{E3D4230B-BE8F-845D-67B7-C2CA0603AAD5}"/>
              </a:ext>
            </a:extLst>
          </p:cNvPr>
          <p:cNvPicPr>
            <a:picLocks noChangeAspect="1"/>
          </p:cNvPicPr>
          <p:nvPr/>
        </p:nvPicPr>
        <p:blipFill>
          <a:blip r:embed="rId50">
            <a:extLst>
              <a:ext uri="{96DAC541-7B7A-43D3-8B79-37D633B846F1}">
                <asvg:svgBlip xmlns:asvg="http://schemas.microsoft.com/office/drawing/2016/SVG/main" r:embed="rId51"/>
              </a:ext>
            </a:extLst>
          </a:blip>
          <a:stretch>
            <a:fillRect/>
          </a:stretch>
        </p:blipFill>
        <p:spPr>
          <a:xfrm>
            <a:off x="1588910" y="3972177"/>
            <a:ext cx="589915" cy="589915"/>
          </a:xfrm>
          <a:prstGeom prst="rect">
            <a:avLst/>
          </a:prstGeom>
        </p:spPr>
      </p:pic>
      <p:sp>
        <p:nvSpPr>
          <p:cNvPr id="76" name="右箭头 75">
            <a:extLst>
              <a:ext uri="{FF2B5EF4-FFF2-40B4-BE49-F238E27FC236}">
                <a16:creationId xmlns:a16="http://schemas.microsoft.com/office/drawing/2014/main" id="{1A091130-0DCE-7FE1-FB90-63B83CE99175}"/>
              </a:ext>
            </a:extLst>
          </p:cNvPr>
          <p:cNvSpPr/>
          <p:nvPr/>
        </p:nvSpPr>
        <p:spPr>
          <a:xfrm rot="10800000">
            <a:off x="2141995" y="4187442"/>
            <a:ext cx="426085" cy="144145"/>
          </a:xfrm>
          <a:prstGeom prst="rightArrow">
            <a:avLst>
              <a:gd name="adj1" fmla="val 26872"/>
              <a:gd name="adj2" fmla="val 50000"/>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sp>
        <p:nvSpPr>
          <p:cNvPr id="77" name="乘号 51">
            <a:extLst>
              <a:ext uri="{FF2B5EF4-FFF2-40B4-BE49-F238E27FC236}">
                <a16:creationId xmlns:a16="http://schemas.microsoft.com/office/drawing/2014/main" id="{7CD76A5F-F25F-EBFD-CDB1-E2BA33B5E4EB}"/>
              </a:ext>
            </a:extLst>
          </p:cNvPr>
          <p:cNvSpPr/>
          <p:nvPr/>
        </p:nvSpPr>
        <p:spPr>
          <a:xfrm rot="10800000">
            <a:off x="2270265" y="4142357"/>
            <a:ext cx="245110" cy="245110"/>
          </a:xfrm>
          <a:prstGeom prst="mathMultiply">
            <a:avLst>
              <a:gd name="adj1" fmla="val 10880"/>
            </a:avLst>
          </a:prstGeom>
          <a:solidFill>
            <a:schemeClr val="tx1"/>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sp>
        <p:nvSpPr>
          <p:cNvPr id="78" name="右箭头 77">
            <a:extLst>
              <a:ext uri="{FF2B5EF4-FFF2-40B4-BE49-F238E27FC236}">
                <a16:creationId xmlns:a16="http://schemas.microsoft.com/office/drawing/2014/main" id="{72F36701-546E-762C-B242-885DCB75EE49}"/>
              </a:ext>
            </a:extLst>
          </p:cNvPr>
          <p:cNvSpPr/>
          <p:nvPr>
            <p:custDataLst>
              <p:tags r:id="rId15"/>
            </p:custDataLst>
          </p:nvPr>
        </p:nvSpPr>
        <p:spPr>
          <a:xfrm>
            <a:off x="1166000" y="4187442"/>
            <a:ext cx="426085" cy="144145"/>
          </a:xfrm>
          <a:prstGeom prst="rightArrow">
            <a:avLst>
              <a:gd name="adj1" fmla="val 26872"/>
              <a:gd name="adj2" fmla="val 50000"/>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sp>
        <p:nvSpPr>
          <p:cNvPr id="79" name="乘号 55">
            <a:extLst>
              <a:ext uri="{FF2B5EF4-FFF2-40B4-BE49-F238E27FC236}">
                <a16:creationId xmlns:a16="http://schemas.microsoft.com/office/drawing/2014/main" id="{68DA130E-9EE0-5673-FBEC-E13472A877C7}"/>
              </a:ext>
            </a:extLst>
          </p:cNvPr>
          <p:cNvSpPr/>
          <p:nvPr>
            <p:custDataLst>
              <p:tags r:id="rId16"/>
            </p:custDataLst>
          </p:nvPr>
        </p:nvSpPr>
        <p:spPr>
          <a:xfrm>
            <a:off x="1233310" y="4142357"/>
            <a:ext cx="245110" cy="245110"/>
          </a:xfrm>
          <a:prstGeom prst="mathMultiply">
            <a:avLst>
              <a:gd name="adj1" fmla="val 10880"/>
            </a:avLst>
          </a:prstGeom>
          <a:solidFill>
            <a:schemeClr val="tx1"/>
          </a:solid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mn-cs"/>
            </a:endParaRPr>
          </a:p>
        </p:txBody>
      </p:sp>
      <p:pic>
        <p:nvPicPr>
          <p:cNvPr id="80" name="图片 79">
            <a:extLst>
              <a:ext uri="{FF2B5EF4-FFF2-40B4-BE49-F238E27FC236}">
                <a16:creationId xmlns:a16="http://schemas.microsoft.com/office/drawing/2014/main" id="{47D3211B-EEE9-FEBC-99CF-AD27AB536D33}"/>
              </a:ext>
            </a:extLst>
          </p:cNvPr>
          <p:cNvPicPr>
            <a:picLocks noChangeAspect="1"/>
          </p:cNvPicPr>
          <p:nvPr>
            <p:custDataLst>
              <p:tags r:id="rId17"/>
            </p:custDataLst>
          </p:nvPr>
        </p:nvPicPr>
        <p:blipFill>
          <a:blip r:embed="rId52"/>
          <a:stretch>
            <a:fillRect/>
          </a:stretch>
        </p:blipFill>
        <p:spPr>
          <a:xfrm>
            <a:off x="1038365" y="5315202"/>
            <a:ext cx="852805" cy="677545"/>
          </a:xfrm>
          <a:prstGeom prst="rect">
            <a:avLst/>
          </a:prstGeom>
        </p:spPr>
      </p:pic>
      <p:pic>
        <p:nvPicPr>
          <p:cNvPr id="81" name="图片 80">
            <a:extLst>
              <a:ext uri="{FF2B5EF4-FFF2-40B4-BE49-F238E27FC236}">
                <a16:creationId xmlns:a16="http://schemas.microsoft.com/office/drawing/2014/main" id="{CF8C6E62-65C9-B0FF-054C-D6F538BADB48}"/>
              </a:ext>
            </a:extLst>
          </p:cNvPr>
          <p:cNvPicPr>
            <a:picLocks noChangeAspect="1"/>
          </p:cNvPicPr>
          <p:nvPr>
            <p:custDataLst>
              <p:tags r:id="rId18"/>
            </p:custDataLst>
          </p:nvPr>
        </p:nvPicPr>
        <p:blipFill>
          <a:blip r:embed="rId53"/>
          <a:stretch>
            <a:fillRect/>
          </a:stretch>
        </p:blipFill>
        <p:spPr>
          <a:xfrm>
            <a:off x="1886725" y="5315837"/>
            <a:ext cx="935990" cy="676910"/>
          </a:xfrm>
          <a:prstGeom prst="rect">
            <a:avLst/>
          </a:prstGeom>
        </p:spPr>
      </p:pic>
      <p:sp>
        <p:nvSpPr>
          <p:cNvPr id="93" name="矩形: 圆角 168">
            <a:extLst>
              <a:ext uri="{FF2B5EF4-FFF2-40B4-BE49-F238E27FC236}">
                <a16:creationId xmlns:a16="http://schemas.microsoft.com/office/drawing/2014/main" id="{064DEFCF-36B9-928E-A65A-BE82200F4169}"/>
              </a:ext>
            </a:extLst>
          </p:cNvPr>
          <p:cNvSpPr/>
          <p:nvPr>
            <p:custDataLst>
              <p:tags r:id="rId19"/>
            </p:custDataLst>
          </p:nvPr>
        </p:nvSpPr>
        <p:spPr>
          <a:xfrm>
            <a:off x="5690207" y="2169412"/>
            <a:ext cx="3235706" cy="1037590"/>
          </a:xfrm>
          <a:prstGeom prst="roundRect">
            <a:avLst/>
          </a:prstGeom>
          <a:solidFill>
            <a:schemeClr val="bg1"/>
          </a:solidFill>
          <a:ln w="19050" cap="flat" cmpd="sng" algn="ctr">
            <a:solidFill>
              <a:schemeClr val="accent1"/>
            </a:solidFill>
            <a:prstDash val="solid"/>
            <a:miter lim="800000"/>
          </a:ln>
          <a:effectLst>
            <a:outerShdw blurRad="63500" sx="102000" sy="102000" algn="ctr" rotWithShape="0">
              <a:srgbClr val="5B9BD5">
                <a:lumMod val="75000"/>
                <a:alpha val="40000"/>
              </a:srgbClr>
            </a:outerShdw>
          </a:effectLst>
        </p:spPr>
        <p:txBody>
          <a:bodyPr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zh-CN" altLang="en-US" sz="2000" b="0" i="0" u="none" strike="noStrike" kern="0" cap="none" spc="0" normalizeH="0" baseline="0" noProof="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rPr>
              <a:t>任务 </a:t>
            </a:r>
            <a:r>
              <a:rPr kumimoji="0" lang="en-US" altLang="zh-CN" sz="2000" b="0" i="0" u="none" strike="noStrike" kern="0" cap="none" spc="0" normalizeH="0" baseline="0" noProof="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rPr>
              <a:t>1</a:t>
            </a:r>
            <a:endParaRPr kumimoji="0" lang="en-US" altLang="zh-CN" sz="2000" b="0"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（逆）合成知识注入与求解模型构建</a:t>
            </a:r>
          </a:p>
        </p:txBody>
      </p:sp>
      <p:sp>
        <p:nvSpPr>
          <p:cNvPr id="94" name="矩形: 圆角 156">
            <a:extLst>
              <a:ext uri="{FF2B5EF4-FFF2-40B4-BE49-F238E27FC236}">
                <a16:creationId xmlns:a16="http://schemas.microsoft.com/office/drawing/2014/main" id="{8E9CD6FF-59CC-1C0D-B421-56BE2A7D4B43}"/>
              </a:ext>
            </a:extLst>
          </p:cNvPr>
          <p:cNvSpPr/>
          <p:nvPr>
            <p:custDataLst>
              <p:tags r:id="rId20"/>
            </p:custDataLst>
          </p:nvPr>
        </p:nvSpPr>
        <p:spPr>
          <a:xfrm>
            <a:off x="4032887" y="2101255"/>
            <a:ext cx="1501200" cy="1139825"/>
          </a:xfrm>
          <a:prstGeom prst="roundRect">
            <a:avLst>
              <a:gd name="adj" fmla="val 10708"/>
            </a:avLst>
          </a:prstGeom>
          <a:solidFill>
            <a:sysClr val="window" lastClr="FFFFFF"/>
          </a:solidFill>
          <a:ln w="12700" cap="flat" cmpd="sng" algn="ctr">
            <a:solidFill>
              <a:sysClr val="window" lastClr="FFFFFF">
                <a:lumMod val="50000"/>
              </a:sysClr>
            </a:solidFill>
            <a:prstDash val="solid"/>
            <a:miter lim="800000"/>
          </a:ln>
          <a:effectLst>
            <a:outerShdw blurRad="50800" dist="38100" dir="2700000" sx="98000" sy="98000" algn="tl" rotWithShape="0">
              <a:prstClr val="black">
                <a:alpha val="40000"/>
              </a:prstClr>
            </a:outerShdw>
          </a:effectLst>
        </p:spPr>
        <p:txBody>
          <a:bodyPr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altLang="zh-CN" sz="16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pic>
        <p:nvPicPr>
          <p:cNvPr id="95" name="图片 94">
            <a:extLst>
              <a:ext uri="{FF2B5EF4-FFF2-40B4-BE49-F238E27FC236}">
                <a16:creationId xmlns:a16="http://schemas.microsoft.com/office/drawing/2014/main" id="{640C4DFD-4917-AFBF-EE2F-81EF68E151A0}"/>
              </a:ext>
            </a:extLst>
          </p:cNvPr>
          <p:cNvPicPr>
            <a:picLocks noChangeAspect="1"/>
          </p:cNvPicPr>
          <p:nvPr>
            <p:custDataLst>
              <p:tags r:id="rId21"/>
            </p:custDataLst>
          </p:nvPr>
        </p:nvPicPr>
        <p:blipFill>
          <a:blip r:embed="rId54"/>
          <a:srcRect r="2145" b="14251"/>
          <a:stretch>
            <a:fillRect/>
          </a:stretch>
        </p:blipFill>
        <p:spPr>
          <a:xfrm>
            <a:off x="4156602" y="2238838"/>
            <a:ext cx="1245870" cy="869950"/>
          </a:xfrm>
          <a:prstGeom prst="rect">
            <a:avLst/>
          </a:prstGeom>
        </p:spPr>
      </p:pic>
      <p:sp>
        <p:nvSpPr>
          <p:cNvPr id="96" name="矩形: 圆角 156">
            <a:extLst>
              <a:ext uri="{FF2B5EF4-FFF2-40B4-BE49-F238E27FC236}">
                <a16:creationId xmlns:a16="http://schemas.microsoft.com/office/drawing/2014/main" id="{7E4E25DB-FA17-3996-9197-1C6618A6DFF8}"/>
              </a:ext>
            </a:extLst>
          </p:cNvPr>
          <p:cNvSpPr/>
          <p:nvPr>
            <p:custDataLst>
              <p:tags r:id="rId22"/>
            </p:custDataLst>
          </p:nvPr>
        </p:nvSpPr>
        <p:spPr>
          <a:xfrm>
            <a:off x="4032887" y="3476876"/>
            <a:ext cx="1501200" cy="1139825"/>
          </a:xfrm>
          <a:prstGeom prst="roundRect">
            <a:avLst>
              <a:gd name="adj" fmla="val 10708"/>
            </a:avLst>
          </a:prstGeom>
          <a:solidFill>
            <a:sysClr val="window" lastClr="FFFFFF"/>
          </a:solidFill>
          <a:ln w="12700" cap="flat" cmpd="sng" algn="ctr">
            <a:solidFill>
              <a:sysClr val="window" lastClr="FFFFFF">
                <a:lumMod val="50000"/>
              </a:sysClr>
            </a:solidFill>
            <a:prstDash val="solid"/>
            <a:miter lim="800000"/>
          </a:ln>
          <a:effectLst>
            <a:outerShdw blurRad="50800" dist="38100" dir="2700000" sx="98000" sy="98000" algn="tl" rotWithShape="0">
              <a:prstClr val="black">
                <a:alpha val="40000"/>
              </a:prstClr>
            </a:outerShdw>
          </a:effectLst>
        </p:spPr>
        <p:txBody>
          <a:bodyPr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altLang="zh-CN" sz="16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97" name="矩形: 圆角 168">
            <a:extLst>
              <a:ext uri="{FF2B5EF4-FFF2-40B4-BE49-F238E27FC236}">
                <a16:creationId xmlns:a16="http://schemas.microsoft.com/office/drawing/2014/main" id="{1EAE2242-D575-46C8-A4A9-12E3C1D1FEEB}"/>
              </a:ext>
            </a:extLst>
          </p:cNvPr>
          <p:cNvSpPr/>
          <p:nvPr>
            <p:custDataLst>
              <p:tags r:id="rId23"/>
            </p:custDataLst>
          </p:nvPr>
        </p:nvSpPr>
        <p:spPr>
          <a:xfrm>
            <a:off x="5690207" y="3527094"/>
            <a:ext cx="3235705" cy="1037590"/>
          </a:xfrm>
          <a:prstGeom prst="roundRect">
            <a:avLst/>
          </a:prstGeom>
          <a:solidFill>
            <a:schemeClr val="bg1"/>
          </a:solidFill>
          <a:ln w="19050" cap="flat" cmpd="sng" algn="ctr">
            <a:solidFill>
              <a:schemeClr val="accent1"/>
            </a:solidFill>
            <a:prstDash val="solid"/>
            <a:miter lim="800000"/>
          </a:ln>
          <a:effectLst>
            <a:outerShdw blurRad="63500" sx="102000" sy="102000" algn="ctr" rotWithShape="0">
              <a:srgbClr val="5B9BD5">
                <a:lumMod val="75000"/>
                <a:alpha val="40000"/>
              </a:srgbClr>
            </a:outerShdw>
          </a:effectLst>
        </p:spPr>
        <p:txBody>
          <a:bodyPr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zh-CN" altLang="en-US" sz="2000" b="0" i="0" u="none" strike="noStrike" kern="0" cap="none" spc="0" normalizeH="0" baseline="0" noProof="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rPr>
              <a:t>任务 </a:t>
            </a:r>
            <a:r>
              <a:rPr kumimoji="0" lang="en-US" altLang="zh-CN" sz="2000" b="0" i="0" u="none" strike="noStrike" kern="0" cap="none" spc="0" normalizeH="0" baseline="0" noProof="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rPr>
              <a:t>2</a:t>
            </a:r>
            <a:endParaRPr kumimoji="0" lang="en-US" altLang="zh-CN" sz="2400" b="0"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人在回路的全流程（逆）合成优化框架</a:t>
            </a:r>
          </a:p>
        </p:txBody>
      </p:sp>
      <p:sp>
        <p:nvSpPr>
          <p:cNvPr id="98" name="矩形: 圆角 168">
            <a:extLst>
              <a:ext uri="{FF2B5EF4-FFF2-40B4-BE49-F238E27FC236}">
                <a16:creationId xmlns:a16="http://schemas.microsoft.com/office/drawing/2014/main" id="{53F03B63-AC3E-77FC-11E1-67E945604182}"/>
              </a:ext>
            </a:extLst>
          </p:cNvPr>
          <p:cNvSpPr/>
          <p:nvPr>
            <p:custDataLst>
              <p:tags r:id="rId24"/>
            </p:custDataLst>
          </p:nvPr>
        </p:nvSpPr>
        <p:spPr>
          <a:xfrm>
            <a:off x="5690206" y="4919270"/>
            <a:ext cx="3235706" cy="1037590"/>
          </a:xfrm>
          <a:prstGeom prst="roundRect">
            <a:avLst/>
          </a:prstGeom>
          <a:solidFill>
            <a:schemeClr val="bg1"/>
          </a:solidFill>
          <a:ln w="19050" cap="flat" cmpd="sng" algn="ctr">
            <a:solidFill>
              <a:schemeClr val="accent1"/>
            </a:solidFill>
            <a:prstDash val="solid"/>
            <a:miter lim="800000"/>
          </a:ln>
          <a:effectLst>
            <a:outerShdw blurRad="63500" sx="102000" sy="102000" algn="ctr" rotWithShape="0">
              <a:srgbClr val="5B9BD5">
                <a:lumMod val="75000"/>
                <a:alpha val="40000"/>
              </a:srgbClr>
            </a:outerShdw>
          </a:effectLst>
        </p:spPr>
        <p:txBody>
          <a:bodyPr lIns="0" tIns="0" rIns="0" bIns="0"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zh-CN" altLang="en-US" sz="2000" b="0" i="0" u="none" strike="noStrike" kern="0" cap="none" spc="0" normalizeH="0" baseline="0" noProof="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rPr>
              <a:t>任务 </a:t>
            </a:r>
            <a:r>
              <a:rPr kumimoji="0" lang="en-US" altLang="zh-CN" sz="2000" b="0" i="0" u="none" strike="noStrike" kern="0" cap="none" spc="0" normalizeH="0" baseline="0" noProof="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rPr>
              <a:t>3</a:t>
            </a:r>
            <a:endParaRPr kumimoji="0" lang="en-US" altLang="zh-CN" sz="2400" b="0"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rPr>
              <a:t>结合反应机制的构效关系求解新模型</a:t>
            </a:r>
          </a:p>
        </p:txBody>
      </p:sp>
      <p:sp>
        <p:nvSpPr>
          <p:cNvPr id="99" name="矩形: 圆角 156">
            <a:extLst>
              <a:ext uri="{FF2B5EF4-FFF2-40B4-BE49-F238E27FC236}">
                <a16:creationId xmlns:a16="http://schemas.microsoft.com/office/drawing/2014/main" id="{73FE094D-71A4-1D58-4CBB-B0334761A460}"/>
              </a:ext>
            </a:extLst>
          </p:cNvPr>
          <p:cNvSpPr/>
          <p:nvPr>
            <p:custDataLst>
              <p:tags r:id="rId25"/>
            </p:custDataLst>
          </p:nvPr>
        </p:nvSpPr>
        <p:spPr>
          <a:xfrm>
            <a:off x="4032887" y="4856945"/>
            <a:ext cx="1501200" cy="1139825"/>
          </a:xfrm>
          <a:prstGeom prst="roundRect">
            <a:avLst>
              <a:gd name="adj" fmla="val 10708"/>
            </a:avLst>
          </a:prstGeom>
          <a:solidFill>
            <a:sysClr val="window" lastClr="FFFFFF"/>
          </a:solidFill>
          <a:ln w="12700" cap="flat" cmpd="sng" algn="ctr">
            <a:solidFill>
              <a:sysClr val="window" lastClr="FFFFFF">
                <a:lumMod val="50000"/>
              </a:sysClr>
            </a:solidFill>
            <a:prstDash val="solid"/>
            <a:miter lim="800000"/>
          </a:ln>
          <a:effectLst>
            <a:outerShdw blurRad="50800" dist="38100" dir="2700000" sx="98000" sy="98000" algn="tl" rotWithShape="0">
              <a:prstClr val="black">
                <a:alpha val="40000"/>
              </a:prstClr>
            </a:outerShdw>
          </a:effectLst>
        </p:spPr>
        <p:txBody>
          <a:bodyPr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altLang="zh-CN" sz="1600" b="0" i="0" u="none" strike="noStrike" kern="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grpSp>
        <p:nvGrpSpPr>
          <p:cNvPr id="100" name="组合 99">
            <a:extLst>
              <a:ext uri="{FF2B5EF4-FFF2-40B4-BE49-F238E27FC236}">
                <a16:creationId xmlns:a16="http://schemas.microsoft.com/office/drawing/2014/main" id="{39DD15ED-A526-A113-86B3-C2F926022A7F}"/>
              </a:ext>
            </a:extLst>
          </p:cNvPr>
          <p:cNvGrpSpPr/>
          <p:nvPr/>
        </p:nvGrpSpPr>
        <p:grpSpPr>
          <a:xfrm>
            <a:off x="4287883" y="3578107"/>
            <a:ext cx="983383" cy="933184"/>
            <a:chOff x="4461" y="3048"/>
            <a:chExt cx="1786" cy="1694"/>
          </a:xfrm>
        </p:grpSpPr>
        <p:pic>
          <p:nvPicPr>
            <p:cNvPr id="101" name="图片 100" descr="Z7`5RNWBG~0%]0E2F5I73KT">
              <a:extLst>
                <a:ext uri="{FF2B5EF4-FFF2-40B4-BE49-F238E27FC236}">
                  <a16:creationId xmlns:a16="http://schemas.microsoft.com/office/drawing/2014/main" id="{3548CADA-D3F4-F471-F7C8-CDEBC5773729}"/>
                </a:ext>
              </a:extLst>
            </p:cNvPr>
            <p:cNvPicPr>
              <a:picLocks noChangeAspect="1"/>
            </p:cNvPicPr>
            <p:nvPr>
              <p:custDataLst>
                <p:tags r:id="rId37"/>
              </p:custDataLst>
            </p:nvPr>
          </p:nvPicPr>
          <p:blipFill>
            <a:blip r:embed="rId55"/>
            <a:srcRect l="19537" r="20070" b="13"/>
            <a:stretch>
              <a:fillRect/>
            </a:stretch>
          </p:blipFill>
          <p:spPr>
            <a:xfrm>
              <a:off x="4461" y="3110"/>
              <a:ext cx="1784" cy="1632"/>
            </a:xfrm>
            <a:prstGeom prst="rect">
              <a:avLst/>
            </a:prstGeom>
          </p:spPr>
        </p:pic>
        <p:sp>
          <p:nvSpPr>
            <p:cNvPr id="102" name="文本框 101">
              <a:extLst>
                <a:ext uri="{FF2B5EF4-FFF2-40B4-BE49-F238E27FC236}">
                  <a16:creationId xmlns:a16="http://schemas.microsoft.com/office/drawing/2014/main" id="{70910D14-77D6-D68D-42A8-E360B0FDF5EA}"/>
                </a:ext>
              </a:extLst>
            </p:cNvPr>
            <p:cNvSpPr txBox="1"/>
            <p:nvPr>
              <p:custDataLst>
                <p:tags r:id="rId38"/>
              </p:custDataLst>
            </p:nvPr>
          </p:nvSpPr>
          <p:spPr>
            <a:xfrm>
              <a:off x="4462" y="3048"/>
              <a:ext cx="1785" cy="214"/>
            </a:xfrm>
            <a:prstGeom prst="rect">
              <a:avLst/>
            </a:prstGeom>
          </p:spPr>
          <p:txBody>
            <a:bodyPr wrap="square">
              <a:noAutofit/>
              <a:extLst>
                <a:ext uri="{4A0BC546-FE56-4ADE-93B0-CB8AF2F6F144}">
                  <wpsdc:textFrameExt xmlns="" xmlns:wpsdc="http://www.wps.cn/officeDocument/2022/drawingmlCustomData" type="text"/>
                </a:ext>
              </a:extLs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现实反馈</a:t>
              </a:r>
            </a:p>
          </p:txBody>
        </p:sp>
        <p:sp>
          <p:nvSpPr>
            <p:cNvPr id="103" name="文本框 102">
              <a:extLst>
                <a:ext uri="{FF2B5EF4-FFF2-40B4-BE49-F238E27FC236}">
                  <a16:creationId xmlns:a16="http://schemas.microsoft.com/office/drawing/2014/main" id="{DB69314B-D685-8C24-3D96-3FE7E67370CB}"/>
                </a:ext>
              </a:extLst>
            </p:cNvPr>
            <p:cNvSpPr txBox="1"/>
            <p:nvPr>
              <p:custDataLst>
                <p:tags r:id="rId39"/>
              </p:custDataLst>
            </p:nvPr>
          </p:nvSpPr>
          <p:spPr>
            <a:xfrm>
              <a:off x="4461" y="4443"/>
              <a:ext cx="1784" cy="299"/>
            </a:xfrm>
            <a:prstGeom prst="rect">
              <a:avLst/>
            </a:prstGeom>
          </p:spPr>
          <p:txBody>
            <a:bodyPr wrap="square">
              <a:noAutofit/>
              <a:extLst>
                <a:ext uri="{4A0BC546-FE56-4ADE-93B0-CB8AF2F6F144}">
                  <wpsdc:textFrameExt xmlns="" xmlns:wpsdc="http://www.wps.cn/officeDocument/2022/drawingmlCustomData" type="text"/>
                </a:ext>
              </a:extLs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a:ln>
                    <a:noFill/>
                  </a:ln>
                  <a:solidFill>
                    <a:prstClr val="black"/>
                  </a:solidFill>
                  <a:effectLst/>
                  <a:uLnTx/>
                  <a:uFillTx/>
                  <a:latin typeface="Microsoft YaHei" panose="020B0503020204020204" pitchFamily="34" charset="-122"/>
                  <a:ea typeface="Microsoft YaHei" panose="020B0503020204020204" pitchFamily="34" charset="-122"/>
                  <a:cs typeface="+mn-cs"/>
                </a:rPr>
                <a:t>流程指导</a:t>
              </a:r>
            </a:p>
          </p:txBody>
        </p:sp>
      </p:grpSp>
      <p:pic>
        <p:nvPicPr>
          <p:cNvPr id="104" name="图片 103">
            <a:extLst>
              <a:ext uri="{FF2B5EF4-FFF2-40B4-BE49-F238E27FC236}">
                <a16:creationId xmlns:a16="http://schemas.microsoft.com/office/drawing/2014/main" id="{E6D3ADD5-66CE-14EA-504B-239E4EB455B0}"/>
              </a:ext>
            </a:extLst>
          </p:cNvPr>
          <p:cNvPicPr>
            <a:picLocks noChangeAspect="1"/>
          </p:cNvPicPr>
          <p:nvPr>
            <p:custDataLst>
              <p:tags r:id="rId26"/>
            </p:custDataLst>
          </p:nvPr>
        </p:nvPicPr>
        <p:blipFill>
          <a:blip r:embed="rId56"/>
          <a:stretch>
            <a:fillRect/>
          </a:stretch>
        </p:blipFill>
        <p:spPr>
          <a:xfrm>
            <a:off x="4174805" y="5009343"/>
            <a:ext cx="1236345" cy="847090"/>
          </a:xfrm>
          <a:prstGeom prst="rect">
            <a:avLst/>
          </a:prstGeom>
        </p:spPr>
      </p:pic>
      <p:grpSp>
        <p:nvGrpSpPr>
          <p:cNvPr id="118" name="组合 117">
            <a:extLst>
              <a:ext uri="{FF2B5EF4-FFF2-40B4-BE49-F238E27FC236}">
                <a16:creationId xmlns:a16="http://schemas.microsoft.com/office/drawing/2014/main" id="{E9DF1772-1A59-EA39-2139-B0CB80D5DC17}"/>
              </a:ext>
            </a:extLst>
          </p:cNvPr>
          <p:cNvGrpSpPr/>
          <p:nvPr/>
        </p:nvGrpSpPr>
        <p:grpSpPr>
          <a:xfrm>
            <a:off x="9544080" y="4956426"/>
            <a:ext cx="1670685" cy="871855"/>
            <a:chOff x="13248" y="3468"/>
            <a:chExt cx="2631" cy="1373"/>
          </a:xfrm>
        </p:grpSpPr>
        <p:sp>
          <p:nvSpPr>
            <p:cNvPr id="119" name="矩形: 圆角 122">
              <a:extLst>
                <a:ext uri="{FF2B5EF4-FFF2-40B4-BE49-F238E27FC236}">
                  <a16:creationId xmlns:a16="http://schemas.microsoft.com/office/drawing/2014/main" id="{71280268-9635-4F6F-3319-FA9624335249}"/>
                </a:ext>
              </a:extLst>
            </p:cNvPr>
            <p:cNvSpPr/>
            <p:nvPr>
              <p:custDataLst>
                <p:tags r:id="rId35"/>
              </p:custDataLst>
            </p:nvPr>
          </p:nvSpPr>
          <p:spPr>
            <a:xfrm>
              <a:off x="13248" y="3497"/>
              <a:ext cx="2628" cy="1344"/>
            </a:xfrm>
            <a:prstGeom prst="roundRect">
              <a:avLst/>
            </a:prstGeom>
            <a:solidFill>
              <a:sysClr val="window" lastClr="FFFFFF"/>
            </a:solidFill>
            <a:ln w="12700" cap="flat" cmpd="sng" algn="ctr">
              <a:solidFill>
                <a:srgbClr val="5B9BD5"/>
              </a:solidFill>
              <a:prstDash val="solid"/>
              <a:miter lim="800000"/>
            </a:ln>
            <a:effectLst>
              <a:outerShdw blurRad="50800" dist="38100" dir="2700000" sx="98000" sy="98000" algn="tl" rotWithShape="0">
                <a:prstClr val="black">
                  <a:alpha val="40000"/>
                </a:prstClr>
              </a:outerShdw>
            </a:effectLst>
          </p:spPr>
          <p:txBody>
            <a:bodyPr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zh-CN" altLang="en-US" sz="1800" b="1"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120" name="任意多边形: 形状 123">
              <a:extLst>
                <a:ext uri="{FF2B5EF4-FFF2-40B4-BE49-F238E27FC236}">
                  <a16:creationId xmlns:a16="http://schemas.microsoft.com/office/drawing/2014/main" id="{47E4B7D0-C2FD-3491-AF30-DF28D2156AAD}"/>
                </a:ext>
              </a:extLst>
            </p:cNvPr>
            <p:cNvSpPr/>
            <p:nvPr>
              <p:custDataLst>
                <p:tags r:id="rId36"/>
              </p:custDataLst>
            </p:nvPr>
          </p:nvSpPr>
          <p:spPr>
            <a:xfrm>
              <a:off x="13248" y="3468"/>
              <a:ext cx="2631" cy="648"/>
            </a:xfrm>
            <a:custGeom>
              <a:avLst/>
              <a:gdLst>
                <a:gd name="connsiteX0" fmla="*/ 202418 w 1483152"/>
                <a:gd name="connsiteY0" fmla="*/ 0 h 426446"/>
                <a:gd name="connsiteX1" fmla="*/ 1280734 w 1483152"/>
                <a:gd name="connsiteY1" fmla="*/ 0 h 426446"/>
                <a:gd name="connsiteX2" fmla="*/ 1483152 w 1483152"/>
                <a:gd name="connsiteY2" fmla="*/ 202418 h 426446"/>
                <a:gd name="connsiteX3" fmla="*/ 1483152 w 1483152"/>
                <a:gd name="connsiteY3" fmla="*/ 426446 h 426446"/>
                <a:gd name="connsiteX4" fmla="*/ 0 w 1483152"/>
                <a:gd name="connsiteY4" fmla="*/ 426446 h 426446"/>
                <a:gd name="connsiteX5" fmla="*/ 0 w 1483152"/>
                <a:gd name="connsiteY5" fmla="*/ 202418 h 426446"/>
                <a:gd name="connsiteX6" fmla="*/ 202418 w 1483152"/>
                <a:gd name="connsiteY6" fmla="*/ 0 h 426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3152" h="426446">
                  <a:moveTo>
                    <a:pt x="202418" y="0"/>
                  </a:moveTo>
                  <a:lnTo>
                    <a:pt x="1280734" y="0"/>
                  </a:lnTo>
                  <a:cubicBezTo>
                    <a:pt x="1392526" y="0"/>
                    <a:pt x="1483152" y="90626"/>
                    <a:pt x="1483152" y="202418"/>
                  </a:cubicBezTo>
                  <a:lnTo>
                    <a:pt x="1483152" y="426446"/>
                  </a:lnTo>
                  <a:lnTo>
                    <a:pt x="0" y="426446"/>
                  </a:lnTo>
                  <a:lnTo>
                    <a:pt x="0" y="202418"/>
                  </a:lnTo>
                  <a:cubicBezTo>
                    <a:pt x="0" y="90626"/>
                    <a:pt x="90626" y="0"/>
                    <a:pt x="202418" y="0"/>
                  </a:cubicBezTo>
                  <a:close/>
                </a:path>
              </a:pathLst>
            </a:custGeom>
            <a:solidFill>
              <a:srgbClr val="4472C4"/>
            </a:solidFill>
            <a:ln w="12700" cap="flat" cmpd="sng" algn="ctr">
              <a:solidFill>
                <a:srgbClr val="4472C4"/>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湿实验验证</a:t>
              </a:r>
            </a:p>
          </p:txBody>
        </p:sp>
      </p:grpSp>
      <p:sp>
        <p:nvSpPr>
          <p:cNvPr id="121" name="文本框 30">
            <a:extLst>
              <a:ext uri="{FF2B5EF4-FFF2-40B4-BE49-F238E27FC236}">
                <a16:creationId xmlns:a16="http://schemas.microsoft.com/office/drawing/2014/main" id="{B3A93DD6-3B87-F0F0-3BE5-4E635C6485FE}"/>
              </a:ext>
            </a:extLst>
          </p:cNvPr>
          <p:cNvSpPr txBox="1"/>
          <p:nvPr>
            <p:custDataLst>
              <p:tags r:id="rId27"/>
            </p:custDataLst>
          </p:nvPr>
        </p:nvSpPr>
        <p:spPr>
          <a:xfrm>
            <a:off x="9570115" y="5402831"/>
            <a:ext cx="160337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黑体" panose="02010609060101010101" charset="-122"/>
              </a:rPr>
              <a:t>至少六类反应</a:t>
            </a:r>
          </a:p>
        </p:txBody>
      </p:sp>
      <p:grpSp>
        <p:nvGrpSpPr>
          <p:cNvPr id="122" name="组合 121">
            <a:extLst>
              <a:ext uri="{FF2B5EF4-FFF2-40B4-BE49-F238E27FC236}">
                <a16:creationId xmlns:a16="http://schemas.microsoft.com/office/drawing/2014/main" id="{7106DEEF-2FEC-A6E6-984A-F951EBF33190}"/>
              </a:ext>
            </a:extLst>
          </p:cNvPr>
          <p:cNvGrpSpPr/>
          <p:nvPr/>
        </p:nvGrpSpPr>
        <p:grpSpPr>
          <a:xfrm>
            <a:off x="9544080" y="3635417"/>
            <a:ext cx="1670685" cy="871855"/>
            <a:chOff x="13248" y="3468"/>
            <a:chExt cx="2631" cy="1373"/>
          </a:xfrm>
        </p:grpSpPr>
        <p:sp>
          <p:nvSpPr>
            <p:cNvPr id="123" name="矩形: 圆角 122">
              <a:extLst>
                <a:ext uri="{FF2B5EF4-FFF2-40B4-BE49-F238E27FC236}">
                  <a16:creationId xmlns:a16="http://schemas.microsoft.com/office/drawing/2014/main" id="{913083A9-4087-A737-0D61-096268706465}"/>
                </a:ext>
              </a:extLst>
            </p:cNvPr>
            <p:cNvSpPr/>
            <p:nvPr>
              <p:custDataLst>
                <p:tags r:id="rId33"/>
              </p:custDataLst>
            </p:nvPr>
          </p:nvSpPr>
          <p:spPr>
            <a:xfrm>
              <a:off x="13248" y="3497"/>
              <a:ext cx="2628" cy="1344"/>
            </a:xfrm>
            <a:prstGeom prst="roundRect">
              <a:avLst/>
            </a:prstGeom>
            <a:solidFill>
              <a:sysClr val="window" lastClr="FFFFFF"/>
            </a:solidFill>
            <a:ln w="12700" cap="flat" cmpd="sng" algn="ctr">
              <a:solidFill>
                <a:srgbClr val="5B9BD5"/>
              </a:solidFill>
              <a:prstDash val="solid"/>
              <a:miter lim="800000"/>
            </a:ln>
            <a:effectLst>
              <a:outerShdw blurRad="50800" dist="38100" dir="2700000" sx="98000" sy="98000" algn="tl" rotWithShape="0">
                <a:prstClr val="black">
                  <a:alpha val="40000"/>
                </a:prstClr>
              </a:outerShdw>
            </a:effectLst>
          </p:spPr>
          <p:txBody>
            <a:bodyPr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zh-CN" altLang="en-US" sz="1800" b="1"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124" name="任意多边形: 形状 123">
              <a:extLst>
                <a:ext uri="{FF2B5EF4-FFF2-40B4-BE49-F238E27FC236}">
                  <a16:creationId xmlns:a16="http://schemas.microsoft.com/office/drawing/2014/main" id="{6A217406-6AFD-C739-6554-AF221527F6BA}"/>
                </a:ext>
              </a:extLst>
            </p:cNvPr>
            <p:cNvSpPr/>
            <p:nvPr>
              <p:custDataLst>
                <p:tags r:id="rId34"/>
              </p:custDataLst>
            </p:nvPr>
          </p:nvSpPr>
          <p:spPr>
            <a:xfrm>
              <a:off x="13248" y="3468"/>
              <a:ext cx="2631" cy="648"/>
            </a:xfrm>
            <a:custGeom>
              <a:avLst/>
              <a:gdLst>
                <a:gd name="connsiteX0" fmla="*/ 202418 w 1483152"/>
                <a:gd name="connsiteY0" fmla="*/ 0 h 426446"/>
                <a:gd name="connsiteX1" fmla="*/ 1280734 w 1483152"/>
                <a:gd name="connsiteY1" fmla="*/ 0 h 426446"/>
                <a:gd name="connsiteX2" fmla="*/ 1483152 w 1483152"/>
                <a:gd name="connsiteY2" fmla="*/ 202418 h 426446"/>
                <a:gd name="connsiteX3" fmla="*/ 1483152 w 1483152"/>
                <a:gd name="connsiteY3" fmla="*/ 426446 h 426446"/>
                <a:gd name="connsiteX4" fmla="*/ 0 w 1483152"/>
                <a:gd name="connsiteY4" fmla="*/ 426446 h 426446"/>
                <a:gd name="connsiteX5" fmla="*/ 0 w 1483152"/>
                <a:gd name="connsiteY5" fmla="*/ 202418 h 426446"/>
                <a:gd name="connsiteX6" fmla="*/ 202418 w 1483152"/>
                <a:gd name="connsiteY6" fmla="*/ 0 h 426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3152" h="426446">
                  <a:moveTo>
                    <a:pt x="202418" y="0"/>
                  </a:moveTo>
                  <a:lnTo>
                    <a:pt x="1280734" y="0"/>
                  </a:lnTo>
                  <a:cubicBezTo>
                    <a:pt x="1392526" y="0"/>
                    <a:pt x="1483152" y="90626"/>
                    <a:pt x="1483152" y="202418"/>
                  </a:cubicBezTo>
                  <a:lnTo>
                    <a:pt x="1483152" y="426446"/>
                  </a:lnTo>
                  <a:lnTo>
                    <a:pt x="0" y="426446"/>
                  </a:lnTo>
                  <a:lnTo>
                    <a:pt x="0" y="202418"/>
                  </a:lnTo>
                  <a:cubicBezTo>
                    <a:pt x="0" y="90626"/>
                    <a:pt x="90626" y="0"/>
                    <a:pt x="202418" y="0"/>
                  </a:cubicBezTo>
                  <a:close/>
                </a:path>
              </a:pathLst>
            </a:custGeom>
            <a:solidFill>
              <a:srgbClr val="4472C4"/>
            </a:solidFill>
            <a:ln w="12700" cap="flat" cmpd="sng" algn="ctr">
              <a:solidFill>
                <a:srgbClr val="4472C4"/>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基础模型正确率</a:t>
              </a:r>
            </a:p>
          </p:txBody>
        </p:sp>
      </p:grpSp>
      <p:sp>
        <p:nvSpPr>
          <p:cNvPr id="125" name="文本框 30">
            <a:extLst>
              <a:ext uri="{FF2B5EF4-FFF2-40B4-BE49-F238E27FC236}">
                <a16:creationId xmlns:a16="http://schemas.microsoft.com/office/drawing/2014/main" id="{B27EAB78-7EC9-5FED-6343-151D11CBBCA3}"/>
              </a:ext>
            </a:extLst>
          </p:cNvPr>
          <p:cNvSpPr txBox="1"/>
          <p:nvPr>
            <p:custDataLst>
              <p:tags r:id="rId28"/>
            </p:custDataLst>
          </p:nvPr>
        </p:nvSpPr>
        <p:spPr>
          <a:xfrm>
            <a:off x="9570115" y="4081822"/>
            <a:ext cx="160337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黑体" panose="02010609060101010101" charset="-122"/>
              </a:rPr>
              <a:t>提升</a:t>
            </a:r>
            <a:r>
              <a:rPr kumimoji="0" lang="en-US" altLang="zh-CN"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黑体" panose="02010609060101010101" charset="-122"/>
              </a:rPr>
              <a:t>5%</a:t>
            </a:r>
          </a:p>
        </p:txBody>
      </p:sp>
      <p:grpSp>
        <p:nvGrpSpPr>
          <p:cNvPr id="126" name="组合 125">
            <a:extLst>
              <a:ext uri="{FF2B5EF4-FFF2-40B4-BE49-F238E27FC236}">
                <a16:creationId xmlns:a16="http://schemas.microsoft.com/office/drawing/2014/main" id="{722325D1-A66A-237F-6FAD-0A0203991730}"/>
              </a:ext>
            </a:extLst>
          </p:cNvPr>
          <p:cNvGrpSpPr/>
          <p:nvPr/>
        </p:nvGrpSpPr>
        <p:grpSpPr>
          <a:xfrm>
            <a:off x="9544080" y="2227833"/>
            <a:ext cx="1670685" cy="871855"/>
            <a:chOff x="13248" y="3468"/>
            <a:chExt cx="2631" cy="1373"/>
          </a:xfrm>
        </p:grpSpPr>
        <p:sp>
          <p:nvSpPr>
            <p:cNvPr id="127" name="矩形: 圆角 122">
              <a:extLst>
                <a:ext uri="{FF2B5EF4-FFF2-40B4-BE49-F238E27FC236}">
                  <a16:creationId xmlns:a16="http://schemas.microsoft.com/office/drawing/2014/main" id="{8A53F1EF-251A-5909-E30D-491A4BC84C60}"/>
                </a:ext>
              </a:extLst>
            </p:cNvPr>
            <p:cNvSpPr/>
            <p:nvPr>
              <p:custDataLst>
                <p:tags r:id="rId31"/>
              </p:custDataLst>
            </p:nvPr>
          </p:nvSpPr>
          <p:spPr>
            <a:xfrm>
              <a:off x="13248" y="3497"/>
              <a:ext cx="2628" cy="1344"/>
            </a:xfrm>
            <a:prstGeom prst="roundRect">
              <a:avLst/>
            </a:prstGeom>
            <a:solidFill>
              <a:sysClr val="window" lastClr="FFFFFF"/>
            </a:solidFill>
            <a:ln w="12700" cap="flat" cmpd="sng" algn="ctr">
              <a:solidFill>
                <a:srgbClr val="5B9BD5"/>
              </a:solidFill>
              <a:prstDash val="solid"/>
              <a:miter lim="800000"/>
            </a:ln>
            <a:effectLst>
              <a:outerShdw blurRad="50800" dist="38100" dir="2700000" sx="98000" sy="98000" algn="tl" rotWithShape="0">
                <a:prstClr val="black">
                  <a:alpha val="40000"/>
                </a:prstClr>
              </a:outerShdw>
            </a:effectLst>
          </p:spPr>
          <p:txBody>
            <a:bodyPr lIns="0" tIns="0" rIns="0" bIns="0"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zh-CN" altLang="en-US" sz="1800" b="1" i="0" u="none" strike="noStrike" kern="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sp>
          <p:nvSpPr>
            <p:cNvPr id="128" name="任意多边形: 形状 123">
              <a:extLst>
                <a:ext uri="{FF2B5EF4-FFF2-40B4-BE49-F238E27FC236}">
                  <a16:creationId xmlns:a16="http://schemas.microsoft.com/office/drawing/2014/main" id="{A7BB727C-2F4E-67C5-EF6A-56D10932A4DD}"/>
                </a:ext>
              </a:extLst>
            </p:cNvPr>
            <p:cNvSpPr/>
            <p:nvPr>
              <p:custDataLst>
                <p:tags r:id="rId32"/>
              </p:custDataLst>
            </p:nvPr>
          </p:nvSpPr>
          <p:spPr>
            <a:xfrm>
              <a:off x="13248" y="3468"/>
              <a:ext cx="2631" cy="648"/>
            </a:xfrm>
            <a:custGeom>
              <a:avLst/>
              <a:gdLst>
                <a:gd name="connsiteX0" fmla="*/ 202418 w 1483152"/>
                <a:gd name="connsiteY0" fmla="*/ 0 h 426446"/>
                <a:gd name="connsiteX1" fmla="*/ 1280734 w 1483152"/>
                <a:gd name="connsiteY1" fmla="*/ 0 h 426446"/>
                <a:gd name="connsiteX2" fmla="*/ 1483152 w 1483152"/>
                <a:gd name="connsiteY2" fmla="*/ 202418 h 426446"/>
                <a:gd name="connsiteX3" fmla="*/ 1483152 w 1483152"/>
                <a:gd name="connsiteY3" fmla="*/ 426446 h 426446"/>
                <a:gd name="connsiteX4" fmla="*/ 0 w 1483152"/>
                <a:gd name="connsiteY4" fmla="*/ 426446 h 426446"/>
                <a:gd name="connsiteX5" fmla="*/ 0 w 1483152"/>
                <a:gd name="connsiteY5" fmla="*/ 202418 h 426446"/>
                <a:gd name="connsiteX6" fmla="*/ 202418 w 1483152"/>
                <a:gd name="connsiteY6" fmla="*/ 0 h 426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3152" h="426446">
                  <a:moveTo>
                    <a:pt x="202418" y="0"/>
                  </a:moveTo>
                  <a:lnTo>
                    <a:pt x="1280734" y="0"/>
                  </a:lnTo>
                  <a:cubicBezTo>
                    <a:pt x="1392526" y="0"/>
                    <a:pt x="1483152" y="90626"/>
                    <a:pt x="1483152" y="202418"/>
                  </a:cubicBezTo>
                  <a:lnTo>
                    <a:pt x="1483152" y="426446"/>
                  </a:lnTo>
                  <a:lnTo>
                    <a:pt x="0" y="426446"/>
                  </a:lnTo>
                  <a:lnTo>
                    <a:pt x="0" y="202418"/>
                  </a:lnTo>
                  <a:cubicBezTo>
                    <a:pt x="0" y="90626"/>
                    <a:pt x="90626" y="0"/>
                    <a:pt x="202418" y="0"/>
                  </a:cubicBezTo>
                  <a:close/>
                </a:path>
              </a:pathLst>
            </a:custGeom>
            <a:solidFill>
              <a:srgbClr val="4472C4"/>
            </a:solidFill>
            <a:ln w="12700" cap="flat" cmpd="sng" algn="ctr">
              <a:solidFill>
                <a:srgbClr val="4472C4"/>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rPr>
                <a:t>模型编辑稳定性</a:t>
              </a:r>
            </a:p>
          </p:txBody>
        </p:sp>
      </p:grpSp>
      <p:sp>
        <p:nvSpPr>
          <p:cNvPr id="129" name="文本框 30">
            <a:extLst>
              <a:ext uri="{FF2B5EF4-FFF2-40B4-BE49-F238E27FC236}">
                <a16:creationId xmlns:a16="http://schemas.microsoft.com/office/drawing/2014/main" id="{5E37624C-6A85-3770-F344-8853525F1AC0}"/>
              </a:ext>
            </a:extLst>
          </p:cNvPr>
          <p:cNvSpPr txBox="1"/>
          <p:nvPr>
            <p:custDataLst>
              <p:tags r:id="rId29"/>
            </p:custDataLst>
          </p:nvPr>
        </p:nvSpPr>
        <p:spPr>
          <a:xfrm>
            <a:off x="9570115" y="2682705"/>
            <a:ext cx="160337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黑体" panose="02010609060101010101" charset="-122"/>
              </a:rPr>
              <a:t>提升</a:t>
            </a:r>
            <a:r>
              <a:rPr kumimoji="0" lang="en-US" altLang="zh-CN" sz="1800" b="0" i="0" u="none" strike="noStrike" kern="120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cs typeface="黑体" panose="02010609060101010101" charset="-122"/>
              </a:rPr>
              <a:t>20%</a:t>
            </a:r>
          </a:p>
        </p:txBody>
      </p:sp>
      <p:sp>
        <p:nvSpPr>
          <p:cNvPr id="130" name="矩形: 圆角 112">
            <a:extLst>
              <a:ext uri="{FF2B5EF4-FFF2-40B4-BE49-F238E27FC236}">
                <a16:creationId xmlns:a16="http://schemas.microsoft.com/office/drawing/2014/main" id="{6DE60145-E5FE-07F7-7DA7-6DB4F72732D9}"/>
              </a:ext>
            </a:extLst>
          </p:cNvPr>
          <p:cNvSpPr/>
          <p:nvPr>
            <p:custDataLst>
              <p:tags r:id="rId30"/>
            </p:custDataLst>
          </p:nvPr>
        </p:nvSpPr>
        <p:spPr>
          <a:xfrm>
            <a:off x="11348989" y="1976592"/>
            <a:ext cx="379095" cy="4089083"/>
          </a:xfrm>
          <a:prstGeom prst="roundRect">
            <a:avLst>
              <a:gd name="adj" fmla="val 17847"/>
            </a:avLst>
          </a:prstGeom>
          <a:ln/>
        </p:spPr>
        <p:style>
          <a:lnRef idx="2">
            <a:schemeClr val="accent1">
              <a:shade val="15000"/>
            </a:schemeClr>
          </a:lnRef>
          <a:fillRef idx="1">
            <a:schemeClr val="accent1"/>
          </a:fillRef>
          <a:effectRef idx="0">
            <a:schemeClr val="accent1"/>
          </a:effectRef>
          <a:fontRef idx="minor">
            <a:schemeClr val="lt1"/>
          </a:fontRef>
        </p:style>
        <p:txBody>
          <a:bodyPr vert="mongolianVert"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Arial" panose="020B0604020202020204" pitchFamily="34" charset="0"/>
              </a:rPr>
              <a:t>数据知识双驱的（逆）合成新架构</a:t>
            </a:r>
            <a:endParaRPr kumimoji="0" lang="en-US" altLang="zh-CN" sz="2000" b="0" i="0" u="none" strike="noStrike" kern="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Arial" panose="020B0604020202020204" pitchFamily="34" charset="0"/>
            </a:endParaRPr>
          </a:p>
        </p:txBody>
      </p:sp>
      <p:pic>
        <p:nvPicPr>
          <p:cNvPr id="4" name="Graphic 5">
            <a:extLst>
              <a:ext uri="{FF2B5EF4-FFF2-40B4-BE49-F238E27FC236}">
                <a16:creationId xmlns:a16="http://schemas.microsoft.com/office/drawing/2014/main" id="{FD2D397A-E23C-FF65-EB7C-F001233F8C99}"/>
              </a:ext>
            </a:extLst>
          </p:cNvPr>
          <p:cNvPicPr>
            <a:picLocks noChangeAspect="1"/>
          </p:cNvPicPr>
          <p:nvPr/>
        </p:nvPicPr>
        <p:blipFill rotWithShape="1">
          <a:blip r:embed="rId57">
            <a:extLst>
              <a:ext uri="{28A0092B-C50C-407E-A947-70E740481C1C}">
                <a14:useLocalDpi xmlns:a14="http://schemas.microsoft.com/office/drawing/2010/main" val="0"/>
              </a:ext>
              <a:ext uri="{96DAC541-7B7A-43D3-8B79-37D633B846F1}">
                <asvg:svgBlip xmlns:asvg="http://schemas.microsoft.com/office/drawing/2016/SVG/main" r:embed="rId58"/>
              </a:ext>
            </a:extLst>
          </a:blip>
          <a:srcRect l="6226" t="13310" r="8094" b="10241"/>
          <a:stretch/>
        </p:blipFill>
        <p:spPr>
          <a:xfrm>
            <a:off x="6039167" y="179979"/>
            <a:ext cx="1835308" cy="594813"/>
          </a:xfrm>
          <a:prstGeom prst="rect">
            <a:avLst/>
          </a:prstGeom>
        </p:spPr>
      </p:pic>
      <p:pic>
        <p:nvPicPr>
          <p:cNvPr id="5" name="图片 10" descr="武汉大学logo-02">
            <a:extLst>
              <a:ext uri="{FF2B5EF4-FFF2-40B4-BE49-F238E27FC236}">
                <a16:creationId xmlns:a16="http://schemas.microsoft.com/office/drawing/2014/main" id="{E937E8CB-56EC-BE99-A8B6-56753E7D9010}"/>
              </a:ext>
            </a:extLst>
          </p:cNvPr>
          <p:cNvPicPr>
            <a:picLocks noChangeAspect="1"/>
          </p:cNvPicPr>
          <p:nvPr/>
        </p:nvPicPr>
        <p:blipFill>
          <a:blip r:embed="rId59"/>
          <a:stretch>
            <a:fillRect/>
          </a:stretch>
        </p:blipFill>
        <p:spPr>
          <a:xfrm>
            <a:off x="8030845" y="95351"/>
            <a:ext cx="2045273" cy="763686"/>
          </a:xfrm>
          <a:prstGeom prst="rect">
            <a:avLst/>
          </a:prstGeom>
        </p:spPr>
      </p:pic>
      <p:pic>
        <p:nvPicPr>
          <p:cNvPr id="6" name="Picture 2">
            <a:extLst>
              <a:ext uri="{FF2B5EF4-FFF2-40B4-BE49-F238E27FC236}">
                <a16:creationId xmlns:a16="http://schemas.microsoft.com/office/drawing/2014/main" id="{A9601455-0882-FE71-AE34-9E8B740E3EC7}"/>
              </a:ext>
            </a:extLst>
          </p:cNvPr>
          <p:cNvPicPr>
            <a:picLocks noChangeAspect="1" noChangeArrowheads="1"/>
          </p:cNvPicPr>
          <p:nvPr/>
        </p:nvPicPr>
        <p:blipFill>
          <a:blip r:embed="rId60" cstate="print">
            <a:extLst>
              <a:ext uri="{28A0092B-C50C-407E-A947-70E740481C1C}">
                <a14:useLocalDpi xmlns:a14="http://schemas.microsoft.com/office/drawing/2010/main" val="0"/>
              </a:ext>
            </a:extLst>
          </a:blip>
          <a:srcRect/>
          <a:stretch>
            <a:fillRect/>
          </a:stretch>
        </p:blipFill>
        <p:spPr bwMode="auto">
          <a:xfrm>
            <a:off x="10100248" y="108547"/>
            <a:ext cx="1820671" cy="623011"/>
          </a:xfrm>
          <a:prstGeom prst="rect">
            <a:avLst/>
          </a:prstGeom>
          <a:noFill/>
          <a:extLst>
            <a:ext uri="{909E8E84-426E-40DD-AFC4-6F175D3DCCD1}">
              <a14:hiddenFill xmlns:a14="http://schemas.microsoft.com/office/drawing/2010/main">
                <a:solidFill>
                  <a:srgbClr val="FFFFFF"/>
                </a:solidFill>
              </a14:hiddenFill>
            </a:ext>
          </a:extLst>
        </p:spPr>
      </p:pic>
      <p:sp>
        <p:nvSpPr>
          <p:cNvPr id="7" name="灯片编号占位符 1">
            <a:extLst>
              <a:ext uri="{FF2B5EF4-FFF2-40B4-BE49-F238E27FC236}">
                <a16:creationId xmlns:a16="http://schemas.microsoft.com/office/drawing/2014/main" id="{FB12822F-0B2D-81EC-E506-7A666FDA0050}"/>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20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62B6538A-33AE-45EB-868C-14B9E34ED961}" type="slidenum">
              <a:rPr lang="zh-CN" altLang="en-US" sz="1200" smtClean="0">
                <a:solidFill>
                  <a:prstClr val="black">
                    <a:tint val="75000"/>
                  </a:prstClr>
                </a:solidFill>
                <a:latin typeface="Calibri" panose="020F0502020204030204"/>
                <a:ea typeface="宋体" panose="02010600030101010101" pitchFamily="2" charset="-122"/>
              </a:rPr>
              <a:pPr>
                <a:defRPr/>
              </a:pPr>
              <a:t>15</a:t>
            </a:fld>
            <a:endParaRPr lang="zh-CN" altLang="en-US" sz="1200">
              <a:solidFill>
                <a:prstClr val="black">
                  <a:tint val="75000"/>
                </a:prstClr>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3523506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9A693-CBB1-F919-5D8C-C4E622D4FFAF}"/>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59BC0DD8-92A1-7F8C-EFA8-C7C0652FD8EB}"/>
              </a:ext>
            </a:extLst>
          </p:cNvPr>
          <p:cNvSpPr txBox="1"/>
          <p:nvPr/>
        </p:nvSpPr>
        <p:spPr>
          <a:xfrm>
            <a:off x="129541" y="129715"/>
            <a:ext cx="5909626" cy="677108"/>
          </a:xfrm>
          <a:prstGeom prst="rect">
            <a:avLst/>
          </a:prstGeom>
          <a:noFill/>
        </p:spPr>
        <p:txBody>
          <a:bodyPr wrap="square" rtlCol="0">
            <a:spAutoFit/>
          </a:bodyPr>
          <a:lstStyle/>
          <a:p>
            <a:pPr lvl="0">
              <a:defRPr/>
            </a:pP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国家科技创新</a:t>
            </a:r>
            <a:r>
              <a:rPr kumimoji="0" lang="en-US" altLang="zh-CN"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2030</a:t>
            </a: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重大项目</a:t>
            </a:r>
            <a:r>
              <a:rPr kumimoji="0" lang="zh-CN" altLang="en-US" sz="2000" b="1" i="0" u="none" strike="noStrike" kern="1200" cap="none" spc="0" normalizeH="0" baseline="0" noProof="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课题：</a:t>
            </a:r>
            <a:r>
              <a:rPr lang="en-US" altLang="zh-CN" b="1"/>
              <a:t> Boosting Retrosynthesis via Molecular Property-Aware Learning</a:t>
            </a:r>
            <a:endParaRPr kumimoji="0" lang="zh-CN" altLang="en-US" sz="20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2" name="任意多边形: 形状 1">
            <a:extLst>
              <a:ext uri="{FF2B5EF4-FFF2-40B4-BE49-F238E27FC236}">
                <a16:creationId xmlns:a16="http://schemas.microsoft.com/office/drawing/2014/main" id="{CC18FA2A-220D-A0A8-11D5-69B645C03326}"/>
              </a:ext>
            </a:extLst>
          </p:cNvPr>
          <p:cNvSpPr/>
          <p:nvPr/>
        </p:nvSpPr>
        <p:spPr>
          <a:xfrm>
            <a:off x="432954" y="845751"/>
            <a:ext cx="11426658" cy="108000"/>
          </a:xfrm>
          <a:custGeom>
            <a:avLst/>
            <a:gdLst>
              <a:gd name="connsiteX0" fmla="*/ 2 w 11426658"/>
              <a:gd name="connsiteY0" fmla="*/ 0 h 108000"/>
              <a:gd name="connsiteX1" fmla="*/ 2164018 w 11426658"/>
              <a:gd name="connsiteY1" fmla="*/ 0 h 108000"/>
              <a:gd name="connsiteX2" fmla="*/ 2228214 w 11426658"/>
              <a:gd name="connsiteY2" fmla="*/ 55065 h 108000"/>
              <a:gd name="connsiteX3" fmla="*/ 11426658 w 11426658"/>
              <a:gd name="connsiteY3" fmla="*/ 55065 h 108000"/>
              <a:gd name="connsiteX4" fmla="*/ 11426658 w 11426658"/>
              <a:gd name="connsiteY4" fmla="*/ 108000 h 108000"/>
              <a:gd name="connsiteX5" fmla="*/ 2289926 w 11426658"/>
              <a:gd name="connsiteY5" fmla="*/ 108000 h 108000"/>
              <a:gd name="connsiteX6" fmla="*/ 2 w 11426658"/>
              <a:gd name="connsiteY6" fmla="*/ 108000 h 108000"/>
              <a:gd name="connsiteX7" fmla="*/ 0 w 11426658"/>
              <a:gd name="connsiteY7" fmla="*/ 108000 h 108000"/>
              <a:gd name="connsiteX8" fmla="*/ 0 w 11426658"/>
              <a:gd name="connsiteY8" fmla="*/ 55065 h 108000"/>
              <a:gd name="connsiteX9" fmla="*/ 2 w 11426658"/>
              <a:gd name="connsiteY9" fmla="*/ 55065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26658" h="108000">
                <a:moveTo>
                  <a:pt x="2" y="0"/>
                </a:moveTo>
                <a:lnTo>
                  <a:pt x="2164018" y="0"/>
                </a:lnTo>
                <a:lnTo>
                  <a:pt x="2228214" y="55065"/>
                </a:lnTo>
                <a:lnTo>
                  <a:pt x="11426658" y="55065"/>
                </a:lnTo>
                <a:lnTo>
                  <a:pt x="11426658" y="108000"/>
                </a:lnTo>
                <a:lnTo>
                  <a:pt x="2289926" y="108000"/>
                </a:lnTo>
                <a:lnTo>
                  <a:pt x="2" y="108000"/>
                </a:lnTo>
                <a:lnTo>
                  <a:pt x="0" y="108000"/>
                </a:lnTo>
                <a:lnTo>
                  <a:pt x="0" y="55065"/>
                </a:lnTo>
                <a:lnTo>
                  <a:pt x="2" y="55065"/>
                </a:lnTo>
                <a:close/>
              </a:path>
            </a:pathLst>
          </a:custGeom>
          <a:gradFill>
            <a:gsLst>
              <a:gs pos="0">
                <a:srgbClr val="003DA6"/>
              </a:gs>
              <a:gs pos="20000">
                <a:srgbClr val="009BD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white"/>
              </a:solidFill>
              <a:effectLst/>
              <a:uLnTx/>
              <a:uFillTx/>
              <a:latin typeface="Calibri" panose="020F0502020204030204" pitchFamily="34" charset="0"/>
              <a:ea typeface="黑体" panose="02010609060101010101" pitchFamily="49" charset="-122"/>
              <a:cs typeface="Calibri" panose="020F0502020204030204" pitchFamily="34" charset="0"/>
            </a:endParaRPr>
          </a:p>
        </p:txBody>
      </p:sp>
      <p:sp>
        <p:nvSpPr>
          <p:cNvPr id="7" name="文本框 5">
            <a:extLst>
              <a:ext uri="{FF2B5EF4-FFF2-40B4-BE49-F238E27FC236}">
                <a16:creationId xmlns:a16="http://schemas.microsoft.com/office/drawing/2014/main" id="{A8D47BB4-64BD-8B9A-9154-92568DCF23D8}"/>
              </a:ext>
            </a:extLst>
          </p:cNvPr>
          <p:cNvSpPr txBox="1">
            <a:spLocks noChangeArrowheads="1"/>
          </p:cNvSpPr>
          <p:nvPr/>
        </p:nvSpPr>
        <p:spPr bwMode="auto">
          <a:xfrm>
            <a:off x="55872" y="953751"/>
            <a:ext cx="12180822" cy="924099"/>
          </a:xfrm>
          <a:prstGeom prst="rect">
            <a:avLst/>
          </a:prstGeom>
          <a:noFill/>
          <a:ln w="9525">
            <a:noFill/>
            <a:miter lim="800000"/>
          </a:ln>
        </p:spPr>
        <p:txBody>
          <a:bodyPr wrap="square" anchor="t" anchorCtr="0">
            <a:spAutoFit/>
          </a:bodyPr>
          <a:lstStyle/>
          <a:p>
            <a:pPr marL="342900" indent="-342900" fontAlgn="ctr">
              <a:lnSpc>
                <a:spcPct val="90000"/>
              </a:lnSpc>
              <a:spcBef>
                <a:spcPts val="600"/>
              </a:spcBef>
              <a:buSzPct val="120000"/>
              <a:buFont typeface="Wingdings" panose="05000000000000000000" pitchFamily="2" charset="2"/>
              <a:buChar char="p"/>
              <a:defRPr/>
            </a:pPr>
            <a:r>
              <a:rPr lang="zh-CN" altLang="en-US" b="1" dirty="0">
                <a:latin typeface="微软雅黑" panose="020B0503020204020204" pitchFamily="34" charset="-122"/>
                <a:ea typeface="微软雅黑" panose="020B0503020204020204" pitchFamily="34" charset="-122"/>
                <a:cs typeface="Arial" panose="020B0604020202020204" pitchFamily="34" charset="0"/>
              </a:rPr>
              <a:t>基于</a:t>
            </a:r>
            <a:r>
              <a:rPr lang="zh-CN" altLang="en-US"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知识驱动</a:t>
            </a:r>
            <a:r>
              <a:rPr lang="zh-CN" altLang="en-US" b="1" dirty="0">
                <a:latin typeface="微软雅黑" panose="020B0503020204020204" pitchFamily="34" charset="-122"/>
                <a:ea typeface="微软雅黑" panose="020B0503020204020204" pitchFamily="34" charset="-122"/>
                <a:cs typeface="Arial" panose="020B0604020202020204" pitchFamily="34" charset="0"/>
              </a:rPr>
              <a:t>将分子性质知识注入进逆合成中，从反应规则的学习到反应物的输出的逆合成全流程都基于分子知识作为先验，与现有数种数据驱动方法</a:t>
            </a:r>
            <a:r>
              <a:rPr lang="zh-CN" altLang="en-US"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无缝集成</a:t>
            </a:r>
            <a:r>
              <a:rPr lang="zh-CN" altLang="en-US" b="1" dirty="0">
                <a:latin typeface="微软雅黑" panose="020B0503020204020204" pitchFamily="34" charset="-122"/>
                <a:ea typeface="微软雅黑" panose="020B0503020204020204" pitchFamily="34" charset="-122"/>
                <a:cs typeface="Arial" panose="020B0604020202020204" pitchFamily="34" charset="0"/>
              </a:rPr>
              <a:t>，无需对现有数种数据驱动方法进行任何改动或微调下明显改善性能</a:t>
            </a:r>
          </a:p>
          <a:p>
            <a:pPr marL="342900" indent="-342900" fontAlgn="ctr">
              <a:lnSpc>
                <a:spcPct val="90000"/>
              </a:lnSpc>
              <a:spcBef>
                <a:spcPts val="600"/>
              </a:spcBef>
              <a:buSzPct val="120000"/>
              <a:buFont typeface="Wingdings" panose="05000000000000000000" pitchFamily="2" charset="2"/>
              <a:buChar char="p"/>
              <a:defRPr/>
            </a:pPr>
            <a:endParaRPr lang="en-US" altLang="zh-CN"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文本框 7">
            <a:extLst>
              <a:ext uri="{FF2B5EF4-FFF2-40B4-BE49-F238E27FC236}">
                <a16:creationId xmlns:a16="http://schemas.microsoft.com/office/drawing/2014/main" id="{812FC4A6-0162-04F1-056E-BC940DDD51C6}"/>
              </a:ext>
            </a:extLst>
          </p:cNvPr>
          <p:cNvSpPr txBox="1"/>
          <p:nvPr/>
        </p:nvSpPr>
        <p:spPr>
          <a:xfrm>
            <a:off x="8886658" y="1533231"/>
            <a:ext cx="3034261" cy="5078313"/>
          </a:xfrm>
          <a:prstGeom prst="rect">
            <a:avLst/>
          </a:prstGeom>
          <a:noFill/>
        </p:spPr>
        <p:txBody>
          <a:bodyPr wrap="square">
            <a:spAutoFit/>
          </a:bodyPr>
          <a:lstStyle/>
          <a:p>
            <a:pPr marL="285750" indent="-285750" algn="just">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cs typeface="Arial" panose="020B0604020202020204" pitchFamily="34" charset="0"/>
              </a:rPr>
              <a:t>现有问题：传统数据驱动的模型往往是“</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黑箱</a:t>
            </a:r>
            <a:r>
              <a:rPr lang="zh-CN" altLang="en-US" dirty="0">
                <a:latin typeface="微软雅黑" panose="020B0503020204020204" pitchFamily="34" charset="-122"/>
                <a:ea typeface="微软雅黑" panose="020B0503020204020204" pitchFamily="34" charset="-122"/>
                <a:cs typeface="Arial" panose="020B0604020202020204" pitchFamily="34" charset="0"/>
              </a:rPr>
              <a:t>”；逆合成主流无模板方法虽然灵活，但求解空间过大，且无法提供可解释的推理过程。</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285750" indent="-285750" algn="just">
              <a:buFont typeface="Wingdings" panose="05000000000000000000" pitchFamily="2" charset="2"/>
              <a:buChar char="l"/>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285750" indent="-285750" algn="just">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cs typeface="Arial" panose="020B0604020202020204" pitchFamily="34" charset="0"/>
              </a:rPr>
              <a:t>框架：采用</a:t>
            </a:r>
            <a:r>
              <a:rPr lang="en-US" altLang="zh-CN" dirty="0">
                <a:latin typeface="微软雅黑" panose="020B0503020204020204" pitchFamily="34" charset="-122"/>
                <a:ea typeface="微软雅黑" panose="020B0503020204020204" pitchFamily="34" charset="-122"/>
                <a:cs typeface="Arial" panose="020B0604020202020204" pitchFamily="34" charset="0"/>
              </a:rPr>
              <a:t>Mol-Former</a:t>
            </a:r>
            <a:r>
              <a:rPr lang="zh-CN" altLang="en-US" dirty="0">
                <a:latin typeface="微软雅黑" panose="020B0503020204020204" pitchFamily="34" charset="-122"/>
                <a:ea typeface="微软雅黑" panose="020B0503020204020204" pitchFamily="34" charset="-122"/>
                <a:cs typeface="Arial" panose="020B0604020202020204" pitchFamily="34" charset="0"/>
              </a:rPr>
              <a:t>学习分子化学性质知识，并以</a:t>
            </a:r>
            <a:r>
              <a:rPr lang="en-US" altLang="zh-CN" dirty="0">
                <a:latin typeface="微软雅黑" panose="020B0503020204020204" pitchFamily="34" charset="-122"/>
                <a:ea typeface="微软雅黑" panose="020B0503020204020204" pitchFamily="34" charset="-122"/>
                <a:cs typeface="Arial" panose="020B0604020202020204" pitchFamily="34" charset="0"/>
              </a:rPr>
              <a:t>Transformer</a:t>
            </a:r>
            <a:r>
              <a:rPr lang="zh-CN" altLang="en-US" dirty="0">
                <a:latin typeface="微软雅黑" panose="020B0503020204020204" pitchFamily="34" charset="-122"/>
                <a:ea typeface="微软雅黑" panose="020B0503020204020204" pitchFamily="34" charset="-122"/>
                <a:cs typeface="Arial" panose="020B0604020202020204" pitchFamily="34" charset="0"/>
              </a:rPr>
              <a:t>作为逆合成的基座模型，形成一个编码器</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解码器架构。</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285750" indent="-285750" algn="just">
              <a:buFont typeface="Wingdings" panose="05000000000000000000" pitchFamily="2" charset="2"/>
              <a:buChar char="l"/>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285750" indent="-285750" algn="just">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cs typeface="Arial" panose="020B0604020202020204" pitchFamily="34" charset="0"/>
              </a:rPr>
              <a:t>评估</a:t>
            </a:r>
            <a:r>
              <a:rPr lang="zh-CN" altLang="en-US">
                <a:latin typeface="微软雅黑" panose="020B0503020204020204" pitchFamily="34" charset="-122"/>
                <a:ea typeface="微软雅黑" panose="020B0503020204020204" pitchFamily="34" charset="-122"/>
                <a:cs typeface="Arial" panose="020B0604020202020204" pitchFamily="34" charset="0"/>
              </a:rPr>
              <a:t>：</a:t>
            </a:r>
            <a:r>
              <a:rPr lang="en-US" altLang="zh-CN">
                <a:latin typeface="微软雅黑" panose="020B0503020204020204" pitchFamily="34" charset="-122"/>
                <a:ea typeface="微软雅黑" panose="020B0503020204020204" pitchFamily="34" charset="-122"/>
                <a:cs typeface="Arial" panose="020B0604020202020204" pitchFamily="34" charset="0"/>
              </a:rPr>
              <a:t>RetroMPA</a:t>
            </a:r>
            <a:r>
              <a:rPr lang="zh-CN" altLang="en-US">
                <a:latin typeface="微软雅黑" panose="020B0503020204020204" pitchFamily="34" charset="-122"/>
                <a:ea typeface="微软雅黑" panose="020B0503020204020204" pitchFamily="34" charset="-122"/>
                <a:cs typeface="Arial" panose="020B0604020202020204" pitchFamily="34" charset="0"/>
              </a:rPr>
              <a:t>在</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不修改</a:t>
            </a:r>
            <a:r>
              <a:rPr lang="zh-CN" altLang="en-US" dirty="0">
                <a:latin typeface="微软雅黑" panose="020B0503020204020204" pitchFamily="34" charset="-122"/>
                <a:ea typeface="微软雅黑" panose="020B0503020204020204" pitchFamily="34" charset="-122"/>
                <a:cs typeface="Arial" panose="020B0604020202020204" pitchFamily="34" charset="0"/>
              </a:rPr>
              <a:t>任何原始模型的情况下，为所有被测模型带来了</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平均</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2.39%</a:t>
            </a:r>
            <a:r>
              <a:rPr lang="zh-CN" altLang="en-US" dirty="0">
                <a:latin typeface="微软雅黑" panose="020B0503020204020204" pitchFamily="34" charset="-122"/>
                <a:ea typeface="微软雅黑" panose="020B0503020204020204" pitchFamily="34" charset="-122"/>
                <a:cs typeface="Arial" panose="020B0604020202020204" pitchFamily="34" charset="0"/>
              </a:rPr>
              <a:t>的</a:t>
            </a:r>
            <a:r>
              <a:rPr lang="en-US" altLang="zh-CN" dirty="0">
                <a:latin typeface="微软雅黑" panose="020B0503020204020204" pitchFamily="34" charset="-122"/>
                <a:ea typeface="微软雅黑" panose="020B0503020204020204" pitchFamily="34" charset="-122"/>
                <a:cs typeface="Arial" panose="020B0604020202020204" pitchFamily="34" charset="0"/>
              </a:rPr>
              <a:t>Top-1</a:t>
            </a:r>
            <a:r>
              <a:rPr lang="zh-CN" altLang="en-US" dirty="0">
                <a:latin typeface="微软雅黑" panose="020B0503020204020204" pitchFamily="34" charset="-122"/>
                <a:ea typeface="微软雅黑" panose="020B0503020204020204" pitchFamily="34" charset="-122"/>
                <a:cs typeface="Arial" panose="020B0604020202020204" pitchFamily="34" charset="0"/>
              </a:rPr>
              <a:t>准确率提升。</a:t>
            </a:r>
          </a:p>
        </p:txBody>
      </p:sp>
      <p:pic>
        <p:nvPicPr>
          <p:cNvPr id="3" name="图片 2">
            <a:extLst>
              <a:ext uri="{FF2B5EF4-FFF2-40B4-BE49-F238E27FC236}">
                <a16:creationId xmlns:a16="http://schemas.microsoft.com/office/drawing/2014/main" id="{CACF9842-63A8-CC0D-982C-B523D7042850}"/>
              </a:ext>
            </a:extLst>
          </p:cNvPr>
          <p:cNvPicPr>
            <a:picLocks noChangeAspect="1"/>
          </p:cNvPicPr>
          <p:nvPr/>
        </p:nvPicPr>
        <p:blipFill>
          <a:blip r:embed="rId3"/>
          <a:stretch>
            <a:fillRect/>
          </a:stretch>
        </p:blipFill>
        <p:spPr>
          <a:xfrm>
            <a:off x="703694" y="1657804"/>
            <a:ext cx="7996030" cy="4829166"/>
          </a:xfrm>
          <a:prstGeom prst="rect">
            <a:avLst/>
          </a:prstGeom>
        </p:spPr>
      </p:pic>
      <p:pic>
        <p:nvPicPr>
          <p:cNvPr id="5" name="Graphic 5">
            <a:extLst>
              <a:ext uri="{FF2B5EF4-FFF2-40B4-BE49-F238E27FC236}">
                <a16:creationId xmlns:a16="http://schemas.microsoft.com/office/drawing/2014/main" id="{F48CD3CD-56B2-CD71-07AA-AB6419C24C9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6226" t="13310" r="8094" b="10241"/>
          <a:stretch/>
        </p:blipFill>
        <p:spPr>
          <a:xfrm>
            <a:off x="6039167" y="179979"/>
            <a:ext cx="1835308" cy="594813"/>
          </a:xfrm>
          <a:prstGeom prst="rect">
            <a:avLst/>
          </a:prstGeom>
        </p:spPr>
      </p:pic>
      <p:pic>
        <p:nvPicPr>
          <p:cNvPr id="6" name="图片 10" descr="武汉大学logo-02">
            <a:extLst>
              <a:ext uri="{FF2B5EF4-FFF2-40B4-BE49-F238E27FC236}">
                <a16:creationId xmlns:a16="http://schemas.microsoft.com/office/drawing/2014/main" id="{D9B67E12-8C8D-F17A-AFCD-D08EE1AF10C2}"/>
              </a:ext>
            </a:extLst>
          </p:cNvPr>
          <p:cNvPicPr>
            <a:picLocks noChangeAspect="1"/>
          </p:cNvPicPr>
          <p:nvPr/>
        </p:nvPicPr>
        <p:blipFill>
          <a:blip r:embed="rId6"/>
          <a:stretch>
            <a:fillRect/>
          </a:stretch>
        </p:blipFill>
        <p:spPr>
          <a:xfrm>
            <a:off x="8030845" y="95351"/>
            <a:ext cx="2045273" cy="763686"/>
          </a:xfrm>
          <a:prstGeom prst="rect">
            <a:avLst/>
          </a:prstGeom>
        </p:spPr>
      </p:pic>
      <p:pic>
        <p:nvPicPr>
          <p:cNvPr id="9" name="Picture 2">
            <a:extLst>
              <a:ext uri="{FF2B5EF4-FFF2-40B4-BE49-F238E27FC236}">
                <a16:creationId xmlns:a16="http://schemas.microsoft.com/office/drawing/2014/main" id="{F040768A-43C6-ABF2-6D6A-73F8FCAB890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00248" y="108547"/>
            <a:ext cx="1820671" cy="623011"/>
          </a:xfrm>
          <a:prstGeom prst="rect">
            <a:avLst/>
          </a:prstGeom>
          <a:noFill/>
          <a:extLst>
            <a:ext uri="{909E8E84-426E-40DD-AFC4-6F175D3DCCD1}">
              <a14:hiddenFill xmlns:a14="http://schemas.microsoft.com/office/drawing/2010/main">
                <a:solidFill>
                  <a:srgbClr val="FFFFFF"/>
                </a:solidFill>
              </a14:hiddenFill>
            </a:ext>
          </a:extLst>
        </p:spPr>
      </p:pic>
      <p:sp>
        <p:nvSpPr>
          <p:cNvPr id="10" name="灯片编号占位符 1">
            <a:extLst>
              <a:ext uri="{FF2B5EF4-FFF2-40B4-BE49-F238E27FC236}">
                <a16:creationId xmlns:a16="http://schemas.microsoft.com/office/drawing/2014/main" id="{0939C0B1-18C5-6FBE-4C7A-11FFF0372A9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20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62B6538A-33AE-45EB-868C-14B9E34ED961}" type="slidenum">
              <a:rPr lang="zh-CN" altLang="en-US" sz="1200" smtClean="0">
                <a:solidFill>
                  <a:prstClr val="black">
                    <a:tint val="75000"/>
                  </a:prstClr>
                </a:solidFill>
                <a:latin typeface="Calibri" panose="020F0502020204030204"/>
                <a:ea typeface="宋体" panose="02010600030101010101" pitchFamily="2" charset="-122"/>
              </a:rPr>
              <a:pPr>
                <a:defRPr/>
              </a:pPr>
              <a:t>16</a:t>
            </a:fld>
            <a:endParaRPr lang="zh-CN" altLang="en-US" sz="1200">
              <a:solidFill>
                <a:prstClr val="black">
                  <a:tint val="75000"/>
                </a:prstClr>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3267042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2B72D-5278-9630-1B15-536645EEE090}"/>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F7AE1A02-C6B0-2C61-DAF7-3767B0515E53}"/>
              </a:ext>
            </a:extLst>
          </p:cNvPr>
          <p:cNvSpPr txBox="1"/>
          <p:nvPr/>
        </p:nvSpPr>
        <p:spPr>
          <a:xfrm>
            <a:off x="96183" y="91642"/>
            <a:ext cx="5671903" cy="6771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国家科技创新</a:t>
            </a:r>
            <a:r>
              <a:rPr kumimoji="0" lang="en-US" altLang="zh-CN"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2030</a:t>
            </a: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重大项目</a:t>
            </a:r>
            <a:r>
              <a:rPr kumimoji="0" lang="zh-CN" altLang="en-US" sz="2000" b="1" i="0" u="none" strike="noStrike" kern="1200" cap="none" spc="0" normalizeH="0" baseline="0" noProof="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课题：</a:t>
            </a:r>
            <a:r>
              <a:rPr lang="zh-CN" altLang="en-US" b="1"/>
              <a:t>科技部 </a:t>
            </a:r>
            <a:r>
              <a:rPr lang="en-US" altLang="zh-CN" b="1"/>
              <a:t>2030 </a:t>
            </a:r>
            <a:r>
              <a:rPr lang="zh-CN" altLang="en-US" b="1"/>
              <a:t>人工智能重大项目 </a:t>
            </a:r>
            <a:r>
              <a:rPr lang="en-US" altLang="zh-CN" b="1"/>
              <a:t>2023ZD0120802 | </a:t>
            </a:r>
            <a:r>
              <a:rPr lang="zh-CN" altLang="en-US" b="1"/>
              <a:t>浙大联合科研实习</a:t>
            </a:r>
            <a:endPar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2" name="任意多边形: 形状 1">
            <a:extLst>
              <a:ext uri="{FF2B5EF4-FFF2-40B4-BE49-F238E27FC236}">
                <a16:creationId xmlns:a16="http://schemas.microsoft.com/office/drawing/2014/main" id="{91B222E7-D057-9160-32FC-03CF111B3C1B}"/>
              </a:ext>
            </a:extLst>
          </p:cNvPr>
          <p:cNvSpPr/>
          <p:nvPr/>
        </p:nvSpPr>
        <p:spPr>
          <a:xfrm>
            <a:off x="432954" y="845751"/>
            <a:ext cx="11426658" cy="108000"/>
          </a:xfrm>
          <a:custGeom>
            <a:avLst/>
            <a:gdLst>
              <a:gd name="connsiteX0" fmla="*/ 2 w 11426658"/>
              <a:gd name="connsiteY0" fmla="*/ 0 h 108000"/>
              <a:gd name="connsiteX1" fmla="*/ 2164018 w 11426658"/>
              <a:gd name="connsiteY1" fmla="*/ 0 h 108000"/>
              <a:gd name="connsiteX2" fmla="*/ 2228214 w 11426658"/>
              <a:gd name="connsiteY2" fmla="*/ 55065 h 108000"/>
              <a:gd name="connsiteX3" fmla="*/ 11426658 w 11426658"/>
              <a:gd name="connsiteY3" fmla="*/ 55065 h 108000"/>
              <a:gd name="connsiteX4" fmla="*/ 11426658 w 11426658"/>
              <a:gd name="connsiteY4" fmla="*/ 108000 h 108000"/>
              <a:gd name="connsiteX5" fmla="*/ 2289926 w 11426658"/>
              <a:gd name="connsiteY5" fmla="*/ 108000 h 108000"/>
              <a:gd name="connsiteX6" fmla="*/ 2 w 11426658"/>
              <a:gd name="connsiteY6" fmla="*/ 108000 h 108000"/>
              <a:gd name="connsiteX7" fmla="*/ 0 w 11426658"/>
              <a:gd name="connsiteY7" fmla="*/ 108000 h 108000"/>
              <a:gd name="connsiteX8" fmla="*/ 0 w 11426658"/>
              <a:gd name="connsiteY8" fmla="*/ 55065 h 108000"/>
              <a:gd name="connsiteX9" fmla="*/ 2 w 11426658"/>
              <a:gd name="connsiteY9" fmla="*/ 55065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26658" h="108000">
                <a:moveTo>
                  <a:pt x="2" y="0"/>
                </a:moveTo>
                <a:lnTo>
                  <a:pt x="2164018" y="0"/>
                </a:lnTo>
                <a:lnTo>
                  <a:pt x="2228214" y="55065"/>
                </a:lnTo>
                <a:lnTo>
                  <a:pt x="11426658" y="55065"/>
                </a:lnTo>
                <a:lnTo>
                  <a:pt x="11426658" y="108000"/>
                </a:lnTo>
                <a:lnTo>
                  <a:pt x="2289926" y="108000"/>
                </a:lnTo>
                <a:lnTo>
                  <a:pt x="2" y="108000"/>
                </a:lnTo>
                <a:lnTo>
                  <a:pt x="0" y="108000"/>
                </a:lnTo>
                <a:lnTo>
                  <a:pt x="0" y="55065"/>
                </a:lnTo>
                <a:lnTo>
                  <a:pt x="2" y="55065"/>
                </a:lnTo>
                <a:close/>
              </a:path>
            </a:pathLst>
          </a:custGeom>
          <a:gradFill>
            <a:gsLst>
              <a:gs pos="0">
                <a:srgbClr val="003DA6"/>
              </a:gs>
              <a:gs pos="20000">
                <a:srgbClr val="009BD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white"/>
              </a:solidFill>
              <a:effectLst/>
              <a:uLnTx/>
              <a:uFillTx/>
              <a:latin typeface="Calibri" panose="020F0502020204030204" pitchFamily="34" charset="0"/>
              <a:ea typeface="黑体" panose="02010609060101010101" pitchFamily="49" charset="-122"/>
              <a:cs typeface="Calibri" panose="020F0502020204030204" pitchFamily="34" charset="0"/>
            </a:endParaRPr>
          </a:p>
        </p:txBody>
      </p:sp>
      <p:sp>
        <p:nvSpPr>
          <p:cNvPr id="3" name="矩形 2">
            <a:extLst>
              <a:ext uri="{FF2B5EF4-FFF2-40B4-BE49-F238E27FC236}">
                <a16:creationId xmlns:a16="http://schemas.microsoft.com/office/drawing/2014/main" id="{B67D5798-2F9A-8F55-C16D-F702E2BBF69F}"/>
              </a:ext>
            </a:extLst>
          </p:cNvPr>
          <p:cNvSpPr/>
          <p:nvPr>
            <p:custDataLst>
              <p:tags r:id="rId1"/>
            </p:custDataLst>
          </p:nvPr>
        </p:nvSpPr>
        <p:spPr>
          <a:xfrm>
            <a:off x="7151914" y="1078585"/>
            <a:ext cx="4764847" cy="2039095"/>
          </a:xfrm>
          <a:prstGeom prst="rect">
            <a:avLst/>
          </a:prstGeom>
          <a:noFill/>
          <a:ln>
            <a:solidFill>
              <a:schemeClr val="tx1">
                <a:lumMod val="95000"/>
                <a:lumOff val="5000"/>
              </a:schemeClr>
            </a:solidFill>
            <a:prstDash val="dashDot"/>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矩形 3">
            <a:extLst>
              <a:ext uri="{FF2B5EF4-FFF2-40B4-BE49-F238E27FC236}">
                <a16:creationId xmlns:a16="http://schemas.microsoft.com/office/drawing/2014/main" id="{654A083F-3FB8-A07D-907B-2D2D742ABC06}"/>
              </a:ext>
            </a:extLst>
          </p:cNvPr>
          <p:cNvSpPr/>
          <p:nvPr>
            <p:custDataLst>
              <p:tags r:id="rId2"/>
            </p:custDataLst>
          </p:nvPr>
        </p:nvSpPr>
        <p:spPr>
          <a:xfrm>
            <a:off x="269591" y="1078584"/>
            <a:ext cx="6631591" cy="2039096"/>
          </a:xfrm>
          <a:prstGeom prst="rect">
            <a:avLst/>
          </a:prstGeom>
          <a:noFill/>
          <a:ln w="12700">
            <a:solidFill>
              <a:schemeClr val="tx1"/>
            </a:solidFill>
            <a:prstDash val="dashDot"/>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zh-CN" altLang="en-US" b="1">
              <a:solidFill>
                <a:schemeClr val="tx1"/>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F2B7C175-3895-4EA2-A215-A4180BC2143A}"/>
              </a:ext>
            </a:extLst>
          </p:cNvPr>
          <p:cNvSpPr/>
          <p:nvPr>
            <p:custDataLst>
              <p:tags r:id="rId3"/>
            </p:custDataLst>
          </p:nvPr>
        </p:nvSpPr>
        <p:spPr>
          <a:xfrm>
            <a:off x="256891" y="3242513"/>
            <a:ext cx="11659870" cy="3351327"/>
          </a:xfrm>
          <a:prstGeom prst="rect">
            <a:avLst/>
          </a:prstGeom>
          <a:noFill/>
          <a:ln w="12700">
            <a:solidFill>
              <a:schemeClr val="tx1">
                <a:lumMod val="95000"/>
                <a:lumOff val="5000"/>
              </a:schemeClr>
            </a:solidFill>
            <a:prstDash val="lgDashDot"/>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 name="文本框 5">
            <a:extLst>
              <a:ext uri="{FF2B5EF4-FFF2-40B4-BE49-F238E27FC236}">
                <a16:creationId xmlns:a16="http://schemas.microsoft.com/office/drawing/2014/main" id="{D9094DC8-4501-9EE5-4517-55D65021D053}"/>
              </a:ext>
            </a:extLst>
          </p:cNvPr>
          <p:cNvSpPr txBox="1"/>
          <p:nvPr>
            <p:custDataLst>
              <p:tags r:id="rId4"/>
            </p:custDataLst>
          </p:nvPr>
        </p:nvSpPr>
        <p:spPr>
          <a:xfrm>
            <a:off x="122461" y="1174512"/>
            <a:ext cx="294259" cy="1263140"/>
          </a:xfrm>
          <a:prstGeom prst="roundRect">
            <a:avLst/>
          </a:prstGeom>
          <a:solidFill>
            <a:schemeClr val="accent1">
              <a:lumMod val="50000"/>
            </a:schemeClr>
          </a:solidFill>
          <a:ln>
            <a:noFill/>
          </a:ln>
        </p:spPr>
        <p:txBody>
          <a:bodyPr vert="eaVert" wrap="square" rtlCol="0" anchor="ctr" anchorCtr="0">
            <a:noAutofit/>
          </a:bodyPr>
          <a:lstStyle/>
          <a:p>
            <a:pPr algn="ctr"/>
            <a:r>
              <a:rPr lang="zh-CN" altLang="en-US" sz="1600" b="1">
                <a:solidFill>
                  <a:schemeClr val="bg1"/>
                </a:solidFill>
                <a:latin typeface="微软雅黑" panose="020B0503020204020204" charset="-122"/>
                <a:ea typeface="微软雅黑" panose="020B0503020204020204" charset="-122"/>
              </a:rPr>
              <a:t>任务介绍</a:t>
            </a:r>
          </a:p>
        </p:txBody>
      </p:sp>
      <p:sp>
        <p:nvSpPr>
          <p:cNvPr id="7" name="文本框 6">
            <a:extLst>
              <a:ext uri="{FF2B5EF4-FFF2-40B4-BE49-F238E27FC236}">
                <a16:creationId xmlns:a16="http://schemas.microsoft.com/office/drawing/2014/main" id="{4627553B-2585-E457-D363-8ECE0F0C9C8F}"/>
              </a:ext>
            </a:extLst>
          </p:cNvPr>
          <p:cNvSpPr txBox="1"/>
          <p:nvPr>
            <p:custDataLst>
              <p:tags r:id="rId5"/>
            </p:custDataLst>
          </p:nvPr>
        </p:nvSpPr>
        <p:spPr>
          <a:xfrm>
            <a:off x="6965641" y="1160070"/>
            <a:ext cx="357505" cy="1220470"/>
          </a:xfrm>
          <a:prstGeom prst="roundRect">
            <a:avLst/>
          </a:prstGeom>
          <a:solidFill>
            <a:schemeClr val="accent1">
              <a:lumMod val="50000"/>
            </a:schemeClr>
          </a:solidFill>
          <a:ln>
            <a:noFill/>
          </a:ln>
        </p:spPr>
        <p:txBody>
          <a:bodyPr vert="eaVert" wrap="square" rtlCol="0" anchor="ctr" anchorCtr="0">
            <a:noAutofit/>
          </a:bodyPr>
          <a:lstStyle/>
          <a:p>
            <a:pPr algn="ctr"/>
            <a:r>
              <a:rPr lang="zh-CN" altLang="en-US" sz="1600" b="1">
                <a:solidFill>
                  <a:schemeClr val="bg1"/>
                </a:solidFill>
                <a:latin typeface="微软雅黑" panose="020B0503020204020204" charset="-122"/>
                <a:ea typeface="微软雅黑" panose="020B0503020204020204" charset="-122"/>
              </a:rPr>
              <a:t>数据集构建</a:t>
            </a:r>
          </a:p>
        </p:txBody>
      </p:sp>
      <p:sp>
        <p:nvSpPr>
          <p:cNvPr id="8" name="文本框 7">
            <a:extLst>
              <a:ext uri="{FF2B5EF4-FFF2-40B4-BE49-F238E27FC236}">
                <a16:creationId xmlns:a16="http://schemas.microsoft.com/office/drawing/2014/main" id="{16AF6964-6BC2-E36C-A286-47BCAA8A8D43}"/>
              </a:ext>
            </a:extLst>
          </p:cNvPr>
          <p:cNvSpPr txBox="1"/>
          <p:nvPr>
            <p:custDataLst>
              <p:tags r:id="rId6"/>
            </p:custDataLst>
          </p:nvPr>
        </p:nvSpPr>
        <p:spPr>
          <a:xfrm>
            <a:off x="96183" y="3429000"/>
            <a:ext cx="312502" cy="1367790"/>
          </a:xfrm>
          <a:prstGeom prst="roundRect">
            <a:avLst/>
          </a:prstGeom>
          <a:solidFill>
            <a:schemeClr val="accent1">
              <a:lumMod val="50000"/>
            </a:schemeClr>
          </a:solidFill>
          <a:ln>
            <a:noFill/>
          </a:ln>
        </p:spPr>
        <p:txBody>
          <a:bodyPr vert="eaVert" wrap="square" rtlCol="0" anchor="ctr" anchorCtr="0">
            <a:noAutofit/>
          </a:bodyPr>
          <a:lstStyle/>
          <a:p>
            <a:pPr algn="ctr"/>
            <a:r>
              <a:rPr lang="zh-CN" altLang="en-US" sz="1600" b="1">
                <a:solidFill>
                  <a:schemeClr val="bg1"/>
                </a:solidFill>
                <a:latin typeface="微软雅黑" panose="020B0503020204020204" charset="-122"/>
                <a:ea typeface="微软雅黑" panose="020B0503020204020204" charset="-122"/>
              </a:rPr>
              <a:t>实验</a:t>
            </a:r>
            <a:endParaRPr lang="zh-CN" altLang="en-US" b="1">
              <a:latin typeface="Microsoft YaHei" panose="020B0503020204020204" pitchFamily="34" charset="-122"/>
              <a:ea typeface="Microsoft YaHei" panose="020B0503020204020204" pitchFamily="34" charset="-122"/>
            </a:endParaRPr>
          </a:p>
        </p:txBody>
      </p:sp>
      <p:sp>
        <p:nvSpPr>
          <p:cNvPr id="10" name="文本框 9">
            <a:extLst>
              <a:ext uri="{FF2B5EF4-FFF2-40B4-BE49-F238E27FC236}">
                <a16:creationId xmlns:a16="http://schemas.microsoft.com/office/drawing/2014/main" id="{9A80C00D-060D-ADDE-BE9A-328A0D406226}"/>
              </a:ext>
            </a:extLst>
          </p:cNvPr>
          <p:cNvSpPr txBox="1"/>
          <p:nvPr/>
        </p:nvSpPr>
        <p:spPr>
          <a:xfrm>
            <a:off x="445657" y="1170851"/>
            <a:ext cx="1686663" cy="2031325"/>
          </a:xfrm>
          <a:prstGeom prst="rect">
            <a:avLst/>
          </a:prstGeom>
          <a:noFill/>
        </p:spPr>
        <p:txBody>
          <a:bodyPr wrap="square" rtlCol="0">
            <a:spAutoFit/>
          </a:bodyPr>
          <a:lstStyle/>
          <a:p>
            <a:r>
              <a:rPr lang="zh-CN" altLang="en-US" b="1" dirty="0">
                <a:solidFill>
                  <a:srgbClr val="FF0000"/>
                </a:solidFill>
                <a:latin typeface="Microsoft YaHei" panose="020B0503020204020204" pitchFamily="34" charset="-122"/>
                <a:ea typeface="Microsoft YaHei" panose="020B0503020204020204" pitchFamily="34" charset="-122"/>
              </a:rPr>
              <a:t>化学大模型知识编辑：</a:t>
            </a:r>
            <a:r>
              <a:rPr lang="zh-CN" altLang="en-US" dirty="0">
                <a:solidFill>
                  <a:schemeClr val="tx1"/>
                </a:solidFill>
                <a:latin typeface="Microsoft YaHei" panose="020B0503020204020204" pitchFamily="34" charset="-122"/>
                <a:ea typeface="Microsoft YaHei" panose="020B0503020204020204" pitchFamily="34" charset="-122"/>
              </a:rPr>
              <a:t>对知识库中化学相关的数据知识进行</a:t>
            </a:r>
            <a:r>
              <a:rPr lang="zh-CN" altLang="en-US" b="1" dirty="0">
                <a:solidFill>
                  <a:schemeClr val="tx1"/>
                </a:solidFill>
                <a:latin typeface="Microsoft YaHei" panose="020B0503020204020204" pitchFamily="34" charset="-122"/>
                <a:ea typeface="Microsoft YaHei" panose="020B0503020204020204" pitchFamily="34" charset="-122"/>
              </a:rPr>
              <a:t>插入、修改</a:t>
            </a:r>
            <a:r>
              <a:rPr lang="zh-CN" altLang="en-US" dirty="0">
                <a:solidFill>
                  <a:schemeClr val="tx1"/>
                </a:solidFill>
                <a:latin typeface="Microsoft YaHei" panose="020B0503020204020204" pitchFamily="34" charset="-122"/>
                <a:ea typeface="Microsoft YaHei" panose="020B0503020204020204" pitchFamily="34" charset="-122"/>
              </a:rPr>
              <a:t>或</a:t>
            </a:r>
            <a:r>
              <a:rPr lang="zh-CN" altLang="en-US" b="1" dirty="0">
                <a:solidFill>
                  <a:schemeClr val="tx1"/>
                </a:solidFill>
                <a:latin typeface="Microsoft YaHei" panose="020B0503020204020204" pitchFamily="34" charset="-122"/>
                <a:ea typeface="Microsoft YaHei" panose="020B0503020204020204" pitchFamily="34" charset="-122"/>
              </a:rPr>
              <a:t>删除</a:t>
            </a:r>
            <a:r>
              <a:rPr lang="zh-CN" altLang="en-US" dirty="0">
                <a:solidFill>
                  <a:schemeClr val="tx1"/>
                </a:solidFill>
                <a:latin typeface="Microsoft YaHei" panose="020B0503020204020204" pitchFamily="34" charset="-122"/>
                <a:ea typeface="Microsoft YaHei" panose="020B0503020204020204" pitchFamily="34" charset="-122"/>
              </a:rPr>
              <a:t>的</a:t>
            </a:r>
            <a:r>
              <a:rPr lang="zh-CN" altLang="en-US">
                <a:solidFill>
                  <a:schemeClr val="tx1"/>
                </a:solidFill>
                <a:latin typeface="Microsoft YaHei" panose="020B0503020204020204" pitchFamily="34" charset="-122"/>
                <a:ea typeface="Microsoft YaHei" panose="020B0503020204020204" pitchFamily="34" charset="-122"/>
              </a:rPr>
              <a:t>操作。</a:t>
            </a:r>
            <a:endParaRPr lang="zh-CN" altLang="en-US" dirty="0"/>
          </a:p>
        </p:txBody>
      </p:sp>
      <p:graphicFrame>
        <p:nvGraphicFramePr>
          <p:cNvPr id="11" name="表格 10">
            <a:extLst>
              <a:ext uri="{FF2B5EF4-FFF2-40B4-BE49-F238E27FC236}">
                <a16:creationId xmlns:a16="http://schemas.microsoft.com/office/drawing/2014/main" id="{CC125B8F-58A6-4C2B-EF57-3B98A5EBC832}"/>
              </a:ext>
            </a:extLst>
          </p:cNvPr>
          <p:cNvGraphicFramePr>
            <a:graphicFrameLocks noGrp="1"/>
          </p:cNvGraphicFramePr>
          <p:nvPr>
            <p:extLst>
              <p:ext uri="{D42A27DB-BD31-4B8C-83A1-F6EECF244321}">
                <p14:modId xmlns:p14="http://schemas.microsoft.com/office/powerpoint/2010/main" val="2599683335"/>
              </p:ext>
            </p:extLst>
          </p:nvPr>
        </p:nvGraphicFramePr>
        <p:xfrm>
          <a:off x="7374899" y="1189351"/>
          <a:ext cx="4464697" cy="1788759"/>
        </p:xfrm>
        <a:graphic>
          <a:graphicData uri="http://schemas.openxmlformats.org/drawingml/2006/table">
            <a:tbl>
              <a:tblPr firstRow="1" bandRow="1">
                <a:tableStyleId>{5C22544A-7EE6-4342-B048-85BDC9FD1C3A}</a:tableStyleId>
              </a:tblPr>
              <a:tblGrid>
                <a:gridCol w="1654795">
                  <a:extLst>
                    <a:ext uri="{9D8B030D-6E8A-4147-A177-3AD203B41FA5}">
                      <a16:colId xmlns:a16="http://schemas.microsoft.com/office/drawing/2014/main" val="3338492981"/>
                    </a:ext>
                  </a:extLst>
                </a:gridCol>
                <a:gridCol w="2809902">
                  <a:extLst>
                    <a:ext uri="{9D8B030D-6E8A-4147-A177-3AD203B41FA5}">
                      <a16:colId xmlns:a16="http://schemas.microsoft.com/office/drawing/2014/main" val="1298766221"/>
                    </a:ext>
                  </a:extLst>
                </a:gridCol>
              </a:tblGrid>
              <a:tr h="367823">
                <a:tc>
                  <a:txBody>
                    <a:bodyPr/>
                    <a:lstStyle/>
                    <a:p>
                      <a:pPr algn="ctr"/>
                      <a:r>
                        <a:rPr lang="zh-CN" altLang="en-US"/>
                        <a:t>数据内容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a:t>标注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6576788"/>
                  </a:ext>
                </a:extLst>
              </a:tr>
              <a:tr h="384616">
                <a:tc>
                  <a:txBody>
                    <a:bodyPr/>
                    <a:lstStyle/>
                    <a:p>
                      <a:pPr algn="ctr"/>
                      <a:r>
                        <a:rPr lang="zh-CN" altLang="en-US" sz="1400" kern="0">
                          <a:latin typeface="Microsoft YaHei" panose="020B0503020204020204" pitchFamily="34" charset="-122"/>
                          <a:ea typeface="Microsoft YaHei" panose="020B0503020204020204" pitchFamily="34" charset="-122"/>
                          <a:cs typeface="Arial" panose="020B0604020202020204" pitchFamily="34" charset="0"/>
                        </a:rPr>
                        <a:t>subject</a:t>
                      </a:r>
                      <a:endParaRPr lang="zh-CN"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zh-CN" altLang="en-US" sz="1400" kern="0">
                          <a:latin typeface="Microsoft YaHei" panose="020B0503020204020204" pitchFamily="34" charset="-122"/>
                          <a:ea typeface="Microsoft YaHei" panose="020B0503020204020204" pitchFamily="34" charset="-122"/>
                          <a:cs typeface="Arial" panose="020B0604020202020204" pitchFamily="34" charset="0"/>
                        </a:rPr>
                        <a:t>化学主题</a:t>
                      </a:r>
                      <a:endParaRPr lang="zh-CN"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9881922"/>
                  </a:ext>
                </a:extLst>
              </a:tr>
              <a:tr h="518160">
                <a:tc>
                  <a:txBody>
                    <a:bodyPr/>
                    <a:lstStyle/>
                    <a:p>
                      <a:pPr algn="ctr"/>
                      <a:r>
                        <a:rPr lang="zh-CN" altLang="en-US" sz="1400" kern="0">
                          <a:latin typeface="Microsoft YaHei" panose="020B0503020204020204" pitchFamily="34" charset="-122"/>
                          <a:ea typeface="Microsoft YaHei" panose="020B0503020204020204" pitchFamily="34" charset="-122"/>
                          <a:cs typeface="Arial" panose="020B0604020202020204" pitchFamily="34" charset="0"/>
                        </a:rPr>
                        <a:t>prompt</a:t>
                      </a:r>
                      <a:endParaRPr lang="zh-CN"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zh-CN" altLang="en-US" sz="1400" kern="0">
                          <a:latin typeface="Microsoft YaHei" panose="020B0503020204020204" pitchFamily="34" charset="-122"/>
                          <a:ea typeface="Microsoft YaHei" panose="020B0503020204020204" pitchFamily="34" charset="-122"/>
                          <a:cs typeface="Arial" panose="020B0604020202020204" pitchFamily="34" charset="0"/>
                        </a:rPr>
                        <a:t>询问大模型化学逆合成产物分子的预测问题</a:t>
                      </a:r>
                      <a:endParaRPr lang="zh-CN"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36783753"/>
                  </a:ext>
                </a:extLst>
              </a:tr>
              <a:tr h="508000">
                <a:tc>
                  <a:txBody>
                    <a:bodyPr/>
                    <a:lstStyle/>
                    <a:p>
                      <a:pPr algn="ctr"/>
                      <a:r>
                        <a:rPr lang="zh-CN" altLang="en-US" sz="1400" kern="0">
                          <a:latin typeface="Microsoft YaHei" panose="020B0503020204020204" pitchFamily="34" charset="-122"/>
                          <a:ea typeface="Microsoft YaHei" panose="020B0503020204020204" pitchFamily="34" charset="-122"/>
                          <a:cs typeface="Arial" panose="020B0604020202020204" pitchFamily="34" charset="0"/>
                        </a:rPr>
                        <a:t>target_new</a:t>
                      </a:r>
                      <a:endParaRPr lang="zh-CN"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zh-CN" altLang="en-US" sz="1400" kern="0">
                          <a:latin typeface="Microsoft YaHei" panose="020B0503020204020204" pitchFamily="34" charset="-122"/>
                          <a:ea typeface="Microsoft YaHei" panose="020B0503020204020204" pitchFamily="34" charset="-122"/>
                          <a:cs typeface="Arial" panose="020B0604020202020204" pitchFamily="34" charset="0"/>
                        </a:rPr>
                        <a:t>正确的预测分子，也就是期待知识编辑后能给出的答案</a:t>
                      </a:r>
                      <a:endParaRPr lang="zh-CN" alt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291891"/>
                  </a:ext>
                </a:extLst>
              </a:tr>
            </a:tbl>
          </a:graphicData>
        </a:graphic>
      </p:graphicFrame>
      <p:graphicFrame>
        <p:nvGraphicFramePr>
          <p:cNvPr id="14" name="表格 13">
            <a:extLst>
              <a:ext uri="{FF2B5EF4-FFF2-40B4-BE49-F238E27FC236}">
                <a16:creationId xmlns:a16="http://schemas.microsoft.com/office/drawing/2014/main" id="{085E26BE-15C6-0603-FFA9-F32E7C2DE0CD}"/>
              </a:ext>
            </a:extLst>
          </p:cNvPr>
          <p:cNvGraphicFramePr>
            <a:graphicFrameLocks noGrp="1"/>
          </p:cNvGraphicFramePr>
          <p:nvPr>
            <p:extLst>
              <p:ext uri="{D42A27DB-BD31-4B8C-83A1-F6EECF244321}">
                <p14:modId xmlns:p14="http://schemas.microsoft.com/office/powerpoint/2010/main" val="4199253876"/>
              </p:ext>
            </p:extLst>
          </p:nvPr>
        </p:nvGraphicFramePr>
        <p:xfrm>
          <a:off x="8005172" y="5440163"/>
          <a:ext cx="3854440" cy="1006848"/>
        </p:xfrm>
        <a:graphic>
          <a:graphicData uri="http://schemas.openxmlformats.org/drawingml/2006/table">
            <a:tbl>
              <a:tblPr firstRow="1" bandRow="1">
                <a:tableStyleId>{5C22544A-7EE6-4342-B048-85BDC9FD1C3A}</a:tableStyleId>
              </a:tblPr>
              <a:tblGrid>
                <a:gridCol w="1074034">
                  <a:extLst>
                    <a:ext uri="{9D8B030D-6E8A-4147-A177-3AD203B41FA5}">
                      <a16:colId xmlns:a16="http://schemas.microsoft.com/office/drawing/2014/main" val="3338492981"/>
                    </a:ext>
                  </a:extLst>
                </a:gridCol>
                <a:gridCol w="1346281">
                  <a:extLst>
                    <a:ext uri="{9D8B030D-6E8A-4147-A177-3AD203B41FA5}">
                      <a16:colId xmlns:a16="http://schemas.microsoft.com/office/drawing/2014/main" val="1298766221"/>
                    </a:ext>
                  </a:extLst>
                </a:gridCol>
                <a:gridCol w="1434125">
                  <a:extLst>
                    <a:ext uri="{9D8B030D-6E8A-4147-A177-3AD203B41FA5}">
                      <a16:colId xmlns:a16="http://schemas.microsoft.com/office/drawing/2014/main" val="3966228367"/>
                    </a:ext>
                  </a:extLst>
                </a:gridCol>
              </a:tblGrid>
              <a:tr h="345859">
                <a:tc>
                  <a:txBody>
                    <a:bodyPr/>
                    <a:lstStyle/>
                    <a:p>
                      <a:pPr algn="ctr"/>
                      <a:r>
                        <a:rPr lang="zh-CN" altLang="en-US" sz="1600">
                          <a:solidFill>
                            <a:sysClr val="windowText" lastClr="000000"/>
                          </a:solidFill>
                        </a:rPr>
                        <a:t>指标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zh-CN" altLang="en-US" sz="1600">
                          <a:solidFill>
                            <a:sysClr val="windowText" lastClr="000000"/>
                          </a:solidFill>
                        </a:rPr>
                        <a:t>化学大模型（微调后）</a:t>
                      </a: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zh-CN" altLang="en-US" sz="1600">
                          <a:solidFill>
                            <a:sysClr val="windowText" lastClr="000000"/>
                          </a:solidFill>
                        </a:rPr>
                        <a:t>化学大模型（知识编辑后）</a:t>
                      </a: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4236576788"/>
                  </a:ext>
                </a:extLst>
              </a:tr>
              <a:tr h="427728">
                <a:tc>
                  <a:txBody>
                    <a:bodyPr/>
                    <a:lstStyle/>
                    <a:p>
                      <a:pPr algn="ctr"/>
                      <a:r>
                        <a:rPr lang="zh-CN" altLang="en-US" sz="1600" kern="0">
                          <a:latin typeface="Microsoft YaHei" panose="020B0503020204020204" pitchFamily="34" charset="-122"/>
                          <a:ea typeface="Microsoft YaHei" panose="020B0503020204020204" pitchFamily="34" charset="-122"/>
                          <a:cs typeface="Arial" panose="020B0604020202020204" pitchFamily="34" charset="0"/>
                        </a:rPr>
                        <a:t>稳定性</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kern="0">
                          <a:latin typeface="Microsoft YaHei" panose="020B0503020204020204" pitchFamily="34" charset="-122"/>
                          <a:ea typeface="Microsoft YaHei" panose="020B0503020204020204" pitchFamily="34" charset="-122"/>
                          <a:cs typeface="Arial" panose="020B0604020202020204" pitchFamily="34" charset="0"/>
                        </a:rPr>
                        <a:t>66.93%</a:t>
                      </a:r>
                      <a:endParaRPr lang="zh-CN" alt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600" kern="0">
                          <a:solidFill>
                            <a:schemeClr val="dk1"/>
                          </a:solidFill>
                          <a:latin typeface="Microsoft YaHei" panose="020B0503020204020204" pitchFamily="34" charset="-122"/>
                          <a:ea typeface="Microsoft YaHei" panose="020B0503020204020204" pitchFamily="34" charset="-122"/>
                          <a:cs typeface="Arial" panose="020B0604020202020204" pitchFamily="34" charset="0"/>
                        </a:rPr>
                        <a:t>98.88%</a:t>
                      </a:r>
                      <a:endParaRPr lang="zh-CN" altLang="en-US" sz="1600" kern="0" dirty="0">
                        <a:solidFill>
                          <a:schemeClr val="dk1"/>
                        </a:solidFill>
                        <a:latin typeface="Microsoft YaHei" panose="020B0503020204020204" pitchFamily="34" charset="-122"/>
                        <a:ea typeface="Microsoft YaHei" panose="020B0503020204020204" pitchFamily="34" charset="-122"/>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9881922"/>
                  </a:ext>
                </a:extLst>
              </a:tr>
            </a:tbl>
          </a:graphicData>
        </a:graphic>
      </p:graphicFrame>
      <p:sp>
        <p:nvSpPr>
          <p:cNvPr id="15" name="文本框 14">
            <a:extLst>
              <a:ext uri="{FF2B5EF4-FFF2-40B4-BE49-F238E27FC236}">
                <a16:creationId xmlns:a16="http://schemas.microsoft.com/office/drawing/2014/main" id="{C6D0BBF3-4A26-768B-EDAC-2AAADA62F681}"/>
              </a:ext>
            </a:extLst>
          </p:cNvPr>
          <p:cNvSpPr txBox="1"/>
          <p:nvPr/>
        </p:nvSpPr>
        <p:spPr>
          <a:xfrm>
            <a:off x="252435" y="5479081"/>
            <a:ext cx="7235486" cy="923330"/>
          </a:xfrm>
          <a:prstGeom prst="rect">
            <a:avLst/>
          </a:prstGeom>
          <a:noFill/>
        </p:spPr>
        <p:txBody>
          <a:bodyPr wrap="square" rtlCol="0">
            <a:spAutoFit/>
          </a:bodyPr>
          <a:lstStyle/>
          <a:p>
            <a:pPr marL="285750" indent="-285750" latinLnBrk="1">
              <a:buFont typeface="Wingdings" panose="05000000000000000000" pitchFamily="2" charset="2"/>
              <a:buChar char="p"/>
            </a:pPr>
            <a:r>
              <a:rPr lang="zh-CN" altLang="en-US" dirty="0">
                <a:latin typeface="Microsoft YaHei" panose="020B0503020204020204" pitchFamily="34" charset="-122"/>
                <a:ea typeface="Microsoft YaHei" panose="020B0503020204020204" pitchFamily="34" charset="-122"/>
              </a:rPr>
              <a:t>步骤</a:t>
            </a:r>
            <a:r>
              <a:rPr lang="zh-CN" altLang="en-US">
                <a:latin typeface="Microsoft YaHei" panose="020B0503020204020204" pitchFamily="34" charset="-122"/>
                <a:ea typeface="Microsoft YaHei" panose="020B0503020204020204" pitchFamily="34" charset="-122"/>
              </a:rPr>
              <a:t>：使用该知识</a:t>
            </a:r>
            <a:r>
              <a:rPr lang="zh-CN" altLang="en-US" dirty="0">
                <a:latin typeface="Microsoft YaHei" panose="020B0503020204020204" pitchFamily="34" charset="-122"/>
                <a:ea typeface="Microsoft YaHei" panose="020B0503020204020204" pitchFamily="34" charset="-122"/>
              </a:rPr>
              <a:t>编辑方法编辑预训练</a:t>
            </a:r>
            <a:r>
              <a:rPr lang="zh-CN" altLang="en-US">
                <a:latin typeface="Microsoft YaHei" panose="020B0503020204020204" pitchFamily="34" charset="-122"/>
                <a:ea typeface="Microsoft YaHei" panose="020B0503020204020204" pitchFamily="34" charset="-122"/>
              </a:rPr>
              <a:t>的化学大语言大模型。</a:t>
            </a:r>
            <a:endParaRPr lang="en-US" altLang="zh-CN" dirty="0">
              <a:latin typeface="Microsoft YaHei" panose="020B0503020204020204" pitchFamily="34" charset="-122"/>
              <a:ea typeface="Microsoft YaHei" panose="020B0503020204020204" pitchFamily="34" charset="-122"/>
            </a:endParaRPr>
          </a:p>
          <a:p>
            <a:pPr marL="285750" indent="-285750">
              <a:buFont typeface="Wingdings" panose="05000000000000000000" pitchFamily="2" charset="2"/>
              <a:buChar char="p"/>
            </a:pPr>
            <a:r>
              <a:rPr lang="zh-CN" altLang="en-US" dirty="0">
                <a:solidFill>
                  <a:schemeClr val="tx1"/>
                </a:solidFill>
                <a:latin typeface="Microsoft YaHei" panose="020B0503020204020204" pitchFamily="34" charset="-122"/>
                <a:ea typeface="Microsoft YaHei" panose="020B0503020204020204" pitchFamily="34" charset="-122"/>
              </a:rPr>
              <a:t>优点：使得大模型能够在没有显式训练样本的情况下，具备较强语义理解和推理能力的编辑能力</a:t>
            </a:r>
            <a:r>
              <a:rPr lang="zh-CN" altLang="en-US" dirty="0">
                <a:latin typeface="Microsoft YaHei" panose="020B0503020204020204" pitchFamily="34" charset="-122"/>
                <a:ea typeface="Microsoft YaHei" panose="020B0503020204020204" pitchFamily="34" charset="-122"/>
              </a:rPr>
              <a:t>零样本知识编辑</a:t>
            </a:r>
            <a:r>
              <a:rPr lang="zh-CN" altLang="en-US">
                <a:latin typeface="Microsoft YaHei" panose="020B0503020204020204" pitchFamily="34" charset="-122"/>
                <a:ea typeface="Microsoft YaHei" panose="020B0503020204020204" pitchFamily="34" charset="-122"/>
              </a:rPr>
              <a:t>能力。</a:t>
            </a:r>
            <a:endParaRPr lang="zh-CN" altLang="en-US" dirty="0"/>
          </a:p>
        </p:txBody>
      </p:sp>
      <p:sp>
        <p:nvSpPr>
          <p:cNvPr id="16" name="箭头: 右 15">
            <a:extLst>
              <a:ext uri="{FF2B5EF4-FFF2-40B4-BE49-F238E27FC236}">
                <a16:creationId xmlns:a16="http://schemas.microsoft.com/office/drawing/2014/main" id="{0FCE18EB-E599-AD2D-39FF-36D259F9D292}"/>
              </a:ext>
            </a:extLst>
          </p:cNvPr>
          <p:cNvSpPr/>
          <p:nvPr>
            <p:custDataLst>
              <p:tags r:id="rId7"/>
            </p:custDataLst>
          </p:nvPr>
        </p:nvSpPr>
        <p:spPr>
          <a:xfrm>
            <a:off x="7435452" y="5437322"/>
            <a:ext cx="326244" cy="1006848"/>
          </a:xfrm>
          <a:custGeom>
            <a:avLst/>
            <a:gdLst>
              <a:gd name="connsiteX0" fmla="*/ 0 w 1330960"/>
              <a:gd name="connsiteY0" fmla="*/ 282685 h 1130740"/>
              <a:gd name="connsiteX1" fmla="*/ 765590 w 1330960"/>
              <a:gd name="connsiteY1" fmla="*/ 282685 h 1130740"/>
              <a:gd name="connsiteX2" fmla="*/ 765590 w 1330960"/>
              <a:gd name="connsiteY2" fmla="*/ 0 h 1130740"/>
              <a:gd name="connsiteX3" fmla="*/ 1330960 w 1330960"/>
              <a:gd name="connsiteY3" fmla="*/ 565370 h 1130740"/>
              <a:gd name="connsiteX4" fmla="*/ 765590 w 1330960"/>
              <a:gd name="connsiteY4" fmla="*/ 1130740 h 1130740"/>
              <a:gd name="connsiteX5" fmla="*/ 765590 w 1330960"/>
              <a:gd name="connsiteY5" fmla="*/ 848055 h 1130740"/>
              <a:gd name="connsiteX6" fmla="*/ 0 w 1330960"/>
              <a:gd name="connsiteY6" fmla="*/ 848055 h 1130740"/>
              <a:gd name="connsiteX7" fmla="*/ 0 w 1330960"/>
              <a:gd name="connsiteY7" fmla="*/ 282685 h 1130740"/>
              <a:gd name="connsiteX0-1" fmla="*/ 12700 w 1330960"/>
              <a:gd name="connsiteY0-2" fmla="*/ 0 h 1489405"/>
              <a:gd name="connsiteX1-3" fmla="*/ 765590 w 1330960"/>
              <a:gd name="connsiteY1-4" fmla="*/ 641350 h 1489405"/>
              <a:gd name="connsiteX2-5" fmla="*/ 765590 w 1330960"/>
              <a:gd name="connsiteY2-6" fmla="*/ 358665 h 1489405"/>
              <a:gd name="connsiteX3-7" fmla="*/ 1330960 w 1330960"/>
              <a:gd name="connsiteY3-8" fmla="*/ 924035 h 1489405"/>
              <a:gd name="connsiteX4-9" fmla="*/ 765590 w 1330960"/>
              <a:gd name="connsiteY4-10" fmla="*/ 1489405 h 1489405"/>
              <a:gd name="connsiteX5-11" fmla="*/ 765590 w 1330960"/>
              <a:gd name="connsiteY5-12" fmla="*/ 1206720 h 1489405"/>
              <a:gd name="connsiteX6-13" fmla="*/ 0 w 1330960"/>
              <a:gd name="connsiteY6-14" fmla="*/ 1206720 h 1489405"/>
              <a:gd name="connsiteX7-15" fmla="*/ 12700 w 1330960"/>
              <a:gd name="connsiteY7-16" fmla="*/ 0 h 1489405"/>
              <a:gd name="connsiteX0-17" fmla="*/ 12700 w 1330960"/>
              <a:gd name="connsiteY0-18" fmla="*/ 0 h 1873470"/>
              <a:gd name="connsiteX1-19" fmla="*/ 765590 w 1330960"/>
              <a:gd name="connsiteY1-20" fmla="*/ 641350 h 1873470"/>
              <a:gd name="connsiteX2-21" fmla="*/ 765590 w 1330960"/>
              <a:gd name="connsiteY2-22" fmla="*/ 358665 h 1873470"/>
              <a:gd name="connsiteX3-23" fmla="*/ 1330960 w 1330960"/>
              <a:gd name="connsiteY3-24" fmla="*/ 924035 h 1873470"/>
              <a:gd name="connsiteX4-25" fmla="*/ 765590 w 1330960"/>
              <a:gd name="connsiteY4-26" fmla="*/ 1489405 h 1873470"/>
              <a:gd name="connsiteX5-27" fmla="*/ 765590 w 1330960"/>
              <a:gd name="connsiteY5-28" fmla="*/ 1206720 h 1873470"/>
              <a:gd name="connsiteX6-29" fmla="*/ 0 w 1330960"/>
              <a:gd name="connsiteY6-30" fmla="*/ 1873470 h 1873470"/>
              <a:gd name="connsiteX7-31" fmla="*/ 12700 w 1330960"/>
              <a:gd name="connsiteY7-32" fmla="*/ 0 h 1873470"/>
              <a:gd name="connsiteX0-33" fmla="*/ 12700 w 1330960"/>
              <a:gd name="connsiteY0-34" fmla="*/ 0 h 1873470"/>
              <a:gd name="connsiteX1-35" fmla="*/ 765590 w 1330960"/>
              <a:gd name="connsiteY1-36" fmla="*/ 641350 h 1873470"/>
              <a:gd name="connsiteX2-37" fmla="*/ 765590 w 1330960"/>
              <a:gd name="connsiteY2-38" fmla="*/ 358665 h 1873470"/>
              <a:gd name="connsiteX3-39" fmla="*/ 1330960 w 1330960"/>
              <a:gd name="connsiteY3-40" fmla="*/ 924035 h 1873470"/>
              <a:gd name="connsiteX4-41" fmla="*/ 765590 w 1330960"/>
              <a:gd name="connsiteY4-42" fmla="*/ 1489405 h 1873470"/>
              <a:gd name="connsiteX5-43" fmla="*/ 765590 w 1330960"/>
              <a:gd name="connsiteY5-44" fmla="*/ 1206720 h 1873470"/>
              <a:gd name="connsiteX6-45" fmla="*/ 0 w 1330960"/>
              <a:gd name="connsiteY6-46" fmla="*/ 1873470 h 1873470"/>
              <a:gd name="connsiteX7-47" fmla="*/ 12700 w 1330960"/>
              <a:gd name="connsiteY7-48" fmla="*/ 0 h 1873470"/>
              <a:gd name="connsiteX0-49" fmla="*/ 12700 w 1330960"/>
              <a:gd name="connsiteY0-50" fmla="*/ 0 h 1873470"/>
              <a:gd name="connsiteX1-51" fmla="*/ 765590 w 1330960"/>
              <a:gd name="connsiteY1-52" fmla="*/ 641350 h 1873470"/>
              <a:gd name="connsiteX2-53" fmla="*/ 765590 w 1330960"/>
              <a:gd name="connsiteY2-54" fmla="*/ 358665 h 1873470"/>
              <a:gd name="connsiteX3-55" fmla="*/ 1330960 w 1330960"/>
              <a:gd name="connsiteY3-56" fmla="*/ 924035 h 1873470"/>
              <a:gd name="connsiteX4-57" fmla="*/ 765590 w 1330960"/>
              <a:gd name="connsiteY4-58" fmla="*/ 1489405 h 1873470"/>
              <a:gd name="connsiteX5-59" fmla="*/ 765590 w 1330960"/>
              <a:gd name="connsiteY5-60" fmla="*/ 1206720 h 1873470"/>
              <a:gd name="connsiteX6-61" fmla="*/ 0 w 1330960"/>
              <a:gd name="connsiteY6-62" fmla="*/ 1873470 h 1873470"/>
              <a:gd name="connsiteX7-63" fmla="*/ 12700 w 1330960"/>
              <a:gd name="connsiteY7-64" fmla="*/ 0 h 1873470"/>
              <a:gd name="connsiteX0-65" fmla="*/ 12700 w 1330960"/>
              <a:gd name="connsiteY0-66" fmla="*/ 0 h 1873470"/>
              <a:gd name="connsiteX1-67" fmla="*/ 765590 w 1330960"/>
              <a:gd name="connsiteY1-68" fmla="*/ 641350 h 1873470"/>
              <a:gd name="connsiteX2-69" fmla="*/ 765590 w 1330960"/>
              <a:gd name="connsiteY2-70" fmla="*/ 358665 h 1873470"/>
              <a:gd name="connsiteX3-71" fmla="*/ 1330960 w 1330960"/>
              <a:gd name="connsiteY3-72" fmla="*/ 924035 h 1873470"/>
              <a:gd name="connsiteX4-73" fmla="*/ 765590 w 1330960"/>
              <a:gd name="connsiteY4-74" fmla="*/ 1489405 h 1873470"/>
              <a:gd name="connsiteX5-75" fmla="*/ 765590 w 1330960"/>
              <a:gd name="connsiteY5-76" fmla="*/ 1206720 h 1873470"/>
              <a:gd name="connsiteX6-77" fmla="*/ 0 w 1330960"/>
              <a:gd name="connsiteY6-78" fmla="*/ 1873470 h 1873470"/>
              <a:gd name="connsiteX7-79" fmla="*/ 12700 w 1330960"/>
              <a:gd name="connsiteY7-80" fmla="*/ 0 h 1873470"/>
              <a:gd name="connsiteX0-81" fmla="*/ 12700 w 1330960"/>
              <a:gd name="connsiteY0-82" fmla="*/ 0 h 1873470"/>
              <a:gd name="connsiteX1-83" fmla="*/ 765590 w 1330960"/>
              <a:gd name="connsiteY1-84" fmla="*/ 641350 h 1873470"/>
              <a:gd name="connsiteX2-85" fmla="*/ 765590 w 1330960"/>
              <a:gd name="connsiteY2-86" fmla="*/ 358665 h 1873470"/>
              <a:gd name="connsiteX3-87" fmla="*/ 1330960 w 1330960"/>
              <a:gd name="connsiteY3-88" fmla="*/ 924035 h 1873470"/>
              <a:gd name="connsiteX4-89" fmla="*/ 765590 w 1330960"/>
              <a:gd name="connsiteY4-90" fmla="*/ 1489405 h 1873470"/>
              <a:gd name="connsiteX5-91" fmla="*/ 765590 w 1330960"/>
              <a:gd name="connsiteY5-92" fmla="*/ 1206720 h 1873470"/>
              <a:gd name="connsiteX6-93" fmla="*/ 0 w 1330960"/>
              <a:gd name="connsiteY6-94" fmla="*/ 1873470 h 1873470"/>
              <a:gd name="connsiteX7-95" fmla="*/ 12700 w 1330960"/>
              <a:gd name="connsiteY7-96" fmla="*/ 0 h 1873470"/>
              <a:gd name="connsiteX0-97" fmla="*/ 12700 w 1330960"/>
              <a:gd name="connsiteY0-98" fmla="*/ 0 h 1873470"/>
              <a:gd name="connsiteX1-99" fmla="*/ 765590 w 1330960"/>
              <a:gd name="connsiteY1-100" fmla="*/ 641350 h 1873470"/>
              <a:gd name="connsiteX2-101" fmla="*/ 765590 w 1330960"/>
              <a:gd name="connsiteY2-102" fmla="*/ 358665 h 1873470"/>
              <a:gd name="connsiteX3-103" fmla="*/ 1330960 w 1330960"/>
              <a:gd name="connsiteY3-104" fmla="*/ 924035 h 1873470"/>
              <a:gd name="connsiteX4-105" fmla="*/ 765590 w 1330960"/>
              <a:gd name="connsiteY4-106" fmla="*/ 1489405 h 1873470"/>
              <a:gd name="connsiteX5-107" fmla="*/ 765590 w 1330960"/>
              <a:gd name="connsiteY5-108" fmla="*/ 1206720 h 1873470"/>
              <a:gd name="connsiteX6-109" fmla="*/ 0 w 1330960"/>
              <a:gd name="connsiteY6-110" fmla="*/ 1873470 h 1873470"/>
              <a:gd name="connsiteX7-111" fmla="*/ 12700 w 1330960"/>
              <a:gd name="connsiteY7-112" fmla="*/ 0 h 187347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330960" h="1873470">
                <a:moveTo>
                  <a:pt x="12700" y="0"/>
                </a:moveTo>
                <a:cubicBezTo>
                  <a:pt x="384313" y="626533"/>
                  <a:pt x="508277" y="624417"/>
                  <a:pt x="765590" y="641350"/>
                </a:cubicBezTo>
                <a:lnTo>
                  <a:pt x="765590" y="358665"/>
                </a:lnTo>
                <a:lnTo>
                  <a:pt x="1330960" y="924035"/>
                </a:lnTo>
                <a:lnTo>
                  <a:pt x="765590" y="1489405"/>
                </a:lnTo>
                <a:lnTo>
                  <a:pt x="765590" y="1206720"/>
                </a:lnTo>
                <a:cubicBezTo>
                  <a:pt x="580243" y="1206720"/>
                  <a:pt x="363147" y="1251170"/>
                  <a:pt x="0" y="1873470"/>
                </a:cubicBezTo>
                <a:cubicBezTo>
                  <a:pt x="4233" y="1248980"/>
                  <a:pt x="8467" y="624490"/>
                  <a:pt x="12700" y="0"/>
                </a:cubicBezTo>
                <a:close/>
              </a:path>
            </a:pathLst>
          </a:custGeom>
          <a:gradFill flip="none" rotWithShape="1">
            <a:gsLst>
              <a:gs pos="0">
                <a:srgbClr val="4472C4">
                  <a:lumMod val="60000"/>
                  <a:lumOff val="40000"/>
                </a:srgbClr>
              </a:gs>
              <a:gs pos="50000">
                <a:srgbClr val="4472C4">
                  <a:lumMod val="40000"/>
                  <a:lumOff val="60000"/>
                </a:srgbClr>
              </a:gs>
              <a:gs pos="100000">
                <a:srgbClr val="4472C4">
                  <a:tint val="23500"/>
                  <a:satMod val="160000"/>
                  <a:alpha val="50000"/>
                </a:srgbClr>
              </a:gs>
            </a:gsLst>
            <a:lin ang="10800000" scaled="1"/>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a:ln>
                <a:noFill/>
              </a:ln>
              <a:solidFill>
                <a:prstClr val="white"/>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pic>
        <p:nvPicPr>
          <p:cNvPr id="17" name="图片 16">
            <a:extLst>
              <a:ext uri="{FF2B5EF4-FFF2-40B4-BE49-F238E27FC236}">
                <a16:creationId xmlns:a16="http://schemas.microsoft.com/office/drawing/2014/main" id="{7635CAAE-2412-4A8B-5FAE-BA2994B22627}"/>
              </a:ext>
            </a:extLst>
          </p:cNvPr>
          <p:cNvPicPr>
            <a:picLocks noChangeAspect="1"/>
          </p:cNvPicPr>
          <p:nvPr/>
        </p:nvPicPr>
        <p:blipFill>
          <a:blip r:embed="rId10"/>
          <a:srcRect l="2629" t="6514" r="3591" b="1232"/>
          <a:stretch>
            <a:fillRect/>
          </a:stretch>
        </p:blipFill>
        <p:spPr>
          <a:xfrm>
            <a:off x="2015413" y="1156471"/>
            <a:ext cx="4827429" cy="1883321"/>
          </a:xfrm>
          <a:prstGeom prst="rect">
            <a:avLst/>
          </a:prstGeom>
        </p:spPr>
      </p:pic>
      <p:pic>
        <p:nvPicPr>
          <p:cNvPr id="22" name="图片 21">
            <a:extLst>
              <a:ext uri="{FF2B5EF4-FFF2-40B4-BE49-F238E27FC236}">
                <a16:creationId xmlns:a16="http://schemas.microsoft.com/office/drawing/2014/main" id="{DA8424C2-168C-4ED8-EB82-5937143E8ED8}"/>
              </a:ext>
            </a:extLst>
          </p:cNvPr>
          <p:cNvPicPr>
            <a:picLocks noChangeAspect="1"/>
          </p:cNvPicPr>
          <p:nvPr/>
        </p:nvPicPr>
        <p:blipFill>
          <a:blip r:embed="rId11"/>
          <a:stretch>
            <a:fillRect/>
          </a:stretch>
        </p:blipFill>
        <p:spPr>
          <a:xfrm>
            <a:off x="443429" y="3369726"/>
            <a:ext cx="7692137" cy="1803193"/>
          </a:xfrm>
          <a:prstGeom prst="rect">
            <a:avLst/>
          </a:prstGeom>
        </p:spPr>
      </p:pic>
      <p:pic>
        <p:nvPicPr>
          <p:cNvPr id="23" name="图片 22">
            <a:extLst>
              <a:ext uri="{FF2B5EF4-FFF2-40B4-BE49-F238E27FC236}">
                <a16:creationId xmlns:a16="http://schemas.microsoft.com/office/drawing/2014/main" id="{D6BBC436-70AD-1B6B-477C-34F2BC783464}"/>
              </a:ext>
            </a:extLst>
          </p:cNvPr>
          <p:cNvPicPr>
            <a:picLocks noChangeAspect="1"/>
          </p:cNvPicPr>
          <p:nvPr/>
        </p:nvPicPr>
        <p:blipFill>
          <a:blip r:embed="rId12"/>
          <a:stretch>
            <a:fillRect/>
          </a:stretch>
        </p:blipFill>
        <p:spPr>
          <a:xfrm>
            <a:off x="8054084" y="3384924"/>
            <a:ext cx="3805528" cy="1803193"/>
          </a:xfrm>
          <a:prstGeom prst="rect">
            <a:avLst/>
          </a:prstGeom>
        </p:spPr>
      </p:pic>
      <p:pic>
        <p:nvPicPr>
          <p:cNvPr id="12" name="Graphic 5">
            <a:extLst>
              <a:ext uri="{FF2B5EF4-FFF2-40B4-BE49-F238E27FC236}">
                <a16:creationId xmlns:a16="http://schemas.microsoft.com/office/drawing/2014/main" id="{383EA031-52A4-B982-6B47-6BE7633BE0FE}"/>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26" t="13310" r="8094" b="10241"/>
          <a:stretch/>
        </p:blipFill>
        <p:spPr>
          <a:xfrm>
            <a:off x="6039167" y="179979"/>
            <a:ext cx="1835308" cy="594813"/>
          </a:xfrm>
          <a:prstGeom prst="rect">
            <a:avLst/>
          </a:prstGeom>
        </p:spPr>
      </p:pic>
      <p:pic>
        <p:nvPicPr>
          <p:cNvPr id="18" name="图片 10" descr="武汉大学logo-02">
            <a:extLst>
              <a:ext uri="{FF2B5EF4-FFF2-40B4-BE49-F238E27FC236}">
                <a16:creationId xmlns:a16="http://schemas.microsoft.com/office/drawing/2014/main" id="{0A4864C3-A04C-2915-2779-DD71AF3A52B8}"/>
              </a:ext>
            </a:extLst>
          </p:cNvPr>
          <p:cNvPicPr>
            <a:picLocks noChangeAspect="1"/>
          </p:cNvPicPr>
          <p:nvPr/>
        </p:nvPicPr>
        <p:blipFill>
          <a:blip r:embed="rId15"/>
          <a:stretch>
            <a:fillRect/>
          </a:stretch>
        </p:blipFill>
        <p:spPr>
          <a:xfrm>
            <a:off x="8030845" y="95351"/>
            <a:ext cx="2045273" cy="763686"/>
          </a:xfrm>
          <a:prstGeom prst="rect">
            <a:avLst/>
          </a:prstGeom>
        </p:spPr>
      </p:pic>
      <p:pic>
        <p:nvPicPr>
          <p:cNvPr id="19" name="Picture 2">
            <a:extLst>
              <a:ext uri="{FF2B5EF4-FFF2-40B4-BE49-F238E27FC236}">
                <a16:creationId xmlns:a16="http://schemas.microsoft.com/office/drawing/2014/main" id="{813A29B4-0B87-DB46-4CDB-D171750C8B23}"/>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0100248" y="108547"/>
            <a:ext cx="1820671" cy="623011"/>
          </a:xfrm>
          <a:prstGeom prst="rect">
            <a:avLst/>
          </a:prstGeom>
          <a:noFill/>
          <a:extLst>
            <a:ext uri="{909E8E84-426E-40DD-AFC4-6F175D3DCCD1}">
              <a14:hiddenFill xmlns:a14="http://schemas.microsoft.com/office/drawing/2010/main">
                <a:solidFill>
                  <a:srgbClr val="FFFFFF"/>
                </a:solidFill>
              </a14:hiddenFill>
            </a:ext>
          </a:extLst>
        </p:spPr>
      </p:pic>
      <p:sp>
        <p:nvSpPr>
          <p:cNvPr id="20" name="灯片编号占位符 1">
            <a:extLst>
              <a:ext uri="{FF2B5EF4-FFF2-40B4-BE49-F238E27FC236}">
                <a16:creationId xmlns:a16="http://schemas.microsoft.com/office/drawing/2014/main" id="{9BA0E6C4-AC5D-3C63-FD45-6E7D400ED16E}"/>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20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62B6538A-33AE-45EB-868C-14B9E34ED961}" type="slidenum">
              <a:rPr lang="zh-CN" altLang="en-US" sz="1200" smtClean="0">
                <a:solidFill>
                  <a:prstClr val="black">
                    <a:tint val="75000"/>
                  </a:prstClr>
                </a:solidFill>
                <a:latin typeface="Calibri" panose="020F0502020204030204"/>
                <a:ea typeface="宋体" panose="02010600030101010101" pitchFamily="2" charset="-122"/>
              </a:rPr>
              <a:pPr>
                <a:defRPr/>
              </a:pPr>
              <a:t>17</a:t>
            </a:fld>
            <a:endParaRPr lang="zh-CN" altLang="en-US" sz="1200">
              <a:solidFill>
                <a:prstClr val="black">
                  <a:tint val="75000"/>
                </a:prstClr>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4094878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CF7A9-71BA-9141-2C58-49AA03E2EE7C}"/>
            </a:ext>
          </a:extLst>
        </p:cNvPr>
        <p:cNvGrpSpPr/>
        <p:nvPr/>
      </p:nvGrpSpPr>
      <p:grpSpPr>
        <a:xfrm>
          <a:off x="0" y="0"/>
          <a:ext cx="0" cy="0"/>
          <a:chOff x="0" y="0"/>
          <a:chExt cx="0" cy="0"/>
        </a:xfrm>
      </p:grpSpPr>
      <p:sp>
        <p:nvSpPr>
          <p:cNvPr id="13" name="文本框 12">
            <a:extLst>
              <a:ext uri="{FF2B5EF4-FFF2-40B4-BE49-F238E27FC236}">
                <a16:creationId xmlns:a16="http://schemas.microsoft.com/office/drawing/2014/main" id="{EFB7047A-FDFA-FE00-3EF5-C91DA7CF349E}"/>
              </a:ext>
            </a:extLst>
          </p:cNvPr>
          <p:cNvSpPr txBox="1"/>
          <p:nvPr/>
        </p:nvSpPr>
        <p:spPr>
          <a:xfrm>
            <a:off x="55872" y="90987"/>
            <a:ext cx="5552448" cy="6771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国家科技创新</a:t>
            </a:r>
            <a:r>
              <a:rPr kumimoji="0" lang="en-US" altLang="zh-CN"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2030</a:t>
            </a:r>
            <a:r>
              <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重大项目</a:t>
            </a:r>
            <a:r>
              <a:rPr kumimoji="0" lang="zh-CN" altLang="en-US" sz="2000" b="1" i="0" u="none" strike="noStrike" kern="1200" cap="none" spc="0" normalizeH="0" baseline="0" noProof="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rPr>
              <a:t>课题：</a:t>
            </a:r>
            <a:r>
              <a:rPr lang="en-US" altLang="zh-CN" b="1"/>
              <a:t>PHOXRefiner: Reference-Aware PHOX Ligand Optimization ( </a:t>
            </a:r>
            <a:r>
              <a:rPr lang="en-US" altLang="zh-CN" b="1">
                <a:solidFill>
                  <a:srgbClr val="FF0000"/>
                </a:solidFill>
              </a:rPr>
              <a:t>oral </a:t>
            </a:r>
            <a:r>
              <a:rPr lang="en-US" altLang="zh-CN" b="1"/>
              <a:t>)</a:t>
            </a:r>
            <a:endParaRPr kumimoji="0" lang="zh-CN" altLang="en-US" sz="2000" b="1" i="0" u="none" strike="noStrike" kern="1200" cap="none" spc="0" normalizeH="0" baseline="0" noProof="0" dirty="0">
              <a:ln>
                <a:noFill/>
              </a:ln>
              <a:solidFill>
                <a:srgbClr val="003DA6"/>
              </a:solidFill>
              <a:effectLst/>
              <a:uLnTx/>
              <a:uFillTx/>
              <a:latin typeface="Microsoft YaHei" panose="020B0503020204020204" pitchFamily="34" charset="-122"/>
              <a:ea typeface="Microsoft YaHei" panose="020B0503020204020204" pitchFamily="34" charset="-122"/>
              <a:cs typeface="Calibri" panose="020F0502020204030204" charset="0"/>
            </a:endParaRPr>
          </a:p>
        </p:txBody>
      </p:sp>
      <p:sp>
        <p:nvSpPr>
          <p:cNvPr id="2" name="任意多边形: 形状 1">
            <a:extLst>
              <a:ext uri="{FF2B5EF4-FFF2-40B4-BE49-F238E27FC236}">
                <a16:creationId xmlns:a16="http://schemas.microsoft.com/office/drawing/2014/main" id="{24E24492-3CB9-80B3-EC71-CA89BBD8072F}"/>
              </a:ext>
            </a:extLst>
          </p:cNvPr>
          <p:cNvSpPr/>
          <p:nvPr/>
        </p:nvSpPr>
        <p:spPr>
          <a:xfrm>
            <a:off x="432954" y="845751"/>
            <a:ext cx="11426658" cy="108000"/>
          </a:xfrm>
          <a:custGeom>
            <a:avLst/>
            <a:gdLst>
              <a:gd name="connsiteX0" fmla="*/ 2 w 11426658"/>
              <a:gd name="connsiteY0" fmla="*/ 0 h 108000"/>
              <a:gd name="connsiteX1" fmla="*/ 2164018 w 11426658"/>
              <a:gd name="connsiteY1" fmla="*/ 0 h 108000"/>
              <a:gd name="connsiteX2" fmla="*/ 2228214 w 11426658"/>
              <a:gd name="connsiteY2" fmla="*/ 55065 h 108000"/>
              <a:gd name="connsiteX3" fmla="*/ 11426658 w 11426658"/>
              <a:gd name="connsiteY3" fmla="*/ 55065 h 108000"/>
              <a:gd name="connsiteX4" fmla="*/ 11426658 w 11426658"/>
              <a:gd name="connsiteY4" fmla="*/ 108000 h 108000"/>
              <a:gd name="connsiteX5" fmla="*/ 2289926 w 11426658"/>
              <a:gd name="connsiteY5" fmla="*/ 108000 h 108000"/>
              <a:gd name="connsiteX6" fmla="*/ 2 w 11426658"/>
              <a:gd name="connsiteY6" fmla="*/ 108000 h 108000"/>
              <a:gd name="connsiteX7" fmla="*/ 0 w 11426658"/>
              <a:gd name="connsiteY7" fmla="*/ 108000 h 108000"/>
              <a:gd name="connsiteX8" fmla="*/ 0 w 11426658"/>
              <a:gd name="connsiteY8" fmla="*/ 55065 h 108000"/>
              <a:gd name="connsiteX9" fmla="*/ 2 w 11426658"/>
              <a:gd name="connsiteY9" fmla="*/ 55065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26658" h="108000">
                <a:moveTo>
                  <a:pt x="2" y="0"/>
                </a:moveTo>
                <a:lnTo>
                  <a:pt x="2164018" y="0"/>
                </a:lnTo>
                <a:lnTo>
                  <a:pt x="2228214" y="55065"/>
                </a:lnTo>
                <a:lnTo>
                  <a:pt x="11426658" y="55065"/>
                </a:lnTo>
                <a:lnTo>
                  <a:pt x="11426658" y="108000"/>
                </a:lnTo>
                <a:lnTo>
                  <a:pt x="2289926" y="108000"/>
                </a:lnTo>
                <a:lnTo>
                  <a:pt x="2" y="108000"/>
                </a:lnTo>
                <a:lnTo>
                  <a:pt x="0" y="108000"/>
                </a:lnTo>
                <a:lnTo>
                  <a:pt x="0" y="55065"/>
                </a:lnTo>
                <a:lnTo>
                  <a:pt x="2" y="55065"/>
                </a:lnTo>
                <a:close/>
              </a:path>
            </a:pathLst>
          </a:custGeom>
          <a:gradFill>
            <a:gsLst>
              <a:gs pos="0">
                <a:srgbClr val="003DA6"/>
              </a:gs>
              <a:gs pos="20000">
                <a:srgbClr val="009BDE"/>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white"/>
              </a:solidFill>
              <a:effectLst/>
              <a:uLnTx/>
              <a:uFillTx/>
              <a:latin typeface="Calibri" panose="020F0502020204030204" pitchFamily="34" charset="0"/>
              <a:ea typeface="黑体" panose="02010609060101010101" pitchFamily="49" charset="-122"/>
              <a:cs typeface="Calibri" panose="020F0502020204030204" pitchFamily="34" charset="0"/>
            </a:endParaRPr>
          </a:p>
        </p:txBody>
      </p:sp>
      <p:sp>
        <p:nvSpPr>
          <p:cNvPr id="7" name="文本框 5">
            <a:extLst>
              <a:ext uri="{FF2B5EF4-FFF2-40B4-BE49-F238E27FC236}">
                <a16:creationId xmlns:a16="http://schemas.microsoft.com/office/drawing/2014/main" id="{6FA3563B-B73F-3367-FD74-CBD1F4F53E1D}"/>
              </a:ext>
            </a:extLst>
          </p:cNvPr>
          <p:cNvSpPr txBox="1">
            <a:spLocks noChangeArrowheads="1"/>
          </p:cNvSpPr>
          <p:nvPr/>
        </p:nvSpPr>
        <p:spPr bwMode="auto">
          <a:xfrm>
            <a:off x="55872" y="953751"/>
            <a:ext cx="11803740" cy="597856"/>
          </a:xfrm>
          <a:prstGeom prst="rect">
            <a:avLst/>
          </a:prstGeom>
          <a:noFill/>
          <a:ln w="9525">
            <a:noFill/>
            <a:miter lim="800000"/>
          </a:ln>
        </p:spPr>
        <p:txBody>
          <a:bodyPr wrap="square" anchor="t" anchorCtr="0">
            <a:spAutoFit/>
          </a:bodyPr>
          <a:lstStyle/>
          <a:p>
            <a:pPr marL="342900" indent="-342900" fontAlgn="ctr">
              <a:lnSpc>
                <a:spcPct val="90000"/>
              </a:lnSpc>
              <a:spcBef>
                <a:spcPts val="600"/>
              </a:spcBef>
              <a:buSzPct val="120000"/>
              <a:buFont typeface="Wingdings" panose="05000000000000000000" pitchFamily="2" charset="2"/>
              <a:buChar char="p"/>
              <a:defRPr/>
            </a:pPr>
            <a:r>
              <a:rPr lang="zh-CN" altLang="en-US" b="1">
                <a:latin typeface="微软雅黑" panose="020B0503020204020204" pitchFamily="34" charset="-122"/>
                <a:ea typeface="微软雅黑" panose="020B0503020204020204" pitchFamily="34" charset="-122"/>
                <a:cs typeface="Arial" panose="020B0604020202020204" pitchFamily="34" charset="0"/>
              </a:rPr>
              <a:t>提出 </a:t>
            </a:r>
            <a:r>
              <a:rPr lang="en-US" altLang="zh-CN" b="1">
                <a:latin typeface="微软雅黑" panose="020B0503020204020204" pitchFamily="34" charset="-122"/>
                <a:ea typeface="微软雅黑" panose="020B0503020204020204" pitchFamily="34" charset="-122"/>
                <a:cs typeface="Arial" panose="020B0604020202020204" pitchFamily="34" charset="0"/>
              </a:rPr>
              <a:t>PHOXRefiner </a:t>
            </a:r>
            <a:r>
              <a:rPr lang="zh-CN" altLang="en-US" b="1">
                <a:latin typeface="微软雅黑" panose="020B0503020204020204" pitchFamily="34" charset="-122"/>
                <a:ea typeface="微软雅黑" panose="020B0503020204020204" pitchFamily="34" charset="-122"/>
                <a:cs typeface="Arial" panose="020B0604020202020204" pitchFamily="34" charset="0"/>
              </a:rPr>
              <a:t>闭环优化框架，通过参考配体引导的</a:t>
            </a:r>
            <a:r>
              <a:rPr lang="zh-CN" altLang="en-US" b="1">
                <a:solidFill>
                  <a:srgbClr val="FF0000"/>
                </a:solidFill>
                <a:latin typeface="微软雅黑" panose="020B0503020204020204" pitchFamily="34" charset="-122"/>
                <a:ea typeface="微软雅黑" panose="020B0503020204020204" pitchFamily="34" charset="-122"/>
                <a:cs typeface="Arial" panose="020B0604020202020204" pitchFamily="34" charset="0"/>
              </a:rPr>
              <a:t>片段生成</a:t>
            </a:r>
            <a:r>
              <a:rPr lang="zh-CN" altLang="en-US" b="1">
                <a:latin typeface="微软雅黑" panose="020B0503020204020204" pitchFamily="34" charset="-122"/>
                <a:ea typeface="微软雅黑" panose="020B0503020204020204" pitchFamily="34" charset="-122"/>
                <a:cs typeface="Arial" panose="020B0604020202020204" pitchFamily="34" charset="0"/>
              </a:rPr>
              <a:t>、反应条件感知评分和 </a:t>
            </a:r>
            <a:r>
              <a:rPr lang="en-US" altLang="zh-CN" b="1">
                <a:solidFill>
                  <a:srgbClr val="FF0000"/>
                </a:solidFill>
                <a:latin typeface="微软雅黑" panose="020B0503020204020204" pitchFamily="34" charset="-122"/>
                <a:ea typeface="微软雅黑" panose="020B0503020204020204" pitchFamily="34" charset="-122"/>
                <a:cs typeface="Arial" panose="020B0604020202020204" pitchFamily="34" charset="0"/>
              </a:rPr>
              <a:t>Experience Reflow</a:t>
            </a:r>
            <a:r>
              <a:rPr lang="zh-CN" altLang="en-US" b="1">
                <a:latin typeface="微软雅黑" panose="020B0503020204020204" pitchFamily="34" charset="-122"/>
                <a:ea typeface="微软雅黑" panose="020B0503020204020204" pitchFamily="34" charset="-122"/>
                <a:cs typeface="Arial" panose="020B0604020202020204" pitchFamily="34" charset="0"/>
              </a:rPr>
              <a:t>，在保持 </a:t>
            </a:r>
            <a:r>
              <a:rPr lang="en-US" altLang="zh-CN" b="1">
                <a:latin typeface="微软雅黑" panose="020B0503020204020204" pitchFamily="34" charset="-122"/>
                <a:ea typeface="微软雅黑" panose="020B0503020204020204" pitchFamily="34" charset="-122"/>
                <a:cs typeface="Arial" panose="020B0604020202020204" pitchFamily="34" charset="0"/>
              </a:rPr>
              <a:t>PHOX </a:t>
            </a:r>
            <a:r>
              <a:rPr lang="zh-CN" altLang="en-US" b="1">
                <a:latin typeface="微软雅黑" panose="020B0503020204020204" pitchFamily="34" charset="-122"/>
                <a:ea typeface="微软雅黑" panose="020B0503020204020204" pitchFamily="34" charset="-122"/>
                <a:cs typeface="Arial" panose="020B0604020202020204" pitchFamily="34" charset="0"/>
              </a:rPr>
              <a:t>骨架稳定性的同时，实现面向反应条件的配体优化</a:t>
            </a:r>
            <a:endParaRPr lang="en-US" altLang="zh-CN"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文本框 7">
            <a:extLst>
              <a:ext uri="{FF2B5EF4-FFF2-40B4-BE49-F238E27FC236}">
                <a16:creationId xmlns:a16="http://schemas.microsoft.com/office/drawing/2014/main" id="{680CE63B-124E-8B00-7464-0BF2EFE1C3CC}"/>
              </a:ext>
            </a:extLst>
          </p:cNvPr>
          <p:cNvSpPr txBox="1"/>
          <p:nvPr/>
        </p:nvSpPr>
        <p:spPr>
          <a:xfrm>
            <a:off x="8741228" y="1456813"/>
            <a:ext cx="3308531" cy="5632311"/>
          </a:xfrm>
          <a:prstGeom prst="rect">
            <a:avLst/>
          </a:prstGeom>
          <a:noFill/>
        </p:spPr>
        <p:txBody>
          <a:bodyPr wrap="square">
            <a:spAutoFit/>
          </a:bodyPr>
          <a:lstStyle/>
          <a:p>
            <a:pPr marL="285750" indent="-285750" algn="just">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cs typeface="Arial" panose="020B0604020202020204" pitchFamily="34" charset="0"/>
              </a:rPr>
              <a:t>现有</a:t>
            </a:r>
            <a:r>
              <a:rPr lang="zh-CN" altLang="en-US">
                <a:latin typeface="微软雅黑" panose="020B0503020204020204" pitchFamily="34" charset="-122"/>
                <a:ea typeface="微软雅黑" panose="020B0503020204020204" pitchFamily="34" charset="-122"/>
                <a:cs typeface="Arial" panose="020B0604020202020204" pitchFamily="34" charset="0"/>
              </a:rPr>
              <a:t>问题：传统分子生成方法通常采用全分子生成，容易破坏 </a:t>
            </a:r>
            <a:r>
              <a:rPr lang="en-US" altLang="zh-CN">
                <a:latin typeface="微软雅黑" panose="020B0503020204020204" pitchFamily="34" charset="-122"/>
                <a:ea typeface="微软雅黑" panose="020B0503020204020204" pitchFamily="34" charset="-122"/>
                <a:cs typeface="Arial" panose="020B0604020202020204" pitchFamily="34" charset="0"/>
              </a:rPr>
              <a:t>PHOX </a:t>
            </a:r>
            <a:r>
              <a:rPr lang="zh-CN" altLang="en-US">
                <a:latin typeface="微软雅黑" panose="020B0503020204020204" pitchFamily="34" charset="-122"/>
                <a:ea typeface="微软雅黑" panose="020B0503020204020204" pitchFamily="34" charset="-122"/>
                <a:cs typeface="Arial" panose="020B0604020202020204" pitchFamily="34" charset="0"/>
              </a:rPr>
              <a:t>骨架；同时受限于手性催化实验数据稀缺，直接预测 </a:t>
            </a:r>
            <a:r>
              <a:rPr lang="en-US" altLang="zh-CN">
                <a:latin typeface="微软雅黑" panose="020B0503020204020204" pitchFamily="34" charset="-122"/>
                <a:ea typeface="微软雅黑" panose="020B0503020204020204" pitchFamily="34" charset="-122"/>
                <a:cs typeface="Arial" panose="020B0604020202020204" pitchFamily="34" charset="0"/>
              </a:rPr>
              <a:t>ee </a:t>
            </a:r>
            <a:r>
              <a:rPr lang="zh-CN" altLang="en-US">
                <a:latin typeface="微软雅黑" panose="020B0503020204020204" pitchFamily="34" charset="-122"/>
                <a:ea typeface="微软雅黑" panose="020B0503020204020204" pitchFamily="34" charset="-122"/>
                <a:cs typeface="Arial" panose="020B0604020202020204" pitchFamily="34" charset="0"/>
              </a:rPr>
              <a:t>泛化能力有限，难以针对特定反应条件进行定向配体优化。</a:t>
            </a:r>
            <a:endParaRPr lang="en-US" altLang="zh-CN">
              <a:latin typeface="微软雅黑" panose="020B0503020204020204" pitchFamily="34" charset="-122"/>
              <a:ea typeface="微软雅黑" panose="020B0503020204020204" pitchFamily="34" charset="-122"/>
              <a:cs typeface="Arial" panose="020B0604020202020204" pitchFamily="34" charset="0"/>
            </a:endParaRPr>
          </a:p>
          <a:p>
            <a:pPr marL="285750" indent="-285750" algn="just">
              <a:buFont typeface="Wingdings" panose="05000000000000000000" pitchFamily="2" charset="2"/>
              <a:buChar char="l"/>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285750" indent="-285750" algn="just">
              <a:buFont typeface="Wingdings" panose="05000000000000000000" pitchFamily="2" charset="2"/>
              <a:buChar char="l"/>
            </a:pPr>
            <a:r>
              <a:rPr lang="zh-CN" altLang="en-US">
                <a:latin typeface="微软雅黑" panose="020B0503020204020204" pitchFamily="34" charset="-122"/>
                <a:ea typeface="微软雅黑" panose="020B0503020204020204" pitchFamily="34" charset="-122"/>
                <a:cs typeface="Arial" panose="020B0604020202020204" pitchFamily="34" charset="0"/>
              </a:rPr>
              <a:t>框架：提出 </a:t>
            </a:r>
            <a:r>
              <a:rPr lang="en-US" altLang="zh-CN">
                <a:latin typeface="微软雅黑" panose="020B0503020204020204" pitchFamily="34" charset="-122"/>
                <a:ea typeface="微软雅黑" panose="020B0503020204020204" pitchFamily="34" charset="-122"/>
                <a:cs typeface="Arial" panose="020B0604020202020204" pitchFamily="34" charset="0"/>
              </a:rPr>
              <a:t>PHOXRefiner </a:t>
            </a:r>
            <a:r>
              <a:rPr lang="zh-CN" altLang="en-US">
                <a:latin typeface="微软雅黑" panose="020B0503020204020204" pitchFamily="34" charset="-122"/>
                <a:ea typeface="微软雅黑" panose="020B0503020204020204" pitchFamily="34" charset="-122"/>
                <a:cs typeface="Arial" panose="020B0604020202020204" pitchFamily="34" charset="0"/>
              </a:rPr>
              <a:t>闭环优化框架，由 </a:t>
            </a:r>
            <a:r>
              <a:rPr lang="en-US" altLang="zh-CN">
                <a:latin typeface="微软雅黑" panose="020B0503020204020204" pitchFamily="34" charset="-122"/>
                <a:ea typeface="微软雅黑" panose="020B0503020204020204" pitchFamily="34" charset="-122"/>
                <a:cs typeface="Arial" panose="020B0604020202020204" pitchFamily="34" charset="0"/>
              </a:rPr>
              <a:t>PHOX </a:t>
            </a:r>
            <a:r>
              <a:rPr lang="zh-CN" altLang="en-US">
                <a:latin typeface="微软雅黑" panose="020B0503020204020204" pitchFamily="34" charset="-122"/>
                <a:ea typeface="微软雅黑" panose="020B0503020204020204" pitchFamily="34" charset="-122"/>
                <a:cs typeface="Arial" panose="020B0604020202020204" pitchFamily="34" charset="0"/>
              </a:rPr>
              <a:t>约束片段生成、反应条件双编码器评分和 </a:t>
            </a:r>
            <a:r>
              <a:rPr lang="en-US" altLang="zh-CN">
                <a:latin typeface="微软雅黑" panose="020B0503020204020204" pitchFamily="34" charset="-122"/>
                <a:ea typeface="微软雅黑" panose="020B0503020204020204" pitchFamily="34" charset="-122"/>
                <a:cs typeface="Arial" panose="020B0604020202020204" pitchFamily="34" charset="0"/>
              </a:rPr>
              <a:t>Experience Reflow </a:t>
            </a:r>
            <a:r>
              <a:rPr lang="zh-CN" altLang="en-US">
                <a:latin typeface="微软雅黑" panose="020B0503020204020204" pitchFamily="34" charset="-122"/>
                <a:ea typeface="微软雅黑" panose="020B0503020204020204" pitchFamily="34" charset="-122"/>
                <a:cs typeface="Arial" panose="020B0604020202020204" pitchFamily="34" charset="0"/>
              </a:rPr>
              <a:t>三个模块组成。</a:t>
            </a:r>
            <a:endParaRPr lang="en-US" altLang="zh-CN">
              <a:latin typeface="微软雅黑" panose="020B0503020204020204" pitchFamily="34" charset="-122"/>
              <a:ea typeface="微软雅黑" panose="020B0503020204020204" pitchFamily="34" charset="-122"/>
              <a:cs typeface="Arial" panose="020B0604020202020204" pitchFamily="34" charset="0"/>
            </a:endParaRPr>
          </a:p>
          <a:p>
            <a:pPr marL="285750" indent="-285750" algn="just">
              <a:buFont typeface="Wingdings" panose="05000000000000000000" pitchFamily="2" charset="2"/>
              <a:buChar char="l"/>
            </a:pPr>
            <a:endParaRPr lang="en-US" altLang="zh-CN">
              <a:latin typeface="微软雅黑" panose="020B0503020204020204" pitchFamily="34" charset="-122"/>
              <a:ea typeface="微软雅黑" panose="020B0503020204020204" pitchFamily="34" charset="-122"/>
              <a:cs typeface="Arial" panose="020B0604020202020204" pitchFamily="34" charset="0"/>
            </a:endParaRPr>
          </a:p>
          <a:p>
            <a:pPr marL="285750" indent="-285750" algn="just">
              <a:buFont typeface="Wingdings" panose="05000000000000000000" pitchFamily="2" charset="2"/>
              <a:buChar char="l"/>
            </a:pPr>
            <a:r>
              <a:rPr lang="zh-CN" altLang="en-US">
                <a:latin typeface="微软雅黑" panose="020B0503020204020204" pitchFamily="34" charset="-122"/>
                <a:ea typeface="微软雅黑" panose="020B0503020204020204" pitchFamily="34" charset="-122"/>
                <a:cs typeface="Arial" panose="020B0604020202020204" pitchFamily="34" charset="0"/>
              </a:rPr>
              <a:t>效果：</a:t>
            </a:r>
            <a:r>
              <a:rPr lang="en-US" altLang="zh-CN">
                <a:latin typeface="微软雅黑" panose="020B0503020204020204" pitchFamily="34" charset="-122"/>
                <a:ea typeface="微软雅黑" panose="020B0503020204020204" pitchFamily="34" charset="-122"/>
                <a:cs typeface="Arial" panose="020B0604020202020204" pitchFamily="34" charset="0"/>
              </a:rPr>
              <a:t>Top-1 </a:t>
            </a:r>
            <a:r>
              <a:rPr lang="zh-CN" altLang="en-US">
                <a:latin typeface="微软雅黑" panose="020B0503020204020204" pitchFamily="34" charset="-122"/>
                <a:ea typeface="微软雅黑" panose="020B0503020204020204" pitchFamily="34" charset="-122"/>
                <a:cs typeface="Arial" panose="020B0604020202020204" pitchFamily="34" charset="0"/>
              </a:rPr>
              <a:t>推荐质量由 </a:t>
            </a:r>
            <a:r>
              <a:rPr lang="en-US" altLang="zh-CN">
                <a:solidFill>
                  <a:srgbClr val="FF0000"/>
                </a:solidFill>
                <a:latin typeface="微软雅黑" panose="020B0503020204020204" pitchFamily="34" charset="-122"/>
                <a:ea typeface="微软雅黑" panose="020B0503020204020204" pitchFamily="34" charset="-122"/>
                <a:cs typeface="Arial" panose="020B0604020202020204" pitchFamily="34" charset="0"/>
              </a:rPr>
              <a:t>0.827</a:t>
            </a:r>
            <a:r>
              <a:rPr lang="zh-CN" altLang="en-US">
                <a:solidFill>
                  <a:srgbClr val="FF0000"/>
                </a:solidFill>
                <a:latin typeface="微软雅黑" panose="020B0503020204020204" pitchFamily="34" charset="-122"/>
                <a:ea typeface="微软雅黑" panose="020B0503020204020204" pitchFamily="34" charset="-122"/>
                <a:cs typeface="Arial" panose="020B0604020202020204" pitchFamily="34" charset="0"/>
              </a:rPr>
              <a:t> 提升至 </a:t>
            </a:r>
            <a:r>
              <a:rPr lang="en-US" altLang="zh-CN">
                <a:solidFill>
                  <a:srgbClr val="FF0000"/>
                </a:solidFill>
                <a:latin typeface="微软雅黑" panose="020B0503020204020204" pitchFamily="34" charset="-122"/>
                <a:ea typeface="微软雅黑" panose="020B0503020204020204" pitchFamily="34" charset="-122"/>
                <a:cs typeface="Arial" panose="020B0604020202020204" pitchFamily="34" charset="0"/>
              </a:rPr>
              <a:t>0.968</a:t>
            </a:r>
            <a:r>
              <a:rPr lang="zh-CN" altLang="en-US">
                <a:latin typeface="微软雅黑" panose="020B0503020204020204" pitchFamily="34" charset="-122"/>
                <a:ea typeface="微软雅黑" panose="020B0503020204020204" pitchFamily="34" charset="-122"/>
                <a:cs typeface="Arial" panose="020B0604020202020204" pitchFamily="34" charset="0"/>
              </a:rPr>
              <a:t>，</a:t>
            </a:r>
            <a:r>
              <a:rPr lang="en-US" altLang="zh-CN">
                <a:latin typeface="微软雅黑" panose="020B0503020204020204" pitchFamily="34" charset="-122"/>
                <a:ea typeface="微软雅黑" panose="020B0503020204020204" pitchFamily="34" charset="-122"/>
                <a:cs typeface="Arial" panose="020B0604020202020204" pitchFamily="34" charset="0"/>
              </a:rPr>
              <a:t>Top-10 </a:t>
            </a:r>
            <a:r>
              <a:rPr lang="zh-CN" altLang="en-US">
                <a:latin typeface="微软雅黑" panose="020B0503020204020204" pitchFamily="34" charset="-122"/>
                <a:ea typeface="微软雅黑" panose="020B0503020204020204" pitchFamily="34" charset="-122"/>
                <a:cs typeface="Arial" panose="020B0604020202020204" pitchFamily="34" charset="0"/>
              </a:rPr>
              <a:t>由 </a:t>
            </a:r>
            <a:r>
              <a:rPr lang="en-US" altLang="zh-CN">
                <a:latin typeface="微软雅黑" panose="020B0503020204020204" pitchFamily="34" charset="-122"/>
                <a:ea typeface="微软雅黑" panose="020B0503020204020204" pitchFamily="34" charset="-122"/>
                <a:cs typeface="Arial" panose="020B0604020202020204" pitchFamily="34" charset="0"/>
              </a:rPr>
              <a:t>0.468</a:t>
            </a:r>
            <a:r>
              <a:rPr lang="zh-CN" altLang="en-US">
                <a:latin typeface="微软雅黑" panose="020B0503020204020204" pitchFamily="34" charset="-122"/>
                <a:ea typeface="微软雅黑" panose="020B0503020204020204" pitchFamily="34" charset="-122"/>
                <a:cs typeface="Arial" panose="020B0604020202020204" pitchFamily="34" charset="0"/>
              </a:rPr>
              <a:t> 提升至 </a:t>
            </a:r>
            <a:r>
              <a:rPr lang="en-US" altLang="zh-CN">
                <a:latin typeface="微软雅黑" panose="020B0503020204020204" pitchFamily="34" charset="-122"/>
                <a:ea typeface="微软雅黑" panose="020B0503020204020204" pitchFamily="34" charset="-122"/>
                <a:cs typeface="Arial" panose="020B0604020202020204" pitchFamily="34" charset="0"/>
              </a:rPr>
              <a:t>0.944</a:t>
            </a:r>
            <a:r>
              <a:rPr lang="zh-CN" altLang="en-US">
                <a:latin typeface="微软雅黑" panose="020B0503020204020204" pitchFamily="34" charset="-122"/>
                <a:ea typeface="微软雅黑" panose="020B0503020204020204" pitchFamily="34" charset="-122"/>
                <a:cs typeface="Arial" panose="020B0604020202020204" pitchFamily="34" charset="0"/>
              </a:rPr>
              <a:t>，同时保持 </a:t>
            </a:r>
            <a:r>
              <a:rPr lang="en-US" altLang="zh-CN">
                <a:latin typeface="微软雅黑" panose="020B0503020204020204" pitchFamily="34" charset="-122"/>
                <a:ea typeface="微软雅黑" panose="020B0503020204020204" pitchFamily="34" charset="-122"/>
                <a:cs typeface="Arial" panose="020B0604020202020204" pitchFamily="34" charset="0"/>
              </a:rPr>
              <a:t>PHOX </a:t>
            </a:r>
            <a:r>
              <a:rPr lang="zh-CN" altLang="en-US">
                <a:latin typeface="微软雅黑" panose="020B0503020204020204" pitchFamily="34" charset="-122"/>
                <a:ea typeface="微软雅黑" panose="020B0503020204020204" pitchFamily="34" charset="-122"/>
                <a:cs typeface="Arial" panose="020B0604020202020204" pitchFamily="34" charset="0"/>
              </a:rPr>
              <a:t>骨架稳定性和候选多样性。</a:t>
            </a:r>
          </a:p>
          <a:p>
            <a:pPr marL="285750" indent="-285750" algn="just">
              <a:buFont typeface="Wingdings" panose="05000000000000000000" pitchFamily="2" charset="2"/>
              <a:buChar char="l"/>
            </a:pP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10" name="图片 9">
            <a:extLst>
              <a:ext uri="{FF2B5EF4-FFF2-40B4-BE49-F238E27FC236}">
                <a16:creationId xmlns:a16="http://schemas.microsoft.com/office/drawing/2014/main" id="{CAE2A4DF-8502-53A5-CFC0-43CD8312F6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72" y="1818043"/>
            <a:ext cx="8744418" cy="4610416"/>
          </a:xfrm>
          <a:prstGeom prst="rect">
            <a:avLst/>
          </a:prstGeom>
        </p:spPr>
      </p:pic>
      <p:pic>
        <p:nvPicPr>
          <p:cNvPr id="4" name="Graphic 5">
            <a:extLst>
              <a:ext uri="{FF2B5EF4-FFF2-40B4-BE49-F238E27FC236}">
                <a16:creationId xmlns:a16="http://schemas.microsoft.com/office/drawing/2014/main" id="{FFF33D82-0260-D61A-8E0D-AB94D983E60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6226" t="13310" r="8094" b="10241"/>
          <a:stretch/>
        </p:blipFill>
        <p:spPr>
          <a:xfrm>
            <a:off x="6039167" y="179979"/>
            <a:ext cx="1835308" cy="594813"/>
          </a:xfrm>
          <a:prstGeom prst="rect">
            <a:avLst/>
          </a:prstGeom>
        </p:spPr>
      </p:pic>
      <p:pic>
        <p:nvPicPr>
          <p:cNvPr id="5" name="图片 10" descr="武汉大学logo-02">
            <a:extLst>
              <a:ext uri="{FF2B5EF4-FFF2-40B4-BE49-F238E27FC236}">
                <a16:creationId xmlns:a16="http://schemas.microsoft.com/office/drawing/2014/main" id="{6DE4D302-ED74-3523-FAC1-B50F97B18767}"/>
              </a:ext>
            </a:extLst>
          </p:cNvPr>
          <p:cNvPicPr>
            <a:picLocks noChangeAspect="1"/>
          </p:cNvPicPr>
          <p:nvPr/>
        </p:nvPicPr>
        <p:blipFill>
          <a:blip r:embed="rId6"/>
          <a:stretch>
            <a:fillRect/>
          </a:stretch>
        </p:blipFill>
        <p:spPr>
          <a:xfrm>
            <a:off x="8030845" y="95351"/>
            <a:ext cx="2045273" cy="763686"/>
          </a:xfrm>
          <a:prstGeom prst="rect">
            <a:avLst/>
          </a:prstGeom>
        </p:spPr>
      </p:pic>
      <p:pic>
        <p:nvPicPr>
          <p:cNvPr id="6" name="Picture 2">
            <a:extLst>
              <a:ext uri="{FF2B5EF4-FFF2-40B4-BE49-F238E27FC236}">
                <a16:creationId xmlns:a16="http://schemas.microsoft.com/office/drawing/2014/main" id="{9C318B90-3858-B125-1D85-498A8BD9DCF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00248" y="108547"/>
            <a:ext cx="1820671" cy="623011"/>
          </a:xfrm>
          <a:prstGeom prst="rect">
            <a:avLst/>
          </a:prstGeom>
          <a:noFill/>
          <a:extLst>
            <a:ext uri="{909E8E84-426E-40DD-AFC4-6F175D3DCCD1}">
              <a14:hiddenFill xmlns:a14="http://schemas.microsoft.com/office/drawing/2010/main">
                <a:solidFill>
                  <a:srgbClr val="FFFFFF"/>
                </a:solidFill>
              </a14:hiddenFill>
            </a:ext>
          </a:extLst>
        </p:spPr>
      </p:pic>
      <p:sp>
        <p:nvSpPr>
          <p:cNvPr id="9" name="灯片编号占位符 1">
            <a:extLst>
              <a:ext uri="{FF2B5EF4-FFF2-40B4-BE49-F238E27FC236}">
                <a16:creationId xmlns:a16="http://schemas.microsoft.com/office/drawing/2014/main" id="{F93D7384-77B1-F823-F54C-FFFE7A247A16}"/>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200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62B6538A-33AE-45EB-868C-14B9E34ED961}" type="slidenum">
              <a:rPr lang="zh-CN" altLang="en-US" sz="1200" smtClean="0">
                <a:solidFill>
                  <a:prstClr val="black">
                    <a:tint val="75000"/>
                  </a:prstClr>
                </a:solidFill>
                <a:latin typeface="Calibri" panose="020F0502020204030204"/>
                <a:ea typeface="宋体" panose="02010600030101010101" pitchFamily="2" charset="-122"/>
              </a:rPr>
              <a:pPr>
                <a:defRPr/>
              </a:pPr>
              <a:t>18</a:t>
            </a:fld>
            <a:endParaRPr lang="zh-CN" altLang="en-US" sz="1200">
              <a:solidFill>
                <a:prstClr val="black">
                  <a:tint val="75000"/>
                </a:prstClr>
              </a:solidFill>
              <a:latin typeface="Calibri" panose="020F0502020204030204"/>
              <a:ea typeface="宋体" panose="02010600030101010101" pitchFamily="2" charset="-122"/>
            </a:endParaRPr>
          </a:p>
        </p:txBody>
      </p:sp>
    </p:spTree>
    <p:extLst>
      <p:ext uri="{BB962C8B-B14F-4D97-AF65-F5344CB8AC3E}">
        <p14:creationId xmlns:p14="http://schemas.microsoft.com/office/powerpoint/2010/main" val="956888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BADA5-3530-6642-A3A4-6B30D986F242}"/>
            </a:ext>
          </a:extLst>
        </p:cNvPr>
        <p:cNvGrpSpPr/>
        <p:nvPr/>
      </p:nvGrpSpPr>
      <p:grpSpPr>
        <a:xfrm>
          <a:off x="0" y="0"/>
          <a:ext cx="0" cy="0"/>
          <a:chOff x="0" y="0"/>
          <a:chExt cx="0" cy="0"/>
        </a:xfrm>
      </p:grpSpPr>
      <p:sp>
        <p:nvSpPr>
          <p:cNvPr id="3" name="PA_矩形 7">
            <a:extLst>
              <a:ext uri="{FF2B5EF4-FFF2-40B4-BE49-F238E27FC236}">
                <a16:creationId xmlns:a16="http://schemas.microsoft.com/office/drawing/2014/main" id="{DADBE84B-4F41-7E7F-9DA5-4D5AB2F26832}"/>
              </a:ext>
            </a:extLst>
          </p:cNvPr>
          <p:cNvSpPr/>
          <p:nvPr>
            <p:custDataLst>
              <p:tags r:id="rId1"/>
            </p:custDataLst>
          </p:nvPr>
        </p:nvSpPr>
        <p:spPr>
          <a:xfrm>
            <a:off x="0" y="0"/>
            <a:ext cx="4314548" cy="6858000"/>
          </a:xfrm>
          <a:prstGeom prst="rect">
            <a:avLst/>
          </a:prstGeom>
          <a:solidFill>
            <a:srgbClr val="2F5496"/>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8">
            <a:extLst>
              <a:ext uri="{FF2B5EF4-FFF2-40B4-BE49-F238E27FC236}">
                <a16:creationId xmlns:a16="http://schemas.microsoft.com/office/drawing/2014/main" id="{799C0E20-54D8-5FB0-351E-4358F88BCBE8}"/>
              </a:ext>
            </a:extLst>
          </p:cNvPr>
          <p:cNvSpPr txBox="1"/>
          <p:nvPr/>
        </p:nvSpPr>
        <p:spPr>
          <a:xfrm>
            <a:off x="514383" y="2136764"/>
            <a:ext cx="3125983" cy="2831544"/>
          </a:xfrm>
          <a:prstGeom prst="rect">
            <a:avLst/>
          </a:prstGeom>
          <a:noFill/>
        </p:spPr>
        <p:txBody>
          <a:bodyPr wrap="square" lIns="0" tIns="0" rIns="0" bIns="0" rtlCol="0" anchor="ctr">
            <a:spAutoFit/>
          </a:bodyPr>
          <a:lstStyle/>
          <a:p>
            <a:pPr algn="ctr"/>
            <a:r>
              <a:rPr lang="zh-CN" altLang="en-US" sz="60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endParaRPr lang="en-US" altLang="zh-CN" sz="6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endParaRPr lang="en-US" altLang="zh-CN" sz="32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en-US" altLang="zh-CN" sz="32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p>
          <a:p>
            <a:pPr algn="ctr"/>
            <a:endParaRPr lang="zh-CN" altLang="en-US" sz="60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7" name="Group 5">
            <a:extLst>
              <a:ext uri="{FF2B5EF4-FFF2-40B4-BE49-F238E27FC236}">
                <a16:creationId xmlns:a16="http://schemas.microsoft.com/office/drawing/2014/main" id="{436C506F-27C3-BC55-FCB7-C7891083582F}"/>
              </a:ext>
            </a:extLst>
          </p:cNvPr>
          <p:cNvGrpSpPr/>
          <p:nvPr/>
        </p:nvGrpSpPr>
        <p:grpSpPr>
          <a:xfrm>
            <a:off x="5386029" y="1335079"/>
            <a:ext cx="4430625" cy="707887"/>
            <a:chOff x="1598315" y="1418185"/>
            <a:chExt cx="4430626" cy="707886"/>
          </a:xfrm>
        </p:grpSpPr>
        <p:sp>
          <p:nvSpPr>
            <p:cNvPr id="8" name="TextBox 6">
              <a:extLst>
                <a:ext uri="{FF2B5EF4-FFF2-40B4-BE49-F238E27FC236}">
                  <a16:creationId xmlns:a16="http://schemas.microsoft.com/office/drawing/2014/main" id="{E353343A-72FF-71B5-24B0-30DD78835FCA}"/>
                </a:ext>
              </a:extLst>
            </p:cNvPr>
            <p:cNvSpPr txBox="1"/>
            <p:nvPr/>
          </p:nvSpPr>
          <p:spPr>
            <a:xfrm>
              <a:off x="1598315" y="1418185"/>
              <a:ext cx="655949" cy="707886"/>
            </a:xfrm>
            <a:prstGeom prst="rect">
              <a:avLst/>
            </a:prstGeom>
            <a:noFill/>
          </p:spPr>
          <p:txBody>
            <a:bodyPr wrap="none" anchor="ctr">
              <a:noAutofit/>
            </a:bodyPr>
            <a:lstStyle/>
            <a:p>
              <a:pPr defTabSz="1219200"/>
              <a:r>
                <a:rPr lang="en-US" altLang="zh-CN" sz="4500" dirty="0">
                  <a:solidFill>
                    <a:schemeClr val="accent1">
                      <a:lumMod val="50000"/>
                    </a:schemeClr>
                  </a:solidFill>
                  <a:latin typeface="Impact" panose="020B0806030902050204" pitchFamily="34" charset="0"/>
                  <a:ea typeface="宋体" panose="02010600030101010101" pitchFamily="2" charset="-122"/>
                </a:rPr>
                <a:t>01</a:t>
              </a:r>
            </a:p>
          </p:txBody>
        </p:sp>
        <p:grpSp>
          <p:nvGrpSpPr>
            <p:cNvPr id="9" name="Group 7">
              <a:extLst>
                <a:ext uri="{FF2B5EF4-FFF2-40B4-BE49-F238E27FC236}">
                  <a16:creationId xmlns:a16="http://schemas.microsoft.com/office/drawing/2014/main" id="{5E83F5A4-56FD-B421-D5A4-CF9FE0CB471C}"/>
                </a:ext>
              </a:extLst>
            </p:cNvPr>
            <p:cNvGrpSpPr/>
            <p:nvPr/>
          </p:nvGrpSpPr>
          <p:grpSpPr>
            <a:xfrm>
              <a:off x="2066367" y="1529264"/>
              <a:ext cx="3962574" cy="563232"/>
              <a:chOff x="3943834" y="704409"/>
              <a:chExt cx="3962574" cy="563232"/>
            </a:xfrm>
          </p:grpSpPr>
          <p:sp>
            <p:nvSpPr>
              <p:cNvPr id="10" name="TextBox 8">
                <a:extLst>
                  <a:ext uri="{FF2B5EF4-FFF2-40B4-BE49-F238E27FC236}">
                    <a16:creationId xmlns:a16="http://schemas.microsoft.com/office/drawing/2014/main" id="{D48F0632-87E3-DF42-CB7F-0642A62E8719}"/>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dirty="0">
                    <a:solidFill>
                      <a:schemeClr val="accent1">
                        <a:lumMod val="50000"/>
                      </a:schemeClr>
                    </a:solidFill>
                  </a:rPr>
                  <a:t>个人简介</a:t>
                </a:r>
              </a:p>
            </p:txBody>
          </p:sp>
          <p:sp>
            <p:nvSpPr>
              <p:cNvPr id="11" name="TextBox 9">
                <a:extLst>
                  <a:ext uri="{FF2B5EF4-FFF2-40B4-BE49-F238E27FC236}">
                    <a16:creationId xmlns:a16="http://schemas.microsoft.com/office/drawing/2014/main" id="{FCD0AEC2-3EA2-FA46-ACA7-D67BB177A71F}"/>
                  </a:ext>
                </a:extLst>
              </p:cNvPr>
              <p:cNvSpPr txBox="1"/>
              <p:nvPr/>
            </p:nvSpPr>
            <p:spPr>
              <a:xfrm>
                <a:off x="3943834" y="947273"/>
                <a:ext cx="3962574" cy="320368"/>
              </a:xfrm>
              <a:prstGeom prst="rect">
                <a:avLst/>
              </a:prstGeom>
            </p:spPr>
            <p:txBody>
              <a:bodyPr vert="horz" wrap="square" lIns="480000" tIns="0" rIns="0" bIns="0" anchor="ctr" anchorCtr="0">
                <a:normAutofit/>
              </a:bodyPr>
              <a:lstStyle/>
              <a:p>
                <a:pPr defTabSz="1219200">
                  <a:lnSpc>
                    <a:spcPct val="120000"/>
                  </a:lnSpc>
                </a:pPr>
                <a:r>
                  <a:rPr lang="en-US" altLang="zh-CN" sz="1600">
                    <a:solidFill>
                      <a:schemeClr val="accent1">
                        <a:lumMod val="50000"/>
                      </a:schemeClr>
                    </a:solidFill>
                    <a:latin typeface="Calibri" panose="020F0502020204030204"/>
                    <a:ea typeface="宋体" panose="02010600030101010101" pitchFamily="2" charset="-122"/>
                  </a:rPr>
                  <a:t>Introduction</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12" name="Group 10">
            <a:extLst>
              <a:ext uri="{FF2B5EF4-FFF2-40B4-BE49-F238E27FC236}">
                <a16:creationId xmlns:a16="http://schemas.microsoft.com/office/drawing/2014/main" id="{A131E991-54E5-63D4-C60D-A850C1E4414F}"/>
              </a:ext>
            </a:extLst>
          </p:cNvPr>
          <p:cNvGrpSpPr/>
          <p:nvPr/>
        </p:nvGrpSpPr>
        <p:grpSpPr>
          <a:xfrm>
            <a:off x="5386029" y="2310193"/>
            <a:ext cx="5126765" cy="707887"/>
            <a:chOff x="1598315" y="2786337"/>
            <a:chExt cx="5053548" cy="707886"/>
          </a:xfrm>
        </p:grpSpPr>
        <p:sp>
          <p:nvSpPr>
            <p:cNvPr id="13" name="TextBox 11">
              <a:extLst>
                <a:ext uri="{FF2B5EF4-FFF2-40B4-BE49-F238E27FC236}">
                  <a16:creationId xmlns:a16="http://schemas.microsoft.com/office/drawing/2014/main" id="{F76BD0D8-F693-FF94-AAF3-D90B79C0DFBB}"/>
                </a:ext>
              </a:extLst>
            </p:cNvPr>
            <p:cNvSpPr txBox="1"/>
            <p:nvPr/>
          </p:nvSpPr>
          <p:spPr>
            <a:xfrm>
              <a:off x="1598315" y="2786337"/>
              <a:ext cx="718466" cy="707886"/>
            </a:xfrm>
            <a:prstGeom prst="rect">
              <a:avLst/>
            </a:prstGeom>
            <a:noFill/>
          </p:spPr>
          <p:txBody>
            <a:bodyPr wrap="none" anchor="ctr">
              <a:normAutofit fontScale="85000" lnSpcReduction="20000"/>
            </a:bodyPr>
            <a:lstStyle/>
            <a:p>
              <a:pPr defTabSz="1219200"/>
              <a:r>
                <a:rPr lang="en-US" altLang="zh-CN" sz="5335" dirty="0">
                  <a:solidFill>
                    <a:schemeClr val="accent1">
                      <a:lumMod val="50000"/>
                    </a:schemeClr>
                  </a:solidFill>
                  <a:latin typeface="Impact" panose="020B0806030902050204" pitchFamily="34" charset="0"/>
                  <a:ea typeface="宋体" panose="02010600030101010101" pitchFamily="2" charset="-122"/>
                </a:rPr>
                <a:t>02</a:t>
              </a:r>
            </a:p>
          </p:txBody>
        </p:sp>
        <p:grpSp>
          <p:nvGrpSpPr>
            <p:cNvPr id="14" name="Group 12">
              <a:extLst>
                <a:ext uri="{FF2B5EF4-FFF2-40B4-BE49-F238E27FC236}">
                  <a16:creationId xmlns:a16="http://schemas.microsoft.com/office/drawing/2014/main" id="{A7971B63-5FBF-80B2-ABAF-307A829D48FD}"/>
                </a:ext>
              </a:extLst>
            </p:cNvPr>
            <p:cNvGrpSpPr/>
            <p:nvPr/>
          </p:nvGrpSpPr>
          <p:grpSpPr>
            <a:xfrm>
              <a:off x="2066367" y="2897416"/>
              <a:ext cx="4585496" cy="563232"/>
              <a:chOff x="3943834" y="704409"/>
              <a:chExt cx="4585496" cy="563232"/>
            </a:xfrm>
          </p:grpSpPr>
          <p:sp>
            <p:nvSpPr>
              <p:cNvPr id="15" name="TextBox 13">
                <a:extLst>
                  <a:ext uri="{FF2B5EF4-FFF2-40B4-BE49-F238E27FC236}">
                    <a16:creationId xmlns:a16="http://schemas.microsoft.com/office/drawing/2014/main" id="{DEB2ED4C-6E52-C190-3BA0-59B00123B853}"/>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企业实习经历</a:t>
                </a:r>
                <a:endParaRPr lang="zh-CN" altLang="en-US" sz="2400" b="1" dirty="0">
                  <a:solidFill>
                    <a:schemeClr val="accent1">
                      <a:lumMod val="50000"/>
                    </a:schemeClr>
                  </a:solidFill>
                  <a:latin typeface="Calibri" panose="020F0502020204030204"/>
                  <a:ea typeface="宋体" panose="02010600030101010101" pitchFamily="2" charset="-122"/>
                </a:endParaRPr>
              </a:p>
            </p:txBody>
          </p:sp>
          <p:sp>
            <p:nvSpPr>
              <p:cNvPr id="16" name="TextBox 14">
                <a:extLst>
                  <a:ext uri="{FF2B5EF4-FFF2-40B4-BE49-F238E27FC236}">
                    <a16:creationId xmlns:a16="http://schemas.microsoft.com/office/drawing/2014/main" id="{EDD1DAE9-E8D2-760D-BD18-5D7779BDF44A}"/>
                  </a:ext>
                </a:extLst>
              </p:cNvPr>
              <p:cNvSpPr txBox="1"/>
              <p:nvPr/>
            </p:nvSpPr>
            <p:spPr>
              <a:xfrm>
                <a:off x="3943834" y="947273"/>
                <a:ext cx="4585496" cy="320368"/>
              </a:xfrm>
              <a:prstGeom prst="rect">
                <a:avLst/>
              </a:prstGeom>
            </p:spPr>
            <p:txBody>
              <a:bodyPr vert="horz" wrap="square" lIns="480000" tIns="0" rIns="0" bIns="0" anchor="ctr" anchorCtr="0">
                <a:noAutofit/>
              </a:bodyPr>
              <a:lstStyle/>
              <a:p>
                <a:pPr defTabSz="1219200">
                  <a:lnSpc>
                    <a:spcPct val="120000"/>
                  </a:lnSpc>
                </a:pPr>
                <a:r>
                  <a:rPr lang="en-US" altLang="zh-CN" sz="1600">
                    <a:solidFill>
                      <a:schemeClr val="accent1">
                        <a:lumMod val="50000"/>
                      </a:schemeClr>
                    </a:solidFill>
                    <a:latin typeface="Calibri" panose="020F0502020204030204"/>
                    <a:ea typeface="宋体" panose="02010600030101010101" pitchFamily="2" charset="-122"/>
                  </a:rPr>
                  <a:t>Internship</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17" name="Group 15">
            <a:extLst>
              <a:ext uri="{FF2B5EF4-FFF2-40B4-BE49-F238E27FC236}">
                <a16:creationId xmlns:a16="http://schemas.microsoft.com/office/drawing/2014/main" id="{19DD0E9B-902F-EAB5-B1C4-E2AA3C6022C4}"/>
              </a:ext>
            </a:extLst>
          </p:cNvPr>
          <p:cNvGrpSpPr/>
          <p:nvPr/>
        </p:nvGrpSpPr>
        <p:grpSpPr>
          <a:xfrm>
            <a:off x="5386029" y="4260421"/>
            <a:ext cx="4430625" cy="707887"/>
            <a:chOff x="1598315" y="4154489"/>
            <a:chExt cx="4430626" cy="707886"/>
          </a:xfrm>
        </p:grpSpPr>
        <p:sp>
          <p:nvSpPr>
            <p:cNvPr id="18" name="TextBox 16">
              <a:extLst>
                <a:ext uri="{FF2B5EF4-FFF2-40B4-BE49-F238E27FC236}">
                  <a16:creationId xmlns:a16="http://schemas.microsoft.com/office/drawing/2014/main" id="{0491A7A7-BAC3-F724-5C14-7EEC67C08217}"/>
                </a:ext>
              </a:extLst>
            </p:cNvPr>
            <p:cNvSpPr txBox="1"/>
            <p:nvPr/>
          </p:nvSpPr>
          <p:spPr>
            <a:xfrm>
              <a:off x="1598315" y="4154489"/>
              <a:ext cx="732893" cy="707886"/>
            </a:xfrm>
            <a:prstGeom prst="rect">
              <a:avLst/>
            </a:prstGeom>
            <a:noFill/>
          </p:spPr>
          <p:txBody>
            <a:bodyPr wrap="none" anchor="ctr">
              <a:normAutofit fontScale="92500" lnSpcReduction="10000"/>
            </a:bodyPr>
            <a:lstStyle/>
            <a:p>
              <a:pPr defTabSz="1219200"/>
              <a:r>
                <a:rPr lang="en-US" altLang="zh-CN" sz="4500">
                  <a:solidFill>
                    <a:srgbClr val="FF0000"/>
                  </a:solidFill>
                  <a:latin typeface="Impact" panose="020B0806030902050204" pitchFamily="34" charset="0"/>
                  <a:ea typeface="宋体" panose="02010600030101010101" pitchFamily="2" charset="-122"/>
                </a:rPr>
                <a:t>04</a:t>
              </a:r>
              <a:endParaRPr lang="en-US" altLang="zh-CN" sz="4500" dirty="0">
                <a:solidFill>
                  <a:srgbClr val="FF0000"/>
                </a:solidFill>
                <a:latin typeface="Impact" panose="020B0806030902050204" pitchFamily="34" charset="0"/>
                <a:ea typeface="宋体" panose="02010600030101010101" pitchFamily="2" charset="-122"/>
              </a:endParaRPr>
            </a:p>
          </p:txBody>
        </p:sp>
        <p:grpSp>
          <p:nvGrpSpPr>
            <p:cNvPr id="19" name="Group 17">
              <a:extLst>
                <a:ext uri="{FF2B5EF4-FFF2-40B4-BE49-F238E27FC236}">
                  <a16:creationId xmlns:a16="http://schemas.microsoft.com/office/drawing/2014/main" id="{AFA420C9-2A9A-FCE1-1612-31D01E77D267}"/>
                </a:ext>
              </a:extLst>
            </p:cNvPr>
            <p:cNvGrpSpPr/>
            <p:nvPr/>
          </p:nvGrpSpPr>
          <p:grpSpPr>
            <a:xfrm>
              <a:off x="2066367" y="4265568"/>
              <a:ext cx="3962574" cy="563232"/>
              <a:chOff x="3943834" y="704409"/>
              <a:chExt cx="3962574" cy="563232"/>
            </a:xfrm>
          </p:grpSpPr>
          <p:sp>
            <p:nvSpPr>
              <p:cNvPr id="20" name="TextBox 18">
                <a:extLst>
                  <a:ext uri="{FF2B5EF4-FFF2-40B4-BE49-F238E27FC236}">
                    <a16:creationId xmlns:a16="http://schemas.microsoft.com/office/drawing/2014/main" id="{0FD54157-64AD-8E08-B7D5-06C192FF0247}"/>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latin typeface="Calibri" panose="020F0502020204030204"/>
                    <a:ea typeface="宋体" panose="02010600030101010101" pitchFamily="2" charset="-122"/>
                  </a:rPr>
                  <a:t>竞赛项目经历</a:t>
                </a:r>
                <a:endParaRPr lang="zh-CN" altLang="en-US" sz="2400" b="1" dirty="0">
                  <a:solidFill>
                    <a:schemeClr val="accent1">
                      <a:lumMod val="50000"/>
                    </a:schemeClr>
                  </a:solidFill>
                  <a:latin typeface="Calibri" panose="020F0502020204030204"/>
                  <a:ea typeface="宋体" panose="02010600030101010101" pitchFamily="2" charset="-122"/>
                </a:endParaRPr>
              </a:p>
            </p:txBody>
          </p:sp>
          <p:sp>
            <p:nvSpPr>
              <p:cNvPr id="21" name="TextBox 19">
                <a:extLst>
                  <a:ext uri="{FF2B5EF4-FFF2-40B4-BE49-F238E27FC236}">
                    <a16:creationId xmlns:a16="http://schemas.microsoft.com/office/drawing/2014/main" id="{A91C42D7-9FC6-4AB2-431D-1642E06A994C}"/>
                  </a:ext>
                </a:extLst>
              </p:cNvPr>
              <p:cNvSpPr txBox="1"/>
              <p:nvPr/>
            </p:nvSpPr>
            <p:spPr>
              <a:xfrm>
                <a:off x="3943834" y="947273"/>
                <a:ext cx="3962574" cy="320368"/>
              </a:xfrm>
              <a:prstGeom prst="rect">
                <a:avLst/>
              </a:prstGeom>
            </p:spPr>
            <p:txBody>
              <a:bodyPr vert="horz" wrap="square" lIns="480000" tIns="0" rIns="0" bIns="0" anchor="ctr" anchorCtr="0">
                <a:normAutofit/>
              </a:bodyPr>
              <a:lstStyle/>
              <a:p>
                <a:pPr defTabSz="1219200">
                  <a:lnSpc>
                    <a:spcPct val="120000"/>
                  </a:lnSpc>
                </a:pPr>
                <a:r>
                  <a:rPr lang="en-US" altLang="zh-CN" sz="1600">
                    <a:solidFill>
                      <a:schemeClr val="accent1">
                        <a:lumMod val="50000"/>
                      </a:schemeClr>
                    </a:solidFill>
                    <a:latin typeface="Calibri" panose="020F0502020204030204"/>
                    <a:ea typeface="宋体" panose="02010600030101010101" pitchFamily="2" charset="-122"/>
                  </a:rPr>
                  <a:t>Personal quality </a:t>
                </a:r>
                <a:r>
                  <a:rPr lang="en-US" altLang="zh-CN" sz="1600" dirty="0">
                    <a:solidFill>
                      <a:schemeClr val="accent1">
                        <a:lumMod val="50000"/>
                      </a:schemeClr>
                    </a:solidFill>
                    <a:latin typeface="Calibri" panose="020F0502020204030204"/>
                    <a:ea typeface="宋体" panose="02010600030101010101" pitchFamily="2" charset="-122"/>
                  </a:rPr>
                  <a:t>and development</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grpSp>
        <p:nvGrpSpPr>
          <p:cNvPr id="5" name="Group 10">
            <a:extLst>
              <a:ext uri="{FF2B5EF4-FFF2-40B4-BE49-F238E27FC236}">
                <a16:creationId xmlns:a16="http://schemas.microsoft.com/office/drawing/2014/main" id="{67319D93-ED05-50D3-F8B9-DD097502018C}"/>
              </a:ext>
            </a:extLst>
          </p:cNvPr>
          <p:cNvGrpSpPr/>
          <p:nvPr/>
        </p:nvGrpSpPr>
        <p:grpSpPr>
          <a:xfrm>
            <a:off x="5386029" y="3285307"/>
            <a:ext cx="5126765" cy="707887"/>
            <a:chOff x="1598315" y="2786337"/>
            <a:chExt cx="5053548" cy="707886"/>
          </a:xfrm>
        </p:grpSpPr>
        <p:sp>
          <p:nvSpPr>
            <p:cNvPr id="6" name="TextBox 11">
              <a:extLst>
                <a:ext uri="{FF2B5EF4-FFF2-40B4-BE49-F238E27FC236}">
                  <a16:creationId xmlns:a16="http://schemas.microsoft.com/office/drawing/2014/main" id="{E995215F-9461-C30D-CB7F-60A3E9E82BE2}"/>
                </a:ext>
              </a:extLst>
            </p:cNvPr>
            <p:cNvSpPr txBox="1"/>
            <p:nvPr/>
          </p:nvSpPr>
          <p:spPr>
            <a:xfrm>
              <a:off x="1598315" y="2786337"/>
              <a:ext cx="718466" cy="707886"/>
            </a:xfrm>
            <a:prstGeom prst="rect">
              <a:avLst/>
            </a:prstGeom>
            <a:noFill/>
          </p:spPr>
          <p:txBody>
            <a:bodyPr wrap="none" anchor="ctr">
              <a:normAutofit fontScale="85000" lnSpcReduction="20000"/>
            </a:bodyPr>
            <a:lstStyle/>
            <a:p>
              <a:pPr defTabSz="1219200"/>
              <a:r>
                <a:rPr lang="en-US" altLang="zh-CN" sz="5335">
                  <a:solidFill>
                    <a:schemeClr val="accent1">
                      <a:lumMod val="50000"/>
                    </a:schemeClr>
                  </a:solidFill>
                  <a:latin typeface="Impact" panose="020B0806030902050204" pitchFamily="34" charset="0"/>
                  <a:ea typeface="宋体" panose="02010600030101010101" pitchFamily="2" charset="-122"/>
                </a:rPr>
                <a:t>03</a:t>
              </a:r>
              <a:endParaRPr lang="en-US" altLang="zh-CN" sz="5335" dirty="0">
                <a:solidFill>
                  <a:schemeClr val="accent1">
                    <a:lumMod val="50000"/>
                  </a:schemeClr>
                </a:solidFill>
                <a:latin typeface="Impact" panose="020B0806030902050204" pitchFamily="34" charset="0"/>
                <a:ea typeface="宋体" panose="02010600030101010101" pitchFamily="2" charset="-122"/>
              </a:endParaRPr>
            </a:p>
          </p:txBody>
        </p:sp>
        <p:grpSp>
          <p:nvGrpSpPr>
            <p:cNvPr id="22" name="Group 12">
              <a:extLst>
                <a:ext uri="{FF2B5EF4-FFF2-40B4-BE49-F238E27FC236}">
                  <a16:creationId xmlns:a16="http://schemas.microsoft.com/office/drawing/2014/main" id="{E823235B-551E-8972-CCA2-FB2351A7A89E}"/>
                </a:ext>
              </a:extLst>
            </p:cNvPr>
            <p:cNvGrpSpPr/>
            <p:nvPr/>
          </p:nvGrpSpPr>
          <p:grpSpPr>
            <a:xfrm>
              <a:off x="2066367" y="2897416"/>
              <a:ext cx="4585496" cy="563232"/>
              <a:chOff x="3943834" y="704409"/>
              <a:chExt cx="4585496" cy="563232"/>
            </a:xfrm>
          </p:grpSpPr>
          <p:sp>
            <p:nvSpPr>
              <p:cNvPr id="23" name="TextBox 13">
                <a:extLst>
                  <a:ext uri="{FF2B5EF4-FFF2-40B4-BE49-F238E27FC236}">
                    <a16:creationId xmlns:a16="http://schemas.microsoft.com/office/drawing/2014/main" id="{918052A7-2A08-A8BD-684B-08866AC9A8E5}"/>
                  </a:ext>
                </a:extLst>
              </p:cNvPr>
              <p:cNvSpPr txBox="1"/>
              <p:nvPr/>
            </p:nvSpPr>
            <p:spPr>
              <a:xfrm>
                <a:off x="3943834" y="704409"/>
                <a:ext cx="3962574" cy="242864"/>
              </a:xfrm>
              <a:prstGeom prst="rect">
                <a:avLst/>
              </a:prstGeom>
              <a:noFill/>
            </p:spPr>
            <p:txBody>
              <a:bodyPr wrap="none" lIns="480000" tIns="0" rIns="0" bIns="0" anchor="b" anchorCtr="0">
                <a:noAutofit/>
              </a:bodyPr>
              <a:lstStyle/>
              <a:p>
                <a:pPr defTabSz="1219200"/>
                <a:r>
                  <a:rPr lang="zh-CN" altLang="en-US" sz="2400" b="1">
                    <a:solidFill>
                      <a:schemeClr val="accent1">
                        <a:lumMod val="50000"/>
                      </a:schemeClr>
                    </a:solidFill>
                  </a:rPr>
                  <a:t>科研实习经历</a:t>
                </a:r>
                <a:endParaRPr lang="zh-CN" altLang="en-US" sz="2400" b="1" dirty="0">
                  <a:solidFill>
                    <a:schemeClr val="accent1">
                      <a:lumMod val="50000"/>
                    </a:schemeClr>
                  </a:solidFill>
                  <a:latin typeface="Calibri" panose="020F0502020204030204"/>
                  <a:ea typeface="宋体" panose="02010600030101010101" pitchFamily="2" charset="-122"/>
                </a:endParaRPr>
              </a:p>
            </p:txBody>
          </p:sp>
          <p:sp>
            <p:nvSpPr>
              <p:cNvPr id="24" name="TextBox 14">
                <a:extLst>
                  <a:ext uri="{FF2B5EF4-FFF2-40B4-BE49-F238E27FC236}">
                    <a16:creationId xmlns:a16="http://schemas.microsoft.com/office/drawing/2014/main" id="{BC1654E1-43BD-1CD8-736D-0284BD8123EE}"/>
                  </a:ext>
                </a:extLst>
              </p:cNvPr>
              <p:cNvSpPr txBox="1"/>
              <p:nvPr/>
            </p:nvSpPr>
            <p:spPr>
              <a:xfrm>
                <a:off x="3943834" y="947273"/>
                <a:ext cx="4585496" cy="320368"/>
              </a:xfrm>
              <a:prstGeom prst="rect">
                <a:avLst/>
              </a:prstGeom>
            </p:spPr>
            <p:txBody>
              <a:bodyPr vert="horz" wrap="square" lIns="480000" tIns="0" rIns="0" bIns="0" anchor="ctr" anchorCtr="0">
                <a:noAutofit/>
              </a:bodyPr>
              <a:lstStyle/>
              <a:p>
                <a:pPr defTabSz="1219200">
                  <a:lnSpc>
                    <a:spcPct val="120000"/>
                  </a:lnSpc>
                </a:pPr>
                <a:r>
                  <a:rPr lang="en-US" altLang="zh-CN" sz="1600">
                    <a:solidFill>
                      <a:schemeClr val="accent1">
                        <a:lumMod val="50000"/>
                      </a:schemeClr>
                    </a:solidFill>
                    <a:latin typeface="Calibri" panose="020F0502020204030204"/>
                    <a:ea typeface="宋体" panose="02010600030101010101" pitchFamily="2" charset="-122"/>
                  </a:rPr>
                  <a:t>Competitions </a:t>
                </a:r>
                <a:r>
                  <a:rPr lang="en-US" altLang="zh-CN" sz="1600" dirty="0">
                    <a:solidFill>
                      <a:schemeClr val="accent1">
                        <a:lumMod val="50000"/>
                      </a:schemeClr>
                    </a:solidFill>
                    <a:latin typeface="Calibri" panose="020F0502020204030204"/>
                    <a:ea typeface="宋体" panose="02010600030101010101" pitchFamily="2" charset="-122"/>
                  </a:rPr>
                  <a:t>and </a:t>
                </a:r>
                <a:r>
                  <a:rPr lang="en-US" altLang="zh-CN" sz="1600">
                    <a:solidFill>
                      <a:schemeClr val="accent1">
                        <a:lumMod val="50000"/>
                      </a:schemeClr>
                    </a:solidFill>
                    <a:latin typeface="Calibri" panose="020F0502020204030204"/>
                    <a:ea typeface="宋体" panose="02010600030101010101" pitchFamily="2" charset="-122"/>
                  </a:rPr>
                  <a:t>scientific </a:t>
                </a:r>
                <a:r>
                  <a:rPr lang="en-US" altLang="zh-CN" sz="1600" dirty="0">
                    <a:solidFill>
                      <a:schemeClr val="accent1">
                        <a:lumMod val="50000"/>
                      </a:schemeClr>
                    </a:solidFill>
                    <a:latin typeface="Calibri" panose="020F0502020204030204"/>
                    <a:ea typeface="宋体" panose="02010600030101010101" pitchFamily="2" charset="-122"/>
                  </a:rPr>
                  <a:t>research</a:t>
                </a:r>
                <a:endParaRPr lang="zh-CN" altLang="en-US" sz="1600" dirty="0">
                  <a:solidFill>
                    <a:schemeClr val="accent1">
                      <a:lumMod val="50000"/>
                    </a:schemeClr>
                  </a:solidFill>
                  <a:latin typeface="Calibri" panose="020F0502020204030204"/>
                  <a:ea typeface="宋体" panose="02010600030101010101" pitchFamily="2" charset="-122"/>
                </a:endParaRPr>
              </a:p>
            </p:txBody>
          </p:sp>
        </p:grpSp>
      </p:grpSp>
      <p:pic>
        <p:nvPicPr>
          <p:cNvPr id="25" name="图片 24">
            <a:extLst>
              <a:ext uri="{FF2B5EF4-FFF2-40B4-BE49-F238E27FC236}">
                <a16:creationId xmlns:a16="http://schemas.microsoft.com/office/drawing/2014/main" id="{EAB3FF90-14B4-FAA4-BFB8-D19945CC6D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6980" y="115635"/>
            <a:ext cx="1857628" cy="2035885"/>
          </a:xfrm>
          <a:prstGeom prst="rect">
            <a:avLst/>
          </a:prstGeom>
        </p:spPr>
      </p:pic>
    </p:spTree>
    <p:extLst>
      <p:ext uri="{BB962C8B-B14F-4D97-AF65-F5344CB8AC3E}">
        <p14:creationId xmlns:p14="http://schemas.microsoft.com/office/powerpoint/2010/main" val="4066404132"/>
      </p:ext>
    </p:extLst>
  </p:cSld>
  <p:clrMapOvr>
    <a:masterClrMapping/>
  </p:clrMapOvr>
  <p:transition spd="slow" advTm="11272">
    <p:wipe/>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34000">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14:bounceEnd="34000">
                                          <p:cBhvr additive="base">
                                            <p:cTn id="7" dur="500" fill="hold"/>
                                            <p:tgtEl>
                                              <p:spTgt spid="7"/>
                                            </p:tgtEl>
                                            <p:attrNameLst>
                                              <p:attrName>ppt_x</p:attrName>
                                            </p:attrNameLst>
                                          </p:cBhvr>
                                          <p:tavLst>
                                            <p:tav tm="0">
                                              <p:val>
                                                <p:strVal val="1+#ppt_w/2"/>
                                              </p:val>
                                            </p:tav>
                                            <p:tav tm="100000">
                                              <p:val>
                                                <p:strVal val="#ppt_x"/>
                                              </p:val>
                                            </p:tav>
                                          </p:tavLst>
                                        </p:anim>
                                        <p:anim calcmode="lin" valueType="num" p14:bounceEnd="34000">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14:presetBounceEnd="34000">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14:bounceEnd="34000">
                                          <p:cBhvr additive="base">
                                            <p:cTn id="12" dur="5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14:presetBounceEnd="34000">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14:bounceEnd="34000">
                                          <p:cBhvr additive="base">
                                            <p:cTn id="17" dur="500" fill="hold"/>
                                            <p:tgtEl>
                                              <p:spTgt spid="17"/>
                                            </p:tgtEl>
                                            <p:attrNameLst>
                                              <p:attrName>ppt_x</p:attrName>
                                            </p:attrNameLst>
                                          </p:cBhvr>
                                          <p:tavLst>
                                            <p:tav tm="0">
                                              <p:val>
                                                <p:strVal val="1+#ppt_w/2"/>
                                              </p:val>
                                            </p:tav>
                                            <p:tav tm="100000">
                                              <p:val>
                                                <p:strVal val="#ppt_x"/>
                                              </p:val>
                                            </p:tav>
                                          </p:tavLst>
                                        </p:anim>
                                        <p:anim calcmode="lin" valueType="num" p14:bounceEnd="34000">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14:presetBounceEnd="34000">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14:bounceEnd="34000">
                                          <p:cBhvr additive="base">
                                            <p:cTn id="22" dur="500" fill="hold"/>
                                            <p:tgtEl>
                                              <p:spTgt spid="5"/>
                                            </p:tgtEl>
                                            <p:attrNameLst>
                                              <p:attrName>ppt_x</p:attrName>
                                            </p:attrNameLst>
                                          </p:cBhvr>
                                          <p:tavLst>
                                            <p:tav tm="0">
                                              <p:val>
                                                <p:strVal val="1+#ppt_w/2"/>
                                              </p:val>
                                            </p:tav>
                                            <p:tav tm="100000">
                                              <p:val>
                                                <p:strVal val="#ppt_x"/>
                                              </p:val>
                                            </p:tav>
                                          </p:tavLst>
                                        </p:anim>
                                        <p:anim calcmode="lin" valueType="num" p14:bounceEnd="34000">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1+#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1+#ppt_w/2"/>
                                              </p:val>
                                            </p:tav>
                                            <p:tav tm="100000">
                                              <p:val>
                                                <p:strVal val="#ppt_x"/>
                                              </p:val>
                                            </p:tav>
                                          </p:tavLst>
                                        </p:anim>
                                        <p:anim calcmode="lin" valueType="num">
                                          <p:cBhvr additive="base">
                                            <p:cTn id="18" dur="500" fill="hold"/>
                                            <p:tgtEl>
                                              <p:spTgt spid="1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1+#ppt_w/2"/>
                                              </p:val>
                                            </p:tav>
                                            <p:tav tm="100000">
                                              <p:val>
                                                <p:strVal val="#ppt_x"/>
                                              </p:val>
                                            </p:tav>
                                          </p:tavLst>
                                        </p:anim>
                                        <p:anim calcmode="lin" valueType="num">
                                          <p:cBhvr additive="base">
                                            <p:cTn id="23"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B667100-752C-E692-7319-2F2BDD33B4B5}"/>
              </a:ext>
            </a:extLst>
          </p:cNvPr>
          <p:cNvSpPr>
            <a:spLocks noGrp="1"/>
          </p:cNvSpPr>
          <p:nvPr>
            <p:ph type="sldNum" sz="quarter" idx="12"/>
          </p:nvPr>
        </p:nvSpPr>
        <p:spPr/>
        <p:txBody>
          <a:bodyPr/>
          <a:lstStyle/>
          <a:p>
            <a:fld id="{62B6538A-33AE-45EB-868C-14B9E34ED961}" type="slidenum">
              <a:rPr lang="zh-CN" altLang="en-US" smtClean="0"/>
              <a:t>20</a:t>
            </a:fld>
            <a:endParaRPr lang="zh-CN" altLang="en-US"/>
          </a:p>
        </p:txBody>
      </p:sp>
      <p:sp>
        <p:nvSpPr>
          <p:cNvPr id="3" name="TextBox 28">
            <a:extLst>
              <a:ext uri="{FF2B5EF4-FFF2-40B4-BE49-F238E27FC236}">
                <a16:creationId xmlns:a16="http://schemas.microsoft.com/office/drawing/2014/main" id="{D86EE6A9-856C-2E1A-FACF-C38FDB4F9860}"/>
              </a:ext>
            </a:extLst>
          </p:cNvPr>
          <p:cNvSpPr txBox="1"/>
          <p:nvPr/>
        </p:nvSpPr>
        <p:spPr>
          <a:xfrm>
            <a:off x="7569212" y="1407743"/>
            <a:ext cx="2253331" cy="408830"/>
          </a:xfrm>
          <a:prstGeom prst="rect">
            <a:avLst/>
          </a:prstGeom>
          <a:noFill/>
        </p:spPr>
        <p:txBody>
          <a:bodyPr wrap="square" lIns="0" tIns="0" rIns="0" bIns="0" rtlCol="0">
            <a:spAutoFit/>
          </a:bodyPr>
          <a:lstStyle>
            <a:defPPr>
              <a:defRPr lang="zh-CN"/>
            </a:defPPr>
            <a:lvl1pPr algn="r">
              <a:defRPr sz="2600">
                <a:solidFill>
                  <a:schemeClr val="accent2"/>
                </a:solidFill>
                <a:latin typeface="微软雅黑" panose="020B0503020204020204" pitchFamily="34" charset="-122"/>
                <a:ea typeface="微软雅黑" panose="020B0503020204020204" pitchFamily="34" charset="-122"/>
              </a:defRPr>
            </a:lvl1pPr>
          </a:lstStyle>
          <a:p>
            <a:pPr algn="ctr">
              <a:lnSpc>
                <a:spcPct val="120000"/>
              </a:lnSpc>
            </a:pPr>
            <a:r>
              <a:rPr lang="zh-CN" altLang="en-US" sz="2400" b="1" dirty="0">
                <a:solidFill>
                  <a:schemeClr val="bg1"/>
                </a:solidFill>
                <a:latin typeface="+mn-lt"/>
                <a:ea typeface="+mn-ea"/>
                <a:cs typeface="+mn-ea"/>
                <a:sym typeface="+mn-lt"/>
              </a:rPr>
              <a:t>选题背二</a:t>
            </a:r>
          </a:p>
        </p:txBody>
      </p:sp>
      <p:sp>
        <p:nvSpPr>
          <p:cNvPr id="4" name="文本框 3">
            <a:extLst>
              <a:ext uri="{FF2B5EF4-FFF2-40B4-BE49-F238E27FC236}">
                <a16:creationId xmlns:a16="http://schemas.microsoft.com/office/drawing/2014/main" id="{932C8496-1E35-6C95-54ED-D9A2ADA29178}"/>
              </a:ext>
            </a:extLst>
          </p:cNvPr>
          <p:cNvSpPr txBox="1"/>
          <p:nvPr/>
        </p:nvSpPr>
        <p:spPr>
          <a:xfrm>
            <a:off x="2872906" y="1305546"/>
            <a:ext cx="6423042" cy="2862322"/>
          </a:xfrm>
          <a:prstGeom prst="rect">
            <a:avLst/>
          </a:prstGeom>
          <a:noFill/>
        </p:spPr>
        <p:txBody>
          <a:bodyPr wrap="square">
            <a:spAutoFit/>
          </a:bodyPr>
          <a:lstStyle/>
          <a:p>
            <a:pPr marL="285750" indent="-285750" algn="just">
              <a:buFont typeface="Wingdings" panose="05000000000000000000" pitchFamily="2" charset="2"/>
              <a:buChar char="ü"/>
            </a:pPr>
            <a:r>
              <a:rPr lang="zh-CN" altLang="zh-CN" sz="2000" kern="1200" dirty="0">
                <a:solidFill>
                  <a:schemeClr val="dk1"/>
                </a:solidFill>
                <a:effectLst/>
                <a:latin typeface="+mn-lt"/>
                <a:ea typeface="+mn-ea"/>
                <a:cs typeface="+mn-cs"/>
              </a:rPr>
              <a:t>全国大学生数学竞赛</a:t>
            </a:r>
            <a:r>
              <a:rPr lang="zh-CN" altLang="en-US" sz="2000" kern="1200" dirty="0">
                <a:solidFill>
                  <a:schemeClr val="dk1"/>
                </a:solidFill>
                <a:effectLst/>
                <a:latin typeface="+mn-lt"/>
                <a:ea typeface="+mn-ea"/>
                <a:cs typeface="+mn-cs"/>
              </a:rPr>
              <a:t>初赛</a:t>
            </a:r>
            <a:r>
              <a:rPr lang="zh-CN" altLang="en-US" sz="2000" dirty="0"/>
              <a:t>一等奖</a:t>
            </a:r>
            <a:endParaRPr lang="en-US" altLang="zh-CN" sz="2000" dirty="0"/>
          </a:p>
          <a:p>
            <a:pPr marL="285750" indent="-285750" algn="just">
              <a:buFont typeface="Wingdings" panose="05000000000000000000" pitchFamily="2" charset="2"/>
              <a:buChar char="ü"/>
            </a:pPr>
            <a:r>
              <a:rPr lang="zh-CN" altLang="en-US" sz="2000" dirty="0"/>
              <a:t>全国大学生英语竞赛一等奖</a:t>
            </a:r>
            <a:endParaRPr lang="en-US" altLang="zh-CN" sz="2000" dirty="0"/>
          </a:p>
          <a:p>
            <a:pPr marL="285750" indent="-285750" algn="just">
              <a:buFont typeface="Wingdings" panose="05000000000000000000" pitchFamily="2" charset="2"/>
              <a:buChar char="ü"/>
            </a:pPr>
            <a:r>
              <a:rPr lang="zh-CN" altLang="zh-CN" sz="2000" kern="1200" dirty="0">
                <a:solidFill>
                  <a:schemeClr val="dk1"/>
                </a:solidFill>
                <a:effectLst/>
                <a:latin typeface="+mn-lt"/>
                <a:ea typeface="+mn-ea"/>
                <a:cs typeface="+mn-cs"/>
              </a:rPr>
              <a:t>美国大学生数学</a:t>
            </a:r>
            <a:r>
              <a:rPr lang="zh-CN" altLang="en-US" sz="2000" kern="1200">
                <a:solidFill>
                  <a:schemeClr val="dk1"/>
                </a:solidFill>
                <a:effectLst/>
                <a:latin typeface="+mn-lt"/>
                <a:ea typeface="+mn-ea"/>
                <a:cs typeface="+mn-cs"/>
              </a:rPr>
              <a:t>建模</a:t>
            </a:r>
            <a:r>
              <a:rPr lang="zh-CN" altLang="zh-CN" sz="2000" kern="1200">
                <a:solidFill>
                  <a:schemeClr val="dk1"/>
                </a:solidFill>
                <a:effectLst/>
                <a:latin typeface="+mn-lt"/>
                <a:ea typeface="+mn-ea"/>
                <a:cs typeface="+mn-cs"/>
              </a:rPr>
              <a:t>竞赛</a:t>
            </a:r>
            <a:r>
              <a:rPr lang="zh-CN" altLang="en-US" sz="2000" kern="1200">
                <a:solidFill>
                  <a:schemeClr val="dk1"/>
                </a:solidFill>
                <a:effectLst/>
                <a:latin typeface="+mn-lt"/>
                <a:ea typeface="+mn-ea"/>
                <a:cs typeface="+mn-cs"/>
              </a:rPr>
              <a:t>国家二等奖</a:t>
            </a:r>
            <a:endParaRPr lang="en-US" altLang="zh-CN" sz="2000" dirty="0"/>
          </a:p>
          <a:p>
            <a:pPr marL="285750" indent="-285750" algn="just">
              <a:buFont typeface="Wingdings" panose="05000000000000000000" pitchFamily="2" charset="2"/>
              <a:buChar char="ü"/>
            </a:pPr>
            <a:r>
              <a:rPr lang="zh-CN" altLang="en-US" sz="2000" dirty="0"/>
              <a:t>中国大学生服务外包创新创业比赛企业命题类三等奖</a:t>
            </a:r>
            <a:endParaRPr lang="en-US" altLang="zh-CN" sz="2000" dirty="0">
              <a:solidFill>
                <a:srgbClr val="C00000"/>
              </a:solidFill>
            </a:endParaRPr>
          </a:p>
          <a:p>
            <a:pPr marL="285750" indent="-285750" algn="just">
              <a:buFont typeface="Wingdings" panose="05000000000000000000" pitchFamily="2" charset="2"/>
              <a:buChar char="ü"/>
            </a:pPr>
            <a:r>
              <a:rPr lang="zh-CN" altLang="en-US" sz="2000" dirty="0"/>
              <a:t>全国大学生英语竞赛三等奖</a:t>
            </a:r>
            <a:endParaRPr lang="en-US" altLang="zh-CN" sz="2000" dirty="0"/>
          </a:p>
          <a:p>
            <a:pPr marL="285750" indent="-285750" algn="just">
              <a:buFont typeface="Wingdings" panose="05000000000000000000" pitchFamily="2" charset="2"/>
              <a:buChar char="ü"/>
            </a:pPr>
            <a:r>
              <a:rPr lang="zh-CN" altLang="en-US" sz="2000" dirty="0"/>
              <a:t>全国大学生英语竞赛二等奖</a:t>
            </a:r>
            <a:endParaRPr lang="en-US" altLang="zh-CN" sz="2000" dirty="0"/>
          </a:p>
          <a:p>
            <a:pPr marL="285750" indent="-285750" algn="just">
              <a:buFont typeface="Wingdings" panose="05000000000000000000" pitchFamily="2" charset="2"/>
              <a:buChar char="ü"/>
            </a:pPr>
            <a:r>
              <a:rPr lang="zh-CN" altLang="en-US" sz="2000"/>
              <a:t>华中地区数学建模预选赛二等奖</a:t>
            </a:r>
            <a:endParaRPr lang="en-US" altLang="zh-CN" sz="2000" dirty="0"/>
          </a:p>
          <a:p>
            <a:pPr marL="285750" indent="-285750" algn="just">
              <a:buFont typeface="Wingdings" panose="05000000000000000000" pitchFamily="2" charset="2"/>
              <a:buChar char="ü"/>
            </a:pPr>
            <a:r>
              <a:rPr lang="zh-CN" altLang="en-US" sz="2000"/>
              <a:t>华中地区数学</a:t>
            </a:r>
            <a:r>
              <a:rPr lang="zh-CN" altLang="en-US" sz="2000" dirty="0"/>
              <a:t>建模</a:t>
            </a:r>
            <a:r>
              <a:rPr lang="zh-CN" altLang="en-US" sz="2000"/>
              <a:t>选拔赛二等奖</a:t>
            </a:r>
            <a:endParaRPr lang="en-US" altLang="zh-CN" sz="2000"/>
          </a:p>
          <a:p>
            <a:pPr marL="285750" indent="-285750" algn="just">
              <a:buFont typeface="Wingdings" panose="05000000000000000000" pitchFamily="2" charset="2"/>
              <a:buChar char="ü"/>
            </a:pPr>
            <a:r>
              <a:rPr lang="en-US" altLang="zh-CN" sz="2000"/>
              <a:t>………………</a:t>
            </a:r>
            <a:endParaRPr lang="zh-CN" altLang="en-US" sz="2000" dirty="0"/>
          </a:p>
        </p:txBody>
      </p:sp>
      <p:pic>
        <p:nvPicPr>
          <p:cNvPr id="6" name="图片 5">
            <a:extLst>
              <a:ext uri="{FF2B5EF4-FFF2-40B4-BE49-F238E27FC236}">
                <a16:creationId xmlns:a16="http://schemas.microsoft.com/office/drawing/2014/main" id="{845FC049-5F23-B8B4-3950-BFB763C4F3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6843" y="1016374"/>
            <a:ext cx="2253331" cy="1720333"/>
          </a:xfrm>
          <a:prstGeom prst="rect">
            <a:avLst/>
          </a:prstGeom>
        </p:spPr>
      </p:pic>
      <p:pic>
        <p:nvPicPr>
          <p:cNvPr id="7" name="图片 6">
            <a:extLst>
              <a:ext uri="{FF2B5EF4-FFF2-40B4-BE49-F238E27FC236}">
                <a16:creationId xmlns:a16="http://schemas.microsoft.com/office/drawing/2014/main" id="{EEC03410-1BA7-D156-C8A9-949CC31A32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65330" y="900198"/>
            <a:ext cx="2522693" cy="3545806"/>
          </a:xfrm>
          <a:prstGeom prst="rect">
            <a:avLst/>
          </a:prstGeom>
        </p:spPr>
      </p:pic>
      <p:pic>
        <p:nvPicPr>
          <p:cNvPr id="8" name="图片 7">
            <a:extLst>
              <a:ext uri="{FF2B5EF4-FFF2-40B4-BE49-F238E27FC236}">
                <a16:creationId xmlns:a16="http://schemas.microsoft.com/office/drawing/2014/main" id="{FF24564A-7DB0-E3C3-4FC1-5C15899536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6200000">
            <a:off x="9407497" y="4038763"/>
            <a:ext cx="1870020" cy="2805035"/>
          </a:xfrm>
          <a:prstGeom prst="rect">
            <a:avLst/>
          </a:prstGeom>
        </p:spPr>
      </p:pic>
      <p:pic>
        <p:nvPicPr>
          <p:cNvPr id="9" name="图片 8">
            <a:extLst>
              <a:ext uri="{FF2B5EF4-FFF2-40B4-BE49-F238E27FC236}">
                <a16:creationId xmlns:a16="http://schemas.microsoft.com/office/drawing/2014/main" id="{8EABCB6A-8DD6-5D33-2D2C-7FD3BCBE3D83}"/>
              </a:ext>
            </a:extLst>
          </p:cNvPr>
          <p:cNvPicPr>
            <a:picLocks noChangeAspect="1"/>
          </p:cNvPicPr>
          <p:nvPr/>
        </p:nvPicPr>
        <p:blipFill>
          <a:blip r:embed="rId5"/>
          <a:stretch>
            <a:fillRect/>
          </a:stretch>
        </p:blipFill>
        <p:spPr>
          <a:xfrm>
            <a:off x="6084427" y="4451815"/>
            <a:ext cx="2679218" cy="1917139"/>
          </a:xfrm>
          <a:prstGeom prst="rect">
            <a:avLst/>
          </a:prstGeom>
        </p:spPr>
      </p:pic>
      <p:pic>
        <p:nvPicPr>
          <p:cNvPr id="10" name="图片 9">
            <a:extLst>
              <a:ext uri="{FF2B5EF4-FFF2-40B4-BE49-F238E27FC236}">
                <a16:creationId xmlns:a16="http://schemas.microsoft.com/office/drawing/2014/main" id="{D40814D9-A5E5-8911-B3AB-3367662DADE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08945" y="4460660"/>
            <a:ext cx="2805033" cy="1975479"/>
          </a:xfrm>
          <a:prstGeom prst="rect">
            <a:avLst/>
          </a:prstGeom>
        </p:spPr>
      </p:pic>
      <p:pic>
        <p:nvPicPr>
          <p:cNvPr id="11" name="图片 10">
            <a:extLst>
              <a:ext uri="{FF2B5EF4-FFF2-40B4-BE49-F238E27FC236}">
                <a16:creationId xmlns:a16="http://schemas.microsoft.com/office/drawing/2014/main" id="{EA474E39-4758-2486-CF02-57B743F8D2F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7119" y="2747232"/>
            <a:ext cx="2360037" cy="1720333"/>
          </a:xfrm>
          <a:prstGeom prst="rect">
            <a:avLst/>
          </a:prstGeom>
        </p:spPr>
      </p:pic>
      <p:pic>
        <p:nvPicPr>
          <p:cNvPr id="12" name="图片 11">
            <a:extLst>
              <a:ext uri="{FF2B5EF4-FFF2-40B4-BE49-F238E27FC236}">
                <a16:creationId xmlns:a16="http://schemas.microsoft.com/office/drawing/2014/main" id="{0D7B39B1-3804-8BB0-8F06-C985EF5754C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37118" y="4460660"/>
            <a:ext cx="1347517" cy="1915631"/>
          </a:xfrm>
          <a:prstGeom prst="rect">
            <a:avLst/>
          </a:prstGeom>
        </p:spPr>
      </p:pic>
      <p:pic>
        <p:nvPicPr>
          <p:cNvPr id="13" name="图片 12">
            <a:extLst>
              <a:ext uri="{FF2B5EF4-FFF2-40B4-BE49-F238E27FC236}">
                <a16:creationId xmlns:a16="http://schemas.microsoft.com/office/drawing/2014/main" id="{39C95B68-62EC-AE36-088D-B4619D953C7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784636" y="4479413"/>
            <a:ext cx="1424309" cy="1862699"/>
          </a:xfrm>
          <a:prstGeom prst="rect">
            <a:avLst/>
          </a:prstGeom>
        </p:spPr>
      </p:pic>
      <p:sp>
        <p:nvSpPr>
          <p:cNvPr id="14" name="标题 4">
            <a:extLst>
              <a:ext uri="{FF2B5EF4-FFF2-40B4-BE49-F238E27FC236}">
                <a16:creationId xmlns:a16="http://schemas.microsoft.com/office/drawing/2014/main" id="{92D3286A-1A6A-7696-C1F1-FD8CA7C48DF7}"/>
              </a:ext>
            </a:extLst>
          </p:cNvPr>
          <p:cNvSpPr txBox="1">
            <a:spLocks/>
          </p:cNvSpPr>
          <p:nvPr/>
        </p:nvSpPr>
        <p:spPr>
          <a:xfrm>
            <a:off x="32431" y="125031"/>
            <a:ext cx="8683306" cy="4556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2000">
                <a:solidFill>
                  <a:srgbClr val="E7E6E6">
                    <a:lumMod val="25000"/>
                  </a:srgbClr>
                </a:solidFill>
                <a:latin typeface="微软雅黑" panose="020B0503020204020204" pitchFamily="34" charset="-122"/>
                <a:ea typeface="微软雅黑" panose="020B0503020204020204" pitchFamily="34" charset="-122"/>
                <a:cs typeface="+mn-cs"/>
                <a:sym typeface="+mn-lt"/>
              </a:rPr>
              <a:t>竞赛项目经历 </a:t>
            </a:r>
            <a:r>
              <a:rPr lang="en-US" altLang="zh-CN" sz="2000">
                <a:solidFill>
                  <a:srgbClr val="E7E6E6">
                    <a:lumMod val="25000"/>
                  </a:srgbClr>
                </a:solidFill>
                <a:latin typeface="微软雅黑" panose="020B0503020204020204" pitchFamily="34" charset="-122"/>
                <a:ea typeface="微软雅黑" panose="020B0503020204020204" pitchFamily="34" charset="-122"/>
                <a:cs typeface="+mn-cs"/>
                <a:sym typeface="+mn-lt"/>
              </a:rPr>
              <a:t>| </a:t>
            </a:r>
            <a:r>
              <a:rPr lang="zh-CN" altLang="en-US" sz="2000">
                <a:solidFill>
                  <a:srgbClr val="E7E6E6">
                    <a:lumMod val="25000"/>
                  </a:srgbClr>
                </a:solidFill>
                <a:latin typeface="微软雅黑" panose="020B0503020204020204" pitchFamily="34" charset="-122"/>
                <a:ea typeface="微软雅黑" panose="020B0503020204020204" pitchFamily="34" charset="-122"/>
                <a:cs typeface="+mn-cs"/>
                <a:sym typeface="+mn-lt"/>
              </a:rPr>
              <a:t>总览</a:t>
            </a:r>
            <a:endParaRPr lang="zh-CN" altLang="en-US" sz="2000" dirty="0">
              <a:solidFill>
                <a:srgbClr val="E7E6E6">
                  <a:lumMod val="25000"/>
                </a:srgbClr>
              </a:solidFill>
              <a:latin typeface="微软雅黑" panose="020B0503020204020204" pitchFamily="34" charset="-122"/>
              <a:ea typeface="微软雅黑" panose="020B0503020204020204" pitchFamily="34" charset="-122"/>
              <a:cs typeface="+mn-cs"/>
              <a:sym typeface="+mn-lt"/>
            </a:endParaRPr>
          </a:p>
        </p:txBody>
      </p:sp>
    </p:spTree>
    <p:extLst>
      <p:ext uri="{BB962C8B-B14F-4D97-AF65-F5344CB8AC3E}">
        <p14:creationId xmlns:p14="http://schemas.microsoft.com/office/powerpoint/2010/main" val="2655660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idx="4294967295"/>
          </p:nvPr>
        </p:nvSpPr>
        <p:spPr>
          <a:xfrm>
            <a:off x="32431" y="125031"/>
            <a:ext cx="8683306" cy="455613"/>
          </a:xfrm>
        </p:spPr>
        <p:txBody>
          <a:bodyPr>
            <a:normAutofit/>
          </a:bodyPr>
          <a:lstStyle/>
          <a:p>
            <a:pPr>
              <a:lnSpc>
                <a:spcPct val="120000"/>
              </a:lnSpc>
            </a:pPr>
            <a:r>
              <a:rPr lang="zh-CN" altLang="en-US" sz="2000">
                <a:solidFill>
                  <a:srgbClr val="E7E6E6">
                    <a:lumMod val="25000"/>
                  </a:srgbClr>
                </a:solidFill>
                <a:latin typeface="微软雅黑" panose="020B0503020204020204" pitchFamily="34" charset="-122"/>
                <a:ea typeface="微软雅黑" panose="020B0503020204020204" pitchFamily="34" charset="-122"/>
                <a:cs typeface="+mn-cs"/>
                <a:sym typeface="+mn-lt"/>
              </a:rPr>
              <a:t>竞赛项目经历 </a:t>
            </a:r>
            <a:r>
              <a:rPr lang="en-US" altLang="zh-CN" sz="2000">
                <a:solidFill>
                  <a:srgbClr val="E7E6E6">
                    <a:lumMod val="25000"/>
                  </a:srgbClr>
                </a:solidFill>
                <a:latin typeface="微软雅黑" panose="020B0503020204020204" pitchFamily="34" charset="-122"/>
                <a:ea typeface="微软雅黑" panose="020B0503020204020204" pitchFamily="34" charset="-122"/>
                <a:cs typeface="+mn-cs"/>
                <a:sym typeface="+mn-lt"/>
              </a:rPr>
              <a:t>| </a:t>
            </a:r>
            <a:r>
              <a:rPr lang="zh-CN" altLang="en-US" sz="2000" dirty="0">
                <a:solidFill>
                  <a:srgbClr val="E7E6E6">
                    <a:lumMod val="25000"/>
                  </a:srgbClr>
                </a:solidFill>
                <a:latin typeface="微软雅黑" panose="020B0503020204020204" pitchFamily="34" charset="-122"/>
                <a:ea typeface="微软雅黑" panose="020B0503020204020204" pitchFamily="34" charset="-122"/>
                <a:cs typeface="+mn-cs"/>
                <a:sym typeface="+mn-lt"/>
              </a:rPr>
              <a:t>大学生服务外包创新</a:t>
            </a:r>
            <a:r>
              <a:rPr lang="zh-CN" altLang="en-US" sz="2000">
                <a:solidFill>
                  <a:srgbClr val="E7E6E6">
                    <a:lumMod val="25000"/>
                  </a:srgbClr>
                </a:solidFill>
                <a:latin typeface="微软雅黑" panose="020B0503020204020204" pitchFamily="34" charset="-122"/>
                <a:ea typeface="微软雅黑" panose="020B0503020204020204" pitchFamily="34" charset="-122"/>
                <a:cs typeface="+mn-cs"/>
                <a:sym typeface="+mn-lt"/>
              </a:rPr>
              <a:t>创业大赛  虚拟试衣图像算法</a:t>
            </a:r>
            <a:endParaRPr lang="zh-CN" altLang="en-US" sz="2000" dirty="0">
              <a:solidFill>
                <a:srgbClr val="E7E6E6">
                  <a:lumMod val="25000"/>
                </a:srgbClr>
              </a:solidFill>
              <a:latin typeface="微软雅黑" panose="020B0503020204020204" pitchFamily="34" charset="-122"/>
              <a:ea typeface="微软雅黑" panose="020B0503020204020204" pitchFamily="34" charset="-122"/>
              <a:cs typeface="+mn-cs"/>
              <a:sym typeface="+mn-lt"/>
            </a:endParaRPr>
          </a:p>
        </p:txBody>
      </p:sp>
      <p:sp>
        <p:nvSpPr>
          <p:cNvPr id="47" name="文本框 46">
            <a:extLst>
              <a:ext uri="{FF2B5EF4-FFF2-40B4-BE49-F238E27FC236}">
                <a16:creationId xmlns:a16="http://schemas.microsoft.com/office/drawing/2014/main" id="{5D7B5DA6-B054-9BA5-0EB9-11E0E055AE83}"/>
              </a:ext>
            </a:extLst>
          </p:cNvPr>
          <p:cNvSpPr txBox="1"/>
          <p:nvPr/>
        </p:nvSpPr>
        <p:spPr>
          <a:xfrm>
            <a:off x="552118" y="927503"/>
            <a:ext cx="583814" cy="923330"/>
          </a:xfrm>
          <a:prstGeom prst="rect">
            <a:avLst/>
          </a:prstGeom>
          <a:noFill/>
        </p:spPr>
        <p:txBody>
          <a:bodyPr wrap="none" rtlCol="0">
            <a:spAutoFit/>
          </a:bodyPr>
          <a:lstStyle/>
          <a:p>
            <a:r>
              <a:rPr lang="en-US" altLang="zh-CN" sz="5400" b="1" dirty="0">
                <a:solidFill>
                  <a:schemeClr val="bg1"/>
                </a:solidFill>
                <a:ea typeface="方正粗黑宋简体" panose="02000000000000000000" pitchFamily="2" charset="-122"/>
              </a:rPr>
              <a:t>1</a:t>
            </a:r>
            <a:endParaRPr lang="zh-CN" altLang="en-US" sz="5400" b="1" dirty="0">
              <a:solidFill>
                <a:schemeClr val="bg1"/>
              </a:solidFill>
              <a:ea typeface="方正粗黑宋简体" panose="02000000000000000000" pitchFamily="2" charset="-122"/>
            </a:endParaRPr>
          </a:p>
        </p:txBody>
      </p:sp>
      <p:grpSp>
        <p:nvGrpSpPr>
          <p:cNvPr id="9" name="组合 8">
            <a:extLst>
              <a:ext uri="{FF2B5EF4-FFF2-40B4-BE49-F238E27FC236}">
                <a16:creationId xmlns:a16="http://schemas.microsoft.com/office/drawing/2014/main" id="{EE4C57E3-F145-E8FF-5B4D-ADF3A1191795}"/>
              </a:ext>
            </a:extLst>
          </p:cNvPr>
          <p:cNvGrpSpPr/>
          <p:nvPr/>
        </p:nvGrpSpPr>
        <p:grpSpPr>
          <a:xfrm>
            <a:off x="0" y="3519725"/>
            <a:ext cx="12192001" cy="3874142"/>
            <a:chOff x="0" y="3250874"/>
            <a:chExt cx="12192001" cy="3874142"/>
          </a:xfrm>
        </p:grpSpPr>
        <p:sp>
          <p:nvSpPr>
            <p:cNvPr id="83" name="矩形 82">
              <a:extLst>
                <a:ext uri="{FF2B5EF4-FFF2-40B4-BE49-F238E27FC236}">
                  <a16:creationId xmlns:a16="http://schemas.microsoft.com/office/drawing/2014/main" id="{4305D0EF-9E7B-1C81-78C8-26BBCA7B576D}"/>
                </a:ext>
              </a:extLst>
            </p:cNvPr>
            <p:cNvSpPr/>
            <p:nvPr/>
          </p:nvSpPr>
          <p:spPr>
            <a:xfrm>
              <a:off x="8233539" y="3250874"/>
              <a:ext cx="3958462" cy="717876"/>
            </a:xfrm>
            <a:prstGeom prst="rect">
              <a:avLst/>
            </a:prstGeom>
            <a:solidFill>
              <a:schemeClr val="tx2">
                <a:lumMod val="60000"/>
                <a:lumOff val="40000"/>
              </a:schemeClr>
            </a:solidFill>
            <a:ln w="6350" cap="flat" cmpd="sng" algn="ctr">
              <a:solidFill>
                <a:srgbClr val="44546A"/>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en-US" altLang="zh-CN" dirty="0">
                <a:cs typeface="+mn-ea"/>
                <a:sym typeface="+mn-lt"/>
              </a:endParaRPr>
            </a:p>
          </p:txBody>
        </p:sp>
        <p:sp>
          <p:nvSpPr>
            <p:cNvPr id="84" name="矩形 83">
              <a:extLst>
                <a:ext uri="{FF2B5EF4-FFF2-40B4-BE49-F238E27FC236}">
                  <a16:creationId xmlns:a16="http://schemas.microsoft.com/office/drawing/2014/main" id="{51561081-0BC7-7CB1-EB13-C2AA6577FBDA}"/>
                </a:ext>
              </a:extLst>
            </p:cNvPr>
            <p:cNvSpPr/>
            <p:nvPr/>
          </p:nvSpPr>
          <p:spPr>
            <a:xfrm>
              <a:off x="4174931" y="3250874"/>
              <a:ext cx="4062132" cy="717875"/>
            </a:xfrm>
            <a:prstGeom prst="rect">
              <a:avLst/>
            </a:prstGeom>
            <a:solidFill>
              <a:schemeClr val="tx2">
                <a:lumMod val="60000"/>
                <a:lumOff val="40000"/>
              </a:schemeClr>
            </a:solidFill>
            <a:ln w="6350" cap="flat" cmpd="sng" algn="ctr">
              <a:solidFill>
                <a:srgbClr val="44546A"/>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en-US" altLang="zh-CN" dirty="0">
                <a:cs typeface="+mn-ea"/>
                <a:sym typeface="+mn-lt"/>
              </a:endParaRPr>
            </a:p>
          </p:txBody>
        </p:sp>
        <p:sp>
          <p:nvSpPr>
            <p:cNvPr id="85" name="矩形 84">
              <a:extLst>
                <a:ext uri="{FF2B5EF4-FFF2-40B4-BE49-F238E27FC236}">
                  <a16:creationId xmlns:a16="http://schemas.microsoft.com/office/drawing/2014/main" id="{DDC04DE2-8586-767C-5634-04FFA5E039E5}"/>
                </a:ext>
              </a:extLst>
            </p:cNvPr>
            <p:cNvSpPr/>
            <p:nvPr/>
          </p:nvSpPr>
          <p:spPr>
            <a:xfrm>
              <a:off x="0" y="3250874"/>
              <a:ext cx="4166036" cy="717874"/>
            </a:xfrm>
            <a:prstGeom prst="rect">
              <a:avLst/>
            </a:prstGeom>
            <a:solidFill>
              <a:schemeClr val="tx2">
                <a:lumMod val="60000"/>
                <a:lumOff val="40000"/>
              </a:schemeClr>
            </a:solidFill>
            <a:ln w="6350" cap="flat" cmpd="sng" algn="ctr">
              <a:solidFill>
                <a:srgbClr val="44546A"/>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en-US" altLang="zh-CN" dirty="0">
                <a:cs typeface="+mn-ea"/>
                <a:sym typeface="+mn-lt"/>
              </a:endParaRPr>
            </a:p>
          </p:txBody>
        </p:sp>
        <p:grpSp>
          <p:nvGrpSpPr>
            <p:cNvPr id="87" name="组合 86">
              <a:extLst>
                <a:ext uri="{FF2B5EF4-FFF2-40B4-BE49-F238E27FC236}">
                  <a16:creationId xmlns:a16="http://schemas.microsoft.com/office/drawing/2014/main" id="{4A0D0557-CB64-AE98-858A-2384239FED6C}"/>
                </a:ext>
              </a:extLst>
            </p:cNvPr>
            <p:cNvGrpSpPr/>
            <p:nvPr/>
          </p:nvGrpSpPr>
          <p:grpSpPr>
            <a:xfrm>
              <a:off x="3981370" y="3429001"/>
              <a:ext cx="356253" cy="356253"/>
              <a:chOff x="3363503" y="5663221"/>
              <a:chExt cx="356253" cy="356253"/>
            </a:xfrm>
          </p:grpSpPr>
          <p:sp>
            <p:nvSpPr>
              <p:cNvPr id="88" name="椭圆 87">
                <a:extLst>
                  <a:ext uri="{FF2B5EF4-FFF2-40B4-BE49-F238E27FC236}">
                    <a16:creationId xmlns:a16="http://schemas.microsoft.com/office/drawing/2014/main" id="{5A774E0B-7988-1FF9-60C3-5B0AEE8C5F02}"/>
                  </a:ext>
                </a:extLst>
              </p:cNvPr>
              <p:cNvSpPr/>
              <p:nvPr/>
            </p:nvSpPr>
            <p:spPr>
              <a:xfrm>
                <a:off x="3363503" y="5663221"/>
                <a:ext cx="356253" cy="356253"/>
              </a:xfrm>
              <a:prstGeom prst="ellipse">
                <a:avLst/>
              </a:prstGeom>
              <a:solidFill>
                <a:schemeClr val="tx2">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endParaRPr lang="zh-CN" altLang="en-US">
                  <a:cs typeface="+mn-ea"/>
                  <a:sym typeface="+mn-lt"/>
                </a:endParaRPr>
              </a:p>
            </p:txBody>
          </p:sp>
          <p:sp>
            <p:nvSpPr>
              <p:cNvPr id="89" name="箭头: 右 88">
                <a:extLst>
                  <a:ext uri="{FF2B5EF4-FFF2-40B4-BE49-F238E27FC236}">
                    <a16:creationId xmlns:a16="http://schemas.microsoft.com/office/drawing/2014/main" id="{6C42D90F-7AD2-01C8-EB3D-6513CA917651}"/>
                  </a:ext>
                </a:extLst>
              </p:cNvPr>
              <p:cNvSpPr/>
              <p:nvPr/>
            </p:nvSpPr>
            <p:spPr>
              <a:xfrm>
                <a:off x="3449423" y="5718073"/>
                <a:ext cx="184412" cy="246548"/>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dirty="0">
                  <a:cs typeface="+mn-ea"/>
                  <a:sym typeface="+mn-lt"/>
                </a:endParaRPr>
              </a:p>
            </p:txBody>
          </p:sp>
        </p:grpSp>
        <p:grpSp>
          <p:nvGrpSpPr>
            <p:cNvPr id="91" name="组合 90">
              <a:extLst>
                <a:ext uri="{FF2B5EF4-FFF2-40B4-BE49-F238E27FC236}">
                  <a16:creationId xmlns:a16="http://schemas.microsoft.com/office/drawing/2014/main" id="{46872A0B-E0D1-1583-E239-CD851FB1CFF6}"/>
                </a:ext>
              </a:extLst>
            </p:cNvPr>
            <p:cNvGrpSpPr/>
            <p:nvPr/>
          </p:nvGrpSpPr>
          <p:grpSpPr>
            <a:xfrm>
              <a:off x="8086281" y="3429001"/>
              <a:ext cx="356253" cy="356253"/>
              <a:chOff x="3412378" y="5663221"/>
              <a:chExt cx="356253" cy="356253"/>
            </a:xfrm>
          </p:grpSpPr>
          <p:sp>
            <p:nvSpPr>
              <p:cNvPr id="92" name="椭圆 91">
                <a:extLst>
                  <a:ext uri="{FF2B5EF4-FFF2-40B4-BE49-F238E27FC236}">
                    <a16:creationId xmlns:a16="http://schemas.microsoft.com/office/drawing/2014/main" id="{8A5F9003-BA81-CEE8-35F5-1F15B8FB53F1}"/>
                  </a:ext>
                </a:extLst>
              </p:cNvPr>
              <p:cNvSpPr/>
              <p:nvPr/>
            </p:nvSpPr>
            <p:spPr>
              <a:xfrm>
                <a:off x="3412378" y="5663221"/>
                <a:ext cx="356253" cy="356253"/>
              </a:xfrm>
              <a:prstGeom prst="ellipse">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algn="ctr"/>
                <a:endParaRPr lang="zh-CN" altLang="en-US">
                  <a:cs typeface="+mn-ea"/>
                  <a:sym typeface="+mn-lt"/>
                </a:endParaRPr>
              </a:p>
            </p:txBody>
          </p:sp>
          <p:sp>
            <p:nvSpPr>
              <p:cNvPr id="93" name="箭头: 右 92">
                <a:extLst>
                  <a:ext uri="{FF2B5EF4-FFF2-40B4-BE49-F238E27FC236}">
                    <a16:creationId xmlns:a16="http://schemas.microsoft.com/office/drawing/2014/main" id="{AA5F2B4E-7D37-07FE-447D-C20661B9A80A}"/>
                  </a:ext>
                </a:extLst>
              </p:cNvPr>
              <p:cNvSpPr/>
              <p:nvPr/>
            </p:nvSpPr>
            <p:spPr>
              <a:xfrm>
                <a:off x="3498298" y="5718073"/>
                <a:ext cx="184412" cy="246548"/>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algn="ctr"/>
                <a:endParaRPr dirty="0">
                  <a:cs typeface="+mn-ea"/>
                  <a:sym typeface="+mn-lt"/>
                </a:endParaRPr>
              </a:p>
            </p:txBody>
          </p:sp>
        </p:grpSp>
        <p:sp>
          <p:nvSpPr>
            <p:cNvPr id="94" name="文本框 93">
              <a:extLst>
                <a:ext uri="{FF2B5EF4-FFF2-40B4-BE49-F238E27FC236}">
                  <a16:creationId xmlns:a16="http://schemas.microsoft.com/office/drawing/2014/main" id="{B57DB84F-80BF-4B49-9614-F073732934B2}"/>
                </a:ext>
              </a:extLst>
            </p:cNvPr>
            <p:cNvSpPr txBox="1"/>
            <p:nvPr/>
          </p:nvSpPr>
          <p:spPr bwMode="auto">
            <a:xfrm>
              <a:off x="654937" y="3373101"/>
              <a:ext cx="2809200" cy="547092"/>
            </a:xfrm>
            <a:prstGeom prst="rect">
              <a:avLst/>
            </a:prstGeom>
            <a:noFill/>
            <a:ln>
              <a:solidFill>
                <a:srgbClr val="8497B0"/>
              </a:solidFill>
            </a:ln>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400" b="1" dirty="0">
                  <a:solidFill>
                    <a:schemeClr val="bg1"/>
                  </a:solidFill>
                  <a:ea typeface="方正粗黑宋简体" panose="02000000000000000000" charset="-122"/>
                  <a:cs typeface="+mn-ea"/>
                  <a:sym typeface="+mn-lt"/>
                </a:rPr>
                <a:t>1.</a:t>
              </a:r>
              <a:r>
                <a:rPr lang="zh-CN" altLang="en-US" sz="2400" b="1" dirty="0">
                  <a:solidFill>
                    <a:schemeClr val="bg1"/>
                  </a:solidFill>
                  <a:ea typeface="方正粗黑宋简体" panose="02000000000000000000" charset="-122"/>
                  <a:cs typeface="+mn-ea"/>
                  <a:sym typeface="+mn-lt"/>
                </a:rPr>
                <a:t> 模型结构轻量化</a:t>
              </a:r>
              <a:endParaRPr lang="en-US" altLang="zh-CN" sz="2400" b="1" dirty="0">
                <a:solidFill>
                  <a:schemeClr val="bg1"/>
                </a:solidFill>
                <a:ea typeface="方正粗黑宋简体" panose="02000000000000000000" charset="-122"/>
                <a:cs typeface="+mn-ea"/>
                <a:sym typeface="+mn-lt"/>
              </a:endParaRPr>
            </a:p>
          </p:txBody>
        </p:sp>
        <p:sp>
          <p:nvSpPr>
            <p:cNvPr id="95" name="文本框 94">
              <a:extLst>
                <a:ext uri="{FF2B5EF4-FFF2-40B4-BE49-F238E27FC236}">
                  <a16:creationId xmlns:a16="http://schemas.microsoft.com/office/drawing/2014/main" id="{89A44A7D-9B6A-66A1-A900-414363440283}"/>
                </a:ext>
              </a:extLst>
            </p:cNvPr>
            <p:cNvSpPr txBox="1"/>
            <p:nvPr/>
          </p:nvSpPr>
          <p:spPr bwMode="auto">
            <a:xfrm>
              <a:off x="4776215" y="3373101"/>
              <a:ext cx="2809200" cy="464316"/>
            </a:xfrm>
            <a:prstGeom prst="rect">
              <a:avLst/>
            </a:prstGeom>
            <a:noFill/>
            <a:ln>
              <a:noFill/>
            </a:ln>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400" b="1" dirty="0">
                  <a:solidFill>
                    <a:schemeClr val="bg1"/>
                  </a:solidFill>
                  <a:ea typeface="方正粗黑宋简体" panose="02000000000000000000" charset="-122"/>
                  <a:cs typeface="+mn-ea"/>
                  <a:sym typeface="+mn-lt"/>
                </a:rPr>
                <a:t>2. </a:t>
              </a:r>
              <a:r>
                <a:rPr lang="zh-CN" altLang="en-US" sz="2400" b="1" dirty="0">
                  <a:solidFill>
                    <a:schemeClr val="bg1"/>
                  </a:solidFill>
                  <a:ea typeface="方正粗黑宋简体" panose="02000000000000000000" charset="-122"/>
                  <a:cs typeface="+mn-ea"/>
                  <a:sym typeface="+mn-lt"/>
                </a:rPr>
                <a:t>模型训练优化</a:t>
              </a:r>
              <a:endParaRPr lang="en-US" altLang="zh-CN" sz="2400" b="1" dirty="0">
                <a:solidFill>
                  <a:schemeClr val="bg1"/>
                </a:solidFill>
                <a:ea typeface="方正粗黑宋简体" panose="02000000000000000000" charset="-122"/>
                <a:cs typeface="+mn-ea"/>
                <a:sym typeface="+mn-lt"/>
              </a:endParaRPr>
            </a:p>
          </p:txBody>
        </p:sp>
        <p:sp>
          <p:nvSpPr>
            <p:cNvPr id="96" name="文本框 95">
              <a:extLst>
                <a:ext uri="{FF2B5EF4-FFF2-40B4-BE49-F238E27FC236}">
                  <a16:creationId xmlns:a16="http://schemas.microsoft.com/office/drawing/2014/main" id="{C08EFC0A-A718-66AF-FE7E-030A4047CF73}"/>
                </a:ext>
              </a:extLst>
            </p:cNvPr>
            <p:cNvSpPr txBox="1"/>
            <p:nvPr/>
          </p:nvSpPr>
          <p:spPr bwMode="auto">
            <a:xfrm>
              <a:off x="8873656" y="3373101"/>
              <a:ext cx="2809200" cy="464316"/>
            </a:xfrm>
            <a:prstGeom prst="rect">
              <a:avLst/>
            </a:prstGeom>
            <a:noFill/>
            <a:ln>
              <a:noFill/>
            </a:ln>
          </p:spPr>
          <p:txBody>
            <a:bodyPr wrap="square" lIns="91440" tIns="45720" rIns="91440" bIns="45720" anchor="ctr"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gn="ctr" eaLnBrk="1" hangingPunct="1">
                <a:lnSpc>
                  <a:spcPct val="100000"/>
                </a:lnSpc>
                <a:spcBef>
                  <a:spcPct val="0"/>
                </a:spcBef>
                <a:buFontTx/>
                <a:buNone/>
              </a:pPr>
              <a:r>
                <a:rPr lang="en-US" altLang="zh-CN" sz="2400" b="1" dirty="0">
                  <a:solidFill>
                    <a:schemeClr val="bg1"/>
                  </a:solidFill>
                  <a:ea typeface="方正粗黑宋简体" panose="02000000000000000000" charset="-122"/>
                  <a:cs typeface="+mn-ea"/>
                  <a:sym typeface="+mn-lt"/>
                </a:rPr>
                <a:t>3. C++</a:t>
              </a:r>
              <a:r>
                <a:rPr lang="zh-CN" altLang="en-US" sz="2400" b="1" dirty="0">
                  <a:solidFill>
                    <a:schemeClr val="bg1"/>
                  </a:solidFill>
                  <a:ea typeface="方正粗黑宋简体" panose="02000000000000000000" charset="-122"/>
                  <a:cs typeface="+mn-ea"/>
                  <a:sym typeface="+mn-lt"/>
                </a:rPr>
                <a:t>工程化部署</a:t>
              </a:r>
              <a:endParaRPr lang="en-US" altLang="zh-CN" sz="2400" b="1" dirty="0">
                <a:solidFill>
                  <a:schemeClr val="bg1"/>
                </a:solidFill>
                <a:ea typeface="方正粗黑宋简体" panose="02000000000000000000" charset="-122"/>
                <a:cs typeface="+mn-ea"/>
                <a:sym typeface="+mn-lt"/>
              </a:endParaRPr>
            </a:p>
          </p:txBody>
        </p:sp>
        <p:sp>
          <p:nvSpPr>
            <p:cNvPr id="97" name="矩形 96">
              <a:extLst>
                <a:ext uri="{FF2B5EF4-FFF2-40B4-BE49-F238E27FC236}">
                  <a16:creationId xmlns:a16="http://schemas.microsoft.com/office/drawing/2014/main" id="{5847B111-71A0-A7AA-BA37-08A6BADE2E52}"/>
                </a:ext>
              </a:extLst>
            </p:cNvPr>
            <p:cNvSpPr/>
            <p:nvPr/>
          </p:nvSpPr>
          <p:spPr bwMode="auto">
            <a:xfrm>
              <a:off x="112466" y="4058080"/>
              <a:ext cx="3967461" cy="3066936"/>
            </a:xfrm>
            <a:prstGeom prst="rect">
              <a:avLst/>
            </a:prstGeom>
            <a:noFill/>
            <a:ln>
              <a:noFill/>
            </a:ln>
          </p:spPr>
          <p:txBody>
            <a:bodyPr wrap="square" lIns="91440" tIns="45720" rIns="91440" bIns="4572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285750" indent="-285750">
                <a:lnSpc>
                  <a:spcPct val="15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采用基于</a:t>
              </a:r>
              <a:r>
                <a:rPr lang="en-US" altLang="zh-CN" dirty="0">
                  <a:solidFill>
                    <a:schemeClr val="tx2">
                      <a:lumMod val="50000"/>
                    </a:schemeClr>
                  </a:solidFill>
                  <a:latin typeface="Arial" panose="020B0604020202020204" pitchFamily="34" charset="0"/>
                  <a:ea typeface="方正粗黑宋简体" panose="02000000000000000000" charset="-122"/>
                  <a:cs typeface="Arial" panose="020B0604020202020204" pitchFamily="34" charset="0"/>
                  <a:sym typeface="+mn-lt"/>
                </a:rPr>
                <a:t>Flow-Style-VITON</a:t>
              </a:r>
              <a:r>
                <a:rPr lang="zh-CN" altLang="en-US" dirty="0">
                  <a:solidFill>
                    <a:schemeClr val="tx2">
                      <a:lumMod val="50000"/>
                    </a:schemeClr>
                  </a:solidFill>
                  <a:ea typeface="方正粗黑宋简体" panose="02000000000000000000" charset="-122"/>
                  <a:cs typeface="+mn-ea"/>
                  <a:sym typeface="+mn-lt"/>
                </a:rPr>
                <a:t>改进的知识蒸馏网络结构</a:t>
              </a:r>
              <a:endParaRPr lang="en-US" altLang="zh-CN" dirty="0">
                <a:solidFill>
                  <a:schemeClr val="tx2">
                    <a:lumMod val="50000"/>
                  </a:schemeClr>
                </a:solidFill>
                <a:ea typeface="方正粗黑宋简体" panose="02000000000000000000" charset="-122"/>
                <a:cs typeface="+mn-ea"/>
                <a:sym typeface="+mn-lt"/>
              </a:endParaRPr>
            </a:p>
            <a:p>
              <a:pPr marL="285750" indent="-285750">
                <a:lnSpc>
                  <a:spcPct val="15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采用</a:t>
              </a:r>
              <a:r>
                <a:rPr lang="en-US" altLang="zh-CN" dirty="0">
                  <a:solidFill>
                    <a:schemeClr val="tx2">
                      <a:lumMod val="50000"/>
                    </a:schemeClr>
                  </a:solidFill>
                  <a:latin typeface="Arial" panose="020B0604020202020204" pitchFamily="34" charset="0"/>
                  <a:ea typeface="方正粗黑宋简体" panose="02000000000000000000" charset="-122"/>
                  <a:cs typeface="Arial" panose="020B0604020202020204" pitchFamily="34" charset="0"/>
                  <a:sym typeface="+mn-lt"/>
                </a:rPr>
                <a:t>MobileNetV3-large</a:t>
              </a:r>
              <a:r>
                <a:rPr lang="zh-CN" altLang="en-US" dirty="0">
                  <a:solidFill>
                    <a:schemeClr val="tx2">
                      <a:lumMod val="50000"/>
                    </a:schemeClr>
                  </a:solidFill>
                  <a:ea typeface="方正粗黑宋简体" panose="02000000000000000000" charset="-122"/>
                  <a:cs typeface="+mn-ea"/>
                  <a:sym typeface="+mn-lt"/>
                </a:rPr>
                <a:t>轻量级特征提取模块</a:t>
              </a:r>
            </a:p>
            <a:p>
              <a:pPr marL="285750" indent="-285750">
                <a:lnSpc>
                  <a:spcPct val="15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引入</a:t>
              </a:r>
              <a:r>
                <a:rPr lang="en-US" altLang="zh-CN" dirty="0">
                  <a:solidFill>
                    <a:schemeClr val="tx2">
                      <a:lumMod val="50000"/>
                    </a:schemeClr>
                  </a:solidFill>
                  <a:latin typeface="Arial" panose="020B0604020202020204" pitchFamily="34" charset="0"/>
                  <a:ea typeface="方正粗黑宋简体" panose="02000000000000000000" charset="-122"/>
                  <a:cs typeface="Arial" panose="020B0604020202020204" pitchFamily="34" charset="0"/>
                  <a:sym typeface="+mn-lt"/>
                </a:rPr>
                <a:t>Ghost Module</a:t>
              </a:r>
              <a:r>
                <a:rPr lang="zh-CN" altLang="en-US" dirty="0">
                  <a:solidFill>
                    <a:schemeClr val="tx2">
                      <a:lumMod val="50000"/>
                    </a:schemeClr>
                  </a:solidFill>
                  <a:ea typeface="方正粗黑宋简体" panose="02000000000000000000" charset="-122"/>
                  <a:cs typeface="+mn-ea"/>
                  <a:sym typeface="+mn-lt"/>
                </a:rPr>
                <a:t>替换普通卷积层</a:t>
              </a:r>
              <a:endParaRPr lang="en-US" altLang="zh-CN" dirty="0">
                <a:solidFill>
                  <a:schemeClr val="tx2">
                    <a:lumMod val="50000"/>
                  </a:schemeClr>
                </a:solidFill>
                <a:ea typeface="方正粗黑宋简体" panose="02000000000000000000" charset="-122"/>
                <a:cs typeface="+mn-ea"/>
                <a:sym typeface="+mn-lt"/>
              </a:endParaRPr>
            </a:p>
          </p:txBody>
        </p:sp>
        <p:sp>
          <p:nvSpPr>
            <p:cNvPr id="98" name="矩形 97">
              <a:extLst>
                <a:ext uri="{FF2B5EF4-FFF2-40B4-BE49-F238E27FC236}">
                  <a16:creationId xmlns:a16="http://schemas.microsoft.com/office/drawing/2014/main" id="{16DDF084-0CF1-10AB-65D7-B26FC7D72197}"/>
                </a:ext>
              </a:extLst>
            </p:cNvPr>
            <p:cNvSpPr/>
            <p:nvPr/>
          </p:nvSpPr>
          <p:spPr bwMode="auto">
            <a:xfrm>
              <a:off x="4750144" y="4005112"/>
              <a:ext cx="3275817" cy="1872130"/>
            </a:xfrm>
            <a:prstGeom prst="rect">
              <a:avLst/>
            </a:prstGeom>
            <a:noFill/>
            <a:ln>
              <a:noFill/>
            </a:ln>
          </p:spPr>
          <p:txBody>
            <a:bodyPr wrap="square" lIns="91440" tIns="45720" rIns="91440" bIns="4572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285750" indent="-285750">
                <a:lnSpc>
                  <a:spcPct val="20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扩充和优化数据集</a:t>
              </a:r>
              <a:endParaRPr lang="en-US" altLang="zh-CN" dirty="0">
                <a:solidFill>
                  <a:schemeClr val="tx2">
                    <a:lumMod val="50000"/>
                  </a:schemeClr>
                </a:solidFill>
                <a:ea typeface="方正粗黑宋简体" panose="02000000000000000000" charset="-122"/>
                <a:cs typeface="+mn-ea"/>
                <a:sym typeface="+mn-lt"/>
              </a:endParaRPr>
            </a:p>
            <a:p>
              <a:pPr marL="285750" indent="-285750">
                <a:lnSpc>
                  <a:spcPct val="20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设计更优化的损失函数</a:t>
              </a:r>
              <a:endParaRPr lang="en-US" altLang="zh-CN" dirty="0">
                <a:solidFill>
                  <a:schemeClr val="tx2">
                    <a:lumMod val="50000"/>
                  </a:schemeClr>
                </a:solidFill>
                <a:ea typeface="方正粗黑宋简体" panose="02000000000000000000" charset="-122"/>
                <a:cs typeface="+mn-ea"/>
                <a:sym typeface="+mn-lt"/>
              </a:endParaRPr>
            </a:p>
            <a:p>
              <a:pPr marL="285750" indent="-285750">
                <a:lnSpc>
                  <a:spcPct val="20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调整各损失函数的权重占比</a:t>
              </a:r>
              <a:endParaRPr lang="en-US" altLang="zh-CN" dirty="0">
                <a:solidFill>
                  <a:schemeClr val="tx2">
                    <a:lumMod val="50000"/>
                  </a:schemeClr>
                </a:solidFill>
                <a:ea typeface="方正粗黑宋简体" panose="02000000000000000000" charset="-122"/>
                <a:cs typeface="+mn-ea"/>
                <a:sym typeface="+mn-lt"/>
              </a:endParaRPr>
            </a:p>
          </p:txBody>
        </p:sp>
        <p:sp>
          <p:nvSpPr>
            <p:cNvPr id="99" name="矩形 98">
              <a:extLst>
                <a:ext uri="{FF2B5EF4-FFF2-40B4-BE49-F238E27FC236}">
                  <a16:creationId xmlns:a16="http://schemas.microsoft.com/office/drawing/2014/main" id="{C2959DD6-13D2-51C2-CF9B-E3E919DB95F7}"/>
                </a:ext>
              </a:extLst>
            </p:cNvPr>
            <p:cNvSpPr/>
            <p:nvPr/>
          </p:nvSpPr>
          <p:spPr bwMode="auto">
            <a:xfrm>
              <a:off x="8356613" y="3888488"/>
              <a:ext cx="3791798" cy="3018024"/>
            </a:xfrm>
            <a:prstGeom prst="rect">
              <a:avLst/>
            </a:prstGeom>
            <a:noFill/>
            <a:ln>
              <a:noFill/>
            </a:ln>
          </p:spPr>
          <p:txBody>
            <a:bodyPr wrap="square" lIns="91440" tIns="45720" rIns="91440" bIns="4572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marL="285750" indent="-285750">
                <a:lnSpc>
                  <a:spcPct val="20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边缘增强预处理</a:t>
              </a:r>
              <a:endParaRPr lang="en-US" altLang="zh-CN" dirty="0">
                <a:solidFill>
                  <a:schemeClr val="tx2">
                    <a:lumMod val="50000"/>
                  </a:schemeClr>
                </a:solidFill>
                <a:ea typeface="方正粗黑宋简体" panose="02000000000000000000" charset="-122"/>
                <a:cs typeface="+mn-ea"/>
                <a:sym typeface="+mn-lt"/>
              </a:endParaRPr>
            </a:p>
            <a:p>
              <a:pPr marL="285750" indent="-285750">
                <a:lnSpc>
                  <a:spcPct val="20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自定义</a:t>
              </a:r>
              <a:r>
                <a:rPr lang="en-US" altLang="zh-CN" dirty="0">
                  <a:solidFill>
                    <a:schemeClr val="tx2">
                      <a:lumMod val="50000"/>
                    </a:schemeClr>
                  </a:solidFill>
                  <a:ea typeface="方正粗黑宋简体" panose="02000000000000000000" charset="-122"/>
                  <a:cs typeface="+mn-ea"/>
                  <a:sym typeface="+mn-lt"/>
                </a:rPr>
                <a:t>C++</a:t>
              </a:r>
              <a:r>
                <a:rPr lang="zh-CN" altLang="en-US" dirty="0">
                  <a:solidFill>
                    <a:schemeClr val="tx2">
                      <a:lumMod val="50000"/>
                    </a:schemeClr>
                  </a:solidFill>
                  <a:ea typeface="方正粗黑宋简体" panose="02000000000000000000" charset="-122"/>
                  <a:cs typeface="+mn-ea"/>
                  <a:sym typeface="+mn-lt"/>
                </a:rPr>
                <a:t>双线性采样函数</a:t>
              </a:r>
              <a:endParaRPr lang="en-US" altLang="zh-CN" dirty="0">
                <a:solidFill>
                  <a:schemeClr val="tx2">
                    <a:lumMod val="50000"/>
                  </a:schemeClr>
                </a:solidFill>
                <a:ea typeface="方正粗黑宋简体" panose="02000000000000000000" charset="-122"/>
                <a:cs typeface="+mn-ea"/>
                <a:sym typeface="+mn-lt"/>
              </a:endParaRPr>
            </a:p>
            <a:p>
              <a:pPr marL="285750" indent="-285750">
                <a:lnSpc>
                  <a:spcPct val="20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设计简约的</a:t>
              </a:r>
              <a:r>
                <a:rPr lang="en-US" altLang="zh-CN" dirty="0">
                  <a:solidFill>
                    <a:schemeClr val="tx2">
                      <a:lumMod val="50000"/>
                    </a:schemeClr>
                  </a:solidFill>
                  <a:ea typeface="方正粗黑宋简体" panose="02000000000000000000" charset="-122"/>
                  <a:cs typeface="+mn-ea"/>
                  <a:sym typeface="+mn-lt"/>
                </a:rPr>
                <a:t>UI</a:t>
              </a:r>
              <a:r>
                <a:rPr lang="zh-CN" altLang="en-US" dirty="0">
                  <a:solidFill>
                    <a:schemeClr val="tx2">
                      <a:lumMod val="50000"/>
                    </a:schemeClr>
                  </a:solidFill>
                  <a:ea typeface="方正粗黑宋简体" panose="02000000000000000000" charset="-122"/>
                  <a:cs typeface="+mn-ea"/>
                  <a:sym typeface="+mn-lt"/>
                </a:rPr>
                <a:t>交互界面</a:t>
              </a:r>
            </a:p>
            <a:p>
              <a:pPr marL="285750" indent="-285750">
                <a:lnSpc>
                  <a:spcPct val="200000"/>
                </a:lnSpc>
                <a:buFont typeface="Wingdings" panose="05000000000000000000" pitchFamily="2" charset="2"/>
                <a:buChar char="Ø"/>
              </a:pPr>
              <a:r>
                <a:rPr lang="zh-CN" altLang="en-US" dirty="0">
                  <a:solidFill>
                    <a:schemeClr val="tx2">
                      <a:lumMod val="50000"/>
                    </a:schemeClr>
                  </a:solidFill>
                  <a:ea typeface="方正粗黑宋简体" panose="02000000000000000000" charset="-122"/>
                  <a:cs typeface="+mn-ea"/>
                  <a:sym typeface="+mn-lt"/>
                </a:rPr>
                <a:t>集成为无外部依赖的</a:t>
              </a:r>
              <a:r>
                <a:rPr lang="en-US" altLang="zh-CN" b="1" dirty="0">
                  <a:solidFill>
                    <a:schemeClr val="tx2">
                      <a:lumMod val="50000"/>
                    </a:schemeClr>
                  </a:solidFill>
                  <a:ea typeface="方正粗黑宋简体" panose="02000000000000000000" charset="-122"/>
                  <a:cs typeface="+mn-ea"/>
                  <a:sym typeface="+mn-lt"/>
                </a:rPr>
                <a:t>C++</a:t>
              </a:r>
              <a:r>
                <a:rPr lang="zh-CN" altLang="en-US" dirty="0">
                  <a:solidFill>
                    <a:schemeClr val="tx2">
                      <a:lumMod val="50000"/>
                    </a:schemeClr>
                  </a:solidFill>
                  <a:ea typeface="方正粗黑宋简体" panose="02000000000000000000" charset="-122"/>
                  <a:cs typeface="+mn-ea"/>
                  <a:sym typeface="+mn-lt"/>
                </a:rPr>
                <a:t>例程</a:t>
              </a:r>
            </a:p>
          </p:txBody>
        </p:sp>
      </p:grpSp>
      <p:grpSp>
        <p:nvGrpSpPr>
          <p:cNvPr id="15" name="组合 14">
            <a:extLst>
              <a:ext uri="{FF2B5EF4-FFF2-40B4-BE49-F238E27FC236}">
                <a16:creationId xmlns:a16="http://schemas.microsoft.com/office/drawing/2014/main" id="{2856338B-1E7F-DF6B-6644-A0F161E44722}"/>
              </a:ext>
            </a:extLst>
          </p:cNvPr>
          <p:cNvGrpSpPr/>
          <p:nvPr/>
        </p:nvGrpSpPr>
        <p:grpSpPr>
          <a:xfrm>
            <a:off x="4415946" y="1300537"/>
            <a:ext cx="2274557" cy="2128463"/>
            <a:chOff x="7836676" y="2238462"/>
            <a:chExt cx="3920852" cy="1225606"/>
          </a:xfrm>
        </p:grpSpPr>
        <p:sp>
          <p:nvSpPr>
            <p:cNvPr id="16" name="矩形 15">
              <a:extLst>
                <a:ext uri="{FF2B5EF4-FFF2-40B4-BE49-F238E27FC236}">
                  <a16:creationId xmlns:a16="http://schemas.microsoft.com/office/drawing/2014/main" id="{8575C843-6551-B009-1C6D-4DC46FDC6E63}"/>
                </a:ext>
              </a:extLst>
            </p:cNvPr>
            <p:cNvSpPr/>
            <p:nvPr/>
          </p:nvSpPr>
          <p:spPr>
            <a:xfrm>
              <a:off x="7836676" y="2238462"/>
              <a:ext cx="3920852" cy="1161478"/>
            </a:xfrm>
            <a:prstGeom prst="rect">
              <a:avLst/>
            </a:prstGeom>
            <a:noFill/>
            <a:ln w="19050">
              <a:solidFill>
                <a:schemeClr val="tx2">
                  <a:lumMod val="40000"/>
                  <a:lumOff val="6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等线" panose="02010600030101010101" charset="-122"/>
                <a:ea typeface="等线" panose="02010600030101010101" charset="-122"/>
                <a:cs typeface="+mn-cs"/>
              </a:endParaRPr>
            </a:p>
          </p:txBody>
        </p:sp>
        <p:sp>
          <p:nvSpPr>
            <p:cNvPr id="17" name="文本框 16">
              <a:extLst>
                <a:ext uri="{FF2B5EF4-FFF2-40B4-BE49-F238E27FC236}">
                  <a16:creationId xmlns:a16="http://schemas.microsoft.com/office/drawing/2014/main" id="{C7027DC4-9ED8-EDE4-0429-0763F3D65669}"/>
                </a:ext>
              </a:extLst>
            </p:cNvPr>
            <p:cNvSpPr txBox="1"/>
            <p:nvPr/>
          </p:nvSpPr>
          <p:spPr>
            <a:xfrm>
              <a:off x="8109461" y="2753874"/>
              <a:ext cx="3481604" cy="710194"/>
            </a:xfrm>
            <a:prstGeom prst="rect">
              <a:avLst/>
            </a:prstGeom>
            <a:noFill/>
          </p:spPr>
          <p:txBody>
            <a:bodyPr wrap="square" rtlCol="0">
              <a:spAutoFit/>
            </a:bodyPr>
            <a:lstStyle/>
            <a:p>
              <a:pPr marL="0" marR="0" lvl="0" indent="0" algn="ctr" defTabSz="914400" rtl="0" eaLnBrk="1" fontAlgn="auto" latinLnBrk="0" hangingPunct="1">
                <a:lnSpc>
                  <a:spcPts val="25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rPr>
                <a:t>实现对人物图像特征和服装图像特征</a:t>
              </a:r>
              <a:endParaRPr kumimoji="0" lang="en-US" altLang="zh-CN" sz="1600" b="0"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endParaRPr>
            </a:p>
            <a:p>
              <a:pPr marL="0" marR="0" lvl="0" indent="0" algn="ctr" defTabSz="914400" rtl="0" eaLnBrk="1" fontAlgn="auto" latinLnBrk="0" hangingPunct="1">
                <a:lnSpc>
                  <a:spcPts val="25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rPr>
                <a:t>映射的提取</a:t>
              </a:r>
            </a:p>
          </p:txBody>
        </p:sp>
        <p:sp>
          <p:nvSpPr>
            <p:cNvPr id="18" name="文本框 17">
              <a:extLst>
                <a:ext uri="{FF2B5EF4-FFF2-40B4-BE49-F238E27FC236}">
                  <a16:creationId xmlns:a16="http://schemas.microsoft.com/office/drawing/2014/main" id="{6DA40839-8D35-32B6-7DAF-E405ECA84166}"/>
                </a:ext>
              </a:extLst>
            </p:cNvPr>
            <p:cNvSpPr txBox="1"/>
            <p:nvPr/>
          </p:nvSpPr>
          <p:spPr>
            <a:xfrm>
              <a:off x="7910558" y="2332387"/>
              <a:ext cx="3846970" cy="36924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rgbClr val="002060"/>
                  </a:solidFill>
                  <a:effectLst/>
                  <a:uLnTx/>
                  <a:uFillTx/>
                  <a:latin typeface="Arial" panose="020B0604020202020204" pitchFamily="34" charset="0"/>
                  <a:ea typeface="方正粗黑宋简体" panose="02000000000000000000" charset="-122"/>
                  <a:cs typeface="Arial" panose="020B0604020202020204" pitchFamily="34" charset="0"/>
                </a:rPr>
                <a:t>MobileNetV3-Large</a:t>
              </a: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rPr>
                <a:t>特征提取模块</a:t>
              </a:r>
            </a:p>
          </p:txBody>
        </p:sp>
      </p:grpSp>
      <p:grpSp>
        <p:nvGrpSpPr>
          <p:cNvPr id="19" name="组合 18">
            <a:extLst>
              <a:ext uri="{FF2B5EF4-FFF2-40B4-BE49-F238E27FC236}">
                <a16:creationId xmlns:a16="http://schemas.microsoft.com/office/drawing/2014/main" id="{FA6F8D46-6D86-0D9E-43F9-9094159AEFA5}"/>
              </a:ext>
            </a:extLst>
          </p:cNvPr>
          <p:cNvGrpSpPr/>
          <p:nvPr/>
        </p:nvGrpSpPr>
        <p:grpSpPr>
          <a:xfrm>
            <a:off x="10481056" y="1300537"/>
            <a:ext cx="1632862" cy="2012096"/>
            <a:chOff x="7844043" y="5156287"/>
            <a:chExt cx="3920853" cy="1162800"/>
          </a:xfrm>
        </p:grpSpPr>
        <p:sp>
          <p:nvSpPr>
            <p:cNvPr id="20" name="矩形 19">
              <a:extLst>
                <a:ext uri="{FF2B5EF4-FFF2-40B4-BE49-F238E27FC236}">
                  <a16:creationId xmlns:a16="http://schemas.microsoft.com/office/drawing/2014/main" id="{C81A2DA6-BF59-437D-E632-DBCCED623F89}"/>
                </a:ext>
              </a:extLst>
            </p:cNvPr>
            <p:cNvSpPr/>
            <p:nvPr/>
          </p:nvSpPr>
          <p:spPr>
            <a:xfrm>
              <a:off x="7844043" y="5156287"/>
              <a:ext cx="3920852" cy="1162800"/>
            </a:xfrm>
            <a:prstGeom prst="rect">
              <a:avLst/>
            </a:prstGeom>
            <a:noFill/>
            <a:ln w="19050">
              <a:solidFill>
                <a:schemeClr val="tx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等线" panose="02010600030101010101" charset="-122"/>
                <a:ea typeface="等线" panose="02010600030101010101" charset="-122"/>
                <a:cs typeface="+mn-cs"/>
              </a:endParaRPr>
            </a:p>
          </p:txBody>
        </p:sp>
        <p:sp>
          <p:nvSpPr>
            <p:cNvPr id="21" name="文本框 20">
              <a:extLst>
                <a:ext uri="{FF2B5EF4-FFF2-40B4-BE49-F238E27FC236}">
                  <a16:creationId xmlns:a16="http://schemas.microsoft.com/office/drawing/2014/main" id="{0479D251-417A-7940-4EF0-03900B7E98D5}"/>
                </a:ext>
              </a:extLst>
            </p:cNvPr>
            <p:cNvSpPr txBox="1"/>
            <p:nvPr/>
          </p:nvSpPr>
          <p:spPr>
            <a:xfrm>
              <a:off x="8276219" y="5263359"/>
              <a:ext cx="3056500" cy="3735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rPr>
                <a:t>试穿图像生成模块</a:t>
              </a:r>
            </a:p>
          </p:txBody>
        </p:sp>
        <p:sp>
          <p:nvSpPr>
            <p:cNvPr id="22" name="文本框 21">
              <a:extLst>
                <a:ext uri="{FF2B5EF4-FFF2-40B4-BE49-F238E27FC236}">
                  <a16:creationId xmlns:a16="http://schemas.microsoft.com/office/drawing/2014/main" id="{C0BC2E38-3CA6-35DD-88E8-3CCC7F4BCD7D}"/>
                </a:ext>
              </a:extLst>
            </p:cNvPr>
            <p:cNvSpPr txBox="1"/>
            <p:nvPr/>
          </p:nvSpPr>
          <p:spPr>
            <a:xfrm>
              <a:off x="7917927" y="5666391"/>
              <a:ext cx="3846969" cy="418094"/>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rPr>
                <a:t>实现目标试衣图像的合成</a:t>
              </a:r>
            </a:p>
          </p:txBody>
        </p:sp>
      </p:grpSp>
      <p:grpSp>
        <p:nvGrpSpPr>
          <p:cNvPr id="23" name="组合 22">
            <a:extLst>
              <a:ext uri="{FF2B5EF4-FFF2-40B4-BE49-F238E27FC236}">
                <a16:creationId xmlns:a16="http://schemas.microsoft.com/office/drawing/2014/main" id="{E7530BF1-EF33-2080-7BA5-EBBD0CB35EFC}"/>
              </a:ext>
            </a:extLst>
          </p:cNvPr>
          <p:cNvGrpSpPr/>
          <p:nvPr/>
        </p:nvGrpSpPr>
        <p:grpSpPr>
          <a:xfrm>
            <a:off x="6760684" y="1300537"/>
            <a:ext cx="3691957" cy="2012095"/>
            <a:chOff x="7836673" y="3684109"/>
            <a:chExt cx="3988883" cy="1162800"/>
          </a:xfrm>
        </p:grpSpPr>
        <p:sp>
          <p:nvSpPr>
            <p:cNvPr id="24" name="矩形 23">
              <a:extLst>
                <a:ext uri="{FF2B5EF4-FFF2-40B4-BE49-F238E27FC236}">
                  <a16:creationId xmlns:a16="http://schemas.microsoft.com/office/drawing/2014/main" id="{59AB5C03-7E45-1281-E676-ECAC9AEBA26A}"/>
                </a:ext>
              </a:extLst>
            </p:cNvPr>
            <p:cNvSpPr/>
            <p:nvPr/>
          </p:nvSpPr>
          <p:spPr>
            <a:xfrm>
              <a:off x="7836673" y="3684109"/>
              <a:ext cx="3935593" cy="1162800"/>
            </a:xfrm>
            <a:prstGeom prst="rect">
              <a:avLst/>
            </a:prstGeom>
            <a:noFill/>
            <a:ln w="19050">
              <a:solidFill>
                <a:schemeClr val="tx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等线" panose="02010600030101010101" charset="-122"/>
                <a:ea typeface="等线" panose="02010600030101010101" charset="-122"/>
                <a:cs typeface="+mn-cs"/>
              </a:endParaRPr>
            </a:p>
          </p:txBody>
        </p:sp>
        <p:sp>
          <p:nvSpPr>
            <p:cNvPr id="25" name="文本框 24">
              <a:extLst>
                <a:ext uri="{FF2B5EF4-FFF2-40B4-BE49-F238E27FC236}">
                  <a16:creationId xmlns:a16="http://schemas.microsoft.com/office/drawing/2014/main" id="{65A8ADA9-15C2-897F-6427-669FDDAF3EA4}"/>
                </a:ext>
              </a:extLst>
            </p:cNvPr>
            <p:cNvSpPr txBox="1"/>
            <p:nvPr/>
          </p:nvSpPr>
          <p:spPr>
            <a:xfrm>
              <a:off x="7911254" y="4217189"/>
              <a:ext cx="3840668" cy="403815"/>
            </a:xfrm>
            <a:prstGeom prst="rect">
              <a:avLst/>
            </a:prstGeom>
            <a:noFill/>
          </p:spPr>
          <p:txBody>
            <a:bodyPr wrap="square" rtlCol="0">
              <a:spAutoFit/>
            </a:bodyPr>
            <a:lstStyle/>
            <a:p>
              <a:pPr marL="0" marR="0" lvl="0" indent="0" algn="ctr" defTabSz="914400" rtl="0" eaLnBrk="1" fontAlgn="auto" latinLnBrk="0" hangingPunct="1">
                <a:lnSpc>
                  <a:spcPts val="25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rPr>
                <a:t>实现服装图到目标图的外观流预测</a:t>
              </a:r>
              <a:endParaRPr kumimoji="0" lang="en-US" altLang="zh-CN" sz="1600" b="0"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endParaRPr>
            </a:p>
            <a:p>
              <a:pPr marL="0" marR="0" lvl="0" indent="0" algn="ctr" defTabSz="914400" rtl="0" eaLnBrk="1" fontAlgn="auto" latinLnBrk="0" hangingPunct="1">
                <a:lnSpc>
                  <a:spcPts val="25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rPr>
                <a:t>以及服装图像的翘曲变形</a:t>
              </a:r>
            </a:p>
          </p:txBody>
        </p:sp>
        <p:sp>
          <p:nvSpPr>
            <p:cNvPr id="26" name="文本框 25">
              <a:extLst>
                <a:ext uri="{FF2B5EF4-FFF2-40B4-BE49-F238E27FC236}">
                  <a16:creationId xmlns:a16="http://schemas.microsoft.com/office/drawing/2014/main" id="{7FE8491F-5188-3B74-F76B-40EF945F4A73}"/>
                </a:ext>
              </a:extLst>
            </p:cNvPr>
            <p:cNvSpPr txBox="1"/>
            <p:nvPr/>
          </p:nvSpPr>
          <p:spPr>
            <a:xfrm>
              <a:off x="7875221" y="3817727"/>
              <a:ext cx="3950335"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002060"/>
                  </a:solidFill>
                  <a:effectLst/>
                  <a:uLnTx/>
                  <a:uFillTx/>
                  <a:latin typeface="微软雅黑" panose="020B0503020204020204" pitchFamily="34" charset="-122"/>
                  <a:ea typeface="方正粗黑宋简体" panose="02000000000000000000" charset="-122"/>
                </a:rPr>
                <a:t>基于风格的全局外观流翘曲模块</a:t>
              </a:r>
            </a:p>
          </p:txBody>
        </p:sp>
      </p:grpSp>
      <p:sp>
        <p:nvSpPr>
          <p:cNvPr id="28" name="文本框 27">
            <a:extLst>
              <a:ext uri="{FF2B5EF4-FFF2-40B4-BE49-F238E27FC236}">
                <a16:creationId xmlns:a16="http://schemas.microsoft.com/office/drawing/2014/main" id="{C46AEBBA-9BEB-BE65-E0B3-1E4C20BEF435}"/>
              </a:ext>
            </a:extLst>
          </p:cNvPr>
          <p:cNvSpPr txBox="1"/>
          <p:nvPr/>
        </p:nvSpPr>
        <p:spPr>
          <a:xfrm>
            <a:off x="4415946" y="641091"/>
            <a:ext cx="7806439" cy="923330"/>
          </a:xfrm>
          <a:prstGeom prst="rect">
            <a:avLst/>
          </a:prstGeom>
          <a:noFill/>
        </p:spPr>
        <p:txBody>
          <a:bodyPr wrap="square">
            <a:spAutoFit/>
          </a:bodyPr>
          <a:lstStyle/>
          <a:p>
            <a:pPr>
              <a:buSzPct val="80000"/>
              <a:defRPr/>
            </a:pPr>
            <a:r>
              <a:rPr kumimoji="0" lang="zh-CN" altLang="en-US" sz="1800" b="1" i="0" u="none" strike="noStrike" kern="1200" cap="none" spc="0" normalizeH="0" baseline="0" noProof="0" dirty="0">
                <a:ln>
                  <a:noFill/>
                </a:ln>
                <a:solidFill>
                  <a:srgbClr val="002060"/>
                </a:solidFill>
                <a:effectLst/>
                <a:uLnTx/>
                <a:uFillTx/>
                <a:latin typeface="等线" panose="02010600030101010101" charset="-122"/>
                <a:ea typeface="方正粗黑宋简体" panose="02000000000000000000" charset="-122"/>
                <a:cs typeface="+mn-ea"/>
              </a:rPr>
              <a:t>知识蒸馏</a:t>
            </a:r>
            <a:r>
              <a:rPr kumimoji="0" lang="zh-CN" altLang="en-US" sz="1800" b="1" i="0" u="none" strike="noStrike" kern="1200" cap="none" spc="0" normalizeH="0" baseline="0" noProof="0">
                <a:ln>
                  <a:noFill/>
                </a:ln>
                <a:solidFill>
                  <a:srgbClr val="002060"/>
                </a:solidFill>
                <a:effectLst/>
                <a:uLnTx/>
                <a:uFillTx/>
                <a:latin typeface="等线" panose="02010600030101010101" charset="-122"/>
                <a:ea typeface="方正粗黑宋简体" panose="02000000000000000000" charset="-122"/>
                <a:cs typeface="+mn-ea"/>
              </a:rPr>
              <a:t>网络：</a:t>
            </a:r>
            <a:r>
              <a:rPr lang="zh-CN" altLang="en-US">
                <a:solidFill>
                  <a:srgbClr val="002060"/>
                </a:solidFill>
                <a:latin typeface="微软雅黑" panose="020B0503020204020204" pitchFamily="34" charset="-122"/>
                <a:ea typeface="方正粗黑宋简体" panose="02000000000000000000" charset="-122"/>
              </a:rPr>
              <a:t>利用基于人体解析的 </a:t>
            </a:r>
            <a:r>
              <a:rPr lang="en-US" altLang="zh-CN">
                <a:solidFill>
                  <a:srgbClr val="002060"/>
                </a:solidFill>
                <a:latin typeface="微软雅黑" panose="020B0503020204020204" pitchFamily="34" charset="-122"/>
                <a:ea typeface="方正粗黑宋简体" panose="02000000000000000000" charset="-122"/>
              </a:rPr>
              <a:t>Teacher </a:t>
            </a:r>
            <a:r>
              <a:rPr lang="zh-CN" altLang="en-US">
                <a:solidFill>
                  <a:srgbClr val="002060"/>
                </a:solidFill>
                <a:latin typeface="微软雅黑" panose="020B0503020204020204" pitchFamily="34" charset="-122"/>
                <a:ea typeface="方正粗黑宋简体" panose="02000000000000000000" charset="-122"/>
              </a:rPr>
              <a:t>模型生成高质量试衣监督信息，通过生成结果和外观流约束指导无解析 </a:t>
            </a:r>
            <a:r>
              <a:rPr lang="en-US" altLang="zh-CN">
                <a:solidFill>
                  <a:srgbClr val="002060"/>
                </a:solidFill>
                <a:latin typeface="微软雅黑" panose="020B0503020204020204" pitchFamily="34" charset="-122"/>
                <a:ea typeface="方正粗黑宋简体" panose="02000000000000000000" charset="-122"/>
              </a:rPr>
              <a:t>Student </a:t>
            </a:r>
            <a:r>
              <a:rPr lang="zh-CN" altLang="en-US">
                <a:solidFill>
                  <a:srgbClr val="002060"/>
                </a:solidFill>
                <a:latin typeface="微软雅黑" panose="020B0503020204020204" pitchFamily="34" charset="-122"/>
                <a:ea typeface="方正粗黑宋简体" panose="02000000000000000000" charset="-122"/>
              </a:rPr>
              <a:t>模型学习服装对齐能力</a:t>
            </a:r>
            <a:endParaRPr lang="zh-CN" altLang="en-US" dirty="0">
              <a:solidFill>
                <a:srgbClr val="002060"/>
              </a:solidFill>
              <a:latin typeface="微软雅黑" panose="020B0503020204020204" pitchFamily="34" charset="-122"/>
              <a:ea typeface="方正粗黑宋简体" panose="02000000000000000000" charset="-122"/>
            </a:endParaRPr>
          </a:p>
          <a:p>
            <a:pPr marL="0" marR="0" lvl="0" indent="0" algn="l" defTabSz="914400" rtl="0" eaLnBrk="1" fontAlgn="auto" latinLnBrk="0" hangingPunct="1">
              <a:lnSpc>
                <a:spcPct val="100000"/>
              </a:lnSpc>
              <a:spcBef>
                <a:spcPts val="0"/>
              </a:spcBef>
              <a:spcAft>
                <a:spcPts val="0"/>
              </a:spcAft>
              <a:buClrTx/>
              <a:buSzPct val="80000"/>
              <a:buFontTx/>
              <a:buNone/>
              <a:defRPr/>
            </a:pPr>
            <a:endParaRPr kumimoji="0" lang="zh-CN" altLang="en-US" sz="1800" b="1" i="0" u="none" strike="noStrike" kern="1200" cap="none" spc="0" normalizeH="0" baseline="0" noProof="0" dirty="0">
              <a:ln>
                <a:noFill/>
              </a:ln>
              <a:solidFill>
                <a:srgbClr val="002060"/>
              </a:solidFill>
              <a:effectLst/>
              <a:uLnTx/>
              <a:uFillTx/>
              <a:latin typeface="等线" panose="02010600030101010101" charset="-122"/>
              <a:ea typeface="方正粗黑宋简体" panose="02000000000000000000" charset="-122"/>
              <a:cs typeface="+mn-ea"/>
            </a:endParaRPr>
          </a:p>
        </p:txBody>
      </p:sp>
      <p:pic>
        <p:nvPicPr>
          <p:cNvPr id="6" name="图片 5">
            <a:extLst>
              <a:ext uri="{FF2B5EF4-FFF2-40B4-BE49-F238E27FC236}">
                <a16:creationId xmlns:a16="http://schemas.microsoft.com/office/drawing/2014/main" id="{0768E4EA-B159-93AE-B5B9-3036F59B9A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93397" y="826542"/>
            <a:ext cx="4294134" cy="2611204"/>
          </a:xfrm>
          <a:prstGeom prst="rect">
            <a:avLst/>
          </a:prstGeom>
          <a:noFill/>
          <a:ln>
            <a:noFill/>
          </a:ln>
        </p:spPr>
      </p:pic>
      <p:sp>
        <p:nvSpPr>
          <p:cNvPr id="2" name="灯片编号占位符 1">
            <a:extLst>
              <a:ext uri="{FF2B5EF4-FFF2-40B4-BE49-F238E27FC236}">
                <a16:creationId xmlns:a16="http://schemas.microsoft.com/office/drawing/2014/main" id="{5608C11A-A40A-B89E-12C8-43414FC7B85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2B6538A-33AE-45EB-868C-14B9E34ED961}"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宋体" panose="02010600030101010101" pitchFamily="2" charset="-122"/>
                <a:cs typeface="+mn-cs"/>
              </a:rPr>
              <a:t>21</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4022640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4">
            <a:extLst>
              <a:ext uri="{FF2B5EF4-FFF2-40B4-BE49-F238E27FC236}">
                <a16:creationId xmlns:a16="http://schemas.microsoft.com/office/drawing/2014/main" id="{EE57ED42-A05B-B3D8-C8DF-55179F04D9D7}"/>
              </a:ext>
            </a:extLst>
          </p:cNvPr>
          <p:cNvSpPr txBox="1">
            <a:spLocks/>
          </p:cNvSpPr>
          <p:nvPr/>
        </p:nvSpPr>
        <p:spPr>
          <a:xfrm>
            <a:off x="32431" y="125031"/>
            <a:ext cx="6797282" cy="45561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20000"/>
              </a:lnSpc>
            </a:pPr>
            <a:r>
              <a:rPr lang="zh-CN" altLang="en-US" sz="2000">
                <a:solidFill>
                  <a:srgbClr val="E7E6E6">
                    <a:lumMod val="25000"/>
                  </a:srgbClr>
                </a:solidFill>
                <a:latin typeface="微软雅黑" panose="020B0503020204020204" pitchFamily="34" charset="-122"/>
                <a:ea typeface="微软雅黑" panose="020B0503020204020204" pitchFamily="34" charset="-122"/>
                <a:sym typeface="+mn-lt"/>
              </a:rPr>
              <a:t>竞赛</a:t>
            </a:r>
            <a:r>
              <a:rPr lang="zh-CN" altLang="en-US" sz="2000">
                <a:solidFill>
                  <a:srgbClr val="E7E6E6">
                    <a:lumMod val="25000"/>
                  </a:srgbClr>
                </a:solidFill>
                <a:latin typeface="微软雅黑" panose="020B0503020204020204" pitchFamily="34" charset="-122"/>
                <a:ea typeface="微软雅黑" panose="020B0503020204020204" pitchFamily="34" charset="-122"/>
                <a:cs typeface="+mn-cs"/>
                <a:sym typeface="+mn-lt"/>
              </a:rPr>
              <a:t>项目经历 </a:t>
            </a:r>
            <a:r>
              <a:rPr lang="en-US" altLang="zh-CN" sz="2000">
                <a:solidFill>
                  <a:srgbClr val="E7E6E6">
                    <a:lumMod val="25000"/>
                  </a:srgbClr>
                </a:solidFill>
                <a:latin typeface="微软雅黑" panose="020B0503020204020204" pitchFamily="34" charset="-122"/>
                <a:ea typeface="微软雅黑" panose="020B0503020204020204" pitchFamily="34" charset="-122"/>
                <a:cs typeface="+mn-cs"/>
                <a:sym typeface="+mn-lt"/>
              </a:rPr>
              <a:t>| </a:t>
            </a:r>
            <a:r>
              <a:rPr lang="zh-CN" altLang="en-US" sz="2000">
                <a:solidFill>
                  <a:srgbClr val="E7E6E6">
                    <a:lumMod val="25000"/>
                  </a:srgbClr>
                </a:solidFill>
                <a:latin typeface="微软雅黑" panose="020B0503020204020204" pitchFamily="34" charset="-122"/>
                <a:ea typeface="微软雅黑" panose="020B0503020204020204" pitchFamily="34" charset="-122"/>
                <a:cs typeface="+mn-cs"/>
                <a:sym typeface="+mn-lt"/>
              </a:rPr>
              <a:t>美国大学生数学建模比赛</a:t>
            </a:r>
            <a:endParaRPr lang="zh-CN" altLang="en-US" sz="2000" dirty="0">
              <a:solidFill>
                <a:srgbClr val="E7E6E6">
                  <a:lumMod val="25000"/>
                </a:srgbClr>
              </a:solidFill>
              <a:latin typeface="微软雅黑" panose="020B0503020204020204" pitchFamily="34" charset="-122"/>
              <a:ea typeface="微软雅黑" panose="020B0503020204020204" pitchFamily="34" charset="-122"/>
              <a:cs typeface="+mn-cs"/>
              <a:sym typeface="+mn-lt"/>
            </a:endParaRPr>
          </a:p>
        </p:txBody>
      </p:sp>
      <p:sp>
        <p:nvSpPr>
          <p:cNvPr id="22" name="矩形 21">
            <a:extLst>
              <a:ext uri="{FF2B5EF4-FFF2-40B4-BE49-F238E27FC236}">
                <a16:creationId xmlns:a16="http://schemas.microsoft.com/office/drawing/2014/main" id="{50D8773F-FB86-B9E4-2F4B-B4E0B47BD57C}"/>
              </a:ext>
            </a:extLst>
          </p:cNvPr>
          <p:cNvSpPr/>
          <p:nvPr/>
        </p:nvSpPr>
        <p:spPr>
          <a:xfrm>
            <a:off x="1177268" y="5474549"/>
            <a:ext cx="3218180" cy="429028"/>
          </a:xfrm>
          <a:prstGeom prst="rect">
            <a:avLst/>
          </a:prstGeom>
        </p:spPr>
        <p:txBody>
          <a:bodyPr wrap="square">
            <a:spAutoFit/>
          </a:bodyPr>
          <a:lstStyle/>
          <a:p>
            <a:pPr defTabSz="609600">
              <a:lnSpc>
                <a:spcPct val="130000"/>
              </a:lnSpc>
            </a:pPr>
            <a:r>
              <a:rPr lang="zh-CN" altLang="en-US" dirty="0">
                <a:solidFill>
                  <a:schemeClr val="bg1"/>
                </a:solidFill>
                <a:latin typeface="方正粗黑宋简体" panose="02000000000000000000" pitchFamily="2" charset="-122"/>
                <a:ea typeface="方正粗黑宋简体" panose="02000000000000000000" pitchFamily="2" charset="-122"/>
              </a:rPr>
              <a:t>实习、就业</a:t>
            </a:r>
          </a:p>
        </p:txBody>
      </p:sp>
      <p:sp>
        <p:nvSpPr>
          <p:cNvPr id="23" name="文本框 22">
            <a:extLst>
              <a:ext uri="{FF2B5EF4-FFF2-40B4-BE49-F238E27FC236}">
                <a16:creationId xmlns:a16="http://schemas.microsoft.com/office/drawing/2014/main" id="{47AD219D-E634-DF6F-CD1E-554563F57223}"/>
              </a:ext>
            </a:extLst>
          </p:cNvPr>
          <p:cNvSpPr txBox="1"/>
          <p:nvPr/>
        </p:nvSpPr>
        <p:spPr>
          <a:xfrm>
            <a:off x="582986" y="1043447"/>
            <a:ext cx="583814" cy="923330"/>
          </a:xfrm>
          <a:prstGeom prst="rect">
            <a:avLst/>
          </a:prstGeom>
          <a:noFill/>
        </p:spPr>
        <p:txBody>
          <a:bodyPr wrap="none" rtlCol="0">
            <a:spAutoFit/>
          </a:bodyPr>
          <a:lstStyle/>
          <a:p>
            <a:r>
              <a:rPr lang="en-US" altLang="zh-CN" sz="5400" b="1" dirty="0">
                <a:solidFill>
                  <a:schemeClr val="bg1"/>
                </a:solidFill>
                <a:ea typeface="方正粗黑宋简体" panose="02000000000000000000" pitchFamily="2" charset="-122"/>
              </a:rPr>
              <a:t>1</a:t>
            </a:r>
            <a:endParaRPr lang="zh-CN" altLang="en-US" sz="5400" b="1" dirty="0">
              <a:solidFill>
                <a:schemeClr val="bg1"/>
              </a:solidFill>
              <a:ea typeface="方正粗黑宋简体" panose="02000000000000000000" pitchFamily="2" charset="-122"/>
            </a:endParaRPr>
          </a:p>
        </p:txBody>
      </p:sp>
      <p:grpSp>
        <p:nvGrpSpPr>
          <p:cNvPr id="24" name="组合 23">
            <a:extLst>
              <a:ext uri="{FF2B5EF4-FFF2-40B4-BE49-F238E27FC236}">
                <a16:creationId xmlns:a16="http://schemas.microsoft.com/office/drawing/2014/main" id="{15A373E7-F4EC-19CB-97B4-5BB46195F68B}"/>
              </a:ext>
            </a:extLst>
          </p:cNvPr>
          <p:cNvGrpSpPr/>
          <p:nvPr/>
        </p:nvGrpSpPr>
        <p:grpSpPr>
          <a:xfrm>
            <a:off x="6253112" y="962759"/>
            <a:ext cx="5631418" cy="2237219"/>
            <a:chOff x="407387" y="1509340"/>
            <a:chExt cx="4313069" cy="974186"/>
          </a:xfrm>
        </p:grpSpPr>
        <p:sp>
          <p:nvSpPr>
            <p:cNvPr id="25" name="文本框 24">
              <a:extLst>
                <a:ext uri="{FF2B5EF4-FFF2-40B4-BE49-F238E27FC236}">
                  <a16:creationId xmlns:a16="http://schemas.microsoft.com/office/drawing/2014/main" id="{0D3DBE7A-20D3-FEDC-C836-A23C8FF0B44D}"/>
                </a:ext>
              </a:extLst>
            </p:cNvPr>
            <p:cNvSpPr txBox="1"/>
            <p:nvPr/>
          </p:nvSpPr>
          <p:spPr>
            <a:xfrm>
              <a:off x="467004" y="1509340"/>
              <a:ext cx="4253452" cy="235652"/>
            </a:xfrm>
            <a:prstGeom prst="rect">
              <a:avLst/>
            </a:prstGeom>
            <a:noFill/>
            <a:ln>
              <a:noFill/>
            </a:ln>
          </p:spPr>
          <p:txBody>
            <a:bodyPr wrap="square" rtlCol="0">
              <a:spAutoFit/>
            </a:bodyPr>
            <a:lstStyle>
              <a:defPPr>
                <a:defRPr lang="zh-CN"/>
              </a:defPPr>
              <a:lvl1pPr algn="just">
                <a:lnSpc>
                  <a:spcPct val="130000"/>
                </a:lnSpc>
                <a:defRPr sz="1600" b="1" spc="120">
                  <a:solidFill>
                    <a:schemeClr val="bg1"/>
                  </a:solidFill>
                  <a:latin typeface="思源黑体 CN Light" panose="020B0300000000000000" pitchFamily="34" charset="-122"/>
                  <a:ea typeface="思源黑体 CN Light" panose="020B0300000000000000" pitchFamily="34" charset="-122"/>
                </a:defRPr>
              </a:lvl1pPr>
            </a:lstStyle>
            <a:p>
              <a:pPr algn="ctr"/>
              <a:r>
                <a:rPr lang="zh-CN" altLang="en-US" sz="2400" dirty="0">
                  <a:solidFill>
                    <a:srgbClr val="3D4762"/>
                  </a:solidFill>
                  <a:latin typeface="方正粗黑宋简体" panose="02000000000000000000" pitchFamily="2" charset="-122"/>
                  <a:ea typeface="方正粗黑宋简体" panose="02000000000000000000" pitchFamily="2" charset="-122"/>
                  <a:sym typeface="+mn-ea"/>
                </a:rPr>
                <a:t>工作介绍</a:t>
              </a:r>
              <a:endParaRPr lang="zh-CN" altLang="en-US" sz="2400" dirty="0">
                <a:solidFill>
                  <a:srgbClr val="3D4762"/>
                </a:solidFill>
                <a:latin typeface="方正粗黑宋简体" panose="02000000000000000000" pitchFamily="2" charset="-122"/>
                <a:ea typeface="方正粗黑宋简体" panose="02000000000000000000" pitchFamily="2" charset="-122"/>
              </a:endParaRPr>
            </a:p>
          </p:txBody>
        </p:sp>
        <p:sp>
          <p:nvSpPr>
            <p:cNvPr id="26" name="文本框 25">
              <a:extLst>
                <a:ext uri="{FF2B5EF4-FFF2-40B4-BE49-F238E27FC236}">
                  <a16:creationId xmlns:a16="http://schemas.microsoft.com/office/drawing/2014/main" id="{ECAF6FAD-0CFD-BAEC-B56F-B682EDD16DE3}"/>
                </a:ext>
              </a:extLst>
            </p:cNvPr>
            <p:cNvSpPr txBox="1"/>
            <p:nvPr/>
          </p:nvSpPr>
          <p:spPr>
            <a:xfrm>
              <a:off x="407387" y="1739716"/>
              <a:ext cx="4313069" cy="743810"/>
            </a:xfrm>
            <a:prstGeom prst="rect">
              <a:avLst/>
            </a:prstGeom>
            <a:noFill/>
            <a:ln>
              <a:noFill/>
            </a:ln>
          </p:spPr>
          <p:txBody>
            <a:bodyPr wrap="square" rtlCol="0">
              <a:spAutoFit/>
            </a:bodyPr>
            <a:lstStyle/>
            <a:p>
              <a:pPr lvl="0" algn="just">
                <a:lnSpc>
                  <a:spcPts val="2100"/>
                </a:lnSpc>
                <a:spcBef>
                  <a:spcPts val="240"/>
                </a:spcBef>
                <a:spcAft>
                  <a:spcPts val="240"/>
                </a:spcAft>
              </a:pPr>
              <a:r>
                <a:rPr lang="zh-CN" altLang="zh-CN" spc="120" dirty="0">
                  <a:solidFill>
                    <a:srgbClr val="3D4762"/>
                  </a:solidFill>
                  <a:latin typeface="方正粗黑宋简体" panose="02000000000000000000" pitchFamily="2" charset="-122"/>
                  <a:ea typeface="方正粗黑宋简体" panose="02000000000000000000" pitchFamily="2" charset="-122"/>
                </a:rPr>
                <a:t>本</a:t>
              </a:r>
              <a:r>
                <a:rPr lang="zh-CN" altLang="en-US" spc="120" dirty="0">
                  <a:solidFill>
                    <a:srgbClr val="3D4762"/>
                  </a:solidFill>
                  <a:latin typeface="方正粗黑宋简体" panose="02000000000000000000" pitchFamily="2" charset="-122"/>
                  <a:ea typeface="方正粗黑宋简体" panose="02000000000000000000" pitchFamily="2" charset="-122"/>
                </a:rPr>
                <a:t>次比赛</a:t>
              </a:r>
              <a:r>
                <a:rPr lang="zh-CN" altLang="zh-CN" spc="120" dirty="0">
                  <a:solidFill>
                    <a:srgbClr val="3D4762"/>
                  </a:solidFill>
                  <a:latin typeface="方正粗黑宋简体" panose="02000000000000000000" pitchFamily="2" charset="-122"/>
                  <a:ea typeface="方正粗黑宋简体" panose="02000000000000000000" pitchFamily="2" charset="-122"/>
                </a:rPr>
                <a:t>主要</a:t>
              </a:r>
              <a:r>
                <a:rPr lang="zh-CN" altLang="en-US" spc="120" dirty="0">
                  <a:solidFill>
                    <a:srgbClr val="3D4762"/>
                  </a:solidFill>
                  <a:latin typeface="方正粗黑宋简体" panose="02000000000000000000" pitchFamily="2" charset="-122"/>
                  <a:ea typeface="方正粗黑宋简体" panose="02000000000000000000" pitchFamily="2" charset="-122"/>
                </a:rPr>
                <a:t>解决</a:t>
              </a:r>
              <a:r>
                <a:rPr lang="en-US" altLang="zh-CN" spc="120" dirty="0">
                  <a:solidFill>
                    <a:srgbClr val="3D4762"/>
                  </a:solidFill>
                  <a:latin typeface="方正粗黑宋简体" panose="02000000000000000000" pitchFamily="2" charset="-122"/>
                  <a:ea typeface="方正粗黑宋简体" panose="02000000000000000000" pitchFamily="2" charset="-122"/>
                </a:rPr>
                <a:t>Wordle</a:t>
              </a:r>
              <a:r>
                <a:rPr lang="zh-CN" altLang="zh-CN" spc="120" dirty="0">
                  <a:solidFill>
                    <a:srgbClr val="3D4762"/>
                  </a:solidFill>
                  <a:latin typeface="方正粗黑宋简体" panose="02000000000000000000" pitchFamily="2" charset="-122"/>
                  <a:ea typeface="方正粗黑宋简体" panose="02000000000000000000" pitchFamily="2" charset="-122"/>
                </a:rPr>
                <a:t>游戏玩家通关次数的比例预测和每日</a:t>
              </a:r>
              <a:r>
                <a:rPr lang="zh-CN" altLang="en-US" spc="120" dirty="0">
                  <a:solidFill>
                    <a:srgbClr val="3D4762"/>
                  </a:solidFill>
                  <a:latin typeface="方正粗黑宋简体" panose="02000000000000000000" pitchFamily="2" charset="-122"/>
                  <a:ea typeface="方正粗黑宋简体" panose="02000000000000000000" pitchFamily="2" charset="-122"/>
                </a:rPr>
                <a:t>答案词汇</a:t>
              </a:r>
              <a:r>
                <a:rPr lang="zh-CN" altLang="zh-CN" spc="120" dirty="0">
                  <a:solidFill>
                    <a:srgbClr val="3D4762"/>
                  </a:solidFill>
                  <a:latin typeface="方正粗黑宋简体" panose="02000000000000000000" pitchFamily="2" charset="-122"/>
                  <a:ea typeface="方正粗黑宋简体" panose="02000000000000000000" pitchFamily="2" charset="-122"/>
                </a:rPr>
                <a:t>难度评级</a:t>
              </a:r>
              <a:r>
                <a:rPr lang="zh-CN" altLang="en-US" spc="120" dirty="0">
                  <a:solidFill>
                    <a:srgbClr val="3D4762"/>
                  </a:solidFill>
                  <a:latin typeface="方正粗黑宋简体" panose="02000000000000000000" pitchFamily="2" charset="-122"/>
                  <a:ea typeface="方正粗黑宋简体" panose="02000000000000000000" pitchFamily="2" charset="-122"/>
                </a:rPr>
                <a:t>的问题，解题思路是构建评价单词的指标，对所确定的四种单词属性（词频、词性、单词相似度、元音特征）进行编码，确定输入向量的格式，并使用</a:t>
              </a:r>
              <a:r>
                <a:rPr lang="en-US" altLang="zh-CN" spc="120" dirty="0">
                  <a:solidFill>
                    <a:srgbClr val="C00000"/>
                  </a:solidFill>
                  <a:latin typeface="方正粗黑宋简体" panose="02000000000000000000" pitchFamily="2" charset="-122"/>
                  <a:ea typeface="方正粗黑宋简体" panose="02000000000000000000" pitchFamily="2" charset="-122"/>
                </a:rPr>
                <a:t>ELM</a:t>
              </a:r>
              <a:r>
                <a:rPr lang="zh-CN" altLang="en-US" spc="120" dirty="0">
                  <a:solidFill>
                    <a:srgbClr val="3D4762"/>
                  </a:solidFill>
                  <a:latin typeface="方正粗黑宋简体" panose="02000000000000000000" pitchFamily="2" charset="-122"/>
                  <a:ea typeface="方正粗黑宋简体" panose="02000000000000000000" pitchFamily="2" charset="-122"/>
                </a:rPr>
                <a:t>（极限学习机）算法得到问题的结果。</a:t>
              </a:r>
            </a:p>
          </p:txBody>
        </p:sp>
      </p:grpSp>
      <p:pic>
        <p:nvPicPr>
          <p:cNvPr id="27" name="图片 26">
            <a:extLst>
              <a:ext uri="{FF2B5EF4-FFF2-40B4-BE49-F238E27FC236}">
                <a16:creationId xmlns:a16="http://schemas.microsoft.com/office/drawing/2014/main" id="{E3569C25-B696-7743-A9C7-B55FC5B90C80}"/>
              </a:ext>
            </a:extLst>
          </p:cNvPr>
          <p:cNvPicPr>
            <a:picLocks noChangeAspect="1"/>
          </p:cNvPicPr>
          <p:nvPr/>
        </p:nvPicPr>
        <p:blipFill>
          <a:blip r:embed="rId2"/>
          <a:stretch>
            <a:fillRect/>
          </a:stretch>
        </p:blipFill>
        <p:spPr>
          <a:xfrm>
            <a:off x="357659" y="4107080"/>
            <a:ext cx="5595649" cy="2395619"/>
          </a:xfrm>
          <a:prstGeom prst="rect">
            <a:avLst/>
          </a:prstGeom>
        </p:spPr>
      </p:pic>
      <p:sp>
        <p:nvSpPr>
          <p:cNvPr id="28" name="文本框 27">
            <a:extLst>
              <a:ext uri="{FF2B5EF4-FFF2-40B4-BE49-F238E27FC236}">
                <a16:creationId xmlns:a16="http://schemas.microsoft.com/office/drawing/2014/main" id="{6C6DFB4E-0084-44EF-4209-CB004AEB15FF}"/>
              </a:ext>
            </a:extLst>
          </p:cNvPr>
          <p:cNvSpPr txBox="1"/>
          <p:nvPr/>
        </p:nvSpPr>
        <p:spPr>
          <a:xfrm>
            <a:off x="6096000" y="3406747"/>
            <a:ext cx="486811" cy="2862322"/>
          </a:xfrm>
          <a:prstGeom prst="rect">
            <a:avLst/>
          </a:prstGeom>
          <a:solidFill>
            <a:schemeClr val="accent1">
              <a:lumMod val="20000"/>
              <a:lumOff val="80000"/>
            </a:schemeClr>
          </a:solidFill>
        </p:spPr>
        <p:txBody>
          <a:bodyPr wrap="square" rtlCol="0">
            <a:spAutoFit/>
          </a:bodyPr>
          <a:lstStyle/>
          <a:p>
            <a:r>
              <a:rPr lang="zh-CN" altLang="en-US" b="1" dirty="0">
                <a:latin typeface="华光隶书_CNKI" panose="02000500000000000000" pitchFamily="2" charset="-122"/>
                <a:ea typeface="华光隶书_CNKI" panose="02000500000000000000" pitchFamily="2" charset="-122"/>
              </a:rPr>
              <a:t>绘制的游戏玩法示意图</a:t>
            </a:r>
          </a:p>
        </p:txBody>
      </p:sp>
      <p:pic>
        <p:nvPicPr>
          <p:cNvPr id="29" name="图片 28">
            <a:extLst>
              <a:ext uri="{FF2B5EF4-FFF2-40B4-BE49-F238E27FC236}">
                <a16:creationId xmlns:a16="http://schemas.microsoft.com/office/drawing/2014/main" id="{E2A2F808-306F-561B-A94A-2EF9B8648367}"/>
              </a:ext>
            </a:extLst>
          </p:cNvPr>
          <p:cNvPicPr>
            <a:picLocks noChangeAspect="1"/>
          </p:cNvPicPr>
          <p:nvPr/>
        </p:nvPicPr>
        <p:blipFill>
          <a:blip r:embed="rId3"/>
          <a:stretch>
            <a:fillRect/>
          </a:stretch>
        </p:blipFill>
        <p:spPr>
          <a:xfrm>
            <a:off x="301263" y="1003074"/>
            <a:ext cx="5708443" cy="2879800"/>
          </a:xfrm>
          <a:prstGeom prst="rect">
            <a:avLst/>
          </a:prstGeom>
        </p:spPr>
      </p:pic>
      <p:pic>
        <p:nvPicPr>
          <p:cNvPr id="30" name="图片 29">
            <a:extLst>
              <a:ext uri="{FF2B5EF4-FFF2-40B4-BE49-F238E27FC236}">
                <a16:creationId xmlns:a16="http://schemas.microsoft.com/office/drawing/2014/main" id="{EFBD797F-2B80-C84F-D5A6-FE198DBE4FCC}"/>
              </a:ext>
            </a:extLst>
          </p:cNvPr>
          <p:cNvPicPr>
            <a:picLocks noChangeAspect="1"/>
          </p:cNvPicPr>
          <p:nvPr/>
        </p:nvPicPr>
        <p:blipFill>
          <a:blip r:embed="rId4"/>
          <a:stretch>
            <a:fillRect/>
          </a:stretch>
        </p:blipFill>
        <p:spPr>
          <a:xfrm>
            <a:off x="6637107" y="3429000"/>
            <a:ext cx="5247423" cy="2817817"/>
          </a:xfrm>
          <a:prstGeom prst="rect">
            <a:avLst/>
          </a:prstGeom>
        </p:spPr>
      </p:pic>
    </p:spTree>
    <p:extLst>
      <p:ext uri="{BB962C8B-B14F-4D97-AF65-F5344CB8AC3E}">
        <p14:creationId xmlns:p14="http://schemas.microsoft.com/office/powerpoint/2010/main" val="3487740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62B6538A-33AE-45EB-868C-14B9E34ED961}" type="slidenum">
              <a:rPr lang="zh-CN" altLang="en-US" smtClean="0"/>
              <a:t>23</a:t>
            </a:fld>
            <a:endParaRPr lang="zh-CN" altLang="en-US"/>
          </a:p>
        </p:txBody>
      </p:sp>
      <p:sp>
        <p:nvSpPr>
          <p:cNvPr id="3" name="PA_矩形 7"/>
          <p:cNvSpPr/>
          <p:nvPr>
            <p:custDataLst>
              <p:tags r:id="rId1"/>
            </p:custDataLst>
          </p:nvPr>
        </p:nvSpPr>
        <p:spPr>
          <a:xfrm>
            <a:off x="0" y="3747752"/>
            <a:ext cx="12192000" cy="3110248"/>
          </a:xfrm>
          <a:prstGeom prst="rect">
            <a:avLst/>
          </a:prstGeom>
          <a:solidFill>
            <a:schemeClr val="accent5">
              <a:lumMod val="75000"/>
            </a:schemeClr>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8"/>
          <p:cNvSpPr txBox="1"/>
          <p:nvPr/>
        </p:nvSpPr>
        <p:spPr>
          <a:xfrm>
            <a:off x="2380605" y="1924825"/>
            <a:ext cx="7357766" cy="830997"/>
          </a:xfrm>
          <a:prstGeom prst="rect">
            <a:avLst/>
          </a:prstGeom>
          <a:noFill/>
        </p:spPr>
        <p:txBody>
          <a:bodyPr wrap="square" lIns="0" tIns="0" rIns="0" bIns="0" rtlCol="0" anchor="ctr">
            <a:spAutoFit/>
          </a:bodyPr>
          <a:lstStyle/>
          <a:p>
            <a:pPr algn="ctr"/>
            <a:r>
              <a:rPr lang="zh-CN" altLang="en-US" sz="54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心之所向，行之所至</a:t>
            </a:r>
          </a:p>
        </p:txBody>
      </p:sp>
      <p:sp>
        <p:nvSpPr>
          <p:cNvPr id="6" name="TextBox 8"/>
          <p:cNvSpPr txBox="1"/>
          <p:nvPr/>
        </p:nvSpPr>
        <p:spPr>
          <a:xfrm>
            <a:off x="2380605" y="3747752"/>
            <a:ext cx="7277974" cy="1820370"/>
          </a:xfrm>
          <a:prstGeom prst="rect">
            <a:avLst/>
          </a:prstGeom>
          <a:noFill/>
        </p:spPr>
        <p:txBody>
          <a:bodyPr wrap="square" lIns="0" tIns="0" rIns="0" bIns="0" rtlCol="0" anchor="ctr">
            <a:spAutoFit/>
          </a:bodyPr>
          <a:lstStyle/>
          <a:p>
            <a:pPr algn="ctr">
              <a:lnSpc>
                <a:spcPct val="200000"/>
              </a:lnSpc>
            </a:pPr>
            <a:r>
              <a:rPr lang="zh-CN" altLang="en-US" sz="3200">
                <a:solidFill>
                  <a:schemeClr val="bg1"/>
                </a:solidFill>
                <a:latin typeface="Arial" panose="020B0604020202020204" pitchFamily="34" charset="0"/>
                <a:ea typeface="微软雅黑" panose="020B0503020204020204" pitchFamily="34" charset="-122"/>
                <a:sym typeface="Arial" panose="020B0604020202020204" pitchFamily="34" charset="0"/>
              </a:rPr>
              <a:t>余志椋</a:t>
            </a:r>
            <a:endParaRPr lang="zh-CN" sz="320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lnSpc>
                <a:spcPct val="200000"/>
              </a:lnSpc>
            </a:pPr>
            <a:r>
              <a:rPr lang="zh-CN" altLang="en-US" sz="3200">
                <a:solidFill>
                  <a:schemeClr val="bg1"/>
                </a:solidFill>
                <a:latin typeface="Arial" panose="020B0604020202020204" pitchFamily="34" charset="0"/>
                <a:ea typeface="微软雅黑" panose="020B0503020204020204" pitchFamily="34" charset="-122"/>
                <a:sym typeface="Arial" panose="020B0604020202020204" pitchFamily="34" charset="0"/>
              </a:rPr>
              <a:t>敬请面试官批评指正</a:t>
            </a:r>
            <a:endParaRPr lang="en-US" altLang="zh-CN" sz="32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5" name="图片 4">
            <a:extLst>
              <a:ext uri="{FF2B5EF4-FFF2-40B4-BE49-F238E27FC236}">
                <a16:creationId xmlns:a16="http://schemas.microsoft.com/office/drawing/2014/main" id="{D2E742B9-75AC-063A-2C26-9BB045BD49F0}"/>
              </a:ext>
            </a:extLst>
          </p:cNvPr>
          <p:cNvPicPr>
            <a:picLocks noChangeAspect="1"/>
          </p:cNvPicPr>
          <p:nvPr/>
        </p:nvPicPr>
        <p:blipFill>
          <a:blip r:embed="rId4"/>
          <a:stretch>
            <a:fillRect/>
          </a:stretch>
        </p:blipFill>
        <p:spPr>
          <a:xfrm>
            <a:off x="97277" y="455500"/>
            <a:ext cx="2453629" cy="2938649"/>
          </a:xfrm>
          <a:prstGeom prst="rect">
            <a:avLst/>
          </a:prstGeom>
        </p:spPr>
      </p:pic>
    </p:spTree>
  </p:cSld>
  <p:clrMapOvr>
    <a:masterClrMapping/>
  </p:clrMapOvr>
  <p:transition spd="slow" advTm="7773">
    <p:wipe/>
  </p:transition>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约单色工作汇报PPT模板"/>
  <p:tag name="COMMONDATA" val="eyJoZGlkIjoiMDFmZDUzMDlkNTM0N2ExZDc5M2VhMTliNDFmOWUwNjY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PA" val="v3.0.1"/>
</p:tagLst>
</file>

<file path=ppt/tags/tag9.xml><?xml version="1.0" encoding="utf-8"?>
<p:tagLst xmlns:a="http://schemas.openxmlformats.org/drawingml/2006/main" xmlns:r="http://schemas.openxmlformats.org/officeDocument/2006/relationships" xmlns:p="http://schemas.openxmlformats.org/presentationml/2006/main">
  <p:tag name="MH" val="20170327132119"/>
  <p:tag name="MH_LIBRARY" val="GRAPHIC"/>
  <p:tag name="MH_TYPE" val="SubTitle"/>
  <p:tag name="MH_ORDER" val="1"/>
</p:tagLst>
</file>

<file path=ppt/tags/tag10.xml><?xml version="1.0" encoding="utf-8"?>
<p:tagLst xmlns:a="http://schemas.openxmlformats.org/drawingml/2006/main" xmlns:r="http://schemas.openxmlformats.org/officeDocument/2006/relationships" xmlns:p="http://schemas.openxmlformats.org/presentationml/2006/main">
  <p:tag name="PA" val="v3.0.1"/>
</p:tagLst>
</file>

<file path=ppt/tags/tag1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xml><?xml version="1.0" encoding="utf-8"?>
<p:tagLst xmlns:a="http://schemas.openxmlformats.org/drawingml/2006/main" xmlns:r="http://schemas.openxmlformats.org/officeDocument/2006/relationships" xmlns:p="http://schemas.openxmlformats.org/presentationml/2006/main">
  <p:tag name="PA" val="v3.0.1"/>
</p:tagLst>
</file>

<file path=ppt/tags/tag1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425,&quot;width&quot;:1603}"/>
</p:tagLst>
</file>

<file path=ppt/tags/tag1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94,&quot;width&quot;:1342}"/>
</p:tagLst>
</file>

<file path=ppt/tags/tag1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80,&quot;width&quot;:606}"/>
</p:tagLst>
</file>

<file path=ppt/tags/tag1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451,&quot;width&quot;:1375}"/>
</p:tagLst>
</file>

<file path=ppt/tags/tag1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521,&quot;width&quot;:2446}"/>
</p:tagLst>
</file>

<file path=ppt/tags/tag1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515,&quot;width&quot;:2369}"/>
</p:tagLst>
</file>

<file path=ppt/tags/tag1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520,&quot;width&quot;:2446}"/>
</p:tagLst>
</file>

<file path=ppt/tags/tag2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520,&quot;width&quot;:2446}"/>
</p:tagLst>
</file>

<file path=ppt/tags/tag2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18,&quot;width&quot;:1067}"/>
</p:tagLst>
</file>

<file path=ppt/tags/tag2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18,&quot;width&quot;:911}"/>
</p:tagLst>
</file>

<file path=ppt/tags/tag2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18,&quot;width&quot;:922}"/>
</p:tagLst>
</file>

<file path=ppt/tags/tag2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946,&quot;width&quot;:2616}"/>
</p:tagLst>
</file>

<file path=ppt/tags/tag25.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784,&quot;width&quot;:3240}"/>
</p:tagLst>
</file>

<file path=ppt/tags/tag2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622,&quot;width&quot;:3158}"/>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PA" val="v3.0.1"/>
</p:tagLst>
</file>

<file path=ppt/tags/tag74.xml><?xml version="1.0" encoding="utf-8"?>
<p:tagLst xmlns:a="http://schemas.openxmlformats.org/drawingml/2006/main" xmlns:r="http://schemas.openxmlformats.org/officeDocument/2006/relationships" xmlns:p="http://schemas.openxmlformats.org/presentationml/2006/main">
  <p:tag name="PA" val="v3.0.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12732</TotalTime>
  <Words>3507</Words>
  <Application>Microsoft Office PowerPoint</Application>
  <PresentationFormat>宽屏</PresentationFormat>
  <Paragraphs>688</Paragraphs>
  <Slides>23</Slides>
  <Notes>16</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23</vt:i4>
      </vt:variant>
    </vt:vector>
  </HeadingPairs>
  <TitlesOfParts>
    <vt:vector size="42" baseType="lpstr">
      <vt:lpstr>Noto Sans CJK SC</vt:lpstr>
      <vt:lpstr>等线</vt:lpstr>
      <vt:lpstr>等线 Light</vt:lpstr>
      <vt:lpstr>方正粗黑宋简体</vt:lpstr>
      <vt:lpstr>华光隶书_CNKI</vt:lpstr>
      <vt:lpstr>思源黑体</vt:lpstr>
      <vt:lpstr>Microsoft YaHei</vt:lpstr>
      <vt:lpstr>Microsoft YaHei</vt:lpstr>
      <vt:lpstr>Aptos</vt:lpstr>
      <vt:lpstr>Arial</vt:lpstr>
      <vt:lpstr>Calibri</vt:lpstr>
      <vt:lpstr>Calibri Light</vt:lpstr>
      <vt:lpstr>Calisto MT</vt:lpstr>
      <vt:lpstr>DejaVu Sans Mono</vt:lpstr>
      <vt:lpstr>Impact</vt:lpstr>
      <vt:lpstr>Times New Roman</vt:lpstr>
      <vt:lpstr>Wingdings</vt:lpstr>
      <vt:lpstr>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竞赛项目经历 | 大学生服务外包创新创业大赛  虚拟试衣图像算法</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蓝色简约单色工作汇报PPT模板</dc:title>
  <dc:creator>andy</dc:creator>
  <cp:lastModifiedBy>志椋 余</cp:lastModifiedBy>
  <cp:revision>568</cp:revision>
  <dcterms:created xsi:type="dcterms:W3CDTF">2019-04-09T06:58:00Z</dcterms:created>
  <dcterms:modified xsi:type="dcterms:W3CDTF">2026-10-11T12:14:13Z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320D29C68F7A44C291F0988DD8D5CFD5_12</vt:lpwstr>
  </property>
  <property fmtid="{D5CDD505-2E9C-101B-9397-08002B2CF9AE}" pid="3" name="KSOProductBuildVer">
    <vt:lpwstr>2052-12.1.0.16929</vt:lpwstr>
  </property>
</Properties>
</file>