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415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39" userDrawn="1">
          <p15:clr>
            <a:srgbClr val="A4A3A4"/>
          </p15:clr>
        </p15:guide>
        <p15:guide id="3" orient="horz" pos="1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一凡" initials="张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D2B"/>
    <a:srgbClr val="2348B8"/>
    <a:srgbClr val="FF244E"/>
    <a:srgbClr val="2A3A57"/>
    <a:srgbClr val="FF0049"/>
    <a:srgbClr val="AE0147"/>
    <a:srgbClr val="2C3C59"/>
    <a:srgbClr val="2B3B59"/>
    <a:srgbClr val="283753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91" autoAdjust="0"/>
    <p:restoredTop sz="92649" autoAdjust="0"/>
  </p:normalViewPr>
  <p:slideViewPr>
    <p:cSldViewPr snapToGrid="0" showGuides="1">
      <p:cViewPr varScale="1">
        <p:scale>
          <a:sx n="76" d="100"/>
          <a:sy n="76" d="100"/>
        </p:scale>
        <p:origin x="54" y="1614"/>
      </p:cViewPr>
      <p:guideLst>
        <p:guide pos="3839"/>
        <p:guide orient="horz" pos="19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92D09-6E53-4EE3-94EA-323CDEEA173D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3550C-0EAD-42A3-AC8C-7F87D0B3B9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509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4B914-9BB2-4713-9EBF-61770F406B81}" type="datetime1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4B914-9BB2-4713-9EBF-61770F406B81}" type="datetime1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93634" y="0"/>
            <a:ext cx="714526" cy="1179982"/>
          </a:xfrm>
          <a:prstGeom prst="rect">
            <a:avLst/>
          </a:prstGeom>
          <a:solidFill>
            <a:srgbClr val="444D57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标题 1"/>
          <p:cNvSpPr>
            <a:spLocks noGrp="1"/>
          </p:cNvSpPr>
          <p:nvPr>
            <p:ph type="title" hasCustomPrompt="1"/>
          </p:nvPr>
        </p:nvSpPr>
        <p:spPr>
          <a:xfrm>
            <a:off x="1457698" y="551761"/>
            <a:ext cx="3629564" cy="4561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rgbClr val="211E20"/>
                </a:solidFill>
                <a:ea typeface="思源黑体" panose="020B0500000000000000" pitchFamily="34" charset="-122"/>
              </a:defRPr>
            </a:lvl1pPr>
          </a:lstStyle>
          <a:p>
            <a:r>
              <a:rPr lang="zh-CN" altLang="en-US"/>
              <a:t>单击编辑标题</a:t>
            </a:r>
          </a:p>
        </p:txBody>
      </p:sp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635500" y="530700"/>
            <a:ext cx="441095" cy="525190"/>
          </a:xfrm>
          <a:custGeom>
            <a:avLst/>
            <a:gdLst>
              <a:gd name="T0" fmla="*/ 269 w 537"/>
              <a:gd name="T1" fmla="*/ 0 h 623"/>
              <a:gd name="T2" fmla="*/ 403 w 537"/>
              <a:gd name="T3" fmla="*/ 78 h 623"/>
              <a:gd name="T4" fmla="*/ 537 w 537"/>
              <a:gd name="T5" fmla="*/ 156 h 623"/>
              <a:gd name="T6" fmla="*/ 537 w 537"/>
              <a:gd name="T7" fmla="*/ 311 h 623"/>
              <a:gd name="T8" fmla="*/ 537 w 537"/>
              <a:gd name="T9" fmla="*/ 467 h 623"/>
              <a:gd name="T10" fmla="*/ 403 w 537"/>
              <a:gd name="T11" fmla="*/ 545 h 623"/>
              <a:gd name="T12" fmla="*/ 269 w 537"/>
              <a:gd name="T13" fmla="*/ 623 h 623"/>
              <a:gd name="T14" fmla="*/ 134 w 537"/>
              <a:gd name="T15" fmla="*/ 545 h 623"/>
              <a:gd name="T16" fmla="*/ 0 w 537"/>
              <a:gd name="T17" fmla="*/ 467 h 623"/>
              <a:gd name="T18" fmla="*/ 0 w 537"/>
              <a:gd name="T19" fmla="*/ 311 h 623"/>
              <a:gd name="T20" fmla="*/ 0 w 537"/>
              <a:gd name="T21" fmla="*/ 156 h 623"/>
              <a:gd name="T22" fmla="*/ 134 w 537"/>
              <a:gd name="T23" fmla="*/ 78 h 623"/>
              <a:gd name="T24" fmla="*/ 269 w 537"/>
              <a:gd name="T25" fmla="*/ 0 h 623"/>
              <a:gd name="T26" fmla="*/ 269 w 537"/>
              <a:gd name="T27" fmla="*/ 53 h 623"/>
              <a:gd name="T28" fmla="*/ 380 w 537"/>
              <a:gd name="T29" fmla="*/ 117 h 623"/>
              <a:gd name="T30" fmla="*/ 492 w 537"/>
              <a:gd name="T31" fmla="*/ 182 h 623"/>
              <a:gd name="T32" fmla="*/ 492 w 537"/>
              <a:gd name="T33" fmla="*/ 311 h 623"/>
              <a:gd name="T34" fmla="*/ 492 w 537"/>
              <a:gd name="T35" fmla="*/ 441 h 623"/>
              <a:gd name="T36" fmla="*/ 380 w 537"/>
              <a:gd name="T37" fmla="*/ 505 h 623"/>
              <a:gd name="T38" fmla="*/ 269 w 537"/>
              <a:gd name="T39" fmla="*/ 570 h 623"/>
              <a:gd name="T40" fmla="*/ 157 w 537"/>
              <a:gd name="T41" fmla="*/ 505 h 623"/>
              <a:gd name="T42" fmla="*/ 46 w 537"/>
              <a:gd name="T43" fmla="*/ 441 h 623"/>
              <a:gd name="T44" fmla="*/ 46 w 537"/>
              <a:gd name="T45" fmla="*/ 311 h 623"/>
              <a:gd name="T46" fmla="*/ 46 w 537"/>
              <a:gd name="T47" fmla="*/ 182 h 623"/>
              <a:gd name="T48" fmla="*/ 157 w 537"/>
              <a:gd name="T49" fmla="*/ 117 h 623"/>
              <a:gd name="T50" fmla="*/ 269 w 537"/>
              <a:gd name="T51" fmla="*/ 53 h 623"/>
              <a:gd name="T52" fmla="*/ 215 w 537"/>
              <a:gd name="T53" fmla="*/ 455 h 623"/>
              <a:gd name="T54" fmla="*/ 367 w 537"/>
              <a:gd name="T55" fmla="*/ 455 h 623"/>
              <a:gd name="T56" fmla="*/ 375 w 537"/>
              <a:gd name="T57" fmla="*/ 463 h 623"/>
              <a:gd name="T58" fmla="*/ 367 w 537"/>
              <a:gd name="T59" fmla="*/ 471 h 623"/>
              <a:gd name="T60" fmla="*/ 215 w 537"/>
              <a:gd name="T61" fmla="*/ 471 h 623"/>
              <a:gd name="T62" fmla="*/ 207 w 537"/>
              <a:gd name="T63" fmla="*/ 463 h 623"/>
              <a:gd name="T64" fmla="*/ 215 w 537"/>
              <a:gd name="T65" fmla="*/ 455 h 623"/>
              <a:gd name="T66" fmla="*/ 218 w 537"/>
              <a:gd name="T67" fmla="*/ 380 h 623"/>
              <a:gd name="T68" fmla="*/ 302 w 537"/>
              <a:gd name="T69" fmla="*/ 242 h 623"/>
              <a:gd name="T70" fmla="*/ 331 w 537"/>
              <a:gd name="T71" fmla="*/ 260 h 623"/>
              <a:gd name="T72" fmla="*/ 248 w 537"/>
              <a:gd name="T73" fmla="*/ 398 h 623"/>
              <a:gd name="T74" fmla="*/ 218 w 537"/>
              <a:gd name="T75" fmla="*/ 380 h 623"/>
              <a:gd name="T76" fmla="*/ 159 w 537"/>
              <a:gd name="T77" fmla="*/ 344 h 623"/>
              <a:gd name="T78" fmla="*/ 243 w 537"/>
              <a:gd name="T79" fmla="*/ 207 h 623"/>
              <a:gd name="T80" fmla="*/ 272 w 537"/>
              <a:gd name="T81" fmla="*/ 224 h 623"/>
              <a:gd name="T82" fmla="*/ 189 w 537"/>
              <a:gd name="T83" fmla="*/ 362 h 623"/>
              <a:gd name="T84" fmla="*/ 159 w 537"/>
              <a:gd name="T85" fmla="*/ 344 h 623"/>
              <a:gd name="T86" fmla="*/ 146 w 537"/>
              <a:gd name="T87" fmla="*/ 456 h 623"/>
              <a:gd name="T88" fmla="*/ 154 w 537"/>
              <a:gd name="T89" fmla="*/ 387 h 623"/>
              <a:gd name="T90" fmla="*/ 211 w 537"/>
              <a:gd name="T91" fmla="*/ 422 h 623"/>
              <a:gd name="T92" fmla="*/ 155 w 537"/>
              <a:gd name="T93" fmla="*/ 461 h 623"/>
              <a:gd name="T94" fmla="*/ 146 w 537"/>
              <a:gd name="T95" fmla="*/ 456 h 623"/>
              <a:gd name="T96" fmla="*/ 266 w 537"/>
              <a:gd name="T97" fmla="*/ 168 h 623"/>
              <a:gd name="T98" fmla="*/ 253 w 537"/>
              <a:gd name="T99" fmla="*/ 188 h 623"/>
              <a:gd name="T100" fmla="*/ 342 w 537"/>
              <a:gd name="T101" fmla="*/ 242 h 623"/>
              <a:gd name="T102" fmla="*/ 354 w 537"/>
              <a:gd name="T103" fmla="*/ 222 h 623"/>
              <a:gd name="T104" fmla="*/ 266 w 537"/>
              <a:gd name="T105" fmla="*/ 168 h 623"/>
              <a:gd name="T106" fmla="*/ 285 w 537"/>
              <a:gd name="T107" fmla="*/ 138 h 623"/>
              <a:gd name="T108" fmla="*/ 311 w 537"/>
              <a:gd name="T109" fmla="*/ 131 h 623"/>
              <a:gd name="T110" fmla="*/ 366 w 537"/>
              <a:gd name="T111" fmla="*/ 165 h 623"/>
              <a:gd name="T112" fmla="*/ 373 w 537"/>
              <a:gd name="T113" fmla="*/ 191 h 623"/>
              <a:gd name="T114" fmla="*/ 365 w 537"/>
              <a:gd name="T115" fmla="*/ 204 h 623"/>
              <a:gd name="T116" fmla="*/ 277 w 537"/>
              <a:gd name="T117" fmla="*/ 150 h 623"/>
              <a:gd name="T118" fmla="*/ 285 w 537"/>
              <a:gd name="T119" fmla="*/ 138 h 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37" h="623">
                <a:moveTo>
                  <a:pt x="269" y="0"/>
                </a:moveTo>
                <a:lnTo>
                  <a:pt x="403" y="78"/>
                </a:lnTo>
                <a:lnTo>
                  <a:pt x="537" y="156"/>
                </a:lnTo>
                <a:lnTo>
                  <a:pt x="537" y="311"/>
                </a:lnTo>
                <a:lnTo>
                  <a:pt x="537" y="467"/>
                </a:lnTo>
                <a:lnTo>
                  <a:pt x="403" y="545"/>
                </a:lnTo>
                <a:lnTo>
                  <a:pt x="269" y="623"/>
                </a:lnTo>
                <a:lnTo>
                  <a:pt x="134" y="545"/>
                </a:lnTo>
                <a:lnTo>
                  <a:pt x="0" y="467"/>
                </a:lnTo>
                <a:lnTo>
                  <a:pt x="0" y="311"/>
                </a:lnTo>
                <a:lnTo>
                  <a:pt x="0" y="156"/>
                </a:lnTo>
                <a:lnTo>
                  <a:pt x="134" y="78"/>
                </a:lnTo>
                <a:lnTo>
                  <a:pt x="269" y="0"/>
                </a:lnTo>
                <a:close/>
                <a:moveTo>
                  <a:pt x="269" y="53"/>
                </a:moveTo>
                <a:lnTo>
                  <a:pt x="380" y="117"/>
                </a:lnTo>
                <a:lnTo>
                  <a:pt x="492" y="182"/>
                </a:lnTo>
                <a:lnTo>
                  <a:pt x="492" y="311"/>
                </a:lnTo>
                <a:lnTo>
                  <a:pt x="492" y="441"/>
                </a:lnTo>
                <a:lnTo>
                  <a:pt x="380" y="505"/>
                </a:lnTo>
                <a:lnTo>
                  <a:pt x="269" y="570"/>
                </a:lnTo>
                <a:lnTo>
                  <a:pt x="157" y="505"/>
                </a:lnTo>
                <a:lnTo>
                  <a:pt x="46" y="441"/>
                </a:lnTo>
                <a:lnTo>
                  <a:pt x="46" y="311"/>
                </a:lnTo>
                <a:lnTo>
                  <a:pt x="46" y="182"/>
                </a:lnTo>
                <a:lnTo>
                  <a:pt x="157" y="117"/>
                </a:lnTo>
                <a:lnTo>
                  <a:pt x="269" y="53"/>
                </a:lnTo>
                <a:close/>
                <a:moveTo>
                  <a:pt x="215" y="455"/>
                </a:moveTo>
                <a:lnTo>
                  <a:pt x="367" y="455"/>
                </a:lnTo>
                <a:cubicBezTo>
                  <a:pt x="371" y="455"/>
                  <a:pt x="375" y="458"/>
                  <a:pt x="375" y="463"/>
                </a:cubicBezTo>
                <a:cubicBezTo>
                  <a:pt x="375" y="467"/>
                  <a:pt x="371" y="471"/>
                  <a:pt x="367" y="471"/>
                </a:cubicBezTo>
                <a:lnTo>
                  <a:pt x="215" y="471"/>
                </a:lnTo>
                <a:cubicBezTo>
                  <a:pt x="211" y="471"/>
                  <a:pt x="207" y="467"/>
                  <a:pt x="207" y="463"/>
                </a:cubicBezTo>
                <a:cubicBezTo>
                  <a:pt x="207" y="458"/>
                  <a:pt x="211" y="455"/>
                  <a:pt x="215" y="455"/>
                </a:cubicBezTo>
                <a:close/>
                <a:moveTo>
                  <a:pt x="218" y="380"/>
                </a:moveTo>
                <a:lnTo>
                  <a:pt x="302" y="242"/>
                </a:lnTo>
                <a:lnTo>
                  <a:pt x="331" y="260"/>
                </a:lnTo>
                <a:lnTo>
                  <a:pt x="248" y="398"/>
                </a:lnTo>
                <a:lnTo>
                  <a:pt x="218" y="380"/>
                </a:lnTo>
                <a:close/>
                <a:moveTo>
                  <a:pt x="159" y="344"/>
                </a:moveTo>
                <a:lnTo>
                  <a:pt x="243" y="207"/>
                </a:lnTo>
                <a:lnTo>
                  <a:pt x="272" y="224"/>
                </a:lnTo>
                <a:lnTo>
                  <a:pt x="189" y="362"/>
                </a:lnTo>
                <a:lnTo>
                  <a:pt x="159" y="344"/>
                </a:lnTo>
                <a:close/>
                <a:moveTo>
                  <a:pt x="146" y="456"/>
                </a:moveTo>
                <a:lnTo>
                  <a:pt x="154" y="387"/>
                </a:lnTo>
                <a:lnTo>
                  <a:pt x="211" y="422"/>
                </a:lnTo>
                <a:lnTo>
                  <a:pt x="155" y="461"/>
                </a:lnTo>
                <a:cubicBezTo>
                  <a:pt x="149" y="465"/>
                  <a:pt x="145" y="463"/>
                  <a:pt x="146" y="456"/>
                </a:cubicBezTo>
                <a:close/>
                <a:moveTo>
                  <a:pt x="266" y="168"/>
                </a:moveTo>
                <a:lnTo>
                  <a:pt x="253" y="188"/>
                </a:lnTo>
                <a:lnTo>
                  <a:pt x="342" y="242"/>
                </a:lnTo>
                <a:lnTo>
                  <a:pt x="354" y="222"/>
                </a:lnTo>
                <a:lnTo>
                  <a:pt x="266" y="168"/>
                </a:lnTo>
                <a:close/>
                <a:moveTo>
                  <a:pt x="285" y="138"/>
                </a:moveTo>
                <a:cubicBezTo>
                  <a:pt x="290" y="129"/>
                  <a:pt x="302" y="126"/>
                  <a:pt x="311" y="131"/>
                </a:cubicBezTo>
                <a:lnTo>
                  <a:pt x="366" y="165"/>
                </a:lnTo>
                <a:cubicBezTo>
                  <a:pt x="375" y="170"/>
                  <a:pt x="378" y="182"/>
                  <a:pt x="373" y="191"/>
                </a:cubicBezTo>
                <a:lnTo>
                  <a:pt x="365" y="204"/>
                </a:lnTo>
                <a:lnTo>
                  <a:pt x="277" y="150"/>
                </a:lnTo>
                <a:lnTo>
                  <a:pt x="285" y="1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1799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05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7905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4B914-9BB2-4713-9EBF-61770F406B81}" type="datetime1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6538A-33AE-45EB-868C-14B9E34ED9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7" r:id="rId4"/>
    <p:sldLayoutId id="214748366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24">
            <a:extLst>
              <a:ext uri="{FF2B5EF4-FFF2-40B4-BE49-F238E27FC236}">
                <a16:creationId xmlns:a16="http://schemas.microsoft.com/office/drawing/2014/main" id="{E9A57895-4137-3522-B622-7E7F109BFA8D}"/>
              </a:ext>
            </a:extLst>
          </p:cNvPr>
          <p:cNvSpPr/>
          <p:nvPr/>
        </p:nvSpPr>
        <p:spPr>
          <a:xfrm>
            <a:off x="804431" y="3633578"/>
            <a:ext cx="5285232" cy="2919621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12700">
            <a:solidFill>
              <a:srgbClr val="DFE7F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96" name="Shape 12">
            <a:extLst>
              <a:ext uri="{FF2B5EF4-FFF2-40B4-BE49-F238E27FC236}">
                <a16:creationId xmlns:a16="http://schemas.microsoft.com/office/drawing/2014/main" id="{5357A911-6CD8-A187-1BC9-21478B28CDAA}"/>
              </a:ext>
            </a:extLst>
          </p:cNvPr>
          <p:cNvSpPr/>
          <p:nvPr/>
        </p:nvSpPr>
        <p:spPr>
          <a:xfrm>
            <a:off x="729625" y="3783984"/>
            <a:ext cx="50292" cy="2192601"/>
          </a:xfrm>
          <a:prstGeom prst="rect">
            <a:avLst/>
          </a:prstGeom>
          <a:solidFill>
            <a:srgbClr val="DD4051"/>
          </a:solidFill>
          <a:ln w="12700">
            <a:solidFill>
              <a:srgbClr val="DD4051">
                <a:alpha val="0"/>
              </a:srgbClr>
            </a:solidFill>
            <a:prstDash val="solid"/>
          </a:ln>
        </p:spPr>
      </p:sp>
      <p:sp>
        <p:nvSpPr>
          <p:cNvPr id="197" name="Text 13">
            <a:extLst>
              <a:ext uri="{FF2B5EF4-FFF2-40B4-BE49-F238E27FC236}">
                <a16:creationId xmlns:a16="http://schemas.microsoft.com/office/drawing/2014/main" id="{74A7C003-87AA-9CF4-C118-57B98810F99C}"/>
              </a:ext>
            </a:extLst>
          </p:cNvPr>
          <p:cNvSpPr/>
          <p:nvPr/>
        </p:nvSpPr>
        <p:spPr>
          <a:xfrm>
            <a:off x="1101481" y="3756553"/>
            <a:ext cx="3218688" cy="43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b="1" dirty="0">
                <a:solidFill>
                  <a:srgbClr val="17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Gemma-4-31B</a:t>
            </a:r>
            <a:r>
              <a:rPr lang="en-US" altLang="zh-CN" b="1" dirty="0">
                <a:solidFill>
                  <a:srgbClr val="17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-quant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" name="Shape 24">
            <a:extLst>
              <a:ext uri="{FF2B5EF4-FFF2-40B4-BE49-F238E27FC236}">
                <a16:creationId xmlns:a16="http://schemas.microsoft.com/office/drawing/2014/main" id="{FF416905-A11E-7D91-602B-52ADCF87FE76}"/>
              </a:ext>
            </a:extLst>
          </p:cNvPr>
          <p:cNvSpPr/>
          <p:nvPr/>
        </p:nvSpPr>
        <p:spPr>
          <a:xfrm>
            <a:off x="6511682" y="3574705"/>
            <a:ext cx="5592606" cy="2978494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12700">
            <a:solidFill>
              <a:srgbClr val="DFE7F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99" name="Shape 25">
            <a:extLst>
              <a:ext uri="{FF2B5EF4-FFF2-40B4-BE49-F238E27FC236}">
                <a16:creationId xmlns:a16="http://schemas.microsoft.com/office/drawing/2014/main" id="{1F9030F1-4D4B-D2CF-D96E-7984FEFFA692}"/>
              </a:ext>
            </a:extLst>
          </p:cNvPr>
          <p:cNvSpPr/>
          <p:nvPr/>
        </p:nvSpPr>
        <p:spPr>
          <a:xfrm>
            <a:off x="6423289" y="3783984"/>
            <a:ext cx="50292" cy="2192601"/>
          </a:xfrm>
          <a:prstGeom prst="rect">
            <a:avLst/>
          </a:prstGeom>
          <a:solidFill>
            <a:srgbClr val="2868B8"/>
          </a:solidFill>
          <a:ln w="12700">
            <a:solidFill>
              <a:srgbClr val="2868B8">
                <a:alpha val="0"/>
              </a:srgbClr>
            </a:solidFill>
            <a:prstDash val="solid"/>
          </a:ln>
        </p:spPr>
      </p:sp>
      <p:sp>
        <p:nvSpPr>
          <p:cNvPr id="200" name="Text 26">
            <a:extLst>
              <a:ext uri="{FF2B5EF4-FFF2-40B4-BE49-F238E27FC236}">
                <a16:creationId xmlns:a16="http://schemas.microsoft.com/office/drawing/2014/main" id="{7330EF43-D826-C780-6CF5-CE7C9A5A3E64}"/>
              </a:ext>
            </a:extLst>
          </p:cNvPr>
          <p:cNvSpPr/>
          <p:nvPr/>
        </p:nvSpPr>
        <p:spPr>
          <a:xfrm>
            <a:off x="6651889" y="3756553"/>
            <a:ext cx="3218688" cy="43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b="1" dirty="0">
                <a:solidFill>
                  <a:srgbClr val="17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Gemma-4-26B-A4B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1" name="Shape 33">
            <a:extLst>
              <a:ext uri="{FF2B5EF4-FFF2-40B4-BE49-F238E27FC236}">
                <a16:creationId xmlns:a16="http://schemas.microsoft.com/office/drawing/2014/main" id="{505C9EF0-CD73-E60D-9953-E9043058272F}"/>
              </a:ext>
            </a:extLst>
          </p:cNvPr>
          <p:cNvSpPr/>
          <p:nvPr/>
        </p:nvSpPr>
        <p:spPr>
          <a:xfrm>
            <a:off x="7128119" y="4263948"/>
            <a:ext cx="2377440" cy="392360"/>
          </a:xfrm>
          <a:prstGeom prst="roundRect">
            <a:avLst>
              <a:gd name="adj" fmla="val 35294"/>
            </a:avLst>
          </a:prstGeom>
          <a:solidFill>
            <a:srgbClr val="FFF0F2"/>
          </a:solidFill>
          <a:ln w="12700">
            <a:solidFill>
              <a:srgbClr val="FFF0F2"/>
            </a:solidFill>
            <a:prstDash val="solid"/>
          </a:ln>
        </p:spPr>
      </p:sp>
      <p:sp>
        <p:nvSpPr>
          <p:cNvPr id="202" name="Text 34">
            <a:extLst>
              <a:ext uri="{FF2B5EF4-FFF2-40B4-BE49-F238E27FC236}">
                <a16:creationId xmlns:a16="http://schemas.microsoft.com/office/drawing/2014/main" id="{B82CF561-0F0E-0CFF-6008-39C728BACF44}"/>
              </a:ext>
            </a:extLst>
          </p:cNvPr>
          <p:cNvSpPr/>
          <p:nvPr/>
        </p:nvSpPr>
        <p:spPr>
          <a:xfrm>
            <a:off x="7210415" y="4273092"/>
            <a:ext cx="2212848" cy="3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A5 输出吞吐 7428 tok/s</a:t>
            </a:r>
            <a:endParaRPr lang="en-US" sz="1060" dirty="0"/>
          </a:p>
        </p:txBody>
      </p:sp>
      <p:sp>
        <p:nvSpPr>
          <p:cNvPr id="203" name="Shape 35">
            <a:extLst>
              <a:ext uri="{FF2B5EF4-FFF2-40B4-BE49-F238E27FC236}">
                <a16:creationId xmlns:a16="http://schemas.microsoft.com/office/drawing/2014/main" id="{17E9FA05-3A75-D9F3-177B-8CFA45D1D6E2}"/>
              </a:ext>
            </a:extLst>
          </p:cNvPr>
          <p:cNvSpPr/>
          <p:nvPr/>
        </p:nvSpPr>
        <p:spPr>
          <a:xfrm>
            <a:off x="9606143" y="4263948"/>
            <a:ext cx="2258568" cy="392360"/>
          </a:xfrm>
          <a:prstGeom prst="roundRect">
            <a:avLst>
              <a:gd name="adj" fmla="val 35294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204" name="Text 36">
            <a:extLst>
              <a:ext uri="{FF2B5EF4-FFF2-40B4-BE49-F238E27FC236}">
                <a16:creationId xmlns:a16="http://schemas.microsoft.com/office/drawing/2014/main" id="{F4E51F1E-126D-ACE3-1013-708674CEB7FC}"/>
              </a:ext>
            </a:extLst>
          </p:cNvPr>
          <p:cNvSpPr/>
          <p:nvPr/>
        </p:nvSpPr>
        <p:spPr>
          <a:xfrm>
            <a:off x="9688439" y="4273092"/>
            <a:ext cx="2093976" cy="3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H20 输出吞吐 3477 tok/s</a:t>
            </a:r>
            <a:endParaRPr lang="en-US" sz="1060" dirty="0"/>
          </a:p>
        </p:txBody>
      </p:sp>
      <p:sp>
        <p:nvSpPr>
          <p:cNvPr id="205" name="Shape 0">
            <a:extLst>
              <a:ext uri="{FF2B5EF4-FFF2-40B4-BE49-F238E27FC236}">
                <a16:creationId xmlns:a16="http://schemas.microsoft.com/office/drawing/2014/main" id="{630E5257-2727-A8DD-C3B1-ADF1BAFE58CB}"/>
              </a:ext>
            </a:extLst>
          </p:cNvPr>
          <p:cNvSpPr/>
          <p:nvPr/>
        </p:nvSpPr>
        <p:spPr>
          <a:xfrm>
            <a:off x="585216" y="475488"/>
            <a:ext cx="68580" cy="640080"/>
          </a:xfrm>
          <a:prstGeom prst="rect">
            <a:avLst/>
          </a:prstGeom>
          <a:solidFill>
            <a:srgbClr val="DD4051"/>
          </a:solidFill>
          <a:ln w="12700">
            <a:solidFill>
              <a:srgbClr val="DD4051">
                <a:alpha val="0"/>
              </a:srgbClr>
            </a:solidFill>
            <a:prstDash val="solid"/>
          </a:ln>
        </p:spPr>
      </p:sp>
      <p:sp>
        <p:nvSpPr>
          <p:cNvPr id="206" name="Text 1">
            <a:extLst>
              <a:ext uri="{FF2B5EF4-FFF2-40B4-BE49-F238E27FC236}">
                <a16:creationId xmlns:a16="http://schemas.microsoft.com/office/drawing/2014/main" id="{6E653E8A-78E0-134A-8816-94CB6806858A}"/>
              </a:ext>
            </a:extLst>
          </p:cNvPr>
          <p:cNvSpPr/>
          <p:nvPr/>
        </p:nvSpPr>
        <p:spPr>
          <a:xfrm>
            <a:off x="822960" y="420624"/>
            <a:ext cx="76833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7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Gemma-4 模型精度与性能评测总览</a:t>
            </a:r>
            <a:endParaRPr lang="en-US" sz="2800" dirty="0"/>
          </a:p>
        </p:txBody>
      </p:sp>
      <p:sp>
        <p:nvSpPr>
          <p:cNvPr id="207" name="Text 2">
            <a:extLst>
              <a:ext uri="{FF2B5EF4-FFF2-40B4-BE49-F238E27FC236}">
                <a16:creationId xmlns:a16="http://schemas.microsoft.com/office/drawing/2014/main" id="{1F83CDFA-9794-B454-A405-EC3737D5E78E}"/>
              </a:ext>
            </a:extLst>
          </p:cNvPr>
          <p:cNvSpPr/>
          <p:nvPr/>
        </p:nvSpPr>
        <p:spPr>
          <a:xfrm>
            <a:off x="822960" y="1024128"/>
            <a:ext cx="711306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 31B Dense / 26B-A4B MoE，A5（Ascend）与 H20（GPU）两类硬件</a:t>
            </a:r>
            <a:endParaRPr lang="en-US" sz="1230" dirty="0"/>
          </a:p>
        </p:txBody>
      </p:sp>
      <p:sp>
        <p:nvSpPr>
          <p:cNvPr id="208" name="Shape 8">
            <a:extLst>
              <a:ext uri="{FF2B5EF4-FFF2-40B4-BE49-F238E27FC236}">
                <a16:creationId xmlns:a16="http://schemas.microsoft.com/office/drawing/2014/main" id="{F867C7A4-606F-7547-CC33-C26580415995}"/>
              </a:ext>
            </a:extLst>
          </p:cNvPr>
          <p:cNvSpPr/>
          <p:nvPr/>
        </p:nvSpPr>
        <p:spPr>
          <a:xfrm>
            <a:off x="747501" y="1513801"/>
            <a:ext cx="5348500" cy="1956816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12700">
            <a:solidFill>
              <a:srgbClr val="DFE7F0"/>
            </a:solidFill>
            <a:prstDash val="solid"/>
          </a:ln>
        </p:spPr>
      </p:sp>
      <p:sp>
        <p:nvSpPr>
          <p:cNvPr id="209" name="Shape 9">
            <a:extLst>
              <a:ext uri="{FF2B5EF4-FFF2-40B4-BE49-F238E27FC236}">
                <a16:creationId xmlns:a16="http://schemas.microsoft.com/office/drawing/2014/main" id="{439A3DBF-8965-8951-0280-0377934D2D18}"/>
              </a:ext>
            </a:extLst>
          </p:cNvPr>
          <p:cNvSpPr/>
          <p:nvPr/>
        </p:nvSpPr>
        <p:spPr>
          <a:xfrm>
            <a:off x="694944" y="1737360"/>
            <a:ext cx="50292" cy="1536192"/>
          </a:xfrm>
          <a:prstGeom prst="rect">
            <a:avLst/>
          </a:prstGeom>
          <a:solidFill>
            <a:srgbClr val="DD4051"/>
          </a:solidFill>
          <a:ln w="12700">
            <a:solidFill>
              <a:srgbClr val="DD4051">
                <a:alpha val="0"/>
              </a:srgbClr>
            </a:solidFill>
            <a:prstDash val="solid"/>
          </a:ln>
        </p:spPr>
      </p:sp>
      <p:sp>
        <p:nvSpPr>
          <p:cNvPr id="210" name="Text 10">
            <a:extLst>
              <a:ext uri="{FF2B5EF4-FFF2-40B4-BE49-F238E27FC236}">
                <a16:creationId xmlns:a16="http://schemas.microsoft.com/office/drawing/2014/main" id="{12B629A0-1680-AFEF-AFFC-6F1854F35210}"/>
              </a:ext>
            </a:extLst>
          </p:cNvPr>
          <p:cNvSpPr/>
          <p:nvPr/>
        </p:nvSpPr>
        <p:spPr>
          <a:xfrm>
            <a:off x="914400" y="1673352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740" b="1" dirty="0">
                <a:solidFill>
                  <a:srgbClr val="17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Gemma-4-31B-</a:t>
            </a:r>
            <a:r>
              <a:rPr lang="en-US" altLang="zh-CN" sz="1740" b="1" dirty="0">
                <a:solidFill>
                  <a:srgbClr val="17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quant</a:t>
            </a:r>
            <a:endParaRPr lang="en-US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1" name="Shape 11">
            <a:extLst>
              <a:ext uri="{FF2B5EF4-FFF2-40B4-BE49-F238E27FC236}">
                <a16:creationId xmlns:a16="http://schemas.microsoft.com/office/drawing/2014/main" id="{2B2186E8-F952-778E-6727-0FEB835DF07C}"/>
              </a:ext>
            </a:extLst>
          </p:cNvPr>
          <p:cNvSpPr/>
          <p:nvPr/>
        </p:nvSpPr>
        <p:spPr>
          <a:xfrm>
            <a:off x="3403628" y="1703185"/>
            <a:ext cx="604521" cy="292608"/>
          </a:xfrm>
          <a:prstGeom prst="roundRect">
            <a:avLst>
              <a:gd name="adj" fmla="val 37500"/>
            </a:avLst>
          </a:prstGeom>
          <a:solidFill>
            <a:srgbClr val="FFF0F2"/>
          </a:solidFill>
          <a:ln w="12700">
            <a:solidFill>
              <a:srgbClr val="FFF0F2"/>
            </a:solidFill>
            <a:prstDash val="solid"/>
          </a:ln>
        </p:spPr>
      </p:sp>
      <p:sp>
        <p:nvSpPr>
          <p:cNvPr id="212" name="Text 12">
            <a:extLst>
              <a:ext uri="{FF2B5EF4-FFF2-40B4-BE49-F238E27FC236}">
                <a16:creationId xmlns:a16="http://schemas.microsoft.com/office/drawing/2014/main" id="{C6E923EF-BDB3-8E2E-7B68-AA6F9F00EEFF}"/>
              </a:ext>
            </a:extLst>
          </p:cNvPr>
          <p:cNvSpPr/>
          <p:nvPr/>
        </p:nvSpPr>
        <p:spPr>
          <a:xfrm>
            <a:off x="3303778" y="1703185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Dense</a:t>
            </a:r>
            <a:endParaRPr lang="en-US" sz="1100" dirty="0"/>
          </a:p>
        </p:txBody>
      </p:sp>
      <p:sp>
        <p:nvSpPr>
          <p:cNvPr id="213" name="Text 13">
            <a:extLst>
              <a:ext uri="{FF2B5EF4-FFF2-40B4-BE49-F238E27FC236}">
                <a16:creationId xmlns:a16="http://schemas.microsoft.com/office/drawing/2014/main" id="{A472508F-3548-C751-711F-772A99B1FAE4}"/>
              </a:ext>
            </a:extLst>
          </p:cNvPr>
          <p:cNvSpPr/>
          <p:nvPr/>
        </p:nvSpPr>
        <p:spPr>
          <a:xfrm>
            <a:off x="923544" y="2066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数据集</a:t>
            </a:r>
            <a:endParaRPr lang="en-US" sz="11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" name="Text 14">
            <a:extLst>
              <a:ext uri="{FF2B5EF4-FFF2-40B4-BE49-F238E27FC236}">
                <a16:creationId xmlns:a16="http://schemas.microsoft.com/office/drawing/2014/main" id="{1F706873-868F-4F70-678F-2301F3DC063A}"/>
              </a:ext>
            </a:extLst>
          </p:cNvPr>
          <p:cNvSpPr/>
          <p:nvPr/>
        </p:nvSpPr>
        <p:spPr>
          <a:xfrm>
            <a:off x="2869352" y="2084679"/>
            <a:ext cx="6454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H20</a:t>
            </a:r>
            <a:r>
              <a:rPr lang="en-US" sz="1140" b="1" dirty="0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140" b="1" dirty="0" err="1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</a:t>
            </a:r>
            <a:endParaRPr lang="en-US" sz="1140" b="1" dirty="0">
              <a:solidFill>
                <a:srgbClr val="697C9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" name="Text 15">
            <a:extLst>
              <a:ext uri="{FF2B5EF4-FFF2-40B4-BE49-F238E27FC236}">
                <a16:creationId xmlns:a16="http://schemas.microsoft.com/office/drawing/2014/main" id="{7D5511AB-62F3-56EC-5EB0-399790F08B4E}"/>
              </a:ext>
            </a:extLst>
          </p:cNvPr>
          <p:cNvSpPr/>
          <p:nvPr/>
        </p:nvSpPr>
        <p:spPr>
          <a:xfrm>
            <a:off x="3708400" y="2084679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A5</a:t>
            </a:r>
            <a:r>
              <a:rPr lang="en-US" sz="1140" b="1" dirty="0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zh-CN" altLang="en-US" sz="1140" b="1" dirty="0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量化</a:t>
            </a:r>
            <a:endParaRPr lang="en-US" sz="1140" dirty="0"/>
          </a:p>
        </p:txBody>
      </p:sp>
      <p:sp>
        <p:nvSpPr>
          <p:cNvPr id="216" name="Text 17">
            <a:extLst>
              <a:ext uri="{FF2B5EF4-FFF2-40B4-BE49-F238E27FC236}">
                <a16:creationId xmlns:a16="http://schemas.microsoft.com/office/drawing/2014/main" id="{F8789B74-1BA5-4CD1-38BD-6A22B5361229}"/>
              </a:ext>
            </a:extLst>
          </p:cNvPr>
          <p:cNvSpPr/>
          <p:nvPr/>
        </p:nvSpPr>
        <p:spPr>
          <a:xfrm>
            <a:off x="5115390" y="2070202"/>
            <a:ext cx="7921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A5</a:t>
            </a:r>
            <a:r>
              <a:rPr lang="en-US" sz="1140" b="1" dirty="0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− H20</a:t>
            </a:r>
            <a:endParaRPr lang="en-US" sz="1140" dirty="0"/>
          </a:p>
        </p:txBody>
      </p:sp>
      <p:sp>
        <p:nvSpPr>
          <p:cNvPr id="217" name="Shape 18">
            <a:extLst>
              <a:ext uri="{FF2B5EF4-FFF2-40B4-BE49-F238E27FC236}">
                <a16:creationId xmlns:a16="http://schemas.microsoft.com/office/drawing/2014/main" id="{BFA7E1C7-01E0-3790-90BE-43DCA50B7869}"/>
              </a:ext>
            </a:extLst>
          </p:cNvPr>
          <p:cNvSpPr/>
          <p:nvPr/>
        </p:nvSpPr>
        <p:spPr>
          <a:xfrm>
            <a:off x="905257" y="2386584"/>
            <a:ext cx="5190744" cy="13144"/>
          </a:xfrm>
          <a:prstGeom prst="line">
            <a:avLst/>
          </a:prstGeom>
          <a:noFill/>
          <a:ln w="8890">
            <a:solidFill>
              <a:srgbClr val="DFE7F0"/>
            </a:solidFill>
            <a:prstDash val="solid"/>
          </a:ln>
        </p:spPr>
      </p:sp>
      <p:sp>
        <p:nvSpPr>
          <p:cNvPr id="218" name="Text 19">
            <a:extLst>
              <a:ext uri="{FF2B5EF4-FFF2-40B4-BE49-F238E27FC236}">
                <a16:creationId xmlns:a16="http://schemas.microsoft.com/office/drawing/2014/main" id="{53A7BE72-FE41-ABD7-7E89-0B0FCBA4379C}"/>
              </a:ext>
            </a:extLst>
          </p:cNvPr>
          <p:cNvSpPr/>
          <p:nvPr/>
        </p:nvSpPr>
        <p:spPr>
          <a:xfrm>
            <a:off x="923544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AIME2026</a:t>
            </a:r>
          </a:p>
        </p:txBody>
      </p:sp>
      <p:sp>
        <p:nvSpPr>
          <p:cNvPr id="219" name="Text 20">
            <a:extLst>
              <a:ext uri="{FF2B5EF4-FFF2-40B4-BE49-F238E27FC236}">
                <a16:creationId xmlns:a16="http://schemas.microsoft.com/office/drawing/2014/main" id="{A5A33DF2-E45C-EF12-2938-32BFC74B2BEA}"/>
              </a:ext>
            </a:extLst>
          </p:cNvPr>
          <p:cNvSpPr/>
          <p:nvPr/>
        </p:nvSpPr>
        <p:spPr>
          <a:xfrm>
            <a:off x="2431288" y="2487015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35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73.33%</a:t>
            </a:r>
            <a:endParaRPr lang="en-US" sz="1235" dirty="0"/>
          </a:p>
        </p:txBody>
      </p:sp>
      <p:sp>
        <p:nvSpPr>
          <p:cNvPr id="220" name="Text 21">
            <a:extLst>
              <a:ext uri="{FF2B5EF4-FFF2-40B4-BE49-F238E27FC236}">
                <a16:creationId xmlns:a16="http://schemas.microsoft.com/office/drawing/2014/main" id="{36A93D66-5EE0-D60C-7ED0-F72EF30754CD}"/>
              </a:ext>
            </a:extLst>
          </p:cNvPr>
          <p:cNvSpPr/>
          <p:nvPr/>
        </p:nvSpPr>
        <p:spPr>
          <a:xfrm>
            <a:off x="3708400" y="2487015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35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80.00%</a:t>
            </a:r>
            <a:endParaRPr lang="en-US" sz="1235" dirty="0"/>
          </a:p>
        </p:txBody>
      </p:sp>
      <p:sp>
        <p:nvSpPr>
          <p:cNvPr id="221" name="Text 23">
            <a:extLst>
              <a:ext uri="{FF2B5EF4-FFF2-40B4-BE49-F238E27FC236}">
                <a16:creationId xmlns:a16="http://schemas.microsoft.com/office/drawing/2014/main" id="{7C6ABA41-03C6-81E6-071A-981E53F8CC52}"/>
              </a:ext>
            </a:extLst>
          </p:cNvPr>
          <p:cNvSpPr/>
          <p:nvPr/>
        </p:nvSpPr>
        <p:spPr>
          <a:xfrm>
            <a:off x="4643494" y="248701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35" b="1" dirty="0">
                <a:solidFill>
                  <a:srgbClr val="1985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+6.67 pp</a:t>
            </a:r>
            <a:endParaRPr lang="en-US" sz="12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2" name="Shape 24">
            <a:extLst>
              <a:ext uri="{FF2B5EF4-FFF2-40B4-BE49-F238E27FC236}">
                <a16:creationId xmlns:a16="http://schemas.microsoft.com/office/drawing/2014/main" id="{7C098B16-8888-6C21-C5EA-0FF2888F2F10}"/>
              </a:ext>
            </a:extLst>
          </p:cNvPr>
          <p:cNvSpPr/>
          <p:nvPr/>
        </p:nvSpPr>
        <p:spPr>
          <a:xfrm>
            <a:off x="905257" y="2777033"/>
            <a:ext cx="4403344" cy="256032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23" name="Text 25">
            <a:extLst>
              <a:ext uri="{FF2B5EF4-FFF2-40B4-BE49-F238E27FC236}">
                <a16:creationId xmlns:a16="http://schemas.microsoft.com/office/drawing/2014/main" id="{CFBD6BC0-4E20-CEAC-8D31-E3DBF111F3EC}"/>
              </a:ext>
            </a:extLst>
          </p:cNvPr>
          <p:cNvSpPr/>
          <p:nvPr/>
        </p:nvSpPr>
        <p:spPr>
          <a:xfrm>
            <a:off x="923544" y="2777033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GPQA</a:t>
            </a:r>
            <a:r>
              <a:rPr lang="en-US" sz="1200" dirty="0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Diamond</a:t>
            </a:r>
          </a:p>
        </p:txBody>
      </p:sp>
      <p:sp>
        <p:nvSpPr>
          <p:cNvPr id="224" name="Text 26">
            <a:extLst>
              <a:ext uri="{FF2B5EF4-FFF2-40B4-BE49-F238E27FC236}">
                <a16:creationId xmlns:a16="http://schemas.microsoft.com/office/drawing/2014/main" id="{0BBD94BE-1086-15B1-4DA8-24B0899B574C}"/>
              </a:ext>
            </a:extLst>
          </p:cNvPr>
          <p:cNvSpPr/>
          <p:nvPr/>
        </p:nvSpPr>
        <p:spPr>
          <a:xfrm>
            <a:off x="2431288" y="278729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35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77.78%</a:t>
            </a:r>
            <a:endParaRPr lang="en-US" sz="1235" dirty="0"/>
          </a:p>
        </p:txBody>
      </p:sp>
      <p:sp>
        <p:nvSpPr>
          <p:cNvPr id="225" name="Text 27">
            <a:extLst>
              <a:ext uri="{FF2B5EF4-FFF2-40B4-BE49-F238E27FC236}">
                <a16:creationId xmlns:a16="http://schemas.microsoft.com/office/drawing/2014/main" id="{D8F55EC1-6034-1CB2-BB3D-592DFA12071D}"/>
              </a:ext>
            </a:extLst>
          </p:cNvPr>
          <p:cNvSpPr/>
          <p:nvPr/>
        </p:nvSpPr>
        <p:spPr>
          <a:xfrm>
            <a:off x="3708400" y="2795168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35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77.27%</a:t>
            </a:r>
            <a:endParaRPr lang="en-US" sz="1235" dirty="0"/>
          </a:p>
        </p:txBody>
      </p:sp>
      <p:sp>
        <p:nvSpPr>
          <p:cNvPr id="226" name="Text 29">
            <a:extLst>
              <a:ext uri="{FF2B5EF4-FFF2-40B4-BE49-F238E27FC236}">
                <a16:creationId xmlns:a16="http://schemas.microsoft.com/office/drawing/2014/main" id="{315F03B6-3480-C66E-4BEF-1E691679CD6B}"/>
              </a:ext>
            </a:extLst>
          </p:cNvPr>
          <p:cNvSpPr/>
          <p:nvPr/>
        </p:nvSpPr>
        <p:spPr>
          <a:xfrm>
            <a:off x="4643494" y="276417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35" b="1" dirty="0">
                <a:solidFill>
                  <a:srgbClr val="1985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</a:t>
            </a:r>
            <a:r>
              <a:rPr lang="en-US" sz="1235" b="1" dirty="0">
                <a:solidFill>
                  <a:srgbClr val="1985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0.51</a:t>
            </a:r>
            <a:r>
              <a:rPr lang="en-US" sz="1235" b="1" dirty="0">
                <a:solidFill>
                  <a:srgbClr val="1985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235" b="1" dirty="0">
                <a:solidFill>
                  <a:srgbClr val="1985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</a:t>
            </a:r>
          </a:p>
        </p:txBody>
      </p:sp>
      <p:sp>
        <p:nvSpPr>
          <p:cNvPr id="227" name="Text 30">
            <a:extLst>
              <a:ext uri="{FF2B5EF4-FFF2-40B4-BE49-F238E27FC236}">
                <a16:creationId xmlns:a16="http://schemas.microsoft.com/office/drawing/2014/main" id="{409F1405-ECB1-80CF-3F8A-81A09160DC54}"/>
              </a:ext>
            </a:extLst>
          </p:cNvPr>
          <p:cNvSpPr/>
          <p:nvPr/>
        </p:nvSpPr>
        <p:spPr>
          <a:xfrm>
            <a:off x="923544" y="308518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MMMU-Pro</a:t>
            </a:r>
          </a:p>
        </p:txBody>
      </p:sp>
      <p:sp>
        <p:nvSpPr>
          <p:cNvPr id="228" name="Text 31">
            <a:extLst>
              <a:ext uri="{FF2B5EF4-FFF2-40B4-BE49-F238E27FC236}">
                <a16:creationId xmlns:a16="http://schemas.microsoft.com/office/drawing/2014/main" id="{728BAFE8-97D9-D0C3-28F4-BA4D3E2985F3}"/>
              </a:ext>
            </a:extLst>
          </p:cNvPr>
          <p:cNvSpPr/>
          <p:nvPr/>
        </p:nvSpPr>
        <p:spPr>
          <a:xfrm>
            <a:off x="2431288" y="3095443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35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76.20%</a:t>
            </a:r>
            <a:endParaRPr lang="en-US" sz="1235" dirty="0"/>
          </a:p>
        </p:txBody>
      </p:sp>
      <p:sp>
        <p:nvSpPr>
          <p:cNvPr id="229" name="Text 32">
            <a:extLst>
              <a:ext uri="{FF2B5EF4-FFF2-40B4-BE49-F238E27FC236}">
                <a16:creationId xmlns:a16="http://schemas.microsoft.com/office/drawing/2014/main" id="{7681EDF0-CDA4-3F9F-0F43-193CF05CDACE}"/>
              </a:ext>
            </a:extLst>
          </p:cNvPr>
          <p:cNvSpPr/>
          <p:nvPr/>
        </p:nvSpPr>
        <p:spPr>
          <a:xfrm>
            <a:off x="3708400" y="3103321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35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80.00%</a:t>
            </a:r>
            <a:endParaRPr lang="en-US" sz="1235" dirty="0"/>
          </a:p>
        </p:txBody>
      </p:sp>
      <p:sp>
        <p:nvSpPr>
          <p:cNvPr id="230" name="Text 34">
            <a:extLst>
              <a:ext uri="{FF2B5EF4-FFF2-40B4-BE49-F238E27FC236}">
                <a16:creationId xmlns:a16="http://schemas.microsoft.com/office/drawing/2014/main" id="{3DF12591-2940-4BC3-D28B-A986B857D08D}"/>
              </a:ext>
            </a:extLst>
          </p:cNvPr>
          <p:cNvSpPr/>
          <p:nvPr/>
        </p:nvSpPr>
        <p:spPr>
          <a:xfrm>
            <a:off x="4643494" y="30723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35" b="1" dirty="0">
                <a:solidFill>
                  <a:srgbClr val="1985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</a:t>
            </a:r>
            <a:r>
              <a:rPr lang="en-US" sz="1235" b="1" dirty="0">
                <a:solidFill>
                  <a:srgbClr val="1985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3.80</a:t>
            </a:r>
            <a:r>
              <a:rPr lang="en-US" sz="1235" b="1" dirty="0">
                <a:solidFill>
                  <a:srgbClr val="1985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235" b="1" dirty="0">
                <a:solidFill>
                  <a:srgbClr val="1985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</a:t>
            </a:r>
          </a:p>
        </p:txBody>
      </p:sp>
      <p:sp>
        <p:nvSpPr>
          <p:cNvPr id="231" name="Shape 8">
            <a:extLst>
              <a:ext uri="{FF2B5EF4-FFF2-40B4-BE49-F238E27FC236}">
                <a16:creationId xmlns:a16="http://schemas.microsoft.com/office/drawing/2014/main" id="{8A6469F9-FC19-4CA3-C685-2246D60417D4}"/>
              </a:ext>
            </a:extLst>
          </p:cNvPr>
          <p:cNvSpPr/>
          <p:nvPr/>
        </p:nvSpPr>
        <p:spPr>
          <a:xfrm>
            <a:off x="6448414" y="1490472"/>
            <a:ext cx="5592606" cy="1956816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12700">
            <a:solidFill>
              <a:srgbClr val="DFE7F0"/>
            </a:solidFill>
            <a:prstDash val="solid"/>
          </a:ln>
        </p:spPr>
      </p:sp>
      <p:sp>
        <p:nvSpPr>
          <p:cNvPr id="232" name="Shape 9">
            <a:extLst>
              <a:ext uri="{FF2B5EF4-FFF2-40B4-BE49-F238E27FC236}">
                <a16:creationId xmlns:a16="http://schemas.microsoft.com/office/drawing/2014/main" id="{3C65B985-112D-748B-A593-EDA1EBD791CD}"/>
              </a:ext>
            </a:extLst>
          </p:cNvPr>
          <p:cNvSpPr/>
          <p:nvPr/>
        </p:nvSpPr>
        <p:spPr>
          <a:xfrm>
            <a:off x="6395857" y="1714031"/>
            <a:ext cx="50292" cy="1536192"/>
          </a:xfrm>
          <a:prstGeom prst="rect">
            <a:avLst/>
          </a:prstGeom>
          <a:solidFill>
            <a:srgbClr val="DD4051"/>
          </a:solidFill>
          <a:ln w="12700">
            <a:solidFill>
              <a:srgbClr val="DD4051">
                <a:alpha val="0"/>
              </a:srgbClr>
            </a:solidFill>
            <a:prstDash val="solid"/>
          </a:ln>
        </p:spPr>
      </p:sp>
      <p:sp>
        <p:nvSpPr>
          <p:cNvPr id="233" name="Text 10">
            <a:extLst>
              <a:ext uri="{FF2B5EF4-FFF2-40B4-BE49-F238E27FC236}">
                <a16:creationId xmlns:a16="http://schemas.microsoft.com/office/drawing/2014/main" id="{0FB8DA6E-1946-2BC0-527C-CAB34404037B}"/>
              </a:ext>
            </a:extLst>
          </p:cNvPr>
          <p:cNvSpPr/>
          <p:nvPr/>
        </p:nvSpPr>
        <p:spPr>
          <a:xfrm>
            <a:off x="6615313" y="1650023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altLang="zh-CN" sz="1740" b="1" dirty="0">
                <a:solidFill>
                  <a:srgbClr val="1724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Gemma-4-26B-A4B</a:t>
            </a:r>
          </a:p>
        </p:txBody>
      </p:sp>
      <p:sp>
        <p:nvSpPr>
          <p:cNvPr id="234" name="Text 13">
            <a:extLst>
              <a:ext uri="{FF2B5EF4-FFF2-40B4-BE49-F238E27FC236}">
                <a16:creationId xmlns:a16="http://schemas.microsoft.com/office/drawing/2014/main" id="{192D1F75-022B-D00D-DC2C-78377120E4C6}"/>
              </a:ext>
            </a:extLst>
          </p:cNvPr>
          <p:cNvSpPr/>
          <p:nvPr/>
        </p:nvSpPr>
        <p:spPr>
          <a:xfrm>
            <a:off x="6624457" y="2043215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40" b="1" dirty="0" err="1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lang="en-US" sz="1140" b="1" dirty="0">
              <a:solidFill>
                <a:srgbClr val="697C9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" name="Text 14">
            <a:extLst>
              <a:ext uri="{FF2B5EF4-FFF2-40B4-BE49-F238E27FC236}">
                <a16:creationId xmlns:a16="http://schemas.microsoft.com/office/drawing/2014/main" id="{E92986A0-D669-130D-BF2B-D964EC4ABF8C}"/>
              </a:ext>
            </a:extLst>
          </p:cNvPr>
          <p:cNvSpPr/>
          <p:nvPr/>
        </p:nvSpPr>
        <p:spPr>
          <a:xfrm>
            <a:off x="8570265" y="2061350"/>
            <a:ext cx="6454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2000"/>
              </a:lnSpc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H20 </a:t>
            </a:r>
            <a:r>
              <a:rPr lang="en-US" sz="1140" b="1" dirty="0" err="1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</a:t>
            </a:r>
            <a:endParaRPr lang="en-US" sz="1140" b="1" dirty="0">
              <a:solidFill>
                <a:srgbClr val="697C9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6" name="Text 15">
            <a:extLst>
              <a:ext uri="{FF2B5EF4-FFF2-40B4-BE49-F238E27FC236}">
                <a16:creationId xmlns:a16="http://schemas.microsoft.com/office/drawing/2014/main" id="{B212ED3C-9108-5F00-FECF-1EF1118E74DA}"/>
              </a:ext>
            </a:extLst>
          </p:cNvPr>
          <p:cNvSpPr/>
          <p:nvPr/>
        </p:nvSpPr>
        <p:spPr>
          <a:xfrm>
            <a:off x="9409313" y="206135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A5</a:t>
            </a:r>
            <a:r>
              <a:rPr lang="zh-CN" alt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</a:t>
            </a:r>
            <a:endParaRPr lang="en-US" sz="1140" b="1" dirty="0">
              <a:solidFill>
                <a:srgbClr val="697C9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7" name="Text 17">
            <a:extLst>
              <a:ext uri="{FF2B5EF4-FFF2-40B4-BE49-F238E27FC236}">
                <a16:creationId xmlns:a16="http://schemas.microsoft.com/office/drawing/2014/main" id="{46085922-355F-8719-6837-1EF790B2B888}"/>
              </a:ext>
            </a:extLst>
          </p:cNvPr>
          <p:cNvSpPr/>
          <p:nvPr/>
        </p:nvSpPr>
        <p:spPr>
          <a:xfrm>
            <a:off x="10816303" y="2046873"/>
            <a:ext cx="7921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2000"/>
              </a:lnSpc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A5 − H20</a:t>
            </a:r>
          </a:p>
        </p:txBody>
      </p:sp>
      <p:sp>
        <p:nvSpPr>
          <p:cNvPr id="238" name="Shape 18">
            <a:extLst>
              <a:ext uri="{FF2B5EF4-FFF2-40B4-BE49-F238E27FC236}">
                <a16:creationId xmlns:a16="http://schemas.microsoft.com/office/drawing/2014/main" id="{C2187DDB-6FA2-BBDF-A167-1BA3E0050629}"/>
              </a:ext>
            </a:extLst>
          </p:cNvPr>
          <p:cNvSpPr/>
          <p:nvPr/>
        </p:nvSpPr>
        <p:spPr>
          <a:xfrm>
            <a:off x="6606170" y="2363255"/>
            <a:ext cx="5190744" cy="13144"/>
          </a:xfrm>
          <a:prstGeom prst="line">
            <a:avLst/>
          </a:prstGeom>
          <a:noFill/>
          <a:ln w="8890">
            <a:solidFill>
              <a:srgbClr val="DFE7F0"/>
            </a:solidFill>
            <a:prstDash val="solid"/>
          </a:ln>
        </p:spPr>
      </p:sp>
      <p:sp>
        <p:nvSpPr>
          <p:cNvPr id="239" name="Text 19">
            <a:extLst>
              <a:ext uri="{FF2B5EF4-FFF2-40B4-BE49-F238E27FC236}">
                <a16:creationId xmlns:a16="http://schemas.microsoft.com/office/drawing/2014/main" id="{19276322-E5D6-E51F-8409-617FDB3978C8}"/>
              </a:ext>
            </a:extLst>
          </p:cNvPr>
          <p:cNvSpPr/>
          <p:nvPr/>
        </p:nvSpPr>
        <p:spPr>
          <a:xfrm>
            <a:off x="6624457" y="2445551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AIME2026</a:t>
            </a:r>
          </a:p>
        </p:txBody>
      </p:sp>
      <p:sp>
        <p:nvSpPr>
          <p:cNvPr id="240" name="Text 20">
            <a:extLst>
              <a:ext uri="{FF2B5EF4-FFF2-40B4-BE49-F238E27FC236}">
                <a16:creationId xmlns:a16="http://schemas.microsoft.com/office/drawing/2014/main" id="{3B6F9846-0058-BAE9-49A2-771A60E6743F}"/>
              </a:ext>
            </a:extLst>
          </p:cNvPr>
          <p:cNvSpPr/>
          <p:nvPr/>
        </p:nvSpPr>
        <p:spPr>
          <a:xfrm>
            <a:off x="8132201" y="246368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altLang="zh-CN" sz="1235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70.00%</a:t>
            </a:r>
            <a:endParaRPr lang="en-US" altLang="zh-CN" sz="1235" dirty="0"/>
          </a:p>
        </p:txBody>
      </p:sp>
      <p:sp>
        <p:nvSpPr>
          <p:cNvPr id="241" name="Text 21">
            <a:extLst>
              <a:ext uri="{FF2B5EF4-FFF2-40B4-BE49-F238E27FC236}">
                <a16:creationId xmlns:a16="http://schemas.microsoft.com/office/drawing/2014/main" id="{3A8B4EA0-482D-5AE7-88C6-189129EAFD71}"/>
              </a:ext>
            </a:extLst>
          </p:cNvPr>
          <p:cNvSpPr/>
          <p:nvPr/>
        </p:nvSpPr>
        <p:spPr>
          <a:xfrm>
            <a:off x="9409313" y="2463686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altLang="zh-CN" sz="1235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70.00%</a:t>
            </a:r>
            <a:endParaRPr lang="en-US" altLang="zh-CN" sz="1235" dirty="0"/>
          </a:p>
        </p:txBody>
      </p:sp>
      <p:sp>
        <p:nvSpPr>
          <p:cNvPr id="242" name="Text 23">
            <a:extLst>
              <a:ext uri="{FF2B5EF4-FFF2-40B4-BE49-F238E27FC236}">
                <a16:creationId xmlns:a16="http://schemas.microsoft.com/office/drawing/2014/main" id="{1D7B6BEE-D5C6-9001-A056-238A93A49A7D}"/>
              </a:ext>
            </a:extLst>
          </p:cNvPr>
          <p:cNvSpPr/>
          <p:nvPr/>
        </p:nvSpPr>
        <p:spPr>
          <a:xfrm>
            <a:off x="10344407" y="2463686"/>
            <a:ext cx="1562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altLang="zh-CN" sz="1235" b="1" dirty="0">
                <a:solidFill>
                  <a:srgbClr val="1985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</a:t>
            </a:r>
            <a:r>
              <a:rPr lang="en-US" altLang="zh-CN" sz="1235" b="1" dirty="0">
                <a:solidFill>
                  <a:srgbClr val="1985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0.00</a:t>
            </a:r>
            <a:r>
              <a:rPr lang="en-US" altLang="zh-CN" sz="1235" b="1" dirty="0">
                <a:solidFill>
                  <a:srgbClr val="1985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altLang="zh-CN" sz="1235" b="1" dirty="0">
                <a:solidFill>
                  <a:srgbClr val="1985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</a:t>
            </a:r>
          </a:p>
        </p:txBody>
      </p:sp>
      <p:sp>
        <p:nvSpPr>
          <p:cNvPr id="243" name="Shape 24">
            <a:extLst>
              <a:ext uri="{FF2B5EF4-FFF2-40B4-BE49-F238E27FC236}">
                <a16:creationId xmlns:a16="http://schemas.microsoft.com/office/drawing/2014/main" id="{F2416384-D050-8807-4E2C-8A78AE1C6901}"/>
              </a:ext>
            </a:extLst>
          </p:cNvPr>
          <p:cNvSpPr/>
          <p:nvPr/>
        </p:nvSpPr>
        <p:spPr>
          <a:xfrm>
            <a:off x="6606170" y="2753704"/>
            <a:ext cx="4403344" cy="256032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44" name="Text 25">
            <a:extLst>
              <a:ext uri="{FF2B5EF4-FFF2-40B4-BE49-F238E27FC236}">
                <a16:creationId xmlns:a16="http://schemas.microsoft.com/office/drawing/2014/main" id="{CD538CB0-8D31-C69D-46F6-0617463BAA4D}"/>
              </a:ext>
            </a:extLst>
          </p:cNvPr>
          <p:cNvSpPr/>
          <p:nvPr/>
        </p:nvSpPr>
        <p:spPr>
          <a:xfrm>
            <a:off x="6624457" y="2753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GPQA</a:t>
            </a:r>
            <a:r>
              <a:rPr lang="en-US" sz="1200" dirty="0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Diamond</a:t>
            </a:r>
          </a:p>
        </p:txBody>
      </p:sp>
      <p:sp>
        <p:nvSpPr>
          <p:cNvPr id="245" name="Text 26">
            <a:extLst>
              <a:ext uri="{FF2B5EF4-FFF2-40B4-BE49-F238E27FC236}">
                <a16:creationId xmlns:a16="http://schemas.microsoft.com/office/drawing/2014/main" id="{347AEBDC-2189-0FC0-A063-7A1B7EE5114C}"/>
              </a:ext>
            </a:extLst>
          </p:cNvPr>
          <p:cNvSpPr/>
          <p:nvPr/>
        </p:nvSpPr>
        <p:spPr>
          <a:xfrm>
            <a:off x="8132201" y="2763961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altLang="zh-CN" sz="1235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71.70%</a:t>
            </a:r>
            <a:endParaRPr lang="en-US" altLang="zh-CN" sz="1235" dirty="0"/>
          </a:p>
        </p:txBody>
      </p:sp>
      <p:sp>
        <p:nvSpPr>
          <p:cNvPr id="246" name="Text 27">
            <a:extLst>
              <a:ext uri="{FF2B5EF4-FFF2-40B4-BE49-F238E27FC236}">
                <a16:creationId xmlns:a16="http://schemas.microsoft.com/office/drawing/2014/main" id="{0A23BAB8-20F8-A919-8066-E79E6C869458}"/>
              </a:ext>
            </a:extLst>
          </p:cNvPr>
          <p:cNvSpPr/>
          <p:nvPr/>
        </p:nvSpPr>
        <p:spPr>
          <a:xfrm>
            <a:off x="9409313" y="2771839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altLang="zh-CN" sz="1235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71.72%</a:t>
            </a:r>
            <a:endParaRPr lang="en-US" altLang="zh-CN" sz="1235" dirty="0"/>
          </a:p>
        </p:txBody>
      </p:sp>
      <p:sp>
        <p:nvSpPr>
          <p:cNvPr id="247" name="Text 29">
            <a:extLst>
              <a:ext uri="{FF2B5EF4-FFF2-40B4-BE49-F238E27FC236}">
                <a16:creationId xmlns:a16="http://schemas.microsoft.com/office/drawing/2014/main" id="{40FBF61E-2A7D-63B9-8523-F8A57D812A14}"/>
              </a:ext>
            </a:extLst>
          </p:cNvPr>
          <p:cNvSpPr/>
          <p:nvPr/>
        </p:nvSpPr>
        <p:spPr>
          <a:xfrm>
            <a:off x="10344407" y="2740850"/>
            <a:ext cx="1562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altLang="zh-CN" sz="1235" b="1" dirty="0">
                <a:solidFill>
                  <a:srgbClr val="1985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</a:t>
            </a:r>
            <a:r>
              <a:rPr lang="en-US" altLang="zh-CN" sz="1235" b="1" dirty="0">
                <a:solidFill>
                  <a:srgbClr val="1985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0.02</a:t>
            </a:r>
            <a:r>
              <a:rPr lang="en-US" altLang="zh-CN" sz="1235" b="1" dirty="0">
                <a:solidFill>
                  <a:srgbClr val="1985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altLang="zh-CN" sz="1235" b="1" dirty="0">
                <a:solidFill>
                  <a:srgbClr val="1985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</a:t>
            </a:r>
          </a:p>
        </p:txBody>
      </p:sp>
      <p:sp>
        <p:nvSpPr>
          <p:cNvPr id="248" name="Text 30">
            <a:extLst>
              <a:ext uri="{FF2B5EF4-FFF2-40B4-BE49-F238E27FC236}">
                <a16:creationId xmlns:a16="http://schemas.microsoft.com/office/drawing/2014/main" id="{E19588C0-9BC6-AC2E-5B00-84501617E7DE}"/>
              </a:ext>
            </a:extLst>
          </p:cNvPr>
          <p:cNvSpPr/>
          <p:nvPr/>
        </p:nvSpPr>
        <p:spPr>
          <a:xfrm>
            <a:off x="6624457" y="3061857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697C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MMMU-Pro</a:t>
            </a:r>
          </a:p>
        </p:txBody>
      </p:sp>
      <p:sp>
        <p:nvSpPr>
          <p:cNvPr id="249" name="Text 31">
            <a:extLst>
              <a:ext uri="{FF2B5EF4-FFF2-40B4-BE49-F238E27FC236}">
                <a16:creationId xmlns:a16="http://schemas.microsoft.com/office/drawing/2014/main" id="{1CE35566-A5D1-9312-5C94-5584A23CE6A2}"/>
              </a:ext>
            </a:extLst>
          </p:cNvPr>
          <p:cNvSpPr/>
          <p:nvPr/>
        </p:nvSpPr>
        <p:spPr>
          <a:xfrm>
            <a:off x="8132201" y="307211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35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76.20%</a:t>
            </a:r>
            <a:endParaRPr lang="en-US" sz="1235" dirty="0"/>
          </a:p>
        </p:txBody>
      </p:sp>
      <p:sp>
        <p:nvSpPr>
          <p:cNvPr id="250" name="Text 32">
            <a:extLst>
              <a:ext uri="{FF2B5EF4-FFF2-40B4-BE49-F238E27FC236}">
                <a16:creationId xmlns:a16="http://schemas.microsoft.com/office/drawing/2014/main" id="{25039991-9D3D-4F61-73AC-E9709770CA6D}"/>
              </a:ext>
            </a:extLst>
          </p:cNvPr>
          <p:cNvSpPr/>
          <p:nvPr/>
        </p:nvSpPr>
        <p:spPr>
          <a:xfrm>
            <a:off x="9409313" y="307999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altLang="zh-CN" sz="1235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77.17%</a:t>
            </a:r>
            <a:endParaRPr lang="en-US" altLang="zh-CN" sz="1235" dirty="0"/>
          </a:p>
        </p:txBody>
      </p:sp>
      <p:sp>
        <p:nvSpPr>
          <p:cNvPr id="251" name="Text 34">
            <a:extLst>
              <a:ext uri="{FF2B5EF4-FFF2-40B4-BE49-F238E27FC236}">
                <a16:creationId xmlns:a16="http://schemas.microsoft.com/office/drawing/2014/main" id="{65885246-52F5-D256-2944-FC83760FF61D}"/>
              </a:ext>
            </a:extLst>
          </p:cNvPr>
          <p:cNvSpPr/>
          <p:nvPr/>
        </p:nvSpPr>
        <p:spPr>
          <a:xfrm>
            <a:off x="10370448" y="3049003"/>
            <a:ext cx="14778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35" b="1" dirty="0">
                <a:solidFill>
                  <a:srgbClr val="1985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</a:t>
            </a:r>
            <a:r>
              <a:rPr lang="en-US" sz="1235" b="1" dirty="0">
                <a:solidFill>
                  <a:srgbClr val="1985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0.97 pp</a:t>
            </a:r>
          </a:p>
        </p:txBody>
      </p:sp>
      <p:sp>
        <p:nvSpPr>
          <p:cNvPr id="252" name="Shape 38">
            <a:extLst>
              <a:ext uri="{FF2B5EF4-FFF2-40B4-BE49-F238E27FC236}">
                <a16:creationId xmlns:a16="http://schemas.microsoft.com/office/drawing/2014/main" id="{23608980-BD76-16D1-3D1E-8772642B03E4}"/>
              </a:ext>
            </a:extLst>
          </p:cNvPr>
          <p:cNvSpPr/>
          <p:nvPr/>
        </p:nvSpPr>
        <p:spPr>
          <a:xfrm>
            <a:off x="9213589" y="1630668"/>
            <a:ext cx="950976" cy="292608"/>
          </a:xfrm>
          <a:prstGeom prst="roundRect">
            <a:avLst>
              <a:gd name="adj" fmla="val 375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253" name="Text 39">
            <a:extLst>
              <a:ext uri="{FF2B5EF4-FFF2-40B4-BE49-F238E27FC236}">
                <a16:creationId xmlns:a16="http://schemas.microsoft.com/office/drawing/2014/main" id="{FBE2314C-B18D-01E5-1586-A47FB9620FC5}"/>
              </a:ext>
            </a:extLst>
          </p:cNvPr>
          <p:cNvSpPr/>
          <p:nvPr/>
        </p:nvSpPr>
        <p:spPr>
          <a:xfrm>
            <a:off x="9295885" y="163981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MoE</a:t>
            </a:r>
            <a:endParaRPr lang="en-US" sz="1100" dirty="0"/>
          </a:p>
        </p:txBody>
      </p:sp>
      <p:sp>
        <p:nvSpPr>
          <p:cNvPr id="254" name="灯片编号占位符 3">
            <a:extLst>
              <a:ext uri="{FF2B5EF4-FFF2-40B4-BE49-F238E27FC236}">
                <a16:creationId xmlns:a16="http://schemas.microsoft.com/office/drawing/2014/main" id="{40BFD4D8-74A4-6B7C-51A7-9085CC98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255" name="Text 37">
            <a:extLst>
              <a:ext uri="{FF2B5EF4-FFF2-40B4-BE49-F238E27FC236}">
                <a16:creationId xmlns:a16="http://schemas.microsoft.com/office/drawing/2014/main" id="{F12051E9-5A20-CB58-9DA6-C8F84FD1BF37}"/>
              </a:ext>
            </a:extLst>
          </p:cNvPr>
          <p:cNvSpPr/>
          <p:nvPr/>
        </p:nvSpPr>
        <p:spPr>
          <a:xfrm>
            <a:off x="932136" y="4979889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90" b="1" dirty="0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TTFT (ms)</a:t>
            </a:r>
            <a:endParaRPr lang="en-US" sz="1190" dirty="0"/>
          </a:p>
        </p:txBody>
      </p:sp>
      <p:sp>
        <p:nvSpPr>
          <p:cNvPr id="256" name="Shape 38">
            <a:extLst>
              <a:ext uri="{FF2B5EF4-FFF2-40B4-BE49-F238E27FC236}">
                <a16:creationId xmlns:a16="http://schemas.microsoft.com/office/drawing/2014/main" id="{5D8F25EC-AFCF-E565-23C5-679B93D59440}"/>
              </a:ext>
            </a:extLst>
          </p:cNvPr>
          <p:cNvSpPr/>
          <p:nvPr/>
        </p:nvSpPr>
        <p:spPr>
          <a:xfrm>
            <a:off x="1702564" y="4961798"/>
            <a:ext cx="2962656" cy="1554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257" name="Shape 39">
            <a:extLst>
              <a:ext uri="{FF2B5EF4-FFF2-40B4-BE49-F238E27FC236}">
                <a16:creationId xmlns:a16="http://schemas.microsoft.com/office/drawing/2014/main" id="{1782F0AC-52FA-1FF1-CACF-D6C92F1F6542}"/>
              </a:ext>
            </a:extLst>
          </p:cNvPr>
          <p:cNvSpPr/>
          <p:nvPr/>
        </p:nvSpPr>
        <p:spPr>
          <a:xfrm>
            <a:off x="1702564" y="5208686"/>
            <a:ext cx="2962656" cy="1554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258" name="Shape 40">
            <a:extLst>
              <a:ext uri="{FF2B5EF4-FFF2-40B4-BE49-F238E27FC236}">
                <a16:creationId xmlns:a16="http://schemas.microsoft.com/office/drawing/2014/main" id="{16F8EDE0-19D7-C19D-D2F9-64E6045F5036}"/>
              </a:ext>
            </a:extLst>
          </p:cNvPr>
          <p:cNvSpPr/>
          <p:nvPr/>
        </p:nvSpPr>
        <p:spPr>
          <a:xfrm>
            <a:off x="1702564" y="4961798"/>
            <a:ext cx="2821577" cy="155448"/>
          </a:xfrm>
          <a:prstGeom prst="rect">
            <a:avLst/>
          </a:prstGeom>
          <a:solidFill>
            <a:srgbClr val="2868B8"/>
          </a:solidFill>
          <a:ln w="12700">
            <a:solidFill>
              <a:srgbClr val="2868B8">
                <a:alpha val="0"/>
              </a:srgbClr>
            </a:solidFill>
            <a:prstDash val="solid"/>
          </a:ln>
        </p:spPr>
      </p:sp>
      <p:sp>
        <p:nvSpPr>
          <p:cNvPr id="259" name="Shape 41">
            <a:extLst>
              <a:ext uri="{FF2B5EF4-FFF2-40B4-BE49-F238E27FC236}">
                <a16:creationId xmlns:a16="http://schemas.microsoft.com/office/drawing/2014/main" id="{1EE82BF2-1062-7612-F48F-35B489398F41}"/>
              </a:ext>
            </a:extLst>
          </p:cNvPr>
          <p:cNvSpPr/>
          <p:nvPr/>
        </p:nvSpPr>
        <p:spPr>
          <a:xfrm>
            <a:off x="1702564" y="5208686"/>
            <a:ext cx="1221733" cy="155448"/>
          </a:xfrm>
          <a:prstGeom prst="rect">
            <a:avLst/>
          </a:prstGeom>
          <a:solidFill>
            <a:srgbClr val="DD4051"/>
          </a:solidFill>
          <a:ln w="12700">
            <a:solidFill>
              <a:srgbClr val="DD4051">
                <a:alpha val="0"/>
              </a:srgbClr>
            </a:solidFill>
            <a:prstDash val="solid"/>
          </a:ln>
        </p:spPr>
      </p:sp>
      <p:sp>
        <p:nvSpPr>
          <p:cNvPr id="260" name="Text 42">
            <a:extLst>
              <a:ext uri="{FF2B5EF4-FFF2-40B4-BE49-F238E27FC236}">
                <a16:creationId xmlns:a16="http://schemas.microsoft.com/office/drawing/2014/main" id="{11C13A79-CD39-0D6F-7740-6EA047A1C0A9}"/>
              </a:ext>
            </a:extLst>
          </p:cNvPr>
          <p:cNvSpPr/>
          <p:nvPr/>
        </p:nvSpPr>
        <p:spPr>
          <a:xfrm>
            <a:off x="4178808" y="4919667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1190" b="1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3,861</a:t>
            </a:r>
            <a:endParaRPr lang="en-US" sz="1190" dirty="0"/>
          </a:p>
        </p:txBody>
      </p:sp>
      <p:sp>
        <p:nvSpPr>
          <p:cNvPr id="261" name="Text 43">
            <a:extLst>
              <a:ext uri="{FF2B5EF4-FFF2-40B4-BE49-F238E27FC236}">
                <a16:creationId xmlns:a16="http://schemas.microsoft.com/office/drawing/2014/main" id="{FF74171F-10FA-E6DB-D9F5-454509A969D4}"/>
              </a:ext>
            </a:extLst>
          </p:cNvPr>
          <p:cNvSpPr/>
          <p:nvPr/>
        </p:nvSpPr>
        <p:spPr>
          <a:xfrm>
            <a:off x="4178808" y="5166555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1190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1,671.8</a:t>
            </a:r>
            <a:endParaRPr lang="en-US" sz="1190" dirty="0"/>
          </a:p>
        </p:txBody>
      </p:sp>
      <p:sp>
        <p:nvSpPr>
          <p:cNvPr id="262" name="Shape 44">
            <a:extLst>
              <a:ext uri="{FF2B5EF4-FFF2-40B4-BE49-F238E27FC236}">
                <a16:creationId xmlns:a16="http://schemas.microsoft.com/office/drawing/2014/main" id="{33C4D931-EBCB-BCA4-9ADD-7D95C07745C3}"/>
              </a:ext>
            </a:extLst>
          </p:cNvPr>
          <p:cNvSpPr/>
          <p:nvPr/>
        </p:nvSpPr>
        <p:spPr>
          <a:xfrm>
            <a:off x="922992" y="5473664"/>
            <a:ext cx="5166671" cy="16633"/>
          </a:xfrm>
          <a:prstGeom prst="line">
            <a:avLst/>
          </a:prstGeom>
          <a:noFill/>
          <a:ln w="6350">
            <a:solidFill>
              <a:srgbClr val="DFE7F0"/>
            </a:solidFill>
            <a:prstDash val="solid"/>
          </a:ln>
        </p:spPr>
      </p:sp>
      <p:sp>
        <p:nvSpPr>
          <p:cNvPr id="263" name="Text 45">
            <a:extLst>
              <a:ext uri="{FF2B5EF4-FFF2-40B4-BE49-F238E27FC236}">
                <a16:creationId xmlns:a16="http://schemas.microsoft.com/office/drawing/2014/main" id="{81E1FFB6-DD72-35BA-BE3D-2A279955E1D0}"/>
              </a:ext>
            </a:extLst>
          </p:cNvPr>
          <p:cNvSpPr/>
          <p:nvPr/>
        </p:nvSpPr>
        <p:spPr>
          <a:xfrm>
            <a:off x="932136" y="5610825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90" b="1" dirty="0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TPOT (ms)</a:t>
            </a:r>
            <a:endParaRPr lang="en-US" sz="1190" dirty="0"/>
          </a:p>
        </p:txBody>
      </p:sp>
      <p:sp>
        <p:nvSpPr>
          <p:cNvPr id="264" name="Shape 46">
            <a:extLst>
              <a:ext uri="{FF2B5EF4-FFF2-40B4-BE49-F238E27FC236}">
                <a16:creationId xmlns:a16="http://schemas.microsoft.com/office/drawing/2014/main" id="{EE2E9C21-A940-26C5-E040-34C189D07AEC}"/>
              </a:ext>
            </a:extLst>
          </p:cNvPr>
          <p:cNvSpPr/>
          <p:nvPr/>
        </p:nvSpPr>
        <p:spPr>
          <a:xfrm>
            <a:off x="1702564" y="5592734"/>
            <a:ext cx="2962656" cy="1554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265" name="Shape 47">
            <a:extLst>
              <a:ext uri="{FF2B5EF4-FFF2-40B4-BE49-F238E27FC236}">
                <a16:creationId xmlns:a16="http://schemas.microsoft.com/office/drawing/2014/main" id="{36270AE8-6A15-6DB6-9D08-EDDFD7878EA9}"/>
              </a:ext>
            </a:extLst>
          </p:cNvPr>
          <p:cNvSpPr/>
          <p:nvPr/>
        </p:nvSpPr>
        <p:spPr>
          <a:xfrm>
            <a:off x="1702564" y="5839622"/>
            <a:ext cx="2962656" cy="1554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266" name="Shape 48">
            <a:extLst>
              <a:ext uri="{FF2B5EF4-FFF2-40B4-BE49-F238E27FC236}">
                <a16:creationId xmlns:a16="http://schemas.microsoft.com/office/drawing/2014/main" id="{95F58668-F216-A3F9-86B4-51FB25DE9614}"/>
              </a:ext>
            </a:extLst>
          </p:cNvPr>
          <p:cNvSpPr/>
          <p:nvPr/>
        </p:nvSpPr>
        <p:spPr>
          <a:xfrm>
            <a:off x="1702564" y="5592734"/>
            <a:ext cx="2821577" cy="155448"/>
          </a:xfrm>
          <a:prstGeom prst="rect">
            <a:avLst/>
          </a:prstGeom>
          <a:solidFill>
            <a:srgbClr val="2868B8"/>
          </a:solidFill>
          <a:ln w="12700">
            <a:solidFill>
              <a:srgbClr val="2868B8">
                <a:alpha val="0"/>
              </a:srgbClr>
            </a:solidFill>
            <a:prstDash val="solid"/>
          </a:ln>
        </p:spPr>
      </p:sp>
      <p:sp>
        <p:nvSpPr>
          <p:cNvPr id="267" name="Shape 49">
            <a:extLst>
              <a:ext uri="{FF2B5EF4-FFF2-40B4-BE49-F238E27FC236}">
                <a16:creationId xmlns:a16="http://schemas.microsoft.com/office/drawing/2014/main" id="{A7B72A0C-5D09-42F8-7BDB-134CD395E3A4}"/>
              </a:ext>
            </a:extLst>
          </p:cNvPr>
          <p:cNvSpPr/>
          <p:nvPr/>
        </p:nvSpPr>
        <p:spPr>
          <a:xfrm>
            <a:off x="1702564" y="5839622"/>
            <a:ext cx="2461623" cy="155448"/>
          </a:xfrm>
          <a:prstGeom prst="rect">
            <a:avLst/>
          </a:prstGeom>
          <a:solidFill>
            <a:srgbClr val="DD4051"/>
          </a:solidFill>
          <a:ln w="12700">
            <a:solidFill>
              <a:srgbClr val="DD4051">
                <a:alpha val="0"/>
              </a:srgbClr>
            </a:solidFill>
            <a:prstDash val="solid"/>
          </a:ln>
        </p:spPr>
      </p:sp>
      <p:sp>
        <p:nvSpPr>
          <p:cNvPr id="268" name="Text 50">
            <a:extLst>
              <a:ext uri="{FF2B5EF4-FFF2-40B4-BE49-F238E27FC236}">
                <a16:creationId xmlns:a16="http://schemas.microsoft.com/office/drawing/2014/main" id="{2F2F206D-BF9C-4F43-B21B-22B999588A6E}"/>
              </a:ext>
            </a:extLst>
          </p:cNvPr>
          <p:cNvSpPr/>
          <p:nvPr/>
        </p:nvSpPr>
        <p:spPr>
          <a:xfrm>
            <a:off x="4178808" y="5550603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1190" b="1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24.3</a:t>
            </a:r>
            <a:endParaRPr lang="en-US" sz="1190" dirty="0"/>
          </a:p>
        </p:txBody>
      </p:sp>
      <p:sp>
        <p:nvSpPr>
          <p:cNvPr id="269" name="Text 51">
            <a:extLst>
              <a:ext uri="{FF2B5EF4-FFF2-40B4-BE49-F238E27FC236}">
                <a16:creationId xmlns:a16="http://schemas.microsoft.com/office/drawing/2014/main" id="{43D27FB0-F4CC-3BB5-7833-D8DDDF03943E}"/>
              </a:ext>
            </a:extLst>
          </p:cNvPr>
          <p:cNvSpPr/>
          <p:nvPr/>
        </p:nvSpPr>
        <p:spPr>
          <a:xfrm>
            <a:off x="4178808" y="5797491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1190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21.2</a:t>
            </a:r>
            <a:endParaRPr lang="en-US" sz="1190" dirty="0"/>
          </a:p>
        </p:txBody>
      </p:sp>
      <p:sp>
        <p:nvSpPr>
          <p:cNvPr id="270" name="Shape 52">
            <a:extLst>
              <a:ext uri="{FF2B5EF4-FFF2-40B4-BE49-F238E27FC236}">
                <a16:creationId xmlns:a16="http://schemas.microsoft.com/office/drawing/2014/main" id="{EED95155-86E8-2939-6365-4483B7DF6BCC}"/>
              </a:ext>
            </a:extLst>
          </p:cNvPr>
          <p:cNvSpPr/>
          <p:nvPr/>
        </p:nvSpPr>
        <p:spPr>
          <a:xfrm>
            <a:off x="922992" y="6104601"/>
            <a:ext cx="5166671" cy="16632"/>
          </a:xfrm>
          <a:prstGeom prst="line">
            <a:avLst/>
          </a:prstGeom>
          <a:noFill/>
          <a:ln w="6350">
            <a:solidFill>
              <a:srgbClr val="DFE7F0"/>
            </a:solidFill>
            <a:prstDash val="solid"/>
          </a:ln>
        </p:spPr>
      </p:sp>
      <p:sp>
        <p:nvSpPr>
          <p:cNvPr id="271" name="Shape 33">
            <a:extLst>
              <a:ext uri="{FF2B5EF4-FFF2-40B4-BE49-F238E27FC236}">
                <a16:creationId xmlns:a16="http://schemas.microsoft.com/office/drawing/2014/main" id="{4108373A-3A06-57AE-D03B-E478BF12AA9C}"/>
              </a:ext>
            </a:extLst>
          </p:cNvPr>
          <p:cNvSpPr/>
          <p:nvPr/>
        </p:nvSpPr>
        <p:spPr>
          <a:xfrm>
            <a:off x="1253235" y="4263583"/>
            <a:ext cx="2377440" cy="392360"/>
          </a:xfrm>
          <a:prstGeom prst="roundRect">
            <a:avLst>
              <a:gd name="adj" fmla="val 35294"/>
            </a:avLst>
          </a:prstGeom>
          <a:solidFill>
            <a:srgbClr val="FFF0F2"/>
          </a:solidFill>
          <a:ln w="12700">
            <a:solidFill>
              <a:srgbClr val="FFF0F2"/>
            </a:solidFill>
            <a:prstDash val="solid"/>
          </a:ln>
        </p:spPr>
      </p:sp>
      <p:sp>
        <p:nvSpPr>
          <p:cNvPr id="272" name="Text 34">
            <a:extLst>
              <a:ext uri="{FF2B5EF4-FFF2-40B4-BE49-F238E27FC236}">
                <a16:creationId xmlns:a16="http://schemas.microsoft.com/office/drawing/2014/main" id="{3E088FEE-9243-9FD1-8E98-579A4856EBEB}"/>
              </a:ext>
            </a:extLst>
          </p:cNvPr>
          <p:cNvSpPr/>
          <p:nvPr/>
        </p:nvSpPr>
        <p:spPr>
          <a:xfrm>
            <a:off x="1335531" y="4272727"/>
            <a:ext cx="2212848" cy="3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A5 1400.42 </a:t>
            </a:r>
            <a:r>
              <a:rPr lang="en-US" sz="1060" b="1" dirty="0" err="1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</a:t>
            </a:r>
            <a:r>
              <a:rPr lang="en-US" sz="1060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/s</a:t>
            </a:r>
            <a:endParaRPr lang="en-US" sz="1060" dirty="0"/>
          </a:p>
        </p:txBody>
      </p:sp>
      <p:sp>
        <p:nvSpPr>
          <p:cNvPr id="273" name="Shape 35">
            <a:extLst>
              <a:ext uri="{FF2B5EF4-FFF2-40B4-BE49-F238E27FC236}">
                <a16:creationId xmlns:a16="http://schemas.microsoft.com/office/drawing/2014/main" id="{F4962184-D8F2-052D-0D08-2AEDCE467DC6}"/>
              </a:ext>
            </a:extLst>
          </p:cNvPr>
          <p:cNvSpPr/>
          <p:nvPr/>
        </p:nvSpPr>
        <p:spPr>
          <a:xfrm>
            <a:off x="3731259" y="4263583"/>
            <a:ext cx="2258568" cy="392360"/>
          </a:xfrm>
          <a:prstGeom prst="roundRect">
            <a:avLst>
              <a:gd name="adj" fmla="val 35294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274" name="Text 36">
            <a:extLst>
              <a:ext uri="{FF2B5EF4-FFF2-40B4-BE49-F238E27FC236}">
                <a16:creationId xmlns:a16="http://schemas.microsoft.com/office/drawing/2014/main" id="{BD934588-096B-0D9B-B917-A178ED4E57F3}"/>
              </a:ext>
            </a:extLst>
          </p:cNvPr>
          <p:cNvSpPr/>
          <p:nvPr/>
        </p:nvSpPr>
        <p:spPr>
          <a:xfrm>
            <a:off x="3813555" y="4272727"/>
            <a:ext cx="2093976" cy="3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H20  684 tok/s</a:t>
            </a:r>
            <a:endParaRPr lang="en-US" sz="1060" dirty="0"/>
          </a:p>
        </p:txBody>
      </p:sp>
      <p:sp>
        <p:nvSpPr>
          <p:cNvPr id="275" name="Text 17">
            <a:extLst>
              <a:ext uri="{FF2B5EF4-FFF2-40B4-BE49-F238E27FC236}">
                <a16:creationId xmlns:a16="http://schemas.microsoft.com/office/drawing/2014/main" id="{3D07DCA9-C902-124A-7FDA-EBFE46F3D16F}"/>
              </a:ext>
            </a:extLst>
          </p:cNvPr>
          <p:cNvSpPr/>
          <p:nvPr/>
        </p:nvSpPr>
        <p:spPr>
          <a:xfrm>
            <a:off x="3608592" y="3842622"/>
            <a:ext cx="2455293" cy="281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10" dirty="0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TP=4   |   batch_size=32   |   Requests=128</a:t>
            </a:r>
            <a:endParaRPr lang="en-US" sz="1110" dirty="0"/>
          </a:p>
        </p:txBody>
      </p:sp>
      <p:sp>
        <p:nvSpPr>
          <p:cNvPr id="276" name="Text 17">
            <a:extLst>
              <a:ext uri="{FF2B5EF4-FFF2-40B4-BE49-F238E27FC236}">
                <a16:creationId xmlns:a16="http://schemas.microsoft.com/office/drawing/2014/main" id="{64E9324E-3B01-446F-D62A-CBA24587D5E7}"/>
              </a:ext>
            </a:extLst>
          </p:cNvPr>
          <p:cNvSpPr/>
          <p:nvPr/>
        </p:nvSpPr>
        <p:spPr>
          <a:xfrm>
            <a:off x="8930835" y="3849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10" dirty="0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TP=1 / DP=4 / EP  |  </a:t>
            </a:r>
            <a:r>
              <a:rPr lang="en-US" sz="1110" dirty="0" err="1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batch_size</a:t>
            </a:r>
            <a:r>
              <a:rPr lang="en-US" sz="1110" dirty="0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=512 |  Requests=1024</a:t>
            </a:r>
            <a:endParaRPr lang="en-US" sz="1110" dirty="0"/>
          </a:p>
        </p:txBody>
      </p:sp>
      <p:sp>
        <p:nvSpPr>
          <p:cNvPr id="277" name="Shape 23">
            <a:extLst>
              <a:ext uri="{FF2B5EF4-FFF2-40B4-BE49-F238E27FC236}">
                <a16:creationId xmlns:a16="http://schemas.microsoft.com/office/drawing/2014/main" id="{61845ED1-63B3-0A14-028F-2C733DCAC010}"/>
              </a:ext>
            </a:extLst>
          </p:cNvPr>
          <p:cNvSpPr/>
          <p:nvPr/>
        </p:nvSpPr>
        <p:spPr>
          <a:xfrm>
            <a:off x="2796286" y="6305201"/>
            <a:ext cx="109728" cy="109728"/>
          </a:xfrm>
          <a:prstGeom prst="rect">
            <a:avLst/>
          </a:prstGeom>
          <a:solidFill>
            <a:srgbClr val="2868B8"/>
          </a:solidFill>
          <a:ln w="12700">
            <a:solidFill>
              <a:srgbClr val="2868B8">
                <a:alpha val="0"/>
              </a:srgbClr>
            </a:solidFill>
            <a:prstDash val="solid"/>
          </a:ln>
        </p:spPr>
      </p:sp>
      <p:sp>
        <p:nvSpPr>
          <p:cNvPr id="278" name="Text 24">
            <a:extLst>
              <a:ext uri="{FF2B5EF4-FFF2-40B4-BE49-F238E27FC236}">
                <a16:creationId xmlns:a16="http://schemas.microsoft.com/office/drawing/2014/main" id="{BD3E6891-7CE0-D781-44C0-46F09B3A313A}"/>
              </a:ext>
            </a:extLst>
          </p:cNvPr>
          <p:cNvSpPr/>
          <p:nvPr/>
        </p:nvSpPr>
        <p:spPr>
          <a:xfrm>
            <a:off x="2960878" y="6195473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040" dirty="0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H20</a:t>
            </a:r>
            <a:endParaRPr lang="en-US" sz="1040" dirty="0"/>
          </a:p>
        </p:txBody>
      </p:sp>
      <p:sp>
        <p:nvSpPr>
          <p:cNvPr id="279" name="Shape 25">
            <a:extLst>
              <a:ext uri="{FF2B5EF4-FFF2-40B4-BE49-F238E27FC236}">
                <a16:creationId xmlns:a16="http://schemas.microsoft.com/office/drawing/2014/main" id="{7B2F3146-10DC-5E10-5821-A69B0ABC9E10}"/>
              </a:ext>
            </a:extLst>
          </p:cNvPr>
          <p:cNvSpPr/>
          <p:nvPr/>
        </p:nvSpPr>
        <p:spPr>
          <a:xfrm>
            <a:off x="3802126" y="6305201"/>
            <a:ext cx="109728" cy="109728"/>
          </a:xfrm>
          <a:prstGeom prst="rect">
            <a:avLst/>
          </a:prstGeom>
          <a:solidFill>
            <a:srgbClr val="DD4051"/>
          </a:solidFill>
          <a:ln w="12700">
            <a:solidFill>
              <a:srgbClr val="DD4051">
                <a:alpha val="0"/>
              </a:srgbClr>
            </a:solidFill>
            <a:prstDash val="solid"/>
          </a:ln>
        </p:spPr>
      </p:sp>
      <p:sp>
        <p:nvSpPr>
          <p:cNvPr id="280" name="Text 26">
            <a:extLst>
              <a:ext uri="{FF2B5EF4-FFF2-40B4-BE49-F238E27FC236}">
                <a16:creationId xmlns:a16="http://schemas.microsoft.com/office/drawing/2014/main" id="{DE7EEE71-FCF7-0854-3495-7FB16AFF8BF3}"/>
              </a:ext>
            </a:extLst>
          </p:cNvPr>
          <p:cNvSpPr/>
          <p:nvPr/>
        </p:nvSpPr>
        <p:spPr>
          <a:xfrm>
            <a:off x="3975862" y="6195473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040" dirty="0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A5</a:t>
            </a:r>
            <a:endParaRPr lang="en-US" sz="1040" dirty="0"/>
          </a:p>
        </p:txBody>
      </p:sp>
      <p:sp>
        <p:nvSpPr>
          <p:cNvPr id="281" name="Text 45">
            <a:extLst>
              <a:ext uri="{FF2B5EF4-FFF2-40B4-BE49-F238E27FC236}">
                <a16:creationId xmlns:a16="http://schemas.microsoft.com/office/drawing/2014/main" id="{6945E3C1-2169-D62F-40F5-6EFD76C67227}"/>
              </a:ext>
            </a:extLst>
          </p:cNvPr>
          <p:cNvSpPr/>
          <p:nvPr/>
        </p:nvSpPr>
        <p:spPr>
          <a:xfrm>
            <a:off x="6745329" y="499122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altLang="zh-CN" sz="1190" b="1" dirty="0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TTFT(</a:t>
            </a:r>
            <a:r>
              <a:rPr lang="en-US" altLang="zh-CN" sz="1190" b="1" dirty="0" err="1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</a:t>
            </a:r>
            <a:r>
              <a:rPr lang="en-US" altLang="zh-CN" sz="1190" b="1" dirty="0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)</a:t>
            </a:r>
            <a:endParaRPr lang="en-US" altLang="zh-CN" sz="1190" dirty="0"/>
          </a:p>
        </p:txBody>
      </p:sp>
      <p:sp>
        <p:nvSpPr>
          <p:cNvPr id="282" name="Shape 46">
            <a:extLst>
              <a:ext uri="{FF2B5EF4-FFF2-40B4-BE49-F238E27FC236}">
                <a16:creationId xmlns:a16="http://schemas.microsoft.com/office/drawing/2014/main" id="{76D31599-C6F9-7D15-5B68-AF1A1CE2BD60}"/>
              </a:ext>
            </a:extLst>
          </p:cNvPr>
          <p:cNvSpPr/>
          <p:nvPr/>
        </p:nvSpPr>
        <p:spPr>
          <a:xfrm>
            <a:off x="7538564" y="4956048"/>
            <a:ext cx="2962656" cy="1554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283" name="Shape 47">
            <a:extLst>
              <a:ext uri="{FF2B5EF4-FFF2-40B4-BE49-F238E27FC236}">
                <a16:creationId xmlns:a16="http://schemas.microsoft.com/office/drawing/2014/main" id="{7B278803-5013-7FEF-4B2B-616627BDF331}"/>
              </a:ext>
            </a:extLst>
          </p:cNvPr>
          <p:cNvSpPr/>
          <p:nvPr/>
        </p:nvSpPr>
        <p:spPr>
          <a:xfrm>
            <a:off x="7538564" y="5202936"/>
            <a:ext cx="2962656" cy="1554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284" name="Shape 48">
            <a:extLst>
              <a:ext uri="{FF2B5EF4-FFF2-40B4-BE49-F238E27FC236}">
                <a16:creationId xmlns:a16="http://schemas.microsoft.com/office/drawing/2014/main" id="{25502305-EEED-5560-FB3B-7A9192AE8F85}"/>
              </a:ext>
            </a:extLst>
          </p:cNvPr>
          <p:cNvSpPr/>
          <p:nvPr/>
        </p:nvSpPr>
        <p:spPr>
          <a:xfrm>
            <a:off x="7538565" y="4956048"/>
            <a:ext cx="2149874" cy="161198"/>
          </a:xfrm>
          <a:prstGeom prst="rect">
            <a:avLst/>
          </a:prstGeom>
          <a:solidFill>
            <a:srgbClr val="2868B8"/>
          </a:solidFill>
          <a:ln w="12700">
            <a:solidFill>
              <a:srgbClr val="2868B8">
                <a:alpha val="0"/>
              </a:srgbClr>
            </a:solidFill>
            <a:prstDash val="solid"/>
          </a:ln>
        </p:spPr>
      </p:sp>
      <p:sp>
        <p:nvSpPr>
          <p:cNvPr id="285" name="Shape 49">
            <a:extLst>
              <a:ext uri="{FF2B5EF4-FFF2-40B4-BE49-F238E27FC236}">
                <a16:creationId xmlns:a16="http://schemas.microsoft.com/office/drawing/2014/main" id="{EAFCBE76-D4D8-64FE-2DEF-40888B98AAA7}"/>
              </a:ext>
            </a:extLst>
          </p:cNvPr>
          <p:cNvSpPr/>
          <p:nvPr/>
        </p:nvSpPr>
        <p:spPr>
          <a:xfrm>
            <a:off x="7538564" y="5202936"/>
            <a:ext cx="2821577" cy="155448"/>
          </a:xfrm>
          <a:prstGeom prst="rect">
            <a:avLst/>
          </a:prstGeom>
          <a:solidFill>
            <a:srgbClr val="DD4051"/>
          </a:solidFill>
          <a:ln w="12700">
            <a:solidFill>
              <a:srgbClr val="DD4051">
                <a:alpha val="0"/>
              </a:srgbClr>
            </a:solidFill>
            <a:prstDash val="solid"/>
          </a:ln>
        </p:spPr>
      </p:sp>
      <p:sp>
        <p:nvSpPr>
          <p:cNvPr id="286" name="Text 50">
            <a:extLst>
              <a:ext uri="{FF2B5EF4-FFF2-40B4-BE49-F238E27FC236}">
                <a16:creationId xmlns:a16="http://schemas.microsoft.com/office/drawing/2014/main" id="{1A6658AF-CED5-E35A-7B04-6A5EC0119D3F}"/>
              </a:ext>
            </a:extLst>
          </p:cNvPr>
          <p:cNvSpPr/>
          <p:nvPr/>
        </p:nvSpPr>
        <p:spPr>
          <a:xfrm>
            <a:off x="9967214" y="49117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altLang="zh-CN" sz="1190" b="1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1,663.2</a:t>
            </a:r>
            <a:endParaRPr lang="en-US" altLang="zh-CN" sz="1190" dirty="0"/>
          </a:p>
        </p:txBody>
      </p:sp>
      <p:sp>
        <p:nvSpPr>
          <p:cNvPr id="287" name="Text 51">
            <a:extLst>
              <a:ext uri="{FF2B5EF4-FFF2-40B4-BE49-F238E27FC236}">
                <a16:creationId xmlns:a16="http://schemas.microsoft.com/office/drawing/2014/main" id="{BBFC67A8-BC3B-1812-E48F-6BC5D60B2546}"/>
              </a:ext>
            </a:extLst>
          </p:cNvPr>
          <p:cNvSpPr/>
          <p:nvPr/>
        </p:nvSpPr>
        <p:spPr>
          <a:xfrm>
            <a:off x="9967214" y="515863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altLang="zh-CN" sz="1190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2707</a:t>
            </a:r>
            <a:endParaRPr lang="en-US" sz="1190" dirty="0"/>
          </a:p>
        </p:txBody>
      </p:sp>
      <p:sp>
        <p:nvSpPr>
          <p:cNvPr id="288" name="Text 53">
            <a:extLst>
              <a:ext uri="{FF2B5EF4-FFF2-40B4-BE49-F238E27FC236}">
                <a16:creationId xmlns:a16="http://schemas.microsoft.com/office/drawing/2014/main" id="{4E36AF18-8C9D-2413-99F0-32F1FC1E3234}"/>
              </a:ext>
            </a:extLst>
          </p:cNvPr>
          <p:cNvSpPr/>
          <p:nvPr/>
        </p:nvSpPr>
        <p:spPr>
          <a:xfrm>
            <a:off x="6745329" y="56221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altLang="zh-CN" sz="1190" b="1" dirty="0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TPOT(</a:t>
            </a:r>
            <a:r>
              <a:rPr lang="en-US" altLang="zh-CN" sz="1190" b="1" dirty="0" err="1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</a:t>
            </a:r>
            <a:r>
              <a:rPr lang="en-US" altLang="zh-CN" sz="1190" b="1" dirty="0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)</a:t>
            </a:r>
            <a:endParaRPr lang="en-US" altLang="zh-CN" sz="1190" dirty="0"/>
          </a:p>
        </p:txBody>
      </p:sp>
      <p:sp>
        <p:nvSpPr>
          <p:cNvPr id="289" name="Shape 54">
            <a:extLst>
              <a:ext uri="{FF2B5EF4-FFF2-40B4-BE49-F238E27FC236}">
                <a16:creationId xmlns:a16="http://schemas.microsoft.com/office/drawing/2014/main" id="{6D83B6AC-A145-E43A-0D83-DDA0DD09F027}"/>
              </a:ext>
            </a:extLst>
          </p:cNvPr>
          <p:cNvSpPr/>
          <p:nvPr/>
        </p:nvSpPr>
        <p:spPr>
          <a:xfrm>
            <a:off x="7538564" y="5586984"/>
            <a:ext cx="2962656" cy="1554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290" name="Shape 55">
            <a:extLst>
              <a:ext uri="{FF2B5EF4-FFF2-40B4-BE49-F238E27FC236}">
                <a16:creationId xmlns:a16="http://schemas.microsoft.com/office/drawing/2014/main" id="{03AB8119-4C34-668D-022D-0BDBA0401353}"/>
              </a:ext>
            </a:extLst>
          </p:cNvPr>
          <p:cNvSpPr/>
          <p:nvPr/>
        </p:nvSpPr>
        <p:spPr>
          <a:xfrm>
            <a:off x="7538564" y="5833872"/>
            <a:ext cx="2962656" cy="1554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291" name="Shape 56">
            <a:extLst>
              <a:ext uri="{FF2B5EF4-FFF2-40B4-BE49-F238E27FC236}">
                <a16:creationId xmlns:a16="http://schemas.microsoft.com/office/drawing/2014/main" id="{1DE8A19A-BBEF-2D34-3941-9DC3C818E947}"/>
              </a:ext>
            </a:extLst>
          </p:cNvPr>
          <p:cNvSpPr/>
          <p:nvPr/>
        </p:nvSpPr>
        <p:spPr>
          <a:xfrm>
            <a:off x="7538564" y="5586984"/>
            <a:ext cx="2491393" cy="155448"/>
          </a:xfrm>
          <a:prstGeom prst="rect">
            <a:avLst/>
          </a:prstGeom>
          <a:solidFill>
            <a:srgbClr val="2868B8"/>
          </a:solidFill>
          <a:ln w="12700">
            <a:solidFill>
              <a:srgbClr val="2868B8">
                <a:alpha val="0"/>
              </a:srgbClr>
            </a:solidFill>
            <a:prstDash val="solid"/>
          </a:ln>
        </p:spPr>
      </p:sp>
      <p:sp>
        <p:nvSpPr>
          <p:cNvPr id="292" name="Shape 57">
            <a:extLst>
              <a:ext uri="{FF2B5EF4-FFF2-40B4-BE49-F238E27FC236}">
                <a16:creationId xmlns:a16="http://schemas.microsoft.com/office/drawing/2014/main" id="{64CC8506-7B9F-4EFD-283B-88B81453A541}"/>
              </a:ext>
            </a:extLst>
          </p:cNvPr>
          <p:cNvSpPr/>
          <p:nvPr/>
        </p:nvSpPr>
        <p:spPr>
          <a:xfrm>
            <a:off x="7538564" y="5833872"/>
            <a:ext cx="2821577" cy="155448"/>
          </a:xfrm>
          <a:prstGeom prst="rect">
            <a:avLst/>
          </a:prstGeom>
          <a:solidFill>
            <a:srgbClr val="DD4051"/>
          </a:solidFill>
          <a:ln w="12700">
            <a:solidFill>
              <a:srgbClr val="DD4051">
                <a:alpha val="0"/>
              </a:srgbClr>
            </a:solidFill>
            <a:prstDash val="solid"/>
          </a:ln>
        </p:spPr>
      </p:sp>
      <p:sp>
        <p:nvSpPr>
          <p:cNvPr id="293" name="Text 58">
            <a:extLst>
              <a:ext uri="{FF2B5EF4-FFF2-40B4-BE49-F238E27FC236}">
                <a16:creationId xmlns:a16="http://schemas.microsoft.com/office/drawing/2014/main" id="{E4E329AF-5457-293D-9ACE-91CF776BC8DE}"/>
              </a:ext>
            </a:extLst>
          </p:cNvPr>
          <p:cNvSpPr/>
          <p:nvPr/>
        </p:nvSpPr>
        <p:spPr>
          <a:xfrm>
            <a:off x="9967214" y="554268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1190" b="1" dirty="0">
                <a:solidFill>
                  <a:srgbClr val="286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16.6</a:t>
            </a:r>
            <a:endParaRPr lang="en-US" sz="1190" dirty="0"/>
          </a:p>
        </p:txBody>
      </p:sp>
      <p:sp>
        <p:nvSpPr>
          <p:cNvPr id="294" name="Text 59">
            <a:extLst>
              <a:ext uri="{FF2B5EF4-FFF2-40B4-BE49-F238E27FC236}">
                <a16:creationId xmlns:a16="http://schemas.microsoft.com/office/drawing/2014/main" id="{4E45D0ED-46AC-0DBC-DB41-63B07A50E47F}"/>
              </a:ext>
            </a:extLst>
          </p:cNvPr>
          <p:cNvSpPr/>
          <p:nvPr/>
        </p:nvSpPr>
        <p:spPr>
          <a:xfrm>
            <a:off x="9967214" y="578957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1190" b="1" dirty="0">
                <a:solidFill>
                  <a:srgbClr val="DD40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18.8</a:t>
            </a:r>
            <a:endParaRPr lang="en-US" sz="1190" dirty="0"/>
          </a:p>
        </p:txBody>
      </p:sp>
      <p:sp>
        <p:nvSpPr>
          <p:cNvPr id="295" name="Shape 23">
            <a:extLst>
              <a:ext uri="{FF2B5EF4-FFF2-40B4-BE49-F238E27FC236}">
                <a16:creationId xmlns:a16="http://schemas.microsoft.com/office/drawing/2014/main" id="{209ED218-06C7-CD5E-E06B-ECA95A1D244D}"/>
              </a:ext>
            </a:extLst>
          </p:cNvPr>
          <p:cNvSpPr/>
          <p:nvPr/>
        </p:nvSpPr>
        <p:spPr>
          <a:xfrm>
            <a:off x="8737225" y="6296711"/>
            <a:ext cx="109728" cy="109728"/>
          </a:xfrm>
          <a:prstGeom prst="rect">
            <a:avLst/>
          </a:prstGeom>
          <a:solidFill>
            <a:srgbClr val="2868B8"/>
          </a:solidFill>
          <a:ln w="12700">
            <a:solidFill>
              <a:srgbClr val="2868B8">
                <a:alpha val="0"/>
              </a:srgbClr>
            </a:solidFill>
            <a:prstDash val="solid"/>
          </a:ln>
        </p:spPr>
      </p:sp>
      <p:sp>
        <p:nvSpPr>
          <p:cNvPr id="296" name="Text 24">
            <a:extLst>
              <a:ext uri="{FF2B5EF4-FFF2-40B4-BE49-F238E27FC236}">
                <a16:creationId xmlns:a16="http://schemas.microsoft.com/office/drawing/2014/main" id="{FAF0BF5F-1365-C49F-A3B5-9AA67D38E126}"/>
              </a:ext>
            </a:extLst>
          </p:cNvPr>
          <p:cNvSpPr/>
          <p:nvPr/>
        </p:nvSpPr>
        <p:spPr>
          <a:xfrm>
            <a:off x="8901817" y="6186983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040" dirty="0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H20</a:t>
            </a:r>
            <a:endParaRPr lang="en-US" sz="1040" dirty="0"/>
          </a:p>
        </p:txBody>
      </p:sp>
      <p:sp>
        <p:nvSpPr>
          <p:cNvPr id="297" name="Shape 25">
            <a:extLst>
              <a:ext uri="{FF2B5EF4-FFF2-40B4-BE49-F238E27FC236}">
                <a16:creationId xmlns:a16="http://schemas.microsoft.com/office/drawing/2014/main" id="{7DA178CD-98E7-B7A7-0E29-2F89B309D578}"/>
              </a:ext>
            </a:extLst>
          </p:cNvPr>
          <p:cNvSpPr/>
          <p:nvPr/>
        </p:nvSpPr>
        <p:spPr>
          <a:xfrm>
            <a:off x="9743065" y="6296711"/>
            <a:ext cx="109728" cy="109728"/>
          </a:xfrm>
          <a:prstGeom prst="rect">
            <a:avLst/>
          </a:prstGeom>
          <a:solidFill>
            <a:srgbClr val="DD4051"/>
          </a:solidFill>
          <a:ln w="12700">
            <a:solidFill>
              <a:srgbClr val="DD4051">
                <a:alpha val="0"/>
              </a:srgbClr>
            </a:solidFill>
            <a:prstDash val="solid"/>
          </a:ln>
        </p:spPr>
      </p:sp>
      <p:sp>
        <p:nvSpPr>
          <p:cNvPr id="298" name="Text 26">
            <a:extLst>
              <a:ext uri="{FF2B5EF4-FFF2-40B4-BE49-F238E27FC236}">
                <a16:creationId xmlns:a16="http://schemas.microsoft.com/office/drawing/2014/main" id="{7D4E88E6-0989-E633-E96F-39D27A380831}"/>
              </a:ext>
            </a:extLst>
          </p:cNvPr>
          <p:cNvSpPr/>
          <p:nvPr/>
        </p:nvSpPr>
        <p:spPr>
          <a:xfrm>
            <a:off x="9916801" y="6186983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040" dirty="0">
                <a:solidFill>
                  <a:srgbClr val="697C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A5</a:t>
            </a:r>
            <a:endParaRPr lang="en-US" sz="1040" dirty="0"/>
          </a:p>
        </p:txBody>
      </p:sp>
      <p:sp>
        <p:nvSpPr>
          <p:cNvPr id="299" name="Shape 44">
            <a:extLst>
              <a:ext uri="{FF2B5EF4-FFF2-40B4-BE49-F238E27FC236}">
                <a16:creationId xmlns:a16="http://schemas.microsoft.com/office/drawing/2014/main" id="{71E9BD32-3696-3D27-0A14-0B16C5B3EC17}"/>
              </a:ext>
            </a:extLst>
          </p:cNvPr>
          <p:cNvSpPr/>
          <p:nvPr/>
        </p:nvSpPr>
        <p:spPr>
          <a:xfrm>
            <a:off x="6784191" y="5481980"/>
            <a:ext cx="5166671" cy="16633"/>
          </a:xfrm>
          <a:prstGeom prst="line">
            <a:avLst/>
          </a:prstGeom>
          <a:noFill/>
          <a:ln w="6350">
            <a:solidFill>
              <a:srgbClr val="DFE7F0"/>
            </a:solidFill>
            <a:prstDash val="solid"/>
          </a:ln>
        </p:spPr>
      </p:sp>
      <p:sp>
        <p:nvSpPr>
          <p:cNvPr id="300" name="Shape 44">
            <a:extLst>
              <a:ext uri="{FF2B5EF4-FFF2-40B4-BE49-F238E27FC236}">
                <a16:creationId xmlns:a16="http://schemas.microsoft.com/office/drawing/2014/main" id="{C386C5FA-3CBD-D43E-164B-52F275010736}"/>
              </a:ext>
            </a:extLst>
          </p:cNvPr>
          <p:cNvSpPr/>
          <p:nvPr/>
        </p:nvSpPr>
        <p:spPr>
          <a:xfrm>
            <a:off x="6784191" y="6093258"/>
            <a:ext cx="5166671" cy="16633"/>
          </a:xfrm>
          <a:prstGeom prst="line">
            <a:avLst/>
          </a:prstGeom>
          <a:noFill/>
          <a:ln w="6350">
            <a:solidFill>
              <a:srgbClr val="DFE7F0"/>
            </a:solidFill>
            <a:prstDash val="solid"/>
          </a:ln>
        </p:spPr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FEA37E4C-F8FC-B740-8427-7AC9F02487E0}"/>
              </a:ext>
            </a:extLst>
          </p:cNvPr>
          <p:cNvSpPr txBox="1"/>
          <p:nvPr/>
        </p:nvSpPr>
        <p:spPr>
          <a:xfrm>
            <a:off x="737902" y="4169448"/>
            <a:ext cx="11818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altLang="zh-CN" sz="1400" b="1" dirty="0">
              <a:solidFill>
                <a:srgbClr val="263850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r>
              <a:rPr lang="en-US" altLang="zh-CN" sz="1400" b="1" dirty="0" err="1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吞吐</a:t>
            </a:r>
            <a:endParaRPr lang="zh-CN" altLang="en-US" sz="1400" dirty="0"/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F155F4D2-F558-458E-D049-FED8B4BEB0A2}"/>
              </a:ext>
            </a:extLst>
          </p:cNvPr>
          <p:cNvSpPr txBox="1"/>
          <p:nvPr/>
        </p:nvSpPr>
        <p:spPr>
          <a:xfrm>
            <a:off x="6537175" y="4197417"/>
            <a:ext cx="11818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altLang="zh-CN" sz="1400" b="1" dirty="0">
              <a:solidFill>
                <a:srgbClr val="263850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r>
              <a:rPr lang="en-US" altLang="zh-CN" sz="1400" b="1" dirty="0" err="1">
                <a:solidFill>
                  <a:srgbClr val="263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吞吐</a:t>
            </a:r>
            <a:endParaRPr lang="zh-CN" altLang="en-US" sz="1400" dirty="0"/>
          </a:p>
        </p:txBody>
      </p:sp>
      <p:sp>
        <p:nvSpPr>
          <p:cNvPr id="303" name="Rectangle 1">
            <a:extLst>
              <a:ext uri="{FF2B5EF4-FFF2-40B4-BE49-F238E27FC236}">
                <a16:creationId xmlns:a16="http://schemas.microsoft.com/office/drawing/2014/main" id="{506C817C-2967-2113-0068-5634D64A0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278" y="604350"/>
            <a:ext cx="5237011" cy="6693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57132" rIns="0" bIns="5713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【输入输出】典型输入4k/输出1k 【SLO】TPOT&lt;25ms, 最大吞吐 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【精度】mxFP8/mxFP4 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【性能目标】Fp4量化下符合版本精度标准，性能达成2x H20，或0.7x H200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3294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约单色工作汇报PPT模板"/>
  <p:tag name="COMMONDATA" val="eyJoZGlkIjoiMDFmZDUzMDlkNTM0N2ExZDc5M2VhMTliNDFmOWUwNj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10352</TotalTime>
  <Words>225</Words>
  <Application>Microsoft Office PowerPoint</Application>
  <PresentationFormat>宽屏</PresentationFormat>
  <Paragraphs>70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Noto Sans CJK SC</vt:lpstr>
      <vt:lpstr>思源黑体</vt:lpstr>
      <vt:lpstr>微软雅黑</vt:lpstr>
      <vt:lpstr>Arial</vt:lpstr>
      <vt:lpstr>Calibri</vt:lpstr>
      <vt:lpstr>Calibri Light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蓝色简约单色工作汇报PPT模板</dc:title>
  <dc:creator>andy</dc:creator>
  <cp:lastModifiedBy>yuzhiliang</cp:lastModifiedBy>
  <cp:revision>502</cp:revision>
  <dcterms:created xsi:type="dcterms:W3CDTF">2019-04-09T06:58:00Z</dcterms:created>
  <dcterms:modified xsi:type="dcterms:W3CDTF">2026-10-09T03:15:42Z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320D29C68F7A44C291F0988DD8D5CFD5_12</vt:lpwstr>
  </property>
  <property fmtid="{D5CDD505-2E9C-101B-9397-08002B2CF9AE}" pid="3" name="KSOProductBuildVer">
    <vt:lpwstr>2052-12.1.0.16929</vt:lpwstr>
  </property>
</Properties>
</file>